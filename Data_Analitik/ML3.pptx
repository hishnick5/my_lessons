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5" r:id="rId3"/>
    <p:sldId id="339" r:id="rId4"/>
    <p:sldId id="338" r:id="rId5"/>
    <p:sldId id="387" r:id="rId6"/>
    <p:sldId id="388" r:id="rId7"/>
    <p:sldId id="390" r:id="rId8"/>
    <p:sldId id="391" r:id="rId9"/>
    <p:sldId id="392" r:id="rId10"/>
    <p:sldId id="393" r:id="rId11"/>
    <p:sldId id="394" r:id="rId12"/>
    <p:sldId id="389" r:id="rId13"/>
    <p:sldId id="397" r:id="rId14"/>
    <p:sldId id="355" r:id="rId15"/>
    <p:sldId id="401" r:id="rId16"/>
    <p:sldId id="404" r:id="rId17"/>
    <p:sldId id="402" r:id="rId18"/>
    <p:sldId id="403" r:id="rId19"/>
    <p:sldId id="399" r:id="rId20"/>
    <p:sldId id="346" r:id="rId21"/>
    <p:sldId id="395" r:id="rId22"/>
    <p:sldId id="396" r:id="rId23"/>
    <p:sldId id="398" r:id="rId24"/>
    <p:sldId id="400" r:id="rId25"/>
    <p:sldId id="405" r:id="rId26"/>
    <p:sldId id="406" r:id="rId27"/>
    <p:sldId id="411" r:id="rId28"/>
    <p:sldId id="408" r:id="rId29"/>
    <p:sldId id="409" r:id="rId30"/>
    <p:sldId id="407" r:id="rId31"/>
    <p:sldId id="412" r:id="rId32"/>
    <p:sldId id="413" r:id="rId33"/>
    <p:sldId id="414" r:id="rId34"/>
    <p:sldId id="415" r:id="rId35"/>
    <p:sldId id="416" r:id="rId36"/>
    <p:sldId id="410" r:id="rId37"/>
    <p:sldId id="417" r:id="rId38"/>
    <p:sldId id="418" r:id="rId39"/>
    <p:sldId id="419" r:id="rId40"/>
    <p:sldId id="420" r:id="rId41"/>
    <p:sldId id="423" r:id="rId42"/>
    <p:sldId id="424" r:id="rId43"/>
    <p:sldId id="425" r:id="rId44"/>
    <p:sldId id="421" r:id="rId45"/>
    <p:sldId id="422" r:id="rId46"/>
    <p:sldId id="426" r:id="rId4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начало" id="{104929FB-E88D-4DC9-BA6D-315C4591C05F}">
          <p14:sldIdLst>
            <p14:sldId id="256"/>
          </p14:sldIdLst>
        </p14:section>
        <p14:section name="Логистическая регрессия" id="{8ECCA6EF-57CB-41DE-A3CA-92DDD94291CD}">
          <p14:sldIdLst>
            <p14:sldId id="345"/>
            <p14:sldId id="339"/>
            <p14:sldId id="338"/>
            <p14:sldId id="387"/>
            <p14:sldId id="388"/>
            <p14:sldId id="390"/>
            <p14:sldId id="391"/>
            <p14:sldId id="392"/>
            <p14:sldId id="393"/>
            <p14:sldId id="394"/>
            <p14:sldId id="389"/>
          </p14:sldIdLst>
        </p14:section>
        <p14:section name="KNN" id="{76CBD2DE-5DF3-4FF4-84DA-2E9990DCA570}">
          <p14:sldIdLst>
            <p14:sldId id="397"/>
            <p14:sldId id="355"/>
            <p14:sldId id="401"/>
            <p14:sldId id="404"/>
            <p14:sldId id="402"/>
            <p14:sldId id="403"/>
          </p14:sldIdLst>
        </p14:section>
        <p14:section name="Дерево" id="{1C5CDAB6-2A1F-4C38-AEDB-622DCF2A79F6}">
          <p14:sldIdLst>
            <p14:sldId id="399"/>
            <p14:sldId id="346"/>
            <p14:sldId id="395"/>
            <p14:sldId id="396"/>
            <p14:sldId id="398"/>
            <p14:sldId id="400"/>
          </p14:sldIdLst>
        </p14:section>
        <p14:section name="Случайный лес" id="{38FD9850-62E2-4F41-A1EB-DCE104B64BF6}">
          <p14:sldIdLst>
            <p14:sldId id="405"/>
            <p14:sldId id="406"/>
            <p14:sldId id="411"/>
            <p14:sldId id="408"/>
            <p14:sldId id="409"/>
            <p14:sldId id="407"/>
          </p14:sldIdLst>
        </p14:section>
        <p14:section name=" Градиентный Бустинг" id="{08322AF0-CC81-489C-8D1E-2F12C1D41A7C}">
          <p14:sldIdLst>
            <p14:sldId id="412"/>
            <p14:sldId id="413"/>
            <p14:sldId id="414"/>
            <p14:sldId id="415"/>
            <p14:sldId id="416"/>
            <p14:sldId id="410"/>
            <p14:sldId id="417"/>
            <p14:sldId id="418"/>
            <p14:sldId id="419"/>
          </p14:sldIdLst>
        </p14:section>
        <p14:section name="Многослойный персептрон (MLP)" id="{32FD415D-F391-4A50-A729-7DD82C4A3E0C}">
          <p14:sldIdLst>
            <p14:sldId id="420"/>
            <p14:sldId id="423"/>
            <p14:sldId id="424"/>
            <p14:sldId id="425"/>
            <p14:sldId id="421"/>
            <p14:sldId id="422"/>
            <p14:sldId id="426"/>
          </p14:sldIdLst>
        </p14:section>
        <p14:section name="Парсинг" id="{3919DBF2-3C01-4022-8D19-71CF5CE42D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1C6"/>
    <a:srgbClr val="E8B7A8"/>
    <a:srgbClr val="CC00CC"/>
    <a:srgbClr val="FF00FF"/>
    <a:srgbClr val="FF9999"/>
    <a:srgbClr val="FF9966"/>
    <a:srgbClr val="FEFB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67" autoAdjust="0"/>
    <p:restoredTop sz="94660"/>
  </p:normalViewPr>
  <p:slideViewPr>
    <p:cSldViewPr>
      <p:cViewPr>
        <p:scale>
          <a:sx n="100" d="100"/>
          <a:sy n="100" d="100"/>
        </p:scale>
        <p:origin x="-198" y="45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63F167-FA33-48B3-0430-B5643DA4FA54}"/>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2E4A2F2F-4B4B-F9D7-D14B-CC850057C8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E3C1B7AA-3925-5643-DB78-D7D02E8DB965}"/>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597F4EFE-81C0-D183-F553-BDDB21EFE46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1A372D8-DBA3-C2B5-4D62-B783462EEE70}"/>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3685498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9B455-880F-80EB-047A-8926862788C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6DE4296-FF25-F1EB-E86F-885F0FE9C861}"/>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D4C8F4E-DBE7-9047-4BDA-F5F0850F0235}"/>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95E7CC6A-0BCC-138C-D226-86A0CA2B345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6EECB53-0F41-A539-C36B-01800D55D528}"/>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2338801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C9B2EC-8D23-C324-150C-D1AAA75D352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D577615-9B84-0236-1BEC-2099773FC5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0E7B17D-6347-CD8C-689A-6885C7952F19}"/>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51BFB098-99D1-1EE5-B23B-D561723D97F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AE1FF3E-FDA1-7E77-33D5-E9A0AEAB7872}"/>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3210527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F44D48-4224-A4FA-255C-20EA276038C9}"/>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27D94FB-BE85-B774-F446-7DC30717265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AC131CA-26A8-2FE4-80CC-FA873BD8021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08D904E-5006-68E6-A998-5147A54535D2}"/>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6" name="Нижний колонтитул 5">
            <a:extLst>
              <a:ext uri="{FF2B5EF4-FFF2-40B4-BE49-F238E27FC236}">
                <a16:creationId xmlns:a16="http://schemas.microsoft.com/office/drawing/2014/main" id="{CA5BDC02-C0E7-3AE4-1DFD-85FE6124375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9A1E6C6-EED5-2F5F-372D-269187A649EA}"/>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100921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A0A222-CAC2-8C61-F94A-D1D1F97619B9}"/>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E83F600-F5B2-B84B-9C42-9E67D7C02D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C6D9D76-E67C-48F9-4D7F-521A33BF4051}"/>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54509F06-94B3-D476-903F-5BF4F24919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44AC36AF-BDFF-2251-6FE9-27B7EFA9F170}"/>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6BD7590-A984-3970-B59F-5118DC52B367}"/>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8" name="Нижний колонтитул 7">
            <a:extLst>
              <a:ext uri="{FF2B5EF4-FFF2-40B4-BE49-F238E27FC236}">
                <a16:creationId xmlns:a16="http://schemas.microsoft.com/office/drawing/2014/main" id="{5E2DB9D9-9A76-40FD-AC81-63C31D7EF365}"/>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7FDA232-AEA7-0EFC-CD2E-2CC29EC1A00A}"/>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3440687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297E9B-5BB3-EBA9-9DB1-0DF428A180A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289E5BA-9A8B-4AC5-170D-52DC6F6A6726}"/>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4" name="Нижний колонтитул 3">
            <a:extLst>
              <a:ext uri="{FF2B5EF4-FFF2-40B4-BE49-F238E27FC236}">
                <a16:creationId xmlns:a16="http://schemas.microsoft.com/office/drawing/2014/main" id="{4C855E4A-D4F7-4D73-036B-4EB4CF94B0E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229ABEE2-A3C8-8D1F-A3EA-E6209D6334F2}"/>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3717170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A4CFB5B-EB2E-97D0-0DC6-E9635B5C5492}"/>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3" name="Нижний колонтитул 2">
            <a:extLst>
              <a:ext uri="{FF2B5EF4-FFF2-40B4-BE49-F238E27FC236}">
                <a16:creationId xmlns:a16="http://schemas.microsoft.com/office/drawing/2014/main" id="{06499F58-687D-BE8D-D181-248E6A159A07}"/>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5586355-CC7C-B19D-E55E-8C45E21A3D7B}"/>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1473565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D7ED3E-47A7-958D-80E1-347D1DAF5F0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4BAB6C56-285A-EDF8-144F-A23DE6F798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2D635C4-9F0F-7B48-2B65-E998C7EEE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D964268-7903-8DDC-B89A-41EFC8A4B965}"/>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6" name="Нижний колонтитул 5">
            <a:extLst>
              <a:ext uri="{FF2B5EF4-FFF2-40B4-BE49-F238E27FC236}">
                <a16:creationId xmlns:a16="http://schemas.microsoft.com/office/drawing/2014/main" id="{7BEBAAF0-4B69-F5E7-6720-F7FF5670B0A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B68FFB-C9BC-C494-3155-99DD79D637BC}"/>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1676161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A5F8C0-945B-B952-A93C-08A7CB1C260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52B0658-B76B-81E7-974B-F320443E3F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F4FD365-D544-231C-AF29-866B74FC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E82A17E-2731-87DB-3B9E-1E1247EE63F0}"/>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6" name="Нижний колонтитул 5">
            <a:extLst>
              <a:ext uri="{FF2B5EF4-FFF2-40B4-BE49-F238E27FC236}">
                <a16:creationId xmlns:a16="http://schemas.microsoft.com/office/drawing/2014/main" id="{1660A586-88B7-4411-A8C4-DFCACC3C769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A460324-DF72-D36D-9A0A-659209B15153}"/>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3096952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5F7007-B977-5F07-AB2F-7F4953FCB227}"/>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9BB3837A-CB74-86DD-CA18-D4F4EA181E88}"/>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77D95AD-7E17-0313-4FBE-1E09F9E6C4F1}"/>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43794CC0-ED5F-CE08-F5C2-2EA75B644FF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2CBA781-29F8-932C-2617-AF4AE4107831}"/>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240548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1D0B386-4B11-0632-DF89-83717315B7F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0C5BD41-D1AD-91F0-9E95-F52861C4F75F}"/>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2F34EF4-9EDE-0EB1-98BB-D95FAF367EA8}"/>
              </a:ext>
            </a:extLst>
          </p:cNvPr>
          <p:cNvSpPr>
            <a:spLocks noGrp="1"/>
          </p:cNvSpPr>
          <p:nvPr>
            <p:ph type="dt" sz="half" idx="10"/>
          </p:nvPr>
        </p:nvSpPr>
        <p:spPr/>
        <p:txBody>
          <a:body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D42D3221-0C29-EED4-9740-146FDB48C67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17F01B-57DD-69F9-CC02-B50173D1B5EC}"/>
              </a:ext>
            </a:extLst>
          </p:cNvPr>
          <p:cNvSpPr>
            <a:spLocks noGrp="1"/>
          </p:cNvSpPr>
          <p:nvPr>
            <p:ph type="sldNum" sz="quarter" idx="12"/>
          </p:nvPr>
        </p:nvSpPr>
        <p:spPr/>
        <p:txBody>
          <a:bodyPr/>
          <a:lstStyle/>
          <a:p>
            <a:fld id="{1B06901E-1BF3-46DD-A945-C13FC288C845}" type="slidenum">
              <a:rPr lang="ru-RU" smtClean="0"/>
              <a:t>‹#›</a:t>
            </a:fld>
            <a:endParaRPr lang="ru-RU"/>
          </a:p>
        </p:txBody>
      </p:sp>
    </p:spTree>
    <p:extLst>
      <p:ext uri="{BB962C8B-B14F-4D97-AF65-F5344CB8AC3E}">
        <p14:creationId xmlns:p14="http://schemas.microsoft.com/office/powerpoint/2010/main" val="2900026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EFBF4"/>
            </a:gs>
            <a:gs pos="74000">
              <a:srgbClr val="EEE1C6"/>
            </a:gs>
            <a:gs pos="95000">
              <a:srgbClr val="E8B7A8"/>
            </a:gs>
            <a:gs pos="100000">
              <a:srgbClr val="EEE1C6"/>
            </a:gs>
          </a:gsLst>
          <a:lin ang="5400000" scaled="1"/>
          <a:tileRect/>
        </a:gra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C0D709-AA38-D0A0-AFE6-D1E82DA06D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E2DC53C-52FE-1A4B-428E-46BEF51CA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7CDBE4B-2EDD-2678-ED98-7C8D543887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A968FD-478E-4870-8D5F-B407F39A9BB7}" type="datetimeFigureOut">
              <a:rPr lang="ru-RU" smtClean="0"/>
              <a:t>13.08.2025</a:t>
            </a:fld>
            <a:endParaRPr lang="ru-RU"/>
          </a:p>
        </p:txBody>
      </p:sp>
      <p:sp>
        <p:nvSpPr>
          <p:cNvPr id="5" name="Нижний колонтитул 4">
            <a:extLst>
              <a:ext uri="{FF2B5EF4-FFF2-40B4-BE49-F238E27FC236}">
                <a16:creationId xmlns:a16="http://schemas.microsoft.com/office/drawing/2014/main" id="{9CD7CDBF-17A6-03C1-0F54-F016DEFD4E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A8B32F2-66C8-AE15-AC63-5F41748058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06901E-1BF3-46DD-A945-C13FC288C845}" type="slidenum">
              <a:rPr lang="ru-RU" smtClean="0"/>
              <a:t>‹#›</a:t>
            </a:fld>
            <a:endParaRPr lang="ru-RU"/>
          </a:p>
        </p:txBody>
      </p:sp>
    </p:spTree>
    <p:extLst>
      <p:ext uri="{BB962C8B-B14F-4D97-AF65-F5344CB8AC3E}">
        <p14:creationId xmlns:p14="http://schemas.microsoft.com/office/powerpoint/2010/main" val="2066740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DCF5AB-4BB7-E70E-15C5-65BBFBED0FF5}"/>
              </a:ext>
            </a:extLst>
          </p:cNvPr>
          <p:cNvSpPr>
            <a:spLocks noGrp="1"/>
          </p:cNvSpPr>
          <p:nvPr>
            <p:ph type="ctrTitle"/>
          </p:nvPr>
        </p:nvSpPr>
        <p:spPr>
          <a:xfrm>
            <a:off x="1545989" y="675145"/>
            <a:ext cx="9144000" cy="2387600"/>
          </a:xfrm>
        </p:spPr>
        <p:txBody>
          <a:bodyPr>
            <a:normAutofit/>
          </a:bodyPr>
          <a:lstStyle/>
          <a:p>
            <a:r>
              <a:rPr lang="ru-RU" sz="3100" dirty="0">
                <a:solidFill>
                  <a:schemeClr val="accent2">
                    <a:lumMod val="50000"/>
                  </a:schemeClr>
                </a:solidFill>
                <a:latin typeface="Arial Black" panose="020B0A04020102020204" pitchFamily="34" charset="0"/>
                <a:ea typeface="+mn-ea"/>
                <a:cs typeface="+mn-cs"/>
              </a:rPr>
              <a:t>Лекция </a:t>
            </a:r>
            <a:r>
              <a:rPr lang="en-US" sz="3100" dirty="0">
                <a:solidFill>
                  <a:schemeClr val="accent2">
                    <a:lumMod val="50000"/>
                  </a:schemeClr>
                </a:solidFill>
                <a:latin typeface="Arial Black" panose="020B0A04020102020204" pitchFamily="34" charset="0"/>
                <a:ea typeface="+mn-ea"/>
                <a:cs typeface="+mn-cs"/>
              </a:rPr>
              <a:t>3</a:t>
            </a:r>
            <a:r>
              <a:rPr lang="ru-RU" sz="3100" dirty="0">
                <a:solidFill>
                  <a:schemeClr val="accent2">
                    <a:lumMod val="50000"/>
                  </a:schemeClr>
                </a:solidFill>
                <a:latin typeface="Arial Black" panose="020B0A04020102020204" pitchFamily="34" charset="0"/>
                <a:ea typeface="+mn-ea"/>
                <a:cs typeface="+mn-cs"/>
              </a:rPr>
              <a:t> по Машинному обучению</a:t>
            </a:r>
            <a:br>
              <a:rPr lang="ru-RU" b="1" dirty="0"/>
            </a:br>
            <a:br>
              <a:rPr lang="ru-RU" b="1" dirty="0"/>
            </a:br>
            <a:endParaRPr lang="ru-RU" dirty="0"/>
          </a:p>
        </p:txBody>
      </p:sp>
      <p:sp>
        <p:nvSpPr>
          <p:cNvPr id="3" name="Подзаголовок 2">
            <a:extLst>
              <a:ext uri="{FF2B5EF4-FFF2-40B4-BE49-F238E27FC236}">
                <a16:creationId xmlns:a16="http://schemas.microsoft.com/office/drawing/2014/main" id="{49FE42DB-C10A-1C3B-AF66-9C4020818CED}"/>
              </a:ext>
            </a:extLst>
          </p:cNvPr>
          <p:cNvSpPr>
            <a:spLocks noGrp="1"/>
          </p:cNvSpPr>
          <p:nvPr>
            <p:ph type="subTitle" idx="1"/>
          </p:nvPr>
        </p:nvSpPr>
        <p:spPr>
          <a:xfrm>
            <a:off x="1545989" y="5478264"/>
            <a:ext cx="9144000" cy="676672"/>
          </a:xfrm>
          <a:noFill/>
        </p:spPr>
        <p:txBody>
          <a:bodyPr>
            <a:normAutofit/>
          </a:bodyPr>
          <a:lstStyle/>
          <a:p>
            <a:r>
              <a:rPr lang="ru-RU" sz="2800" dirty="0">
                <a:solidFill>
                  <a:schemeClr val="accent2">
                    <a:lumMod val="50000"/>
                  </a:schemeClr>
                </a:solidFill>
                <a:latin typeface="Arial Black" panose="020B0A04020102020204" pitchFamily="34" charset="0"/>
              </a:rPr>
              <a:t>2025г.</a:t>
            </a:r>
          </a:p>
        </p:txBody>
      </p:sp>
      <p:sp>
        <p:nvSpPr>
          <p:cNvPr id="5" name="TextBox 4">
            <a:extLst>
              <a:ext uri="{FF2B5EF4-FFF2-40B4-BE49-F238E27FC236}">
                <a16:creationId xmlns:a16="http://schemas.microsoft.com/office/drawing/2014/main" id="{346DB00A-6B0C-382F-B916-33137505D7BC}"/>
              </a:ext>
            </a:extLst>
          </p:cNvPr>
          <p:cNvSpPr txBox="1"/>
          <p:nvPr/>
        </p:nvSpPr>
        <p:spPr>
          <a:xfrm>
            <a:off x="3995243" y="3429000"/>
            <a:ext cx="4201513" cy="584775"/>
          </a:xfrm>
          <a:prstGeom prst="rect">
            <a:avLst/>
          </a:prstGeom>
          <a:noFill/>
        </p:spPr>
        <p:txBody>
          <a:bodyPr wrap="square">
            <a:spAutoFit/>
          </a:bodyPr>
          <a:lstStyle/>
          <a:p>
            <a:pPr algn="ctr"/>
            <a:r>
              <a:rPr lang="ru-RU" sz="3200" dirty="0">
                <a:solidFill>
                  <a:schemeClr val="accent2">
                    <a:lumMod val="50000"/>
                  </a:schemeClr>
                </a:solidFill>
                <a:latin typeface="Arial Black" panose="020B0A04020102020204" pitchFamily="34" charset="0"/>
              </a:rPr>
              <a:t> </a:t>
            </a:r>
            <a:r>
              <a:rPr lang="ru-RU" sz="2800" dirty="0">
                <a:solidFill>
                  <a:schemeClr val="accent2">
                    <a:lumMod val="50000"/>
                  </a:schemeClr>
                </a:solidFill>
                <a:latin typeface="Arial Black" panose="020B0A04020102020204" pitchFamily="34" charset="0"/>
              </a:rPr>
              <a:t>Гераськина Л. А</a:t>
            </a:r>
            <a:r>
              <a:rPr lang="ru-RU" sz="1800" dirty="0">
                <a:solidFill>
                  <a:schemeClr val="accent2">
                    <a:lumMod val="50000"/>
                  </a:schemeClr>
                </a:solidFill>
                <a:latin typeface="Arial Black" panose="020B0A04020102020204" pitchFamily="34" charset="0"/>
              </a:rPr>
              <a:t>.</a:t>
            </a:r>
            <a:endParaRPr lang="ru-RU" dirty="0"/>
          </a:p>
        </p:txBody>
      </p:sp>
    </p:spTree>
    <p:extLst>
      <p:ext uri="{BB962C8B-B14F-4D97-AF65-F5344CB8AC3E}">
        <p14:creationId xmlns:p14="http://schemas.microsoft.com/office/powerpoint/2010/main" val="178277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83C0C5-9E35-8E38-7992-45C06A935AFE}"/>
              </a:ext>
            </a:extLst>
          </p:cNvPr>
          <p:cNvSpPr>
            <a:spLocks noGrp="1"/>
          </p:cNvSpPr>
          <p:nvPr>
            <p:ph type="title"/>
          </p:nvPr>
        </p:nvSpPr>
        <p:spPr>
          <a:xfrm>
            <a:off x="844312" y="188640"/>
            <a:ext cx="10515600" cy="471587"/>
          </a:xfrm>
        </p:spPr>
        <p:txBody>
          <a:bodyPr>
            <a:normAutofit/>
          </a:body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3" name="Объект 2">
            <a:extLst>
              <a:ext uri="{FF2B5EF4-FFF2-40B4-BE49-F238E27FC236}">
                <a16:creationId xmlns:a16="http://schemas.microsoft.com/office/drawing/2014/main" id="{4F53D66E-4C0D-5D21-A04F-91B55484AE03}"/>
              </a:ext>
            </a:extLst>
          </p:cNvPr>
          <p:cNvSpPr>
            <a:spLocks noGrp="1"/>
          </p:cNvSpPr>
          <p:nvPr>
            <p:ph idx="1"/>
          </p:nvPr>
        </p:nvSpPr>
        <p:spPr>
          <a:xfrm>
            <a:off x="695400" y="1253331"/>
            <a:ext cx="10515600" cy="1959645"/>
          </a:xfrm>
        </p:spPr>
        <p:txBody>
          <a:bodyPr>
            <a:normAutofit/>
          </a:bodyPr>
          <a:lstStyle/>
          <a:p>
            <a:pPr marL="0" indent="0">
              <a:buNone/>
            </a:pPr>
            <a:r>
              <a:rPr lang="ru-RU" sz="2400" b="1" dirty="0">
                <a:solidFill>
                  <a:schemeClr val="accent2">
                    <a:lumMod val="50000"/>
                  </a:schemeClr>
                </a:solidFill>
                <a:latin typeface="Bahnschrift" panose="020B0502040204020203" pitchFamily="34" charset="0"/>
              </a:rPr>
              <a:t>Логистическая регрессия </a:t>
            </a:r>
            <a:r>
              <a:rPr lang="ru-RU" sz="2400" dirty="0">
                <a:solidFill>
                  <a:schemeClr val="accent2">
                    <a:lumMod val="50000"/>
                  </a:schemeClr>
                </a:solidFill>
                <a:latin typeface="Bahnschrift" panose="020B0502040204020203" pitchFamily="34" charset="0"/>
              </a:rPr>
              <a:t>— это алгоритм машинного обучения, относящийся к классу задач классификации.</a:t>
            </a:r>
          </a:p>
          <a:p>
            <a:pPr marL="0" indent="0">
              <a:buNone/>
            </a:pPr>
            <a:r>
              <a:rPr lang="ru-RU" sz="2400" dirty="0">
                <a:solidFill>
                  <a:schemeClr val="accent2">
                    <a:lumMod val="50000"/>
                  </a:schemeClr>
                </a:solidFill>
                <a:latin typeface="Bahnschrift" panose="020B0502040204020203" pitchFamily="34" charset="0"/>
              </a:rPr>
              <a:t>Несмотря на слово “регрессия” в названии, она используется для прогнозирования вероятности принадлежности объекта к определенному классу (бинарному, то есть два класса).</a:t>
            </a:r>
          </a:p>
        </p:txBody>
      </p:sp>
      <p:sp>
        <p:nvSpPr>
          <p:cNvPr id="4" name="Объект 2">
            <a:extLst>
              <a:ext uri="{FF2B5EF4-FFF2-40B4-BE49-F238E27FC236}">
                <a16:creationId xmlns:a16="http://schemas.microsoft.com/office/drawing/2014/main" id="{27CF8490-688B-39B3-B8EB-65384D9A2F66}"/>
              </a:ext>
            </a:extLst>
          </p:cNvPr>
          <p:cNvSpPr txBox="1">
            <a:spLocks/>
          </p:cNvSpPr>
          <p:nvPr/>
        </p:nvSpPr>
        <p:spPr>
          <a:xfrm>
            <a:off x="844312" y="3566161"/>
            <a:ext cx="9590424" cy="13750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2400" dirty="0">
                <a:solidFill>
                  <a:schemeClr val="accent2">
                    <a:lumMod val="50000"/>
                  </a:schemeClr>
                </a:solidFill>
                <a:latin typeface="Bahnschrift" panose="020B0502040204020203" pitchFamily="34" charset="0"/>
              </a:rPr>
              <a:t>Логистическая регрессия решает проблему неограниченного диапазона предсказаний, используя логистическую функцию (</a:t>
            </a:r>
            <a:r>
              <a:rPr lang="ru-RU" sz="2400" dirty="0" err="1">
                <a:solidFill>
                  <a:schemeClr val="accent2">
                    <a:lumMod val="50000"/>
                  </a:schemeClr>
                </a:solidFill>
                <a:latin typeface="Bahnschrift" panose="020B0502040204020203" pitchFamily="34" charset="0"/>
              </a:rPr>
              <a:t>сигмоиду</a:t>
            </a:r>
            <a:r>
              <a:rPr lang="ru-RU" sz="2400" dirty="0">
                <a:solidFill>
                  <a:schemeClr val="accent2">
                    <a:lumMod val="50000"/>
                  </a:schemeClr>
                </a:solidFill>
                <a:latin typeface="Bahnschrift" panose="020B0502040204020203" pitchFamily="34" charset="0"/>
              </a:rPr>
              <a:t>). </a:t>
            </a:r>
          </a:p>
          <a:p>
            <a:pPr marL="0" indent="0">
              <a:lnSpc>
                <a:spcPct val="110000"/>
              </a:lnSpc>
              <a:spcBef>
                <a:spcPts val="0"/>
              </a:spcBef>
              <a:buFont typeface="Arial" panose="020B0604020202020204" pitchFamily="34" charset="0"/>
              <a:buNone/>
            </a:pPr>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329809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4F279-C59A-C970-D075-71043459FF1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AAE7B5-039E-CE89-B3AB-94351C29FE57}"/>
              </a:ext>
            </a:extLst>
          </p:cNvPr>
          <p:cNvSpPr txBox="1"/>
          <p:nvPr/>
        </p:nvSpPr>
        <p:spPr>
          <a:xfrm>
            <a:off x="710971" y="864198"/>
            <a:ext cx="11217677" cy="2677656"/>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Линейная комбинация признаков: z = </a:t>
            </a:r>
            <a:r>
              <a:rPr lang="ru-RU" sz="2400" dirty="0" err="1">
                <a:solidFill>
                  <a:schemeClr val="accent2">
                    <a:lumMod val="50000"/>
                  </a:schemeClr>
                </a:solidFill>
                <a:latin typeface="Bahnschrift" panose="020B0502040204020203" pitchFamily="34" charset="0"/>
              </a:rPr>
              <a:t>b0</a:t>
            </a:r>
            <a:r>
              <a:rPr lang="ru-RU" sz="2400" dirty="0">
                <a:solidFill>
                  <a:schemeClr val="accent2">
                    <a:lumMod val="50000"/>
                  </a:schemeClr>
                </a:solidFill>
                <a:latin typeface="Bahnschrift" panose="020B0502040204020203" pitchFamily="34" charset="0"/>
              </a:rPr>
              <a:t> + </a:t>
            </a:r>
            <a:r>
              <a:rPr lang="ru-RU" sz="2400" dirty="0" err="1">
                <a:solidFill>
                  <a:schemeClr val="accent2">
                    <a:lumMod val="50000"/>
                  </a:schemeClr>
                </a:solidFill>
                <a:latin typeface="Bahnschrift" panose="020B0502040204020203" pitchFamily="34" charset="0"/>
              </a:rPr>
              <a:t>b1</a:t>
            </a:r>
            <a:r>
              <a:rPr lang="ru-RU" sz="2400" dirty="0">
                <a:solidFill>
                  <a:schemeClr val="accent2">
                    <a:lumMod val="50000"/>
                  </a:schemeClr>
                </a:solidFill>
                <a:latin typeface="Bahnschrift" panose="020B0502040204020203" pitchFamily="34" charset="0"/>
              </a:rPr>
              <a:t> * </a:t>
            </a:r>
            <a:r>
              <a:rPr lang="ru-RU" sz="2400" dirty="0" err="1">
                <a:solidFill>
                  <a:schemeClr val="accent2">
                    <a:lumMod val="50000"/>
                  </a:schemeClr>
                </a:solidFill>
                <a:latin typeface="Bahnschrift" panose="020B0502040204020203" pitchFamily="34" charset="0"/>
              </a:rPr>
              <a:t>x1</a:t>
            </a:r>
            <a:r>
              <a:rPr lang="ru-RU" sz="2400" dirty="0">
                <a:solidFill>
                  <a:schemeClr val="accent2">
                    <a:lumMod val="50000"/>
                  </a:schemeClr>
                </a:solidFill>
                <a:latin typeface="Bahnschrift" panose="020B0502040204020203" pitchFamily="34" charset="0"/>
              </a:rPr>
              <a:t> + </a:t>
            </a:r>
            <a:r>
              <a:rPr lang="ru-RU" sz="2400" dirty="0" err="1">
                <a:solidFill>
                  <a:schemeClr val="accent2">
                    <a:lumMod val="50000"/>
                  </a:schemeClr>
                </a:solidFill>
                <a:latin typeface="Bahnschrift" panose="020B0502040204020203" pitchFamily="34" charset="0"/>
              </a:rPr>
              <a:t>b2</a:t>
            </a:r>
            <a:r>
              <a:rPr lang="ru-RU" sz="2400" dirty="0">
                <a:solidFill>
                  <a:schemeClr val="accent2">
                    <a:lumMod val="50000"/>
                  </a:schemeClr>
                </a:solidFill>
                <a:latin typeface="Bahnschrift" panose="020B0502040204020203" pitchFamily="34" charset="0"/>
              </a:rPr>
              <a:t> * </a:t>
            </a:r>
            <a:r>
              <a:rPr lang="ru-RU" sz="2400" dirty="0" err="1">
                <a:solidFill>
                  <a:schemeClr val="accent2">
                    <a:lumMod val="50000"/>
                  </a:schemeClr>
                </a:solidFill>
                <a:latin typeface="Bahnschrift" panose="020B0502040204020203" pitchFamily="34" charset="0"/>
              </a:rPr>
              <a:t>x2</a:t>
            </a:r>
            <a:r>
              <a:rPr lang="ru-RU" sz="2400" dirty="0">
                <a:solidFill>
                  <a:schemeClr val="accent2">
                    <a:lumMod val="50000"/>
                  </a:schemeClr>
                </a:solidFill>
                <a:latin typeface="Bahnschrift" panose="020B0502040204020203" pitchFamily="34" charset="0"/>
              </a:rPr>
              <a:t> + ... + </a:t>
            </a:r>
            <a:r>
              <a:rPr lang="ru-RU" sz="2400" dirty="0" err="1">
                <a:solidFill>
                  <a:schemeClr val="accent2">
                    <a:lumMod val="50000"/>
                  </a:schemeClr>
                </a:solidFill>
                <a:latin typeface="Bahnschrift" panose="020B0502040204020203" pitchFamily="34" charset="0"/>
              </a:rPr>
              <a:t>bn</a:t>
            </a:r>
            <a:r>
              <a:rPr lang="ru-RU" sz="2400" dirty="0">
                <a:solidFill>
                  <a:schemeClr val="accent2">
                    <a:lumMod val="50000"/>
                  </a:schemeClr>
                </a:solidFill>
                <a:latin typeface="Bahnschrift" panose="020B0502040204020203" pitchFamily="34" charset="0"/>
              </a:rPr>
              <a:t> * </a:t>
            </a:r>
            <a:r>
              <a:rPr lang="ru-RU" sz="2400" dirty="0" err="1">
                <a:solidFill>
                  <a:schemeClr val="accent2">
                    <a:lumMod val="50000"/>
                  </a:schemeClr>
                </a:solidFill>
                <a:latin typeface="Bahnschrift" panose="020B0502040204020203" pitchFamily="34" charset="0"/>
              </a:rPr>
              <a:t>xn</a:t>
            </a:r>
            <a:r>
              <a:rPr lang="ru-RU" sz="2400" dirty="0">
                <a:solidFill>
                  <a:schemeClr val="accent2">
                    <a:lumMod val="50000"/>
                  </a:schemeClr>
                </a:solidFill>
                <a:latin typeface="Bahnschrift" panose="020B0502040204020203" pitchFamily="34" charset="0"/>
              </a:rPr>
              <a:t> (как в линейной регрессии).</a:t>
            </a:r>
          </a:p>
          <a:p>
            <a:endParaRPr lang="ru-RU" sz="2400" dirty="0">
              <a:solidFill>
                <a:schemeClr val="accent2">
                  <a:lumMod val="50000"/>
                </a:schemeClr>
              </a:solidFill>
              <a:latin typeface="Bahnschrift" panose="020B0502040204020203" pitchFamily="34" charset="0"/>
            </a:endParaRPr>
          </a:p>
          <a:p>
            <a:r>
              <a:rPr lang="ru-RU" sz="2400" b="1" dirty="0">
                <a:solidFill>
                  <a:schemeClr val="accent2">
                    <a:lumMod val="50000"/>
                  </a:schemeClr>
                </a:solidFill>
                <a:latin typeface="Bahnschrift" panose="020B0502040204020203" pitchFamily="34" charset="0"/>
              </a:rPr>
              <a:t>Применение </a:t>
            </a:r>
            <a:r>
              <a:rPr lang="ru-RU" sz="2400" b="1" dirty="0" err="1">
                <a:solidFill>
                  <a:schemeClr val="accent2">
                    <a:lumMod val="50000"/>
                  </a:schemeClr>
                </a:solidFill>
                <a:latin typeface="Bahnschrift" panose="020B0502040204020203" pitchFamily="34" charset="0"/>
              </a:rPr>
              <a:t>сигмоиды</a:t>
            </a:r>
            <a:r>
              <a:rPr lang="ru-RU" sz="2400" b="1" dirty="0">
                <a:solidFill>
                  <a:schemeClr val="accent2">
                    <a:lumMod val="50000"/>
                  </a:schemeClr>
                </a:solidFill>
                <a:latin typeface="Bahnschrift" panose="020B0502040204020203" pitchFamily="34" charset="0"/>
              </a:rPr>
              <a:t>:  </a:t>
            </a:r>
          </a:p>
          <a:p>
            <a:pPr marL="444500"/>
            <a:r>
              <a:rPr lang="ru-RU" sz="2400" dirty="0">
                <a:solidFill>
                  <a:schemeClr val="accent2">
                    <a:lumMod val="50000"/>
                  </a:schemeClr>
                </a:solidFill>
                <a:latin typeface="Bahnschrift" panose="020B0502040204020203" pitchFamily="34" charset="0"/>
              </a:rPr>
              <a:t>Принимает любое числовое значение (z) на вход. Возвращает значение в диапазоне от 0 до 1.</a:t>
            </a:r>
          </a:p>
          <a:p>
            <a:endParaRPr lang="ru-RU" sz="2400" dirty="0">
              <a:solidFill>
                <a:schemeClr val="accent2">
                  <a:lumMod val="50000"/>
                </a:schemeClr>
              </a:solidFill>
              <a:latin typeface="Bahnschrift" panose="020B0502040204020203" pitchFamily="34" charset="0"/>
            </a:endParaRPr>
          </a:p>
        </p:txBody>
      </p:sp>
      <p:sp>
        <p:nvSpPr>
          <p:cNvPr id="7" name="TextBox 6">
            <a:extLst>
              <a:ext uri="{FF2B5EF4-FFF2-40B4-BE49-F238E27FC236}">
                <a16:creationId xmlns:a16="http://schemas.microsoft.com/office/drawing/2014/main" id="{38D84034-08F4-2E67-09B5-7B56A9860EBB}"/>
              </a:ext>
            </a:extLst>
          </p:cNvPr>
          <p:cNvSpPr txBox="1"/>
          <p:nvPr/>
        </p:nvSpPr>
        <p:spPr>
          <a:xfrm>
            <a:off x="547759" y="3367425"/>
            <a:ext cx="6182567" cy="3046988"/>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 Если y больше некоторого порога (обычно 0.5), то объект относится к классу 1, иначе — к классу 0.</a:t>
            </a:r>
          </a:p>
          <a:p>
            <a:endParaRPr lang="ru-RU" sz="2400" dirty="0">
              <a:solidFill>
                <a:schemeClr val="accent2">
                  <a:lumMod val="50000"/>
                </a:schemeClr>
              </a:solidFill>
              <a:latin typeface="Bahnschrift" panose="020B0502040204020203" pitchFamily="34" charset="0"/>
            </a:endParaRPr>
          </a:p>
          <a:p>
            <a:r>
              <a:rPr lang="ru-RU" sz="2400" dirty="0">
                <a:solidFill>
                  <a:schemeClr val="accent2">
                    <a:lumMod val="50000"/>
                  </a:schemeClr>
                </a:solidFill>
                <a:latin typeface="Bahnschrift" panose="020B0502040204020203" pitchFamily="34" charset="0"/>
              </a:rPr>
              <a:t>Интерпретируется как вероятность.</a:t>
            </a:r>
          </a:p>
          <a:p>
            <a:endParaRPr lang="ru-RU" sz="2400" dirty="0">
              <a:solidFill>
                <a:schemeClr val="accent2">
                  <a:lumMod val="50000"/>
                </a:schemeClr>
              </a:solidFill>
              <a:latin typeface="Bahnschrift" panose="020B0502040204020203" pitchFamily="34" charset="0"/>
            </a:endParaRPr>
          </a:p>
          <a:p>
            <a:r>
              <a:rPr lang="ru-RU" sz="2400" dirty="0">
                <a:solidFill>
                  <a:schemeClr val="accent2">
                    <a:lumMod val="50000"/>
                  </a:schemeClr>
                </a:solidFill>
                <a:latin typeface="Bahnschrift" panose="020B0502040204020203" pitchFamily="34" charset="0"/>
              </a:rPr>
              <a:t>График: Имеет S-образную форму.</a:t>
            </a:r>
          </a:p>
          <a:p>
            <a:endParaRPr lang="ru-RU" sz="2400" dirty="0">
              <a:solidFill>
                <a:schemeClr val="accent2">
                  <a:lumMod val="50000"/>
                </a:schemeClr>
              </a:solidFill>
              <a:latin typeface="Bahnschrift" panose="020B0502040204020203" pitchFamily="34" charset="0"/>
            </a:endParaRPr>
          </a:p>
        </p:txBody>
      </p:sp>
      <p:pic>
        <p:nvPicPr>
          <p:cNvPr id="8" name="Рисунок 7">
            <a:extLst>
              <a:ext uri="{FF2B5EF4-FFF2-40B4-BE49-F238E27FC236}">
                <a16:creationId xmlns:a16="http://schemas.microsoft.com/office/drawing/2014/main" id="{2261C1C8-A712-9F71-78FB-7438A4897771}"/>
              </a:ext>
            </a:extLst>
          </p:cNvPr>
          <p:cNvPicPr>
            <a:picLocks noChangeAspect="1"/>
          </p:cNvPicPr>
          <p:nvPr/>
        </p:nvPicPr>
        <p:blipFill>
          <a:blip r:embed="rId2">
            <a:duotone>
              <a:prstClr val="black"/>
              <a:srgbClr val="D9C3A5">
                <a:tint val="50000"/>
                <a:satMod val="180000"/>
              </a:srgbClr>
            </a:duotone>
          </a:blip>
          <a:stretch>
            <a:fillRect/>
          </a:stretch>
        </p:blipFill>
        <p:spPr>
          <a:xfrm>
            <a:off x="7215586" y="3140968"/>
            <a:ext cx="4714875" cy="3114675"/>
          </a:xfrm>
          <a:prstGeom prst="rect">
            <a:avLst/>
          </a:prstGeom>
        </p:spPr>
      </p:pic>
      <p:sp>
        <p:nvSpPr>
          <p:cNvPr id="9" name="Заголовок 1">
            <a:extLst>
              <a:ext uri="{FF2B5EF4-FFF2-40B4-BE49-F238E27FC236}">
                <a16:creationId xmlns:a16="http://schemas.microsoft.com/office/drawing/2014/main" id="{D8A89D26-2114-6BBC-88F1-DA6F72CC9B43}"/>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Tree>
    <p:extLst>
      <p:ext uri="{BB962C8B-B14F-4D97-AF65-F5344CB8AC3E}">
        <p14:creationId xmlns:p14="http://schemas.microsoft.com/office/powerpoint/2010/main" val="330961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852E-959F-32E2-77F5-A9BF9FC8944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D1E3BF7-5890-5799-8506-0B6254212C1C}"/>
              </a:ext>
            </a:extLst>
          </p:cNvPr>
          <p:cNvSpPr txBox="1"/>
          <p:nvPr/>
        </p:nvSpPr>
        <p:spPr>
          <a:xfrm>
            <a:off x="1694721" y="1641471"/>
            <a:ext cx="8802558" cy="5016758"/>
          </a:xfrm>
          <a:prstGeom prst="rect">
            <a:avLst/>
          </a:prstGeom>
          <a:noFill/>
        </p:spPr>
        <p:txBody>
          <a:bodyPr wrap="square">
            <a:spAutoFit/>
          </a:bodyPr>
          <a:lstStyle/>
          <a:p>
            <a:pPr marL="352425" lvl="0"/>
            <a:r>
              <a:rPr lang="ru-RU" sz="2000" b="1" dirty="0">
                <a:solidFill>
                  <a:schemeClr val="accent2">
                    <a:lumMod val="50000"/>
                  </a:schemeClr>
                </a:solidFill>
                <a:latin typeface="Bahnschrift" panose="020B0502040204020203" pitchFamily="34" charset="0"/>
              </a:rPr>
              <a:t>Точность (Accuracy):</a:t>
            </a:r>
            <a:r>
              <a:rPr lang="ru-RU" sz="2000" dirty="0">
                <a:solidFill>
                  <a:schemeClr val="accent2">
                    <a:lumMod val="50000"/>
                  </a:schemeClr>
                </a:solidFill>
                <a:latin typeface="Bahnschrift" panose="020B0502040204020203" pitchFamily="34" charset="0"/>
              </a:rPr>
              <a:t> Доля правильно классифицированных объектов.</a:t>
            </a:r>
          </a:p>
          <a:p>
            <a:pPr marL="352425" lvl="0"/>
            <a:endParaRPr lang="ru-RU" sz="2000" b="1" dirty="0">
              <a:solidFill>
                <a:schemeClr val="accent2">
                  <a:lumMod val="50000"/>
                </a:schemeClr>
              </a:solidFill>
              <a:latin typeface="Bahnschrift" panose="020B0502040204020203" pitchFamily="34" charset="0"/>
            </a:endParaRPr>
          </a:p>
          <a:p>
            <a:pPr marL="352425" lvl="0"/>
            <a:r>
              <a:rPr lang="ru-RU" sz="2000" b="1" dirty="0">
                <a:solidFill>
                  <a:schemeClr val="accent2">
                    <a:lumMod val="50000"/>
                  </a:schemeClr>
                </a:solidFill>
                <a:latin typeface="Bahnschrift" panose="020B0502040204020203" pitchFamily="34" charset="0"/>
              </a:rPr>
              <a:t>Полнота (</a:t>
            </a:r>
            <a:r>
              <a:rPr lang="ru-RU" sz="2000" b="1" dirty="0" err="1">
                <a:solidFill>
                  <a:schemeClr val="accent2">
                    <a:lumMod val="50000"/>
                  </a:schemeClr>
                </a:solidFill>
                <a:latin typeface="Bahnschrift" panose="020B0502040204020203" pitchFamily="34" charset="0"/>
              </a:rPr>
              <a:t>Recall</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Доля правильно идентифицированных объектов положительного класса.</a:t>
            </a:r>
          </a:p>
          <a:p>
            <a:pPr marL="352425" lvl="0"/>
            <a:endParaRPr lang="ru-RU" sz="2000" b="1" dirty="0">
              <a:solidFill>
                <a:schemeClr val="accent2">
                  <a:lumMod val="50000"/>
                </a:schemeClr>
              </a:solidFill>
              <a:latin typeface="Bahnschrift" panose="020B0502040204020203" pitchFamily="34" charset="0"/>
            </a:endParaRPr>
          </a:p>
          <a:p>
            <a:pPr marL="352425" lvl="0"/>
            <a:r>
              <a:rPr lang="ru-RU" sz="2000" b="1" dirty="0">
                <a:solidFill>
                  <a:schemeClr val="accent2">
                    <a:lumMod val="50000"/>
                  </a:schemeClr>
                </a:solidFill>
                <a:latin typeface="Bahnschrift" panose="020B0502040204020203" pitchFamily="34" charset="0"/>
              </a:rPr>
              <a:t>Точность (Precision):</a:t>
            </a:r>
            <a:r>
              <a:rPr lang="ru-RU" sz="2000" dirty="0">
                <a:solidFill>
                  <a:schemeClr val="accent2">
                    <a:lumMod val="50000"/>
                  </a:schemeClr>
                </a:solidFill>
                <a:latin typeface="Bahnschrift" panose="020B0502040204020203" pitchFamily="34" charset="0"/>
              </a:rPr>
              <a:t> Доля правильно классифицированных объектов среди тех, которые модель отнесла к положительному классу.</a:t>
            </a:r>
          </a:p>
          <a:p>
            <a:pPr marL="352425" lvl="0"/>
            <a:endParaRPr lang="ru-RU" sz="2000" b="1" dirty="0">
              <a:solidFill>
                <a:schemeClr val="accent2">
                  <a:lumMod val="50000"/>
                </a:schemeClr>
              </a:solidFill>
              <a:latin typeface="Bahnschrift" panose="020B0502040204020203" pitchFamily="34" charset="0"/>
            </a:endParaRPr>
          </a:p>
          <a:p>
            <a:pPr marL="352425" lvl="0"/>
            <a:r>
              <a:rPr lang="ru-RU" sz="2000" b="1" dirty="0" err="1">
                <a:solidFill>
                  <a:schemeClr val="accent2">
                    <a:lumMod val="50000"/>
                  </a:schemeClr>
                </a:solidFill>
                <a:latin typeface="Bahnschrift" panose="020B0502040204020203" pitchFamily="34" charset="0"/>
              </a:rPr>
              <a:t>F1</a:t>
            </a:r>
            <a:r>
              <a:rPr lang="ru-RU" sz="2000" b="1" dirty="0">
                <a:solidFill>
                  <a:schemeClr val="accent2">
                    <a:lumMod val="50000"/>
                  </a:schemeClr>
                </a:solidFill>
                <a:latin typeface="Bahnschrift" panose="020B0502040204020203" pitchFamily="34" charset="0"/>
              </a:rPr>
              <a:t>-мера (</a:t>
            </a:r>
            <a:r>
              <a:rPr lang="ru-RU" sz="2000" b="1" dirty="0" err="1">
                <a:solidFill>
                  <a:schemeClr val="accent2">
                    <a:lumMod val="50000"/>
                  </a:schemeClr>
                </a:solidFill>
                <a:latin typeface="Bahnschrift" panose="020B0502040204020203" pitchFamily="34" charset="0"/>
              </a:rPr>
              <a:t>F1-score</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Гармоническое среднее точности и полноты.</a:t>
            </a:r>
          </a:p>
          <a:p>
            <a:pPr marL="352425" lvl="0"/>
            <a:endParaRPr lang="ru-RU" sz="2000" b="1" dirty="0">
              <a:solidFill>
                <a:schemeClr val="accent2">
                  <a:lumMod val="50000"/>
                </a:schemeClr>
              </a:solidFill>
              <a:latin typeface="Bahnschrift" panose="020B0502040204020203" pitchFamily="34" charset="0"/>
            </a:endParaRPr>
          </a:p>
          <a:p>
            <a:pPr marL="352425" lvl="0"/>
            <a:r>
              <a:rPr lang="ru-RU" sz="2000" b="1" dirty="0" err="1">
                <a:solidFill>
                  <a:schemeClr val="accent2">
                    <a:lumMod val="50000"/>
                  </a:schemeClr>
                </a:solidFill>
                <a:latin typeface="Bahnschrift" panose="020B0502040204020203" pitchFamily="34" charset="0"/>
              </a:rPr>
              <a:t>AUC-ROC</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Площадь под кривой </a:t>
            </a:r>
            <a:r>
              <a:rPr lang="ru-RU" sz="2000" dirty="0" err="1">
                <a:solidFill>
                  <a:schemeClr val="accent2">
                    <a:lumMod val="50000"/>
                  </a:schemeClr>
                </a:solidFill>
                <a:latin typeface="Bahnschrift" panose="020B0502040204020203" pitchFamily="34" charset="0"/>
              </a:rPr>
              <a:t>ROC</a:t>
            </a:r>
            <a:r>
              <a:rPr lang="ru-RU" sz="2000" dirty="0">
                <a:solidFill>
                  <a:schemeClr val="accent2">
                    <a:lumMod val="50000"/>
                  </a:schemeClr>
                </a:solidFill>
                <a:latin typeface="Bahnschrift" panose="020B0502040204020203" pitchFamily="34" charset="0"/>
              </a:rPr>
              <a:t>, которая показывает, как хорошо модель различает классы при разных порогах классификации.</a:t>
            </a:r>
          </a:p>
          <a:p>
            <a:pPr marL="352425" lvl="0"/>
            <a:endParaRPr lang="ru-RU" sz="2000" b="1" dirty="0">
              <a:solidFill>
                <a:schemeClr val="accent2">
                  <a:lumMod val="50000"/>
                </a:schemeClr>
              </a:solidFill>
              <a:latin typeface="Bahnschrift" panose="020B0502040204020203" pitchFamily="34" charset="0"/>
            </a:endParaRPr>
          </a:p>
          <a:p>
            <a:pPr marL="352425" lvl="0"/>
            <a:r>
              <a:rPr lang="ru-RU" sz="2000" b="1" dirty="0" err="1">
                <a:solidFill>
                  <a:schemeClr val="accent2">
                    <a:lumMod val="50000"/>
                  </a:schemeClr>
                </a:solidFill>
                <a:latin typeface="Bahnschrift" panose="020B0502040204020203" pitchFamily="34" charset="0"/>
              </a:rPr>
              <a:t>Log</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Loss</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это метрика оценки производительности модели классификации, которая выводит вероятности принадлежности к тому или иному классу.</a:t>
            </a:r>
          </a:p>
        </p:txBody>
      </p:sp>
      <p:sp>
        <p:nvSpPr>
          <p:cNvPr id="6" name="Заголовок 1">
            <a:extLst>
              <a:ext uri="{FF2B5EF4-FFF2-40B4-BE49-F238E27FC236}">
                <a16:creationId xmlns:a16="http://schemas.microsoft.com/office/drawing/2014/main" id="{021E8838-CE4B-DAE0-2622-462B6DA587E3}"/>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47F2B50E-34A5-C7AD-7A2D-2670335F6E98}"/>
              </a:ext>
            </a:extLst>
          </p:cNvPr>
          <p:cNvSpPr txBox="1"/>
          <p:nvPr/>
        </p:nvSpPr>
        <p:spPr>
          <a:xfrm>
            <a:off x="955274" y="679380"/>
            <a:ext cx="12241360" cy="769441"/>
          </a:xfrm>
          <a:prstGeom prst="rect">
            <a:avLst/>
          </a:prstGeom>
          <a:noFill/>
        </p:spPr>
        <p:txBody>
          <a:bodyPr wrap="square">
            <a:spAutoFit/>
          </a:bodyPr>
          <a:lstStyle/>
          <a:p>
            <a:r>
              <a:rPr lang="ru-RU" sz="2200" b="1" dirty="0">
                <a:solidFill>
                  <a:schemeClr val="accent2">
                    <a:lumMod val="50000"/>
                  </a:schemeClr>
                </a:solidFill>
                <a:latin typeface="Bahnschrift" panose="020B0502040204020203" pitchFamily="34" charset="0"/>
              </a:rPr>
              <a:t>Для оценки качества модели логистической регрессии </a:t>
            </a:r>
          </a:p>
          <a:p>
            <a:r>
              <a:rPr lang="ru-RU" sz="2200" b="1" dirty="0">
                <a:solidFill>
                  <a:schemeClr val="accent2">
                    <a:lumMod val="50000"/>
                  </a:schemeClr>
                </a:solidFill>
                <a:latin typeface="Bahnschrift" panose="020B0502040204020203" pitchFamily="34" charset="0"/>
              </a:rPr>
              <a:t>используются различные метрики:</a:t>
            </a:r>
          </a:p>
        </p:txBody>
      </p:sp>
    </p:spTree>
    <p:extLst>
      <p:ext uri="{BB962C8B-B14F-4D97-AF65-F5344CB8AC3E}">
        <p14:creationId xmlns:p14="http://schemas.microsoft.com/office/powerpoint/2010/main" val="116790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EA8CB-3325-2E6B-2379-361FD190A6D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4DAD48-9F83-CA2E-F3D6-73B032CAEDAF}"/>
              </a:ext>
            </a:extLst>
          </p:cNvPr>
          <p:cNvSpPr txBox="1"/>
          <p:nvPr/>
        </p:nvSpPr>
        <p:spPr>
          <a:xfrm>
            <a:off x="1694720" y="1124744"/>
            <a:ext cx="8802558" cy="1015663"/>
          </a:xfrm>
          <a:prstGeom prst="rect">
            <a:avLst/>
          </a:prstGeom>
          <a:noFill/>
        </p:spPr>
        <p:txBody>
          <a:bodyPr wrap="square">
            <a:spAutoFit/>
          </a:bodyPr>
          <a:lstStyle/>
          <a:p>
            <a:pPr lvl="0"/>
            <a:r>
              <a:rPr lang="en-US" sz="2000" b="1" dirty="0">
                <a:solidFill>
                  <a:srgbClr val="A626A4"/>
                </a:solidFill>
                <a:effectLst/>
                <a:latin typeface="Times New Roman" panose="02020603050405020304" pitchFamily="18" charset="0"/>
                <a:ea typeface="Times New Roman" panose="02020603050405020304" pitchFamily="18" charset="0"/>
              </a:rPr>
              <a:t>from</a:t>
            </a:r>
            <a:r>
              <a:rPr lang="en-US" sz="2000" dirty="0">
                <a:solidFill>
                  <a:srgbClr val="383A42"/>
                </a:solidFill>
                <a:effectLst/>
                <a:latin typeface="Times New Roman" panose="02020603050405020304" pitchFamily="18" charset="0"/>
                <a:ea typeface="Times New Roman" panose="02020603050405020304" pitchFamily="18" charset="0"/>
              </a:rPr>
              <a:t> </a:t>
            </a:r>
            <a:r>
              <a:rPr lang="en-US" sz="2000" dirty="0" err="1">
                <a:solidFill>
                  <a:srgbClr val="383A42"/>
                </a:solidFill>
                <a:effectLst/>
                <a:latin typeface="Times New Roman" panose="02020603050405020304" pitchFamily="18" charset="0"/>
                <a:ea typeface="Times New Roman" panose="02020603050405020304" pitchFamily="18" charset="0"/>
              </a:rPr>
              <a:t>sklearn.linear_model</a:t>
            </a:r>
            <a:r>
              <a:rPr lang="en-US" sz="2000" dirty="0">
                <a:solidFill>
                  <a:srgbClr val="383A42"/>
                </a:solidFill>
                <a:effectLst/>
                <a:latin typeface="Times New Roman" panose="02020603050405020304" pitchFamily="18" charset="0"/>
                <a:ea typeface="Times New Roman" panose="02020603050405020304" pitchFamily="18" charset="0"/>
              </a:rPr>
              <a:t> </a:t>
            </a:r>
            <a:r>
              <a:rPr lang="en-US" sz="2000" b="1" dirty="0">
                <a:solidFill>
                  <a:srgbClr val="A626A4"/>
                </a:solidFill>
                <a:effectLst/>
                <a:latin typeface="Times New Roman" panose="02020603050405020304" pitchFamily="18" charset="0"/>
                <a:ea typeface="Times New Roman" panose="02020603050405020304" pitchFamily="18" charset="0"/>
              </a:rPr>
              <a:t>import</a:t>
            </a:r>
            <a:r>
              <a:rPr lang="en-US" sz="2000" dirty="0">
                <a:solidFill>
                  <a:srgbClr val="383A42"/>
                </a:solidFill>
                <a:effectLst/>
                <a:latin typeface="Times New Roman" panose="02020603050405020304" pitchFamily="18" charset="0"/>
                <a:ea typeface="Times New Roman" panose="02020603050405020304" pitchFamily="18" charset="0"/>
              </a:rPr>
              <a:t> LogisticRegression</a:t>
            </a:r>
            <a:endParaRPr lang="ru-RU" sz="2000" dirty="0">
              <a:solidFill>
                <a:srgbClr val="383A42"/>
              </a:solidFill>
              <a:effectLst/>
              <a:latin typeface="Times New Roman" panose="02020603050405020304" pitchFamily="18" charset="0"/>
              <a:ea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b="1" dirty="0">
                <a:solidFill>
                  <a:srgbClr val="A626A4"/>
                </a:solidFill>
                <a:effectLst/>
                <a:latin typeface="Times New Roman" panose="02020603050405020304" pitchFamily="18" charset="0"/>
                <a:ea typeface="Times New Roman" panose="02020603050405020304" pitchFamily="18" charset="0"/>
                <a:cs typeface="Times New Roman" panose="02020603050405020304" pitchFamily="18" charset="0"/>
              </a:rPr>
              <a:t>from</a:t>
            </a:r>
            <a:r>
              <a:rPr lang="en-US" sz="2000" dirty="0">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sklearn.metrics</a:t>
            </a:r>
            <a:r>
              <a:rPr lang="en-US" sz="2000" dirty="0">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solidFill>
                  <a:srgbClr val="A626A4"/>
                </a:solidFill>
                <a:effectLst/>
                <a:latin typeface="Times New Roman" panose="02020603050405020304" pitchFamily="18" charset="0"/>
                <a:ea typeface="Times New Roman" panose="02020603050405020304" pitchFamily="18" charset="0"/>
                <a:cs typeface="Times New Roman" panose="02020603050405020304" pitchFamily="18" charset="0"/>
              </a:rPr>
              <a:t>import</a:t>
            </a:r>
            <a:r>
              <a:rPr lang="en-US" sz="2000" dirty="0">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accuracy_score</a:t>
            </a:r>
            <a:r>
              <a:rPr lang="en-US" sz="2000" dirty="0">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classification_report</a:t>
            </a:r>
            <a:r>
              <a:rPr lang="en-US" sz="2000" dirty="0">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err="1">
                <a:solidFill>
                  <a:srgbClr val="383A42"/>
                </a:solidFill>
                <a:effectLst/>
                <a:latin typeface="Times New Roman" panose="02020603050405020304" pitchFamily="18" charset="0"/>
                <a:ea typeface="Times New Roman" panose="02020603050405020304" pitchFamily="18" charset="0"/>
                <a:cs typeface="Times New Roman" panose="02020603050405020304" pitchFamily="18" charset="0"/>
              </a:rPr>
              <a:t>roc_auc_score</a:t>
            </a:r>
            <a:endParaRPr lang="ru-RU"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52425" lvl="0"/>
            <a:endParaRPr lang="ru-RU" sz="2000" dirty="0">
              <a:solidFill>
                <a:schemeClr val="accent2">
                  <a:lumMod val="50000"/>
                </a:schemeClr>
              </a:solidFill>
              <a:latin typeface="Bahnschrift" panose="020B0502040204020203" pitchFamily="34" charset="0"/>
            </a:endParaRPr>
          </a:p>
        </p:txBody>
      </p:sp>
      <p:sp>
        <p:nvSpPr>
          <p:cNvPr id="6" name="Заголовок 1">
            <a:extLst>
              <a:ext uri="{FF2B5EF4-FFF2-40B4-BE49-F238E27FC236}">
                <a16:creationId xmlns:a16="http://schemas.microsoft.com/office/drawing/2014/main" id="{36EDF6ED-175F-4D04-9300-7E69AE24073A}"/>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3" name="TextBox 2">
            <a:extLst>
              <a:ext uri="{FF2B5EF4-FFF2-40B4-BE49-F238E27FC236}">
                <a16:creationId xmlns:a16="http://schemas.microsoft.com/office/drawing/2014/main" id="{12547881-0252-A681-9397-34194D2D74B4}"/>
              </a:ext>
            </a:extLst>
          </p:cNvPr>
          <p:cNvSpPr txBox="1"/>
          <p:nvPr/>
        </p:nvSpPr>
        <p:spPr>
          <a:xfrm>
            <a:off x="1694720" y="2852936"/>
            <a:ext cx="8361719" cy="3354765"/>
          </a:xfrm>
          <a:prstGeom prst="rect">
            <a:avLst/>
          </a:prstGeom>
          <a:noFill/>
        </p:spPr>
        <p:txBody>
          <a:bodyPr wrap="square">
            <a:spAutoFit/>
          </a:bodyPr>
          <a:lstStyle/>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i="1" dirty="0">
                <a:solidFill>
                  <a:srgbClr val="00B050"/>
                </a:solidFill>
                <a:effectLst/>
                <a:latin typeface="Bahnschrift" panose="020B0502040204020203" pitchFamily="34" charset="0"/>
                <a:ea typeface="Times New Roman" panose="02020603050405020304" pitchFamily="18" charset="0"/>
                <a:cs typeface="Times New Roman" panose="02020603050405020304" pitchFamily="18" charset="0"/>
              </a:rPr>
              <a:t># Создадим модель логистической регрессии</a:t>
            </a:r>
            <a:endParaRPr lang="ru-RU" sz="2000" dirty="0">
              <a:solidFill>
                <a:srgbClr val="00B05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model</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 </a:t>
            </a: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LogisticRegression</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i="1" dirty="0">
                <a:solidFill>
                  <a:srgbClr val="00B050"/>
                </a:solidFill>
                <a:effectLst/>
                <a:latin typeface="Bahnschrift" panose="020B0502040204020203" pitchFamily="34" charset="0"/>
                <a:ea typeface="Times New Roman" panose="02020603050405020304" pitchFamily="18" charset="0"/>
                <a:cs typeface="Times New Roman" panose="02020603050405020304" pitchFamily="18" charset="0"/>
              </a:rPr>
              <a:t># Обучим модель на обучающей выборке</a:t>
            </a:r>
            <a:endParaRPr lang="ru-RU" sz="2000" dirty="0">
              <a:solidFill>
                <a:srgbClr val="00B05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model.fit</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(X_train, y_train)</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i="1" dirty="0">
                <a:solidFill>
                  <a:srgbClr val="00B050"/>
                </a:solidFill>
                <a:effectLst/>
                <a:latin typeface="Bahnschrift" panose="020B0502040204020203" pitchFamily="34" charset="0"/>
                <a:ea typeface="Times New Roman" panose="02020603050405020304" pitchFamily="18" charset="0"/>
                <a:cs typeface="Times New Roman" panose="02020603050405020304" pitchFamily="18" charset="0"/>
              </a:rPr>
              <a:t># Сделаем предсказания на тестовой выборке</a:t>
            </a:r>
            <a:endParaRPr lang="ru-RU" sz="2000" dirty="0">
              <a:solidFill>
                <a:srgbClr val="00B05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y_pred</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 model.predict(X_test)  </a:t>
            </a:r>
            <a:r>
              <a:rPr lang="ru-RU" sz="2000" i="1" dirty="0">
                <a:solidFill>
                  <a:srgbClr val="00B050"/>
                </a:solidFill>
                <a:effectLst/>
                <a:latin typeface="Bahnschrift" panose="020B0502040204020203" pitchFamily="34" charset="0"/>
                <a:ea typeface="Times New Roman" panose="02020603050405020304" pitchFamily="18" charset="0"/>
                <a:cs typeface="Times New Roman" panose="02020603050405020304" pitchFamily="18" charset="0"/>
              </a:rPr>
              <a:t># Предсказание классов (0 или 1)</a:t>
            </a:r>
            <a:endParaRPr lang="ru-RU" sz="2000" dirty="0">
              <a:solidFill>
                <a:srgbClr val="00B05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y_prob</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 </a:t>
            </a:r>
            <a:r>
              <a:rPr lang="ru-RU" sz="2000" dirty="0" err="1">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model.predict_proba</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(X_test)[:, </a:t>
            </a:r>
            <a:r>
              <a:rPr lang="ru-RU" sz="2000" dirty="0">
                <a:solidFill>
                  <a:srgbClr val="986801"/>
                </a:solidFill>
                <a:effectLst/>
                <a:latin typeface="Bahnschrift" panose="020B0502040204020203" pitchFamily="34" charset="0"/>
                <a:ea typeface="Times New Roman" panose="02020603050405020304" pitchFamily="18" charset="0"/>
                <a:cs typeface="Times New Roman" panose="02020603050405020304" pitchFamily="18" charset="0"/>
              </a:rPr>
              <a:t>1</a:t>
            </a:r>
            <a:r>
              <a:rPr lang="ru-RU" sz="2000" dirty="0">
                <a:solidFill>
                  <a:srgbClr val="383A42"/>
                </a:solidFill>
                <a:effectLst/>
                <a:latin typeface="Bahnschrift" panose="020B0502040204020203" pitchFamily="34" charset="0"/>
                <a:ea typeface="Times New Roman" panose="02020603050405020304" pitchFamily="18" charset="0"/>
                <a:cs typeface="Times New Roman" panose="02020603050405020304" pitchFamily="18" charset="0"/>
              </a:rPr>
              <a:t>]  </a:t>
            </a:r>
            <a:r>
              <a:rPr lang="ru-RU" sz="2000" i="1" dirty="0">
                <a:solidFill>
                  <a:srgbClr val="00B050"/>
                </a:solidFill>
                <a:effectLst/>
                <a:latin typeface="Bahnschrift" panose="020B0502040204020203" pitchFamily="34" charset="0"/>
                <a:ea typeface="Times New Roman" panose="02020603050405020304" pitchFamily="18" charset="0"/>
                <a:cs typeface="Times New Roman" panose="02020603050405020304" pitchFamily="18" charset="0"/>
              </a:rPr>
              <a:t># Предсказание вероятностей для класса 1</a:t>
            </a:r>
            <a:endParaRPr lang="ru-RU" sz="2000" dirty="0">
              <a:solidFill>
                <a:srgbClr val="00B050"/>
              </a:solidFill>
              <a:effectLst/>
              <a:latin typeface="Bahnschrift" panose="020B0502040204020203" pitchFamily="34" charset="0"/>
              <a:ea typeface="Calibri" panose="020F0502020204030204" pitchFamily="34" charset="0"/>
              <a:cs typeface="Times New Roman" panose="02020603050405020304" pitchFamily="18" charset="0"/>
            </a:endParaRPr>
          </a:p>
          <a:p>
            <a:pPr>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ru-RU" sz="120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ru-RU" sz="1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7398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8A5DC-51BA-40F3-E79B-2FFAA6E51E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1CE0FCD-BED6-7E07-659C-CCA18F3C009C}"/>
              </a:ext>
            </a:extLst>
          </p:cNvPr>
          <p:cNvSpPr txBox="1"/>
          <p:nvPr/>
        </p:nvSpPr>
        <p:spPr>
          <a:xfrm>
            <a:off x="1271464" y="1434479"/>
            <a:ext cx="10227568" cy="5262979"/>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Для предотвращения переобучения в логистической регрессии часто используют регуляризацию:</a:t>
            </a:r>
          </a:p>
          <a:p>
            <a:endParaRPr lang="ru-RU" sz="2400" dirty="0">
              <a:solidFill>
                <a:schemeClr val="accent2">
                  <a:lumMod val="50000"/>
                </a:schemeClr>
              </a:solidFill>
              <a:latin typeface="Bahnschrift" panose="020B0502040204020203" pitchFamily="34" charset="0"/>
            </a:endParaRPr>
          </a:p>
          <a:p>
            <a:pPr lvl="0"/>
            <a:r>
              <a:rPr lang="ru-RU" sz="2400" b="1" dirty="0" err="1">
                <a:solidFill>
                  <a:schemeClr val="accent2">
                    <a:lumMod val="50000"/>
                  </a:schemeClr>
                </a:solidFill>
                <a:latin typeface="Bahnschrift" panose="020B0502040204020203" pitchFamily="34" charset="0"/>
              </a:rPr>
              <a:t>L1</a:t>
            </a:r>
            <a:r>
              <a:rPr lang="ru-RU" sz="2400" b="1" dirty="0">
                <a:solidFill>
                  <a:schemeClr val="accent2">
                    <a:lumMod val="50000"/>
                  </a:schemeClr>
                </a:solidFill>
                <a:latin typeface="Bahnschrift" panose="020B0502040204020203" pitchFamily="34" charset="0"/>
              </a:rPr>
              <a:t>-регуляризация (</a:t>
            </a:r>
            <a:r>
              <a:rPr lang="ru-RU" sz="2400" b="1" dirty="0" err="1">
                <a:solidFill>
                  <a:schemeClr val="accent2">
                    <a:lumMod val="50000"/>
                  </a:schemeClr>
                </a:solidFill>
                <a:latin typeface="Bahnschrift" panose="020B0502040204020203" pitchFamily="34" charset="0"/>
              </a:rPr>
              <a:t>Lasso</a:t>
            </a:r>
            <a:r>
              <a:rPr lang="ru-RU" sz="2400" b="1"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 Добавляет к функции потерь штраф, пропорциональный сумме абсолютных значений коэффициентов. Склоняет коэффициенты к нулю, приводя к отбору признаков.</a:t>
            </a:r>
          </a:p>
          <a:p>
            <a:pPr lvl="0"/>
            <a:endParaRPr lang="ru-RU" sz="2400" dirty="0">
              <a:solidFill>
                <a:schemeClr val="accent2">
                  <a:lumMod val="50000"/>
                </a:schemeClr>
              </a:solidFill>
              <a:latin typeface="Bahnschrift" panose="020B0502040204020203" pitchFamily="34" charset="0"/>
            </a:endParaRPr>
          </a:p>
          <a:p>
            <a:pPr lvl="0"/>
            <a:r>
              <a:rPr lang="ru-RU" sz="2400" b="1" dirty="0" err="1">
                <a:solidFill>
                  <a:schemeClr val="accent2">
                    <a:lumMod val="50000"/>
                  </a:schemeClr>
                </a:solidFill>
                <a:latin typeface="Bahnschrift" panose="020B0502040204020203" pitchFamily="34" charset="0"/>
              </a:rPr>
              <a:t>L2</a:t>
            </a:r>
            <a:r>
              <a:rPr lang="ru-RU" sz="2400" b="1" dirty="0">
                <a:solidFill>
                  <a:schemeClr val="accent2">
                    <a:lumMod val="50000"/>
                  </a:schemeClr>
                </a:solidFill>
                <a:latin typeface="Bahnschrift" panose="020B0502040204020203" pitchFamily="34" charset="0"/>
              </a:rPr>
              <a:t>-регуляризация (</a:t>
            </a:r>
            <a:r>
              <a:rPr lang="ru-RU" sz="2400" b="1" dirty="0" err="1">
                <a:solidFill>
                  <a:schemeClr val="accent2">
                    <a:lumMod val="50000"/>
                  </a:schemeClr>
                </a:solidFill>
                <a:latin typeface="Bahnschrift" panose="020B0502040204020203" pitchFamily="34" charset="0"/>
              </a:rPr>
              <a:t>Ridge</a:t>
            </a:r>
            <a:r>
              <a:rPr lang="ru-RU" sz="2400" b="1"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 Добавляет к функции потерь штраф, пропорциональный сумме квадратов коэффициентов. Сжимает коэффициенты, но не приводит к их обнулению.</a:t>
            </a:r>
          </a:p>
          <a:p>
            <a:pPr lvl="0"/>
            <a:endParaRPr lang="ru-RU" sz="2400" dirty="0">
              <a:solidFill>
                <a:schemeClr val="accent2">
                  <a:lumMod val="50000"/>
                </a:schemeClr>
              </a:solidFill>
              <a:latin typeface="Bahnschrift" panose="020B0502040204020203" pitchFamily="34" charset="0"/>
            </a:endParaRPr>
          </a:p>
          <a:p>
            <a:pPr lvl="0"/>
            <a:r>
              <a:rPr lang="ru-RU" sz="2400" dirty="0">
                <a:solidFill>
                  <a:schemeClr val="accent2">
                    <a:lumMod val="50000"/>
                  </a:schemeClr>
                </a:solidFill>
                <a:latin typeface="Bahnschrift" panose="020B0502040204020203" pitchFamily="34" charset="0"/>
              </a:rPr>
              <a:t>Цель состоит в том, чтобы заставить модель находить баланс между хорошей подгонкой к данным и использованием небольших коэффициентов.</a:t>
            </a:r>
          </a:p>
        </p:txBody>
      </p:sp>
      <p:sp>
        <p:nvSpPr>
          <p:cNvPr id="6" name="Заголовок 1">
            <a:extLst>
              <a:ext uri="{FF2B5EF4-FFF2-40B4-BE49-F238E27FC236}">
                <a16:creationId xmlns:a16="http://schemas.microsoft.com/office/drawing/2014/main" id="{F5EBCE3F-53BD-0457-D4B0-08E47AE1D078}"/>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95435448-3556-3CDD-042B-59FB7D31EEDE}"/>
              </a:ext>
            </a:extLst>
          </p:cNvPr>
          <p:cNvSpPr txBox="1"/>
          <p:nvPr/>
        </p:nvSpPr>
        <p:spPr>
          <a:xfrm>
            <a:off x="983432" y="843677"/>
            <a:ext cx="12241360" cy="430887"/>
          </a:xfrm>
          <a:prstGeom prst="rect">
            <a:avLst/>
          </a:prstGeom>
          <a:noFill/>
        </p:spPr>
        <p:txBody>
          <a:bodyPr wrap="square">
            <a:spAutoFit/>
          </a:bodyPr>
          <a:lstStyle/>
          <a:p>
            <a:r>
              <a:rPr lang="ru-RU" sz="2200" b="1" dirty="0">
                <a:solidFill>
                  <a:schemeClr val="accent2">
                    <a:lumMod val="50000"/>
                  </a:schemeClr>
                </a:solidFill>
                <a:latin typeface="Bahnschrift" panose="020B0502040204020203" pitchFamily="34" charset="0"/>
              </a:rPr>
              <a:t>Регуляризация в Логистической Регрессии:</a:t>
            </a:r>
          </a:p>
        </p:txBody>
      </p:sp>
    </p:spTree>
    <p:extLst>
      <p:ext uri="{BB962C8B-B14F-4D97-AF65-F5344CB8AC3E}">
        <p14:creationId xmlns:p14="http://schemas.microsoft.com/office/powerpoint/2010/main" val="248570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9DE0C-3FC0-ACD6-9832-29A2F6B852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9C4037-C0B2-5700-F75E-F9A496BD5590}"/>
              </a:ext>
            </a:extLst>
          </p:cNvPr>
          <p:cNvSpPr txBox="1"/>
          <p:nvPr/>
        </p:nvSpPr>
        <p:spPr>
          <a:xfrm>
            <a:off x="623392" y="1536174"/>
            <a:ext cx="10875640" cy="4154984"/>
          </a:xfrm>
          <a:prstGeom prst="rect">
            <a:avLst/>
          </a:prstGeom>
          <a:noFill/>
        </p:spPr>
        <p:txBody>
          <a:bodyPr wrap="square">
            <a:spAutoFit/>
          </a:bodyPr>
          <a:lstStyle/>
          <a:p>
            <a:r>
              <a:rPr lang="ru-RU" sz="2400" dirty="0" err="1">
                <a:solidFill>
                  <a:schemeClr val="accent2">
                    <a:lumMod val="50000"/>
                  </a:schemeClr>
                </a:solidFill>
                <a:latin typeface="Bahnschrift" panose="020B0502040204020203" pitchFamily="34" charset="0"/>
              </a:rPr>
              <a:t>Lasso</a:t>
            </a:r>
            <a:r>
              <a:rPr lang="ru-RU" sz="2400" dirty="0">
                <a:solidFill>
                  <a:schemeClr val="accent2">
                    <a:lumMod val="50000"/>
                  </a:schemeClr>
                </a:solidFill>
                <a:latin typeface="Bahnschrift" panose="020B0502040204020203" pitchFamily="34" charset="0"/>
              </a:rPr>
              <a:t> - это техника </a:t>
            </a:r>
            <a:r>
              <a:rPr lang="ru-RU" sz="2400" i="1" dirty="0">
                <a:solidFill>
                  <a:schemeClr val="accent2">
                    <a:lumMod val="50000"/>
                  </a:schemeClr>
                </a:solidFill>
                <a:latin typeface="Bahnschrift" panose="020B0502040204020203" pitchFamily="34" charset="0"/>
              </a:rPr>
              <a:t>регуляризации</a:t>
            </a:r>
            <a:r>
              <a:rPr lang="ru-RU" sz="2400" dirty="0">
                <a:solidFill>
                  <a:schemeClr val="accent2">
                    <a:lumMod val="50000"/>
                  </a:schemeClr>
                </a:solidFill>
                <a:latin typeface="Bahnschrift" panose="020B0502040204020203" pitchFamily="34" charset="0"/>
              </a:rPr>
              <a:t>, которая может применяться к </a:t>
            </a:r>
            <a:r>
              <a:rPr lang="ru-RU" sz="2400" i="1" dirty="0">
                <a:solidFill>
                  <a:schemeClr val="accent2">
                    <a:lumMod val="50000"/>
                  </a:schemeClr>
                </a:solidFill>
                <a:latin typeface="Bahnschrift" panose="020B0502040204020203" pitchFamily="34" charset="0"/>
              </a:rPr>
              <a:t>разным</a:t>
            </a:r>
            <a:r>
              <a:rPr lang="ru-RU" sz="2400" dirty="0">
                <a:solidFill>
                  <a:schemeClr val="accent2">
                    <a:lumMod val="50000"/>
                  </a:schemeClr>
                </a:solidFill>
                <a:latin typeface="Bahnschrift" panose="020B0502040204020203" pitchFamily="34" charset="0"/>
              </a:rPr>
              <a:t> типам моделей, включая линейную регрессию. Сама по себе </a:t>
            </a:r>
            <a:r>
              <a:rPr lang="ru-RU" sz="2400" dirty="0" err="1">
                <a:solidFill>
                  <a:schemeClr val="accent2">
                    <a:lumMod val="50000"/>
                  </a:schemeClr>
                </a:solidFill>
                <a:latin typeface="Bahnschrift" panose="020B0502040204020203" pitchFamily="34" charset="0"/>
              </a:rPr>
              <a:t>Lasso</a:t>
            </a:r>
            <a:r>
              <a:rPr lang="ru-RU" sz="2400" dirty="0">
                <a:solidFill>
                  <a:schemeClr val="accent2">
                    <a:lumMod val="50000"/>
                  </a:schemeClr>
                </a:solidFill>
                <a:latin typeface="Bahnschrift" panose="020B0502040204020203" pitchFamily="34" charset="0"/>
              </a:rPr>
              <a:t> - это не модель, а метод, который помогает предотвратить переобучение и, возможно, выполнить отбор признаков.</a:t>
            </a:r>
          </a:p>
          <a:p>
            <a:endParaRPr lang="ru-RU" sz="2400" dirty="0">
              <a:solidFill>
                <a:schemeClr val="accent2">
                  <a:lumMod val="50000"/>
                </a:schemeClr>
              </a:solidFill>
              <a:latin typeface="Bahnschrift" panose="020B0502040204020203" pitchFamily="34" charset="0"/>
            </a:endParaRPr>
          </a:p>
          <a:p>
            <a:r>
              <a:rPr lang="ru-RU" sz="2400" dirty="0">
                <a:solidFill>
                  <a:schemeClr val="accent2">
                    <a:lumMod val="50000"/>
                  </a:schemeClr>
                </a:solidFill>
                <a:latin typeface="Bahnschrift" panose="020B0502040204020203" pitchFamily="34" charset="0"/>
              </a:rPr>
              <a:t>Имеет тенденцию обнулять коэффициенты некоторых признаков, что приводит к отбору признаков (</a:t>
            </a:r>
            <a:r>
              <a:rPr lang="ru-RU" sz="2400" dirty="0" err="1">
                <a:solidFill>
                  <a:schemeClr val="accent2">
                    <a:lumMod val="50000"/>
                  </a:schemeClr>
                </a:solidFill>
                <a:latin typeface="Bahnschrift" panose="020B0502040204020203" pitchFamily="34" charset="0"/>
              </a:rPr>
              <a:t>feature</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selection</a:t>
            </a:r>
            <a:r>
              <a:rPr lang="ru-RU" sz="2400" dirty="0">
                <a:solidFill>
                  <a:schemeClr val="accent2">
                    <a:lumMod val="50000"/>
                  </a:schemeClr>
                </a:solidFill>
                <a:latin typeface="Bahnschrift" panose="020B0502040204020203" pitchFamily="34" charset="0"/>
              </a:rPr>
              <a:t>). То есть, </a:t>
            </a:r>
            <a:r>
              <a:rPr lang="ru-RU" sz="2400" dirty="0" err="1">
                <a:solidFill>
                  <a:schemeClr val="accent2">
                    <a:lumMod val="50000"/>
                  </a:schemeClr>
                </a:solidFill>
                <a:latin typeface="Bahnschrift" panose="020B0502040204020203" pitchFamily="34" charset="0"/>
              </a:rPr>
              <a:t>L1</a:t>
            </a:r>
            <a:r>
              <a:rPr lang="ru-RU" sz="2400" dirty="0">
                <a:solidFill>
                  <a:schemeClr val="accent2">
                    <a:lumMod val="50000"/>
                  </a:schemeClr>
                </a:solidFill>
                <a:latin typeface="Bahnschrift" panose="020B0502040204020203" pitchFamily="34" charset="0"/>
              </a:rPr>
              <a:t> может “выкинуть” из модели неважные признаки.</a:t>
            </a:r>
          </a:p>
          <a:p>
            <a:r>
              <a:rPr lang="ru-RU" sz="2400" dirty="0">
                <a:solidFill>
                  <a:schemeClr val="accent2">
                    <a:lumMod val="50000"/>
                  </a:schemeClr>
                </a:solidFill>
                <a:latin typeface="Bahnschrift" panose="020B0502040204020203" pitchFamily="34" charset="0"/>
              </a:rPr>
              <a:t>Полезен, когда есть много признаков, и вы подозреваете, что некоторые из них не важны.</a:t>
            </a:r>
          </a:p>
          <a:p>
            <a:endParaRPr lang="ru-RU" sz="2400" dirty="0">
              <a:solidFill>
                <a:schemeClr val="accent2">
                  <a:lumMod val="50000"/>
                </a:schemeClr>
              </a:solidFill>
              <a:latin typeface="Bahnschrift" panose="020B0502040204020203" pitchFamily="34" charset="0"/>
            </a:endParaRPr>
          </a:p>
        </p:txBody>
      </p:sp>
      <p:sp>
        <p:nvSpPr>
          <p:cNvPr id="6" name="Заголовок 1">
            <a:extLst>
              <a:ext uri="{FF2B5EF4-FFF2-40B4-BE49-F238E27FC236}">
                <a16:creationId xmlns:a16="http://schemas.microsoft.com/office/drawing/2014/main" id="{71450F92-ED54-D83C-3003-937C0D666832}"/>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5A4ADB0B-1F93-178F-5E08-099BF8591C88}"/>
              </a:ext>
            </a:extLst>
          </p:cNvPr>
          <p:cNvSpPr txBox="1"/>
          <p:nvPr/>
        </p:nvSpPr>
        <p:spPr>
          <a:xfrm>
            <a:off x="983432" y="843677"/>
            <a:ext cx="12241360" cy="461665"/>
          </a:xfrm>
          <a:prstGeom prst="rect">
            <a:avLst/>
          </a:prstGeom>
          <a:noFill/>
        </p:spPr>
        <p:txBody>
          <a:bodyPr wrap="square">
            <a:spAutoFit/>
          </a:bodyPr>
          <a:lstStyle/>
          <a:p>
            <a:r>
              <a:rPr lang="en-US" sz="2400" b="1" dirty="0">
                <a:solidFill>
                  <a:schemeClr val="accent2">
                    <a:lumMod val="50000"/>
                  </a:schemeClr>
                </a:solidFill>
                <a:latin typeface="Bahnschrift" panose="020B0502040204020203" pitchFamily="34" charset="0"/>
              </a:rPr>
              <a:t>Lasso (</a:t>
            </a:r>
            <a:r>
              <a:rPr lang="en-US" sz="2400" b="1" dirty="0" err="1">
                <a:solidFill>
                  <a:schemeClr val="accent2">
                    <a:lumMod val="50000"/>
                  </a:schemeClr>
                </a:solidFill>
                <a:latin typeface="Bahnschrift" panose="020B0502040204020203" pitchFamily="34" charset="0"/>
              </a:rPr>
              <a:t>L1</a:t>
            </a:r>
            <a:r>
              <a:rPr lang="en-US" sz="2400" b="1" dirty="0">
                <a:solidFill>
                  <a:schemeClr val="accent2">
                    <a:lumMod val="50000"/>
                  </a:schemeClr>
                </a:solidFill>
                <a:latin typeface="Bahnschrift" panose="020B0502040204020203" pitchFamily="34" charset="0"/>
              </a:rPr>
              <a:t>-</a:t>
            </a:r>
            <a:r>
              <a:rPr lang="ru-RU" sz="2400" b="1" dirty="0">
                <a:solidFill>
                  <a:schemeClr val="accent2">
                    <a:lumMod val="50000"/>
                  </a:schemeClr>
                </a:solidFill>
                <a:latin typeface="Bahnschrift" panose="020B0502040204020203" pitchFamily="34" charset="0"/>
              </a:rPr>
              <a:t>регуляризация)</a:t>
            </a:r>
          </a:p>
        </p:txBody>
      </p:sp>
    </p:spTree>
    <p:extLst>
      <p:ext uri="{BB962C8B-B14F-4D97-AF65-F5344CB8AC3E}">
        <p14:creationId xmlns:p14="http://schemas.microsoft.com/office/powerpoint/2010/main" val="3264166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38636-6C97-96F2-D5AB-BA3BEFF0A7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B8B459-11AB-0C18-47B6-214DAE360262}"/>
              </a:ext>
            </a:extLst>
          </p:cNvPr>
          <p:cNvSpPr txBox="1"/>
          <p:nvPr/>
        </p:nvSpPr>
        <p:spPr>
          <a:xfrm>
            <a:off x="1415480" y="2132856"/>
            <a:ext cx="8928992" cy="2308324"/>
          </a:xfrm>
          <a:prstGeom prst="rect">
            <a:avLst/>
          </a:prstGeom>
          <a:noFill/>
        </p:spPr>
        <p:txBody>
          <a:bodyPr wrap="square">
            <a:spAutoFit/>
          </a:bodyPr>
          <a:lstStyle/>
          <a:p>
            <a:r>
              <a:rPr lang="ru-RU" sz="2400" b="1" dirty="0">
                <a:solidFill>
                  <a:schemeClr val="accent2">
                    <a:lumMod val="50000"/>
                  </a:schemeClr>
                </a:solidFill>
                <a:latin typeface="Bahnschrift" panose="020B0502040204020203" pitchFamily="34" charset="0"/>
              </a:rPr>
              <a:t>Уменьшает величину всех коэффициентов, но редко обнуляет их.</a:t>
            </a:r>
          </a:p>
          <a:p>
            <a:endParaRPr lang="ru-RU" sz="2400" b="1" dirty="0">
              <a:solidFill>
                <a:schemeClr val="accent2">
                  <a:lumMod val="50000"/>
                </a:schemeClr>
              </a:solidFill>
              <a:latin typeface="Bahnschrift" panose="020B0502040204020203" pitchFamily="34" charset="0"/>
            </a:endParaRPr>
          </a:p>
          <a:p>
            <a:r>
              <a:rPr lang="ru-RU" sz="2400" b="1" dirty="0">
                <a:solidFill>
                  <a:schemeClr val="accent2">
                    <a:lumMod val="50000"/>
                  </a:schemeClr>
                </a:solidFill>
                <a:latin typeface="Bahnschrift" panose="020B0502040204020203" pitchFamily="34" charset="0"/>
              </a:rPr>
              <a:t>Полезен, когда вы хотите уменьшить сложность модели и улучшить ее обобщающую способность, но не хотите явно отбрасывать признаки.</a:t>
            </a:r>
          </a:p>
        </p:txBody>
      </p:sp>
      <p:sp>
        <p:nvSpPr>
          <p:cNvPr id="6" name="Заголовок 1">
            <a:extLst>
              <a:ext uri="{FF2B5EF4-FFF2-40B4-BE49-F238E27FC236}">
                <a16:creationId xmlns:a16="http://schemas.microsoft.com/office/drawing/2014/main" id="{A79F69BF-D4F7-13AB-19EA-8EDE87E53656}"/>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F1DD5674-9715-A5BF-E8E9-185EB7BABFD2}"/>
              </a:ext>
            </a:extLst>
          </p:cNvPr>
          <p:cNvSpPr txBox="1"/>
          <p:nvPr/>
        </p:nvSpPr>
        <p:spPr>
          <a:xfrm>
            <a:off x="983432" y="843677"/>
            <a:ext cx="12241360" cy="461665"/>
          </a:xfrm>
          <a:prstGeom prst="rect">
            <a:avLst/>
          </a:prstGeom>
          <a:noFill/>
        </p:spPr>
        <p:txBody>
          <a:bodyPr wrap="square">
            <a:spAutoFit/>
          </a:bodyPr>
          <a:lstStyle/>
          <a:p>
            <a:r>
              <a:rPr lang="en-US" sz="2400" b="1" dirty="0">
                <a:solidFill>
                  <a:schemeClr val="accent2">
                    <a:lumMod val="50000"/>
                  </a:schemeClr>
                </a:solidFill>
                <a:latin typeface="Bahnschrift" panose="020B0502040204020203" pitchFamily="34" charset="0"/>
              </a:rPr>
              <a:t>Ridge (L</a:t>
            </a:r>
            <a:r>
              <a:rPr lang="ru-RU" sz="2400" b="1" dirty="0">
                <a:solidFill>
                  <a:schemeClr val="accent2">
                    <a:lumMod val="50000"/>
                  </a:schemeClr>
                </a:solidFill>
                <a:latin typeface="Bahnschrift" panose="020B0502040204020203" pitchFamily="34" charset="0"/>
              </a:rPr>
              <a:t>2</a:t>
            </a:r>
            <a:r>
              <a:rPr lang="en-US" sz="2400" b="1" dirty="0">
                <a:solidFill>
                  <a:schemeClr val="accent2">
                    <a:lumMod val="50000"/>
                  </a:schemeClr>
                </a:solidFill>
                <a:latin typeface="Bahnschrift" panose="020B0502040204020203" pitchFamily="34" charset="0"/>
              </a:rPr>
              <a:t>-</a:t>
            </a:r>
            <a:r>
              <a:rPr lang="ru-RU" sz="2400" b="1" dirty="0">
                <a:solidFill>
                  <a:schemeClr val="accent2">
                    <a:lumMod val="50000"/>
                  </a:schemeClr>
                </a:solidFill>
                <a:latin typeface="Bahnschrift" panose="020B0502040204020203" pitchFamily="34" charset="0"/>
              </a:rPr>
              <a:t>регуляризация)</a:t>
            </a:r>
          </a:p>
        </p:txBody>
      </p:sp>
    </p:spTree>
    <p:extLst>
      <p:ext uri="{BB962C8B-B14F-4D97-AF65-F5344CB8AC3E}">
        <p14:creationId xmlns:p14="http://schemas.microsoft.com/office/powerpoint/2010/main" val="675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386F-26EB-D166-588A-89059FEFC3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FF0FE8-5BDB-F39B-2A43-C8D9B718726B}"/>
              </a:ext>
            </a:extLst>
          </p:cNvPr>
          <p:cNvSpPr txBox="1"/>
          <p:nvPr/>
        </p:nvSpPr>
        <p:spPr>
          <a:xfrm>
            <a:off x="658180" y="1305342"/>
            <a:ext cx="10875640" cy="4893647"/>
          </a:xfrm>
          <a:prstGeom prst="rect">
            <a:avLst/>
          </a:prstGeom>
          <a:noFill/>
        </p:spPr>
        <p:txBody>
          <a:bodyPr wrap="square">
            <a:spAutoFit/>
          </a:bodyPr>
          <a:lstStyle/>
          <a:p>
            <a:r>
              <a:rPr lang="ru-RU" sz="2400" b="1" dirty="0" err="1">
                <a:solidFill>
                  <a:schemeClr val="accent2">
                    <a:lumMod val="50000"/>
                  </a:schemeClr>
                </a:solidFill>
                <a:latin typeface="Bahnschrift" panose="020B0502040204020203" pitchFamily="34" charset="0"/>
              </a:rPr>
              <a:t>LogisticRegression</a:t>
            </a:r>
            <a:r>
              <a:rPr lang="ru-RU" sz="2400" b="1" dirty="0">
                <a:solidFill>
                  <a:schemeClr val="accent2">
                    <a:lumMod val="50000"/>
                  </a:schemeClr>
                </a:solidFill>
                <a:latin typeface="Bahnschrift" panose="020B0502040204020203" pitchFamily="34" charset="0"/>
              </a:rPr>
              <a:t>(</a:t>
            </a:r>
            <a:r>
              <a:rPr lang="ru-RU" sz="2400" b="1" dirty="0" err="1">
                <a:latin typeface="Bahnschrift" panose="020B0502040204020203" pitchFamily="34" charset="0"/>
              </a:rPr>
              <a:t>penalty</a:t>
            </a:r>
            <a:r>
              <a:rPr lang="ru-RU" sz="2400" b="1" dirty="0">
                <a:latin typeface="Bahnschrift" panose="020B0502040204020203" pitchFamily="34" charset="0"/>
              </a:rPr>
              <a:t>='</a:t>
            </a:r>
            <a:r>
              <a:rPr lang="ru-RU" sz="2400" b="1" dirty="0" err="1">
                <a:latin typeface="Bahnschrift" panose="020B0502040204020203" pitchFamily="34" charset="0"/>
              </a:rPr>
              <a:t>l2</a:t>
            </a:r>
            <a:r>
              <a:rPr lang="ru-RU" sz="2400" b="1" dirty="0">
                <a:latin typeface="Bahnschrift" panose="020B0502040204020203" pitchFamily="34" charset="0"/>
              </a:rPr>
              <a:t>’</a:t>
            </a:r>
            <a:r>
              <a:rPr lang="ru-RU" sz="2400" b="1" dirty="0">
                <a:solidFill>
                  <a:schemeClr val="accent2">
                    <a:lumMod val="50000"/>
                  </a:schemeClr>
                </a:solidFill>
                <a:latin typeface="Bahnschrift" panose="020B0502040204020203" pitchFamily="34" charset="0"/>
              </a:rPr>
              <a:t>): </a:t>
            </a:r>
          </a:p>
          <a:p>
            <a:r>
              <a:rPr lang="ru-RU" sz="2000" b="1" dirty="0">
                <a:solidFill>
                  <a:schemeClr val="accent2">
                    <a:lumMod val="50000"/>
                  </a:schemeClr>
                </a:solidFill>
                <a:latin typeface="Bahnschrift" panose="020B0502040204020203" pitchFamily="34" charset="0"/>
              </a:rPr>
              <a:t>Для использования </a:t>
            </a:r>
            <a:r>
              <a:rPr lang="ru-RU" sz="2000" b="1" dirty="0" err="1">
                <a:solidFill>
                  <a:schemeClr val="accent2">
                    <a:lumMod val="50000"/>
                  </a:schemeClr>
                </a:solidFill>
                <a:latin typeface="Bahnschrift" panose="020B0502040204020203" pitchFamily="34" charset="0"/>
              </a:rPr>
              <a:t>L2</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Ridge</a:t>
            </a:r>
            <a:r>
              <a:rPr lang="ru-RU" sz="2000" b="1" dirty="0">
                <a:solidFill>
                  <a:schemeClr val="accent2">
                    <a:lumMod val="50000"/>
                  </a:schemeClr>
                </a:solidFill>
                <a:latin typeface="Bahnschrift" panose="020B0502040204020203" pitchFamily="34" charset="0"/>
              </a:rPr>
              <a:t>) регуляризации, вы устанавливаете параметр </a:t>
            </a:r>
            <a:r>
              <a:rPr lang="ru-RU" sz="2000" b="1" dirty="0" err="1">
                <a:solidFill>
                  <a:schemeClr val="accent2">
                    <a:lumMod val="50000"/>
                  </a:schemeClr>
                </a:solidFill>
                <a:latin typeface="Bahnschrift" panose="020B0502040204020203" pitchFamily="34" charset="0"/>
              </a:rPr>
              <a:t>penalty</a:t>
            </a:r>
            <a:r>
              <a:rPr lang="ru-RU" sz="2000" b="1" dirty="0">
                <a:solidFill>
                  <a:schemeClr val="accent2">
                    <a:lumMod val="50000"/>
                  </a:schemeClr>
                </a:solidFill>
                <a:latin typeface="Bahnschrift" panose="020B0502040204020203" pitchFamily="34" charset="0"/>
              </a:rPr>
              <a:t>='</a:t>
            </a:r>
            <a:r>
              <a:rPr lang="ru-RU" sz="2000" b="1" dirty="0" err="1">
                <a:solidFill>
                  <a:schemeClr val="accent2">
                    <a:lumMod val="50000"/>
                  </a:schemeClr>
                </a:solidFill>
                <a:latin typeface="Bahnschrift" panose="020B0502040204020203" pitchFamily="34" charset="0"/>
              </a:rPr>
              <a:t>l2</a:t>
            </a:r>
            <a:r>
              <a:rPr lang="ru-RU" sz="2000" b="1" dirty="0">
                <a:solidFill>
                  <a:schemeClr val="accent2">
                    <a:lumMod val="50000"/>
                  </a:schemeClr>
                </a:solidFill>
                <a:latin typeface="Bahnschrift" panose="020B0502040204020203" pitchFamily="34" charset="0"/>
              </a:rPr>
              <a:t>’.</a:t>
            </a:r>
          </a:p>
          <a:p>
            <a:endParaRPr lang="ru-RU" sz="2000" b="1" dirty="0">
              <a:solidFill>
                <a:schemeClr val="accent2">
                  <a:lumMod val="50000"/>
                </a:schemeClr>
              </a:solidFill>
              <a:latin typeface="Bahnschrift" panose="020B0502040204020203" pitchFamily="34" charset="0"/>
            </a:endParaRPr>
          </a:p>
          <a:p>
            <a:r>
              <a:rPr lang="ru-RU" sz="2400" b="1" dirty="0" err="1">
                <a:solidFill>
                  <a:schemeClr val="accent2">
                    <a:lumMod val="50000"/>
                  </a:schemeClr>
                </a:solidFill>
                <a:latin typeface="Bahnschrift" panose="020B0502040204020203" pitchFamily="34" charset="0"/>
              </a:rPr>
              <a:t>LogisticRegression</a:t>
            </a:r>
            <a:r>
              <a:rPr lang="ru-RU" sz="2400" b="1" dirty="0">
                <a:solidFill>
                  <a:schemeClr val="accent2">
                    <a:lumMod val="50000"/>
                  </a:schemeClr>
                </a:solidFill>
                <a:latin typeface="Bahnschrift" panose="020B0502040204020203" pitchFamily="34" charset="0"/>
              </a:rPr>
              <a:t>(</a:t>
            </a:r>
            <a:r>
              <a:rPr lang="ru-RU" sz="2400" b="1" dirty="0" err="1">
                <a:latin typeface="Bahnschrift" panose="020B0502040204020203" pitchFamily="34" charset="0"/>
              </a:rPr>
              <a:t>penalty</a:t>
            </a:r>
            <a:r>
              <a:rPr lang="ru-RU" sz="2400" b="1" dirty="0">
                <a:latin typeface="Bahnschrift" panose="020B0502040204020203" pitchFamily="34" charset="0"/>
              </a:rPr>
              <a:t>='</a:t>
            </a:r>
            <a:r>
              <a:rPr lang="ru-RU" sz="2400" b="1" dirty="0" err="1">
                <a:latin typeface="Bahnschrift" panose="020B0502040204020203" pitchFamily="34" charset="0"/>
              </a:rPr>
              <a:t>l1</a:t>
            </a:r>
            <a:r>
              <a:rPr lang="ru-RU" sz="2400" b="1" dirty="0">
                <a:solidFill>
                  <a:schemeClr val="accent2">
                    <a:lumMod val="50000"/>
                  </a:schemeClr>
                </a:solidFill>
                <a:latin typeface="Bahnschrift" panose="020B0502040204020203" pitchFamily="34" charset="0"/>
              </a:rPr>
              <a:t>’): </a:t>
            </a:r>
          </a:p>
          <a:p>
            <a:r>
              <a:rPr lang="ru-RU" sz="2000" b="1" dirty="0">
                <a:solidFill>
                  <a:schemeClr val="accent2">
                    <a:lumMod val="50000"/>
                  </a:schemeClr>
                </a:solidFill>
                <a:latin typeface="Bahnschrift" panose="020B0502040204020203" pitchFamily="34" charset="0"/>
              </a:rPr>
              <a:t>Для использования </a:t>
            </a:r>
            <a:r>
              <a:rPr lang="ru-RU" sz="2000" b="1" dirty="0" err="1">
                <a:solidFill>
                  <a:schemeClr val="accent2">
                    <a:lumMod val="50000"/>
                  </a:schemeClr>
                </a:solidFill>
                <a:latin typeface="Bahnschrift" panose="020B0502040204020203" pitchFamily="34" charset="0"/>
              </a:rPr>
              <a:t>L1</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Lasso</a:t>
            </a:r>
            <a:r>
              <a:rPr lang="ru-RU" sz="2000" b="1" dirty="0">
                <a:solidFill>
                  <a:schemeClr val="accent2">
                    <a:lumMod val="50000"/>
                  </a:schemeClr>
                </a:solidFill>
                <a:latin typeface="Bahnschrift" panose="020B0502040204020203" pitchFamily="34" charset="0"/>
              </a:rPr>
              <a:t>) регуляризации, вы устанавливаете параметр </a:t>
            </a:r>
            <a:r>
              <a:rPr lang="ru-RU" sz="2000" b="1" dirty="0" err="1">
                <a:solidFill>
                  <a:schemeClr val="accent2">
                    <a:lumMod val="50000"/>
                  </a:schemeClr>
                </a:solidFill>
                <a:latin typeface="Bahnschrift" panose="020B0502040204020203" pitchFamily="34" charset="0"/>
              </a:rPr>
              <a:t>penalty</a:t>
            </a:r>
            <a:r>
              <a:rPr lang="ru-RU" sz="2000" b="1" dirty="0">
                <a:solidFill>
                  <a:schemeClr val="accent2">
                    <a:lumMod val="50000"/>
                  </a:schemeClr>
                </a:solidFill>
                <a:latin typeface="Bahnschrift" panose="020B0502040204020203" pitchFamily="34" charset="0"/>
              </a:rPr>
              <a:t>='</a:t>
            </a:r>
            <a:r>
              <a:rPr lang="ru-RU" sz="2000" b="1" dirty="0" err="1">
                <a:solidFill>
                  <a:schemeClr val="accent2">
                    <a:lumMod val="50000"/>
                  </a:schemeClr>
                </a:solidFill>
                <a:latin typeface="Bahnschrift" panose="020B0502040204020203" pitchFamily="34" charset="0"/>
              </a:rPr>
              <a:t>l1</a:t>
            </a:r>
            <a:r>
              <a:rPr lang="ru-RU" sz="2000" b="1" dirty="0">
                <a:solidFill>
                  <a:schemeClr val="accent2">
                    <a:lumMod val="50000"/>
                  </a:schemeClr>
                </a:solidFill>
                <a:latin typeface="Bahnschrift" panose="020B0502040204020203" pitchFamily="34" charset="0"/>
              </a:rPr>
              <a:t>’.</a:t>
            </a:r>
          </a:p>
          <a:p>
            <a:endParaRPr lang="ru-RU" sz="2000" b="1" dirty="0">
              <a:solidFill>
                <a:schemeClr val="accent2">
                  <a:lumMod val="50000"/>
                </a:schemeClr>
              </a:solidFill>
              <a:latin typeface="Bahnschrift" panose="020B0502040204020203" pitchFamily="34" charset="0"/>
            </a:endParaRPr>
          </a:p>
          <a:p>
            <a:r>
              <a:rPr lang="ru-RU" sz="2400" b="1" dirty="0">
                <a:solidFill>
                  <a:schemeClr val="accent2">
                    <a:lumMod val="50000"/>
                  </a:schemeClr>
                </a:solidFill>
                <a:latin typeface="Bahnschrift" panose="020B0502040204020203" pitchFamily="34" charset="0"/>
              </a:rPr>
              <a:t>Параметр C:</a:t>
            </a:r>
          </a:p>
          <a:p>
            <a:pPr marL="352425"/>
            <a:r>
              <a:rPr lang="ru-RU" sz="2000" b="1" dirty="0">
                <a:latin typeface="Bahnschrift" panose="020B0502040204020203" pitchFamily="34" charset="0"/>
              </a:rPr>
              <a:t>C</a:t>
            </a:r>
            <a:r>
              <a:rPr lang="ru-RU" sz="2000" b="1" dirty="0">
                <a:solidFill>
                  <a:schemeClr val="accent2">
                    <a:lumMod val="50000"/>
                  </a:schemeClr>
                </a:solidFill>
                <a:latin typeface="Bahnschrift" panose="020B0502040204020203" pitchFamily="34" charset="0"/>
              </a:rPr>
              <a:t> - это обратная сила регуляризации.</a:t>
            </a:r>
          </a:p>
          <a:p>
            <a:pPr marL="352425"/>
            <a:r>
              <a:rPr lang="ru-RU" sz="2000" b="1" dirty="0">
                <a:solidFill>
                  <a:schemeClr val="accent2">
                    <a:lumMod val="50000"/>
                  </a:schemeClr>
                </a:solidFill>
                <a:latin typeface="Bahnschrift" panose="020B0502040204020203" pitchFamily="34" charset="0"/>
              </a:rPr>
              <a:t>C = 1 / </a:t>
            </a:r>
            <a:r>
              <a:rPr lang="ru-RU" sz="2000" b="1" dirty="0" err="1">
                <a:solidFill>
                  <a:schemeClr val="accent2">
                    <a:lumMod val="50000"/>
                  </a:schemeClr>
                </a:solidFill>
                <a:latin typeface="Bahnschrift" panose="020B0502040204020203" pitchFamily="34" charset="0"/>
              </a:rPr>
              <a:t>alpha</a:t>
            </a:r>
            <a:r>
              <a:rPr lang="ru-RU" sz="2000" b="1" dirty="0">
                <a:solidFill>
                  <a:schemeClr val="accent2">
                    <a:lumMod val="50000"/>
                  </a:schemeClr>
                </a:solidFill>
                <a:latin typeface="Bahnschrift" panose="020B0502040204020203" pitchFamily="34" charset="0"/>
              </a:rPr>
              <a:t>, где</a:t>
            </a:r>
            <a:r>
              <a:rPr lang="ru-RU" sz="2000" b="1" dirty="0">
                <a:latin typeface="Bahnschrift" panose="020B0502040204020203" pitchFamily="34" charset="0"/>
              </a:rPr>
              <a:t> </a:t>
            </a:r>
            <a:r>
              <a:rPr lang="ru-RU" sz="2000" b="1" dirty="0" err="1">
                <a:latin typeface="Bahnschrift" panose="020B0502040204020203" pitchFamily="34" charset="0"/>
              </a:rPr>
              <a:t>alpha</a:t>
            </a:r>
            <a:r>
              <a:rPr lang="ru-RU" sz="2000" b="1" dirty="0">
                <a:latin typeface="Bahnschrift" panose="020B0502040204020203" pitchFamily="34" charset="0"/>
              </a:rPr>
              <a:t> </a:t>
            </a:r>
            <a:r>
              <a:rPr lang="ru-RU" sz="2000" b="1" dirty="0">
                <a:solidFill>
                  <a:schemeClr val="accent2">
                    <a:lumMod val="50000"/>
                  </a:schemeClr>
                </a:solidFill>
                <a:latin typeface="Bahnschrift" panose="020B0502040204020203" pitchFamily="34" charset="0"/>
              </a:rPr>
              <a:t>- это коэффициент, определяющий силу регуляризации</a:t>
            </a:r>
            <a:endParaRPr lang="en-US" sz="2000" b="1" dirty="0">
              <a:solidFill>
                <a:schemeClr val="accent2">
                  <a:lumMod val="50000"/>
                </a:schemeClr>
              </a:solidFill>
              <a:latin typeface="Bahnschrift" panose="020B0502040204020203" pitchFamily="34" charset="0"/>
            </a:endParaRPr>
          </a:p>
          <a:p>
            <a:pPr marL="352425"/>
            <a:endParaRPr lang="ru-RU" sz="2000" b="1" dirty="0">
              <a:solidFill>
                <a:schemeClr val="accent2">
                  <a:lumMod val="50000"/>
                </a:schemeClr>
              </a:solidFill>
              <a:latin typeface="Bahnschrift" panose="020B0502040204020203" pitchFamily="34" charset="0"/>
            </a:endParaRPr>
          </a:p>
          <a:p>
            <a:pPr marL="352425"/>
            <a:r>
              <a:rPr lang="ru-RU" sz="2000" b="1" dirty="0">
                <a:latin typeface="Bahnschrift" panose="020B0502040204020203" pitchFamily="34" charset="0"/>
              </a:rPr>
              <a:t>Меньшее значение C </a:t>
            </a:r>
            <a:r>
              <a:rPr lang="ru-RU" sz="2000" b="1" dirty="0">
                <a:solidFill>
                  <a:schemeClr val="accent2">
                    <a:lumMod val="50000"/>
                  </a:schemeClr>
                </a:solidFill>
                <a:latin typeface="Bahnschrift" panose="020B0502040204020203" pitchFamily="34" charset="0"/>
              </a:rPr>
              <a:t>означает более сильную регуляризацию (</a:t>
            </a:r>
            <a:r>
              <a:rPr lang="ru-RU" sz="2000" b="1" dirty="0">
                <a:latin typeface="Bahnschrift" panose="020B0502040204020203" pitchFamily="34" charset="0"/>
              </a:rPr>
              <a:t>больший штраф </a:t>
            </a:r>
            <a:r>
              <a:rPr lang="ru-RU" sz="2000" b="1" dirty="0">
                <a:solidFill>
                  <a:schemeClr val="accent2">
                    <a:lumMod val="50000"/>
                  </a:schemeClr>
                </a:solidFill>
                <a:latin typeface="Bahnschrift" panose="020B0502040204020203" pitchFamily="34" charset="0"/>
              </a:rPr>
              <a:t>за большие коэффициенты).</a:t>
            </a:r>
          </a:p>
          <a:p>
            <a:pPr marL="352425"/>
            <a:endParaRPr lang="ru-RU" sz="2000" b="1" dirty="0">
              <a:solidFill>
                <a:schemeClr val="accent2">
                  <a:lumMod val="50000"/>
                </a:schemeClr>
              </a:solidFill>
              <a:latin typeface="Bahnschrift" panose="020B0502040204020203" pitchFamily="34" charset="0"/>
            </a:endParaRPr>
          </a:p>
          <a:p>
            <a:pPr marL="352425"/>
            <a:r>
              <a:rPr lang="ru-RU" sz="2000" b="1" dirty="0">
                <a:latin typeface="Bahnschrift" panose="020B0502040204020203" pitchFamily="34" charset="0"/>
              </a:rPr>
              <a:t>Большее значение C </a:t>
            </a:r>
            <a:r>
              <a:rPr lang="ru-RU" sz="2000" b="1" dirty="0">
                <a:solidFill>
                  <a:schemeClr val="accent2">
                    <a:lumMod val="50000"/>
                  </a:schemeClr>
                </a:solidFill>
                <a:latin typeface="Bahnschrift" panose="020B0502040204020203" pitchFamily="34" charset="0"/>
              </a:rPr>
              <a:t>означает менее сильную регуляризацию (</a:t>
            </a:r>
            <a:r>
              <a:rPr lang="ru-RU" sz="2000" b="1" dirty="0">
                <a:latin typeface="Bahnschrift" panose="020B0502040204020203" pitchFamily="34" charset="0"/>
              </a:rPr>
              <a:t>меньший штраф </a:t>
            </a:r>
            <a:r>
              <a:rPr lang="ru-RU" sz="2000" b="1" dirty="0">
                <a:solidFill>
                  <a:schemeClr val="accent2">
                    <a:lumMod val="50000"/>
                  </a:schemeClr>
                </a:solidFill>
                <a:latin typeface="Bahnschrift" panose="020B0502040204020203" pitchFamily="34" charset="0"/>
              </a:rPr>
              <a:t>за большие коэффициенты).</a:t>
            </a:r>
          </a:p>
        </p:txBody>
      </p:sp>
      <p:sp>
        <p:nvSpPr>
          <p:cNvPr id="6" name="Заголовок 1">
            <a:extLst>
              <a:ext uri="{FF2B5EF4-FFF2-40B4-BE49-F238E27FC236}">
                <a16:creationId xmlns:a16="http://schemas.microsoft.com/office/drawing/2014/main" id="{256F3066-B761-F29D-F3C5-DA2CBA624D27}"/>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D415C271-F0FF-2C3F-F635-3767B651CEB8}"/>
              </a:ext>
            </a:extLst>
          </p:cNvPr>
          <p:cNvSpPr txBox="1"/>
          <p:nvPr/>
        </p:nvSpPr>
        <p:spPr>
          <a:xfrm>
            <a:off x="679180" y="736091"/>
            <a:ext cx="12241360" cy="461665"/>
          </a:xfrm>
          <a:prstGeom prst="rect">
            <a:avLst/>
          </a:prstGeom>
          <a:noFill/>
        </p:spPr>
        <p:txBody>
          <a:bodyPr wrap="square">
            <a:spAutoFit/>
          </a:bodyPr>
          <a:lstStyle/>
          <a:p>
            <a:r>
              <a:rPr lang="ru-RU" sz="2400" b="1" dirty="0">
                <a:solidFill>
                  <a:schemeClr val="accent2">
                    <a:lumMod val="50000"/>
                  </a:schemeClr>
                </a:solidFill>
                <a:latin typeface="Bahnschrift" panose="020B0502040204020203" pitchFamily="34" charset="0"/>
              </a:rPr>
              <a:t>Реализация в </a:t>
            </a:r>
            <a:r>
              <a:rPr lang="ru-RU" sz="2400" b="1" dirty="0" err="1">
                <a:solidFill>
                  <a:schemeClr val="accent2">
                    <a:lumMod val="50000"/>
                  </a:schemeClr>
                </a:solidFill>
                <a:latin typeface="Bahnschrift" panose="020B0502040204020203" pitchFamily="34" charset="0"/>
              </a:rPr>
              <a:t>LogisticRegression</a:t>
            </a:r>
            <a:endParaRPr lang="ru-RU" sz="2400" b="1"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283442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E8348-BB6F-BFFE-ED2B-8E12DA9397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6DE158-78BB-C3C2-3CAA-3A100C9FC179}"/>
              </a:ext>
            </a:extLst>
          </p:cNvPr>
          <p:cNvSpPr txBox="1"/>
          <p:nvPr/>
        </p:nvSpPr>
        <p:spPr>
          <a:xfrm>
            <a:off x="839416" y="1164134"/>
            <a:ext cx="11113377" cy="5693866"/>
          </a:xfrm>
          <a:prstGeom prst="rect">
            <a:avLst/>
          </a:prstGeom>
          <a:noFill/>
        </p:spPr>
        <p:txBody>
          <a:bodyPr wrap="square">
            <a:spAutoFit/>
          </a:bodyPr>
          <a:lstStyle/>
          <a:p>
            <a:r>
              <a:rPr lang="ru-RU" sz="2400" b="1" dirty="0" err="1">
                <a:solidFill>
                  <a:schemeClr val="accent2">
                    <a:lumMod val="50000"/>
                  </a:schemeClr>
                </a:solidFill>
                <a:latin typeface="Bahnschrift" panose="020B0502040204020203" pitchFamily="34" charset="0"/>
              </a:rPr>
              <a:t>solver</a:t>
            </a:r>
            <a:r>
              <a:rPr lang="ru-RU" sz="2400" b="1"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 это алгоритм, используемый для оптимизации функции потерь (т.е., для нахождения коэффициентов, которые минимизируют функцию потерь).</a:t>
            </a:r>
          </a:p>
          <a:p>
            <a:endParaRPr lang="ru-RU" sz="2400" b="1" dirty="0">
              <a:solidFill>
                <a:schemeClr val="accent2">
                  <a:lumMod val="50000"/>
                </a:schemeClr>
              </a:solidFill>
              <a:latin typeface="Bahnschrift" panose="020B0502040204020203" pitchFamily="34" charset="0"/>
            </a:endParaRPr>
          </a:p>
          <a:p>
            <a:r>
              <a:rPr lang="ru-RU" sz="2400" b="1" dirty="0">
                <a:latin typeface="Bahnschrift" panose="020B0502040204020203" pitchFamily="34" charset="0"/>
              </a:rPr>
              <a:t>'</a:t>
            </a:r>
            <a:r>
              <a:rPr lang="ru-RU" sz="2400" b="1" dirty="0" err="1">
                <a:latin typeface="Bahnschrift" panose="020B0502040204020203" pitchFamily="34" charset="0"/>
              </a:rPr>
              <a:t>liblinear</a:t>
            </a:r>
            <a:r>
              <a:rPr lang="ru-RU" sz="2400" b="1" dirty="0">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Хорошо работает для небольших и средних наборов данных. Поддерживает как </a:t>
            </a:r>
            <a:r>
              <a:rPr lang="ru-RU" sz="2000" dirty="0" err="1">
                <a:solidFill>
                  <a:schemeClr val="accent2">
                    <a:lumMod val="50000"/>
                  </a:schemeClr>
                </a:solidFill>
                <a:latin typeface="Bahnschrift" panose="020B0502040204020203" pitchFamily="34" charset="0"/>
              </a:rPr>
              <a:t>L1</a:t>
            </a:r>
            <a:r>
              <a:rPr lang="ru-RU" sz="2000" dirty="0">
                <a:solidFill>
                  <a:schemeClr val="accent2">
                    <a:lumMod val="50000"/>
                  </a:schemeClr>
                </a:solidFill>
                <a:latin typeface="Bahnschrift" panose="020B0502040204020203" pitchFamily="34" charset="0"/>
              </a:rPr>
              <a:t>, так и </a:t>
            </a:r>
            <a:r>
              <a:rPr lang="ru-RU" sz="2000" dirty="0" err="1">
                <a:solidFill>
                  <a:schemeClr val="accent2">
                    <a:lumMod val="50000"/>
                  </a:schemeClr>
                </a:solidFill>
                <a:latin typeface="Bahnschrift" panose="020B0502040204020203" pitchFamily="34" charset="0"/>
              </a:rPr>
              <a:t>L2</a:t>
            </a:r>
            <a:r>
              <a:rPr lang="ru-RU" sz="2000" dirty="0">
                <a:solidFill>
                  <a:schemeClr val="accent2">
                    <a:lumMod val="50000"/>
                  </a:schemeClr>
                </a:solidFill>
                <a:latin typeface="Bahnschrift" panose="020B0502040204020203" pitchFamily="34" charset="0"/>
              </a:rPr>
              <a:t> регуляризацию.</a:t>
            </a:r>
          </a:p>
          <a:p>
            <a:endParaRPr lang="ru-RU" sz="2000" dirty="0">
              <a:solidFill>
                <a:schemeClr val="accent2">
                  <a:lumMod val="50000"/>
                </a:schemeClr>
              </a:solidFill>
              <a:latin typeface="Bahnschrift" panose="020B0502040204020203" pitchFamily="34" charset="0"/>
            </a:endParaRPr>
          </a:p>
          <a:p>
            <a:r>
              <a:rPr lang="ru-RU" sz="2400" b="1" dirty="0">
                <a:latin typeface="Bahnschrift" panose="020B0502040204020203" pitchFamily="34" charset="0"/>
              </a:rPr>
              <a:t>'</a:t>
            </a:r>
            <a:r>
              <a:rPr lang="ru-RU" sz="2400" b="1" dirty="0" err="1">
                <a:latin typeface="Bahnschrift" panose="020B0502040204020203" pitchFamily="34" charset="0"/>
              </a:rPr>
              <a:t>lbfgs</a:t>
            </a:r>
            <a:r>
              <a:rPr lang="ru-RU" sz="2400" b="1" dirty="0">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Хорошо работает для больших наборов данных. Не поддерживает </a:t>
            </a:r>
            <a:r>
              <a:rPr lang="ru-RU" sz="2000" dirty="0" err="1">
                <a:solidFill>
                  <a:schemeClr val="accent2">
                    <a:lumMod val="50000"/>
                  </a:schemeClr>
                </a:solidFill>
                <a:latin typeface="Bahnschrift" panose="020B0502040204020203" pitchFamily="34" charset="0"/>
              </a:rPr>
              <a:t>L1</a:t>
            </a:r>
            <a:r>
              <a:rPr lang="ru-RU" sz="2000" dirty="0">
                <a:solidFill>
                  <a:schemeClr val="accent2">
                    <a:lumMod val="50000"/>
                  </a:schemeClr>
                </a:solidFill>
                <a:latin typeface="Bahnschrift" panose="020B0502040204020203" pitchFamily="34" charset="0"/>
              </a:rPr>
              <a:t> регуляризацию</a:t>
            </a:r>
            <a:r>
              <a:rPr lang="ru-RU" sz="2000" b="1" dirty="0">
                <a:solidFill>
                  <a:schemeClr val="accent2">
                    <a:lumMod val="50000"/>
                  </a:schemeClr>
                </a:solidFill>
                <a:latin typeface="Bahnschrift" panose="020B0502040204020203" pitchFamily="34" charset="0"/>
              </a:rPr>
              <a:t>.</a:t>
            </a:r>
          </a:p>
          <a:p>
            <a:endParaRPr lang="ru-RU" sz="2000" b="1" dirty="0">
              <a:solidFill>
                <a:schemeClr val="accent2">
                  <a:lumMod val="50000"/>
                </a:schemeClr>
              </a:solidFill>
              <a:latin typeface="Bahnschrift" panose="020B0502040204020203" pitchFamily="34" charset="0"/>
            </a:endParaRPr>
          </a:p>
          <a:p>
            <a:r>
              <a:rPr lang="ru-RU" sz="2400" b="1" dirty="0">
                <a:latin typeface="Bahnschrift" panose="020B0502040204020203" pitchFamily="34" charset="0"/>
              </a:rPr>
              <a:t>'</a:t>
            </a:r>
            <a:r>
              <a:rPr lang="ru-RU" sz="2400" b="1" dirty="0" err="1">
                <a:latin typeface="Bahnschrift" panose="020B0502040204020203" pitchFamily="34" charset="0"/>
              </a:rPr>
              <a:t>newton-cg</a:t>
            </a:r>
            <a:r>
              <a:rPr lang="ru-RU" sz="2400" b="1" dirty="0">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Хорошо работает для больших наборов данных. Не поддерживает </a:t>
            </a:r>
            <a:r>
              <a:rPr lang="ru-RU" sz="2000" dirty="0" err="1">
                <a:solidFill>
                  <a:schemeClr val="accent2">
                    <a:lumMod val="50000"/>
                  </a:schemeClr>
                </a:solidFill>
                <a:latin typeface="Bahnschrift" panose="020B0502040204020203" pitchFamily="34" charset="0"/>
              </a:rPr>
              <a:t>L1</a:t>
            </a:r>
            <a:r>
              <a:rPr lang="ru-RU" sz="2000" dirty="0">
                <a:solidFill>
                  <a:schemeClr val="accent2">
                    <a:lumMod val="50000"/>
                  </a:schemeClr>
                </a:solidFill>
                <a:latin typeface="Bahnschrift" panose="020B0502040204020203" pitchFamily="34" charset="0"/>
              </a:rPr>
              <a:t> регуляризацию</a:t>
            </a:r>
            <a:r>
              <a:rPr lang="ru-RU" sz="2400" dirty="0">
                <a:solidFill>
                  <a:schemeClr val="accent2">
                    <a:lumMod val="50000"/>
                  </a:schemeClr>
                </a:solidFill>
                <a:latin typeface="Bahnschrift" panose="020B0502040204020203" pitchFamily="34" charset="0"/>
              </a:rPr>
              <a:t>.</a:t>
            </a:r>
          </a:p>
          <a:p>
            <a:endParaRPr lang="ru-RU" sz="2400" dirty="0">
              <a:solidFill>
                <a:schemeClr val="accent2">
                  <a:lumMod val="50000"/>
                </a:schemeClr>
              </a:solidFill>
              <a:latin typeface="Bahnschrift" panose="020B0502040204020203" pitchFamily="34" charset="0"/>
            </a:endParaRPr>
          </a:p>
          <a:p>
            <a:r>
              <a:rPr lang="ru-RU" sz="2400" b="1" dirty="0">
                <a:latin typeface="Bahnschrift" panose="020B0502040204020203" pitchFamily="34" charset="0"/>
              </a:rPr>
              <a:t>'</a:t>
            </a:r>
            <a:r>
              <a:rPr lang="ru-RU" sz="2400" b="1" dirty="0" err="1">
                <a:latin typeface="Bahnschrift" panose="020B0502040204020203" pitchFamily="34" charset="0"/>
              </a:rPr>
              <a:t>sag</a:t>
            </a:r>
            <a:r>
              <a:rPr lang="ru-RU" sz="2400" b="1" dirty="0">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Хорошо работает для очень больших наборов данных. Поддерживает </a:t>
            </a:r>
            <a:r>
              <a:rPr lang="ru-RU" sz="2000" dirty="0" err="1">
                <a:solidFill>
                  <a:schemeClr val="accent2">
                    <a:lumMod val="50000"/>
                  </a:schemeClr>
                </a:solidFill>
                <a:latin typeface="Bahnschrift" panose="020B0502040204020203" pitchFamily="34" charset="0"/>
              </a:rPr>
              <a:t>L2</a:t>
            </a:r>
            <a:r>
              <a:rPr lang="ru-RU" sz="2000" dirty="0">
                <a:solidFill>
                  <a:schemeClr val="accent2">
                    <a:lumMod val="50000"/>
                  </a:schemeClr>
                </a:solidFill>
                <a:latin typeface="Bahnschrift" panose="020B0502040204020203" pitchFamily="34" charset="0"/>
              </a:rPr>
              <a:t>, но не </a:t>
            </a:r>
            <a:r>
              <a:rPr lang="ru-RU" sz="2000" dirty="0" err="1">
                <a:solidFill>
                  <a:schemeClr val="accent2">
                    <a:lumMod val="50000"/>
                  </a:schemeClr>
                </a:solidFill>
                <a:latin typeface="Bahnschrift" panose="020B0502040204020203" pitchFamily="34" charset="0"/>
              </a:rPr>
              <a:t>L1</a:t>
            </a:r>
            <a:r>
              <a:rPr lang="ru-RU" sz="2400" dirty="0">
                <a:solidFill>
                  <a:schemeClr val="accent2">
                    <a:lumMod val="50000"/>
                  </a:schemeClr>
                </a:solidFill>
                <a:latin typeface="Bahnschrift" panose="020B0502040204020203" pitchFamily="34" charset="0"/>
              </a:rPr>
              <a:t>.</a:t>
            </a:r>
          </a:p>
          <a:p>
            <a:endParaRPr lang="ru-RU" sz="2400" dirty="0">
              <a:solidFill>
                <a:schemeClr val="accent2">
                  <a:lumMod val="50000"/>
                </a:schemeClr>
              </a:solidFill>
              <a:latin typeface="Bahnschrift" panose="020B0502040204020203" pitchFamily="34" charset="0"/>
            </a:endParaRPr>
          </a:p>
          <a:p>
            <a:r>
              <a:rPr lang="ru-RU" sz="2400" b="1" dirty="0">
                <a:latin typeface="Bahnschrift" panose="020B0502040204020203" pitchFamily="34" charset="0"/>
              </a:rPr>
              <a:t>'</a:t>
            </a:r>
            <a:r>
              <a:rPr lang="ru-RU" sz="2400" b="1" dirty="0" err="1">
                <a:latin typeface="Bahnschrift" panose="020B0502040204020203" pitchFamily="34" charset="0"/>
              </a:rPr>
              <a:t>saga</a:t>
            </a:r>
            <a:r>
              <a:rPr lang="ru-RU" sz="2400" b="1" dirty="0">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Хорошо работает для очень больших наборов данных, поддерживает и </a:t>
            </a:r>
            <a:r>
              <a:rPr lang="ru-RU" sz="2000" dirty="0" err="1">
                <a:solidFill>
                  <a:schemeClr val="accent2">
                    <a:lumMod val="50000"/>
                  </a:schemeClr>
                </a:solidFill>
                <a:latin typeface="Bahnschrift" panose="020B0502040204020203" pitchFamily="34" charset="0"/>
              </a:rPr>
              <a:t>L1</a:t>
            </a:r>
            <a:r>
              <a:rPr lang="ru-RU" sz="2000" dirty="0">
                <a:solidFill>
                  <a:schemeClr val="accent2">
                    <a:lumMod val="50000"/>
                  </a:schemeClr>
                </a:solidFill>
                <a:latin typeface="Bahnschrift" panose="020B0502040204020203" pitchFamily="34" charset="0"/>
              </a:rPr>
              <a:t>, и </a:t>
            </a:r>
            <a:r>
              <a:rPr lang="ru-RU" sz="2000" dirty="0" err="1">
                <a:solidFill>
                  <a:schemeClr val="accent2">
                    <a:lumMod val="50000"/>
                  </a:schemeClr>
                </a:solidFill>
                <a:latin typeface="Bahnschrift" panose="020B0502040204020203" pitchFamily="34" charset="0"/>
              </a:rPr>
              <a:t>L2</a:t>
            </a:r>
            <a:r>
              <a:rPr lang="ru-RU" sz="2000" dirty="0">
                <a:solidFill>
                  <a:schemeClr val="accent2">
                    <a:lumMod val="50000"/>
                  </a:schemeClr>
                </a:solidFill>
                <a:latin typeface="Bahnschrift" panose="020B0502040204020203" pitchFamily="34" charset="0"/>
              </a:rPr>
              <a:t> регуляризацию. Это, наверное, самый гибкий </a:t>
            </a:r>
            <a:r>
              <a:rPr lang="ru-RU" sz="2000" dirty="0" err="1">
                <a:solidFill>
                  <a:schemeClr val="accent2">
                    <a:lumMod val="50000"/>
                  </a:schemeClr>
                </a:solidFill>
                <a:latin typeface="Bahnschrift" panose="020B0502040204020203" pitchFamily="34" charset="0"/>
              </a:rPr>
              <a:t>solver</a:t>
            </a:r>
            <a:r>
              <a:rPr lang="ru-RU" sz="2000" dirty="0">
                <a:solidFill>
                  <a:schemeClr val="accent2">
                    <a:lumMod val="50000"/>
                  </a:schemeClr>
                </a:solidFill>
                <a:latin typeface="Bahnschrift" panose="020B0502040204020203" pitchFamily="34" charset="0"/>
              </a:rPr>
              <a:t>.</a:t>
            </a:r>
          </a:p>
        </p:txBody>
      </p:sp>
      <p:sp>
        <p:nvSpPr>
          <p:cNvPr id="6" name="Заголовок 1">
            <a:extLst>
              <a:ext uri="{FF2B5EF4-FFF2-40B4-BE49-F238E27FC236}">
                <a16:creationId xmlns:a16="http://schemas.microsoft.com/office/drawing/2014/main" id="{C5F26839-4DAE-25E8-5E4B-42933450F448}"/>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95605A7D-6E3E-7AD2-9E96-996B5151C6FE}"/>
              </a:ext>
            </a:extLst>
          </p:cNvPr>
          <p:cNvSpPr txBox="1"/>
          <p:nvPr/>
        </p:nvSpPr>
        <p:spPr>
          <a:xfrm>
            <a:off x="551384" y="588051"/>
            <a:ext cx="12241360" cy="461665"/>
          </a:xfrm>
          <a:prstGeom prst="rect">
            <a:avLst/>
          </a:prstGeom>
          <a:noFill/>
        </p:spPr>
        <p:txBody>
          <a:bodyPr wrap="square">
            <a:spAutoFit/>
          </a:bodyPr>
          <a:lstStyle/>
          <a:p>
            <a:r>
              <a:rPr lang="ru-RU" sz="2400" b="1" dirty="0">
                <a:solidFill>
                  <a:schemeClr val="accent2">
                    <a:lumMod val="50000"/>
                  </a:schemeClr>
                </a:solidFill>
                <a:latin typeface="Bahnschrift" panose="020B0502040204020203" pitchFamily="34" charset="0"/>
              </a:rPr>
              <a:t>Выбор </a:t>
            </a:r>
            <a:r>
              <a:rPr lang="ru-RU" sz="2400" b="1" dirty="0" err="1">
                <a:solidFill>
                  <a:schemeClr val="accent2">
                    <a:lumMod val="50000"/>
                  </a:schemeClr>
                </a:solidFill>
                <a:latin typeface="Bahnschrift" panose="020B0502040204020203" pitchFamily="34" charset="0"/>
              </a:rPr>
              <a:t>solver</a:t>
            </a:r>
            <a:r>
              <a:rPr lang="ru-RU" sz="2400" b="1" dirty="0">
                <a:solidFill>
                  <a:schemeClr val="accent2">
                    <a:lumMod val="50000"/>
                  </a:schemeClr>
                </a:solidFill>
                <a:latin typeface="Bahnschrift" panose="020B0502040204020203" pitchFamily="34" charset="0"/>
              </a:rPr>
              <a:t>: -</a:t>
            </a:r>
            <a:r>
              <a:rPr lang="ru-RU" sz="2000" b="1" dirty="0">
                <a:solidFill>
                  <a:schemeClr val="accent2">
                    <a:lumMod val="50000"/>
                  </a:schemeClr>
                </a:solidFill>
                <a:latin typeface="Bahnschrift" panose="020B0502040204020203" pitchFamily="34" charset="0"/>
              </a:rPr>
              <a:t>Разные </a:t>
            </a:r>
            <a:r>
              <a:rPr lang="ru-RU" sz="2000" b="1" dirty="0" err="1">
                <a:solidFill>
                  <a:schemeClr val="accent2">
                    <a:lumMod val="50000"/>
                  </a:schemeClr>
                </a:solidFill>
                <a:latin typeface="Bahnschrift" panose="020B0502040204020203" pitchFamily="34" charset="0"/>
              </a:rPr>
              <a:t>solver‘ы</a:t>
            </a:r>
            <a:r>
              <a:rPr lang="ru-RU" sz="2000" b="1" dirty="0">
                <a:solidFill>
                  <a:schemeClr val="accent2">
                    <a:lumMod val="50000"/>
                  </a:schemeClr>
                </a:solidFill>
                <a:latin typeface="Bahnschrift" panose="020B0502040204020203" pitchFamily="34" charset="0"/>
              </a:rPr>
              <a:t> лучше подходят для разных ситуаций</a:t>
            </a:r>
            <a:endParaRPr lang="ru-RU" sz="2400" b="1"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1727878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5778E-57F6-7AA8-D43C-1CC68B565AC5}"/>
            </a:ext>
          </a:extLst>
        </p:cNvPr>
        <p:cNvGrpSpPr/>
        <p:nvPr/>
      </p:nvGrpSpPr>
      <p:grpSpPr>
        <a:xfrm>
          <a:off x="0" y="0"/>
          <a:ext cx="0" cy="0"/>
          <a:chOff x="0" y="0"/>
          <a:chExt cx="0" cy="0"/>
        </a:xfrm>
      </p:grpSpPr>
      <p:sp>
        <p:nvSpPr>
          <p:cNvPr id="6" name="Заголовок 1">
            <a:extLst>
              <a:ext uri="{FF2B5EF4-FFF2-40B4-BE49-F238E27FC236}">
                <a16:creationId xmlns:a16="http://schemas.microsoft.com/office/drawing/2014/main" id="{78BC3965-9833-64D7-2E9D-9A67E3CE8EEB}"/>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83FE5B6D-8A41-5209-BC98-5F37B9A94BD0}"/>
              </a:ext>
            </a:extLst>
          </p:cNvPr>
          <p:cNvSpPr txBox="1"/>
          <p:nvPr/>
        </p:nvSpPr>
        <p:spPr>
          <a:xfrm>
            <a:off x="551384" y="1213057"/>
            <a:ext cx="12241360" cy="461665"/>
          </a:xfrm>
          <a:prstGeom prst="rect">
            <a:avLst/>
          </a:prstGeom>
          <a:noFill/>
        </p:spPr>
        <p:txBody>
          <a:bodyPr wrap="square">
            <a:spAutoFit/>
          </a:bodyPr>
          <a:lstStyle/>
          <a:p>
            <a:r>
              <a:rPr lang="ru-RU" sz="2400" b="1" dirty="0">
                <a:solidFill>
                  <a:schemeClr val="accent2">
                    <a:lumMod val="50000"/>
                  </a:schemeClr>
                </a:solidFill>
                <a:latin typeface="Bahnschrift" panose="020B0502040204020203" pitchFamily="34" charset="0"/>
              </a:rPr>
              <a:t>Таблица совместимости </a:t>
            </a:r>
            <a:r>
              <a:rPr lang="en-US" sz="2400" b="1" dirty="0">
                <a:solidFill>
                  <a:schemeClr val="accent2">
                    <a:lumMod val="50000"/>
                  </a:schemeClr>
                </a:solidFill>
                <a:latin typeface="Bahnschrift" panose="020B0502040204020203" pitchFamily="34" charset="0"/>
              </a:rPr>
              <a:t>penalty </a:t>
            </a:r>
            <a:r>
              <a:rPr lang="ru-RU" sz="2400" b="1" dirty="0">
                <a:solidFill>
                  <a:schemeClr val="accent2">
                    <a:lumMod val="50000"/>
                  </a:schemeClr>
                </a:solidFill>
                <a:latin typeface="Bahnschrift" panose="020B0502040204020203" pitchFamily="34" charset="0"/>
              </a:rPr>
              <a:t>и </a:t>
            </a:r>
            <a:r>
              <a:rPr lang="en-US" sz="2400" b="1" dirty="0">
                <a:solidFill>
                  <a:schemeClr val="accent2">
                    <a:lumMod val="50000"/>
                  </a:schemeClr>
                </a:solidFill>
                <a:latin typeface="Bahnschrift" panose="020B0502040204020203" pitchFamily="34" charset="0"/>
              </a:rPr>
              <a:t>solver^</a:t>
            </a:r>
            <a:endParaRPr lang="ru-RU" sz="2400" b="1" dirty="0">
              <a:solidFill>
                <a:schemeClr val="accent2">
                  <a:lumMod val="50000"/>
                </a:schemeClr>
              </a:solidFill>
              <a:latin typeface="Bahnschrift" panose="020B0502040204020203" pitchFamily="34" charset="0"/>
            </a:endParaRPr>
          </a:p>
        </p:txBody>
      </p:sp>
      <p:pic>
        <p:nvPicPr>
          <p:cNvPr id="7" name="Рисунок 6">
            <a:extLst>
              <a:ext uri="{FF2B5EF4-FFF2-40B4-BE49-F238E27FC236}">
                <a16:creationId xmlns:a16="http://schemas.microsoft.com/office/drawing/2014/main" id="{F4351966-A392-162C-CCDF-68260A986171}"/>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659396" y="1916831"/>
            <a:ext cx="10873208" cy="3728111"/>
          </a:xfrm>
          <a:prstGeom prst="rect">
            <a:avLst/>
          </a:prstGeom>
        </p:spPr>
      </p:pic>
    </p:spTree>
    <p:extLst>
      <p:ext uri="{BB962C8B-B14F-4D97-AF65-F5344CB8AC3E}">
        <p14:creationId xmlns:p14="http://schemas.microsoft.com/office/powerpoint/2010/main" val="1505137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438C0-B5B3-688E-9E92-D27F249DE9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09A329-29B8-C0E9-C0B1-78099430BFDD}"/>
              </a:ext>
            </a:extLst>
          </p:cNvPr>
          <p:cNvSpPr txBox="1"/>
          <p:nvPr/>
        </p:nvSpPr>
        <p:spPr>
          <a:xfrm>
            <a:off x="1415480" y="1701967"/>
            <a:ext cx="10227568" cy="4524315"/>
          </a:xfrm>
          <a:prstGeom prst="rect">
            <a:avLst/>
          </a:prstGeom>
          <a:noFill/>
        </p:spPr>
        <p:txBody>
          <a:bodyPr wrap="square">
            <a:spAutoFit/>
          </a:bodyPr>
          <a:lstStyle/>
          <a:p>
            <a:pPr marL="342900" indent="-342900">
              <a:buFont typeface="Wingdings" panose="05000000000000000000" pitchFamily="2" charset="2"/>
              <a:buChar char="ü"/>
            </a:pPr>
            <a:r>
              <a:rPr lang="ru-RU" sz="2400" dirty="0">
                <a:solidFill>
                  <a:schemeClr val="accent2">
                    <a:lumMod val="50000"/>
                  </a:schemeClr>
                </a:solidFill>
                <a:latin typeface="Bahnschrift" panose="020B0502040204020203" pitchFamily="34" charset="0"/>
              </a:rPr>
              <a:t>Масштабирование признаков (использование </a:t>
            </a:r>
            <a:r>
              <a:rPr lang="ru-RU" sz="2400" dirty="0" err="1">
                <a:solidFill>
                  <a:schemeClr val="accent2">
                    <a:lumMod val="50000"/>
                  </a:schemeClr>
                </a:solidFill>
                <a:latin typeface="Bahnschrift" panose="020B0502040204020203" pitchFamily="34" charset="0"/>
              </a:rPr>
              <a:t>StandardScaler</a:t>
            </a:r>
            <a:r>
              <a:rPr lang="ru-RU" sz="2400" dirty="0">
                <a:solidFill>
                  <a:schemeClr val="accent2">
                    <a:lumMod val="50000"/>
                  </a:schemeClr>
                </a:solidFill>
                <a:latin typeface="Bahnschrift" panose="020B0502040204020203" pitchFamily="34" charset="0"/>
              </a:rPr>
              <a:t>) очень важно для регуляризации.</a:t>
            </a:r>
            <a:endParaRPr lang="en-US" sz="24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ü"/>
            </a:pPr>
            <a:endParaRPr lang="ru-RU" sz="24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ü"/>
            </a:pPr>
            <a:r>
              <a:rPr lang="ru-RU" sz="2400" dirty="0">
                <a:solidFill>
                  <a:schemeClr val="accent2">
                    <a:lumMod val="50000"/>
                  </a:schemeClr>
                </a:solidFill>
                <a:latin typeface="Bahnschrift" panose="020B0502040204020203" pitchFamily="34" charset="0"/>
              </a:rPr>
              <a:t>Параметр </a:t>
            </a:r>
            <a:r>
              <a:rPr lang="ru-RU" sz="2400" dirty="0" err="1">
                <a:solidFill>
                  <a:schemeClr val="accent2">
                    <a:lumMod val="50000"/>
                  </a:schemeClr>
                </a:solidFill>
                <a:latin typeface="Bahnschrift" panose="020B0502040204020203" pitchFamily="34" charset="0"/>
              </a:rPr>
              <a:t>alpha</a:t>
            </a:r>
            <a:r>
              <a:rPr lang="ru-RU" sz="2400" dirty="0">
                <a:solidFill>
                  <a:schemeClr val="accent2">
                    <a:lumMod val="50000"/>
                  </a:schemeClr>
                </a:solidFill>
                <a:latin typeface="Bahnschrift" panose="020B0502040204020203" pitchFamily="34" charset="0"/>
              </a:rPr>
              <a:t> нужно тщательно настраивать, чтобы найти баланс между сложностью модели и ее способностью к обобщению.</a:t>
            </a:r>
            <a:endParaRPr lang="en-US" sz="24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ü"/>
            </a:pPr>
            <a:endParaRPr lang="ru-RU" sz="24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ü"/>
            </a:pPr>
            <a:r>
              <a:rPr lang="ru-RU" sz="2400" dirty="0" err="1">
                <a:solidFill>
                  <a:schemeClr val="accent2">
                    <a:lumMod val="50000"/>
                  </a:schemeClr>
                </a:solidFill>
                <a:latin typeface="Bahnschrift" panose="020B0502040204020203" pitchFamily="34" charset="0"/>
              </a:rPr>
              <a:t>L1</a:t>
            </a:r>
            <a:r>
              <a:rPr lang="ru-RU" sz="2400" dirty="0">
                <a:solidFill>
                  <a:schemeClr val="accent2">
                    <a:lumMod val="50000"/>
                  </a:schemeClr>
                </a:solidFill>
                <a:latin typeface="Bahnschrift" panose="020B0502040204020203" pitchFamily="34" charset="0"/>
              </a:rPr>
              <a:t>-регуляризация может использоваться для отбора признаков, </a:t>
            </a:r>
            <a:r>
              <a:rPr lang="ru-RU" sz="2400" dirty="0" err="1">
                <a:solidFill>
                  <a:schemeClr val="accent2">
                    <a:lumMod val="50000"/>
                  </a:schemeClr>
                </a:solidFill>
                <a:latin typeface="Bahnschrift" panose="020B0502040204020203" pitchFamily="34" charset="0"/>
              </a:rPr>
              <a:t>зануляя</a:t>
            </a:r>
            <a:r>
              <a:rPr lang="ru-RU" sz="2400" dirty="0">
                <a:solidFill>
                  <a:schemeClr val="accent2">
                    <a:lumMod val="50000"/>
                  </a:schemeClr>
                </a:solidFill>
                <a:latin typeface="Bahnschrift" panose="020B0502040204020203" pitchFamily="34" charset="0"/>
              </a:rPr>
              <a:t> коэффициенты неважных признаков.</a:t>
            </a:r>
          </a:p>
          <a:p>
            <a:pPr marL="342900" indent="-342900">
              <a:buFont typeface="Wingdings" panose="05000000000000000000" pitchFamily="2" charset="2"/>
              <a:buChar char="ü"/>
            </a:pPr>
            <a:endParaRPr lang="ru-RU" sz="24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ü"/>
            </a:pPr>
            <a:r>
              <a:rPr lang="ru-RU" sz="2400" dirty="0">
                <a:solidFill>
                  <a:schemeClr val="accent2">
                    <a:lumMod val="50000"/>
                  </a:schemeClr>
                </a:solidFill>
                <a:latin typeface="Bahnschrift" panose="020B0502040204020203" pitchFamily="34" charset="0"/>
              </a:rPr>
              <a:t>Не все </a:t>
            </a:r>
            <a:r>
              <a:rPr lang="ru-RU" sz="2400" dirty="0" err="1">
                <a:solidFill>
                  <a:schemeClr val="accent2">
                    <a:lumMod val="50000"/>
                  </a:schemeClr>
                </a:solidFill>
                <a:latin typeface="Bahnschrift" panose="020B0502040204020203" pitchFamily="34" charset="0"/>
              </a:rPr>
              <a:t>solver‘ы</a:t>
            </a:r>
            <a:r>
              <a:rPr lang="ru-RU" sz="2400" dirty="0">
                <a:solidFill>
                  <a:schemeClr val="accent2">
                    <a:lumMod val="50000"/>
                  </a:schemeClr>
                </a:solidFill>
                <a:latin typeface="Bahnschrift" panose="020B0502040204020203" pitchFamily="34" charset="0"/>
              </a:rPr>
              <a:t> поддерживают все виды </a:t>
            </a:r>
            <a:r>
              <a:rPr lang="ru-RU" sz="2400" dirty="0" err="1">
                <a:solidFill>
                  <a:schemeClr val="accent2">
                    <a:lumMod val="50000"/>
                  </a:schemeClr>
                </a:solidFill>
                <a:latin typeface="Bahnschrift" panose="020B0502040204020203" pitchFamily="34" charset="0"/>
              </a:rPr>
              <a:t>penalty</a:t>
            </a:r>
            <a:r>
              <a:rPr lang="ru-RU" sz="2400" dirty="0">
                <a:solidFill>
                  <a:schemeClr val="accent2">
                    <a:lumMod val="50000"/>
                  </a:schemeClr>
                </a:solidFill>
                <a:latin typeface="Bahnschrift" panose="020B0502040204020203" pitchFamily="34" charset="0"/>
              </a:rPr>
              <a:t>. Если вы попытаетесь использовать несовместимую комбинацию, вы получите ошибку.</a:t>
            </a:r>
          </a:p>
        </p:txBody>
      </p:sp>
      <p:sp>
        <p:nvSpPr>
          <p:cNvPr id="6" name="Заголовок 1">
            <a:extLst>
              <a:ext uri="{FF2B5EF4-FFF2-40B4-BE49-F238E27FC236}">
                <a16:creationId xmlns:a16="http://schemas.microsoft.com/office/drawing/2014/main" id="{DAE02251-22CC-D7FF-5618-5BA6D4A108D4}"/>
              </a:ext>
            </a:extLst>
          </p:cNvPr>
          <p:cNvSpPr txBox="1">
            <a:spLocks/>
          </p:cNvSpPr>
          <p:nvPr/>
        </p:nvSpPr>
        <p:spPr>
          <a:xfrm>
            <a:off x="983432" y="207793"/>
            <a:ext cx="10515600" cy="471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Логистическая регрессия</a:t>
            </a:r>
            <a:endParaRPr lang="ru-RU" sz="2400" dirty="0">
              <a:latin typeface="Arial Black" panose="020B0A04020102020204" pitchFamily="34" charset="0"/>
            </a:endParaRPr>
          </a:p>
        </p:txBody>
      </p:sp>
      <p:sp>
        <p:nvSpPr>
          <p:cNvPr id="10" name="TextBox 9">
            <a:extLst>
              <a:ext uri="{FF2B5EF4-FFF2-40B4-BE49-F238E27FC236}">
                <a16:creationId xmlns:a16="http://schemas.microsoft.com/office/drawing/2014/main" id="{49EDA216-B39A-7706-5B5A-C41CEF8C1C16}"/>
              </a:ext>
            </a:extLst>
          </p:cNvPr>
          <p:cNvSpPr txBox="1"/>
          <p:nvPr/>
        </p:nvSpPr>
        <p:spPr>
          <a:xfrm>
            <a:off x="767408" y="975230"/>
            <a:ext cx="2808312" cy="430887"/>
          </a:xfrm>
          <a:prstGeom prst="rect">
            <a:avLst/>
          </a:prstGeom>
          <a:noFill/>
        </p:spPr>
        <p:txBody>
          <a:bodyPr wrap="square">
            <a:spAutoFit/>
          </a:bodyPr>
          <a:lstStyle/>
          <a:p>
            <a:r>
              <a:rPr lang="ru-RU" sz="2200" b="1" dirty="0">
                <a:solidFill>
                  <a:schemeClr val="accent2">
                    <a:lumMod val="50000"/>
                  </a:schemeClr>
                </a:solidFill>
                <a:latin typeface="Bahnschrift" panose="020B0502040204020203" pitchFamily="34" charset="0"/>
              </a:rPr>
              <a:t>Важно помнить</a:t>
            </a:r>
          </a:p>
        </p:txBody>
      </p:sp>
    </p:spTree>
    <p:extLst>
      <p:ext uri="{BB962C8B-B14F-4D97-AF65-F5344CB8AC3E}">
        <p14:creationId xmlns:p14="http://schemas.microsoft.com/office/powerpoint/2010/main" val="2309289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1D0B5-DAFC-309B-7827-BC2C87591137}"/>
            </a:ext>
          </a:extLst>
        </p:cNvPr>
        <p:cNvGrpSpPr/>
        <p:nvPr/>
      </p:nvGrpSpPr>
      <p:grpSpPr>
        <a:xfrm>
          <a:off x="0" y="0"/>
          <a:ext cx="0" cy="0"/>
          <a:chOff x="0" y="0"/>
          <a:chExt cx="0" cy="0"/>
        </a:xfrm>
      </p:grpSpPr>
      <p:pic>
        <p:nvPicPr>
          <p:cNvPr id="7" name="Рисунок 6">
            <a:extLst>
              <a:ext uri="{FF2B5EF4-FFF2-40B4-BE49-F238E27FC236}">
                <a16:creationId xmlns:a16="http://schemas.microsoft.com/office/drawing/2014/main" id="{0682821A-F967-13CF-BCFD-66992457145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6543800" y="3068960"/>
            <a:ext cx="4680520" cy="3700084"/>
          </a:xfrm>
          <a:prstGeom prst="rect">
            <a:avLst/>
          </a:prstGeom>
        </p:spPr>
      </p:pic>
      <p:sp>
        <p:nvSpPr>
          <p:cNvPr id="2" name="Заголовок 1">
            <a:extLst>
              <a:ext uri="{FF2B5EF4-FFF2-40B4-BE49-F238E27FC236}">
                <a16:creationId xmlns:a16="http://schemas.microsoft.com/office/drawing/2014/main" id="{92900D2C-06CF-F68A-B1E9-4BEFF1CC38D2}"/>
              </a:ext>
            </a:extLst>
          </p:cNvPr>
          <p:cNvSpPr>
            <a:spLocks noGrp="1"/>
          </p:cNvSpPr>
          <p:nvPr>
            <p:ph type="title"/>
          </p:nvPr>
        </p:nvSpPr>
        <p:spPr>
          <a:xfrm>
            <a:off x="256446" y="88956"/>
            <a:ext cx="11828508" cy="461665"/>
          </a:xfrm>
        </p:spPr>
        <p:txBody>
          <a:bodyPr>
            <a:noAutofit/>
          </a:bodyPr>
          <a:lstStyle/>
          <a:p>
            <a:pPr algn="ctr"/>
            <a:r>
              <a:rPr lang="en-US" sz="2400" b="1" dirty="0">
                <a:solidFill>
                  <a:schemeClr val="accent2">
                    <a:lumMod val="50000"/>
                  </a:schemeClr>
                </a:solidFill>
                <a:latin typeface="Arial Black" panose="020B0A04020102020204" pitchFamily="34" charset="0"/>
              </a:rPr>
              <a:t> K-</a:t>
            </a:r>
            <a:r>
              <a:rPr lang="ru-RU" sz="2400" b="1" dirty="0">
                <a:solidFill>
                  <a:schemeClr val="accent2">
                    <a:lumMod val="50000"/>
                  </a:schemeClr>
                </a:solidFill>
                <a:latin typeface="Arial Black" panose="020B0A04020102020204" pitchFamily="34" charset="0"/>
              </a:rPr>
              <a:t>ближайших соседей (</a:t>
            </a:r>
            <a:r>
              <a:rPr lang="en-US" sz="2400" b="1" dirty="0">
                <a:solidFill>
                  <a:schemeClr val="accent2">
                    <a:lumMod val="50000"/>
                  </a:schemeClr>
                </a:solidFill>
                <a:latin typeface="Arial Black" panose="020B0A04020102020204" pitchFamily="34" charset="0"/>
              </a:rPr>
              <a:t>KNN)</a:t>
            </a:r>
            <a:endParaRPr lang="ru-RU" sz="2400" b="1" dirty="0">
              <a:solidFill>
                <a:schemeClr val="accent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D6C5CAEC-358F-BE97-2EE4-9B810367E632}"/>
              </a:ext>
            </a:extLst>
          </p:cNvPr>
          <p:cNvSpPr txBox="1"/>
          <p:nvPr/>
        </p:nvSpPr>
        <p:spPr>
          <a:xfrm>
            <a:off x="459124" y="692696"/>
            <a:ext cx="11612484" cy="1938992"/>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Метод k ближайших соседей (k-</a:t>
            </a:r>
            <a:r>
              <a:rPr lang="ru-RU" sz="2000" dirty="0" err="1">
                <a:solidFill>
                  <a:schemeClr val="accent2">
                    <a:lumMod val="50000"/>
                  </a:schemeClr>
                </a:solidFill>
                <a:latin typeface="Bahnschrift" panose="020B0502040204020203" pitchFamily="34" charset="0"/>
              </a:rPr>
              <a:t>Nearest</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Neighbors</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 это алгоритм машинного обучения. Он относится к классу алгоритмов “ленивого обучения” (</a:t>
            </a:r>
            <a:r>
              <a:rPr lang="ru-RU" sz="2000" dirty="0" err="1">
                <a:solidFill>
                  <a:schemeClr val="accent2">
                    <a:lumMod val="50000"/>
                  </a:schemeClr>
                </a:solidFill>
                <a:latin typeface="Bahnschrift" panose="020B0502040204020203" pitchFamily="34" charset="0"/>
              </a:rPr>
              <a:t>lazy</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learning</a:t>
            </a:r>
            <a:r>
              <a:rPr lang="ru-RU" sz="2000" dirty="0">
                <a:solidFill>
                  <a:schemeClr val="accent2">
                    <a:lumMod val="50000"/>
                  </a:schemeClr>
                </a:solidFill>
                <a:latin typeface="Bahnschrift" panose="020B0502040204020203" pitchFamily="34" charset="0"/>
              </a:rPr>
              <a:t>), поскольку не строит явную модель во время обучения, а просто запоминает обучающие данные. </a:t>
            </a:r>
            <a:endParaRPr lang="en-US" sz="2000" dirty="0">
              <a:solidFill>
                <a:schemeClr val="accent2">
                  <a:lumMod val="50000"/>
                </a:schemeClr>
              </a:solidFill>
              <a:latin typeface="Bahnschrift" panose="020B0502040204020203" pitchFamily="34" charset="0"/>
            </a:endParaRPr>
          </a:p>
          <a:p>
            <a:endParaRPr lang="en-US" sz="2000" dirty="0">
              <a:solidFill>
                <a:schemeClr val="accent2">
                  <a:lumMod val="50000"/>
                </a:schemeClr>
              </a:solidFill>
              <a:latin typeface="Bahnschrift" panose="020B0502040204020203" pitchFamily="34" charset="0"/>
            </a:endParaRPr>
          </a:p>
          <a:p>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можно использовать как </a:t>
            </a:r>
            <a:r>
              <a:rPr lang="ru-RU" sz="2000" b="1" dirty="0">
                <a:solidFill>
                  <a:schemeClr val="accent2">
                    <a:lumMod val="50000"/>
                  </a:schemeClr>
                </a:solidFill>
                <a:latin typeface="Bahnschrift" panose="020B0502040204020203" pitchFamily="34" charset="0"/>
              </a:rPr>
              <a:t>для задач классификации, </a:t>
            </a:r>
            <a:r>
              <a:rPr lang="ru-RU" sz="2000" dirty="0">
                <a:solidFill>
                  <a:schemeClr val="accent2">
                    <a:lumMod val="50000"/>
                  </a:schemeClr>
                </a:solidFill>
                <a:latin typeface="Bahnschrift" panose="020B0502040204020203" pitchFamily="34" charset="0"/>
              </a:rPr>
              <a:t>так и </a:t>
            </a:r>
            <a:r>
              <a:rPr lang="ru-RU" sz="2000" b="1" dirty="0">
                <a:solidFill>
                  <a:schemeClr val="accent2">
                    <a:lumMod val="50000"/>
                  </a:schemeClr>
                </a:solidFill>
                <a:latin typeface="Bahnschrift" panose="020B0502040204020203" pitchFamily="34" charset="0"/>
              </a:rPr>
              <a:t>для задач регрессии</a:t>
            </a:r>
            <a:r>
              <a:rPr lang="ru-RU" sz="2000" dirty="0">
                <a:solidFill>
                  <a:schemeClr val="accent2">
                    <a:lumMod val="50000"/>
                  </a:schemeClr>
                </a:solidFill>
                <a:latin typeface="Bahnschrift" panose="020B0502040204020203" pitchFamily="34" charset="0"/>
              </a:rPr>
              <a:t>. </a:t>
            </a:r>
          </a:p>
          <a:p>
            <a:endParaRPr lang="ru-RU" sz="2000" dirty="0">
              <a:solidFill>
                <a:schemeClr val="accent2">
                  <a:lumMod val="50000"/>
                </a:schemeClr>
              </a:solidFill>
              <a:latin typeface="Bahnschrift" panose="020B0502040204020203" pitchFamily="34" charset="0"/>
            </a:endParaRPr>
          </a:p>
        </p:txBody>
      </p:sp>
      <p:sp>
        <p:nvSpPr>
          <p:cNvPr id="6" name="TextBox 5">
            <a:extLst>
              <a:ext uri="{FF2B5EF4-FFF2-40B4-BE49-F238E27FC236}">
                <a16:creationId xmlns:a16="http://schemas.microsoft.com/office/drawing/2014/main" id="{439B7355-4222-C599-A3B2-E1A72B5200DD}"/>
              </a:ext>
            </a:extLst>
          </p:cNvPr>
          <p:cNvSpPr txBox="1"/>
          <p:nvPr/>
        </p:nvSpPr>
        <p:spPr>
          <a:xfrm>
            <a:off x="459124" y="2429237"/>
            <a:ext cx="10765196" cy="1015663"/>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Идея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очень проста: чтобы предсказать значение для нового объекта,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находит k наиболее похожих объектов в обучающей выборке (ближайших соседей) и использует их значения для предсказания.</a:t>
            </a:r>
          </a:p>
        </p:txBody>
      </p:sp>
      <p:sp>
        <p:nvSpPr>
          <p:cNvPr id="10" name="TextBox 9">
            <a:extLst>
              <a:ext uri="{FF2B5EF4-FFF2-40B4-BE49-F238E27FC236}">
                <a16:creationId xmlns:a16="http://schemas.microsoft.com/office/drawing/2014/main" id="{1EC63D1F-9A0F-0AD4-233A-85D8A7A3177A}"/>
              </a:ext>
            </a:extLst>
          </p:cNvPr>
          <p:cNvSpPr txBox="1"/>
          <p:nvPr/>
        </p:nvSpPr>
        <p:spPr>
          <a:xfrm>
            <a:off x="466910" y="3638576"/>
            <a:ext cx="6094324" cy="1015663"/>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В задаче классификации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-новый объект относится к тому классу, который наиболее часто встречается среди его k ближайших соседей.</a:t>
            </a:r>
          </a:p>
        </p:txBody>
      </p:sp>
      <p:sp>
        <p:nvSpPr>
          <p:cNvPr id="12" name="TextBox 11">
            <a:extLst>
              <a:ext uri="{FF2B5EF4-FFF2-40B4-BE49-F238E27FC236}">
                <a16:creationId xmlns:a16="http://schemas.microsoft.com/office/drawing/2014/main" id="{41B2F50F-3E70-0FEF-4856-D27FADF1797F}"/>
              </a:ext>
            </a:extLst>
          </p:cNvPr>
          <p:cNvSpPr txBox="1"/>
          <p:nvPr/>
        </p:nvSpPr>
        <p:spPr>
          <a:xfrm>
            <a:off x="467086" y="5049922"/>
            <a:ext cx="6094324" cy="1323439"/>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Для задачи регрессии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 предсказывает значение для новой точки данных как среднее (или медиану) значений ее K ближайших соседей.</a:t>
            </a:r>
          </a:p>
        </p:txBody>
      </p:sp>
    </p:spTree>
    <p:extLst>
      <p:ext uri="{BB962C8B-B14F-4D97-AF65-F5344CB8AC3E}">
        <p14:creationId xmlns:p14="http://schemas.microsoft.com/office/powerpoint/2010/main" val="1266029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6C0D8-B56F-D94E-6A7D-3999BD37E4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1975A0-349A-5DEA-BE0A-85D80A65F28D}"/>
              </a:ext>
            </a:extLst>
          </p:cNvPr>
          <p:cNvSpPr txBox="1"/>
          <p:nvPr/>
        </p:nvSpPr>
        <p:spPr>
          <a:xfrm>
            <a:off x="911424" y="1228397"/>
            <a:ext cx="10873208" cy="5016758"/>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Выбор оптимального значения k — важная задача, поскольку оно напрямую влияет на производительность </a:t>
            </a:r>
            <a:r>
              <a:rPr lang="ru-RU" sz="2000" dirty="0" err="1">
                <a:solidFill>
                  <a:schemeClr val="accent2">
                    <a:lumMod val="50000"/>
                  </a:schemeClr>
                </a:solidFill>
                <a:latin typeface="Bahnschrift" panose="020B0502040204020203" pitchFamily="34" charset="0"/>
              </a:rPr>
              <a:t>KNN</a:t>
            </a:r>
            <a:r>
              <a:rPr lang="ru-RU" sz="2000" dirty="0">
                <a:solidFill>
                  <a:schemeClr val="accent2">
                    <a:lumMod val="50000"/>
                  </a:schemeClr>
                </a:solidFill>
                <a:latin typeface="Bahnschrift" panose="020B0502040204020203" pitchFamily="34" charset="0"/>
              </a:rPr>
              <a:t>.</a:t>
            </a:r>
          </a:p>
          <a:p>
            <a:endParaRPr lang="ru-RU" sz="2000" dirty="0">
              <a:solidFill>
                <a:schemeClr val="accent2">
                  <a:lumMod val="50000"/>
                </a:schemeClr>
              </a:solidFill>
              <a:latin typeface="Bahnschrift" panose="020B0502040204020203" pitchFamily="34" charset="0"/>
            </a:endParaRPr>
          </a:p>
          <a:p>
            <a:pPr lvl="0"/>
            <a:r>
              <a:rPr lang="ru-RU" sz="2000" b="1" dirty="0">
                <a:solidFill>
                  <a:schemeClr val="accent2">
                    <a:lumMod val="50000"/>
                  </a:schemeClr>
                </a:solidFill>
                <a:latin typeface="Bahnschrift" panose="020B0502040204020203" pitchFamily="34" charset="0"/>
              </a:rPr>
              <a:t>Слишком маленькое k:</a:t>
            </a:r>
            <a:r>
              <a:rPr lang="ru-RU" sz="2000" dirty="0">
                <a:solidFill>
                  <a:schemeClr val="accent2">
                    <a:lumMod val="50000"/>
                  </a:schemeClr>
                </a:solidFill>
                <a:latin typeface="Bahnschrift" panose="020B0502040204020203" pitchFamily="34" charset="0"/>
              </a:rPr>
              <a:t> Модель становится чувствительной к шуму и выбросам в данных, что может привести к переобучению.</a:t>
            </a:r>
          </a:p>
          <a:p>
            <a:pPr lvl="0"/>
            <a:endParaRPr lang="ru-RU" sz="2000" dirty="0">
              <a:solidFill>
                <a:schemeClr val="accent2">
                  <a:lumMod val="50000"/>
                </a:schemeClr>
              </a:solidFill>
              <a:latin typeface="Bahnschrift" panose="020B0502040204020203" pitchFamily="34" charset="0"/>
            </a:endParaRPr>
          </a:p>
          <a:p>
            <a:pPr lvl="0"/>
            <a:r>
              <a:rPr lang="ru-RU" sz="2000" b="1" dirty="0">
                <a:solidFill>
                  <a:schemeClr val="accent2">
                    <a:lumMod val="50000"/>
                  </a:schemeClr>
                </a:solidFill>
                <a:latin typeface="Bahnschrift" panose="020B0502040204020203" pitchFamily="34" charset="0"/>
              </a:rPr>
              <a:t>Слишком большое k:</a:t>
            </a:r>
            <a:r>
              <a:rPr lang="ru-RU" sz="2000" dirty="0">
                <a:solidFill>
                  <a:schemeClr val="accent2">
                    <a:lumMod val="50000"/>
                  </a:schemeClr>
                </a:solidFill>
                <a:latin typeface="Bahnschrift" panose="020B0502040204020203" pitchFamily="34" charset="0"/>
              </a:rPr>
              <a:t> Модель становится слишком простой и может не улавливать локальные закономерности в данных, что может привести к </a:t>
            </a:r>
            <a:r>
              <a:rPr lang="ru-RU" sz="2000" dirty="0" err="1">
                <a:solidFill>
                  <a:schemeClr val="accent2">
                    <a:lumMod val="50000"/>
                  </a:schemeClr>
                </a:solidFill>
                <a:latin typeface="Bahnschrift" panose="020B0502040204020203" pitchFamily="34" charset="0"/>
              </a:rPr>
              <a:t>недообучению</a:t>
            </a:r>
            <a:r>
              <a:rPr lang="ru-RU" sz="2000" dirty="0">
                <a:solidFill>
                  <a:schemeClr val="accent2">
                    <a:lumMod val="50000"/>
                  </a:schemeClr>
                </a:solidFill>
                <a:latin typeface="Bahnschrift" panose="020B0502040204020203" pitchFamily="34" charset="0"/>
              </a:rPr>
              <a:t>.</a:t>
            </a:r>
          </a:p>
          <a:p>
            <a:pPr lvl="0"/>
            <a:endParaRPr lang="ru-RU" sz="2000" b="1" dirty="0">
              <a:solidFill>
                <a:schemeClr val="accent2">
                  <a:lumMod val="50000"/>
                </a:schemeClr>
              </a:solidFill>
              <a:latin typeface="Bahnschrift" panose="020B0502040204020203" pitchFamily="34" charset="0"/>
            </a:endParaRPr>
          </a:p>
          <a:p>
            <a:pPr lvl="0"/>
            <a:endParaRPr lang="ru-RU" sz="2000" b="1" dirty="0">
              <a:solidFill>
                <a:schemeClr val="accent2">
                  <a:lumMod val="50000"/>
                </a:schemeClr>
              </a:solidFill>
              <a:latin typeface="Bahnschrift" panose="020B0502040204020203" pitchFamily="34" charset="0"/>
            </a:endParaRPr>
          </a:p>
          <a:p>
            <a:pPr lvl="0"/>
            <a:r>
              <a:rPr lang="ru-RU" sz="2000" b="1" dirty="0">
                <a:solidFill>
                  <a:schemeClr val="accent2">
                    <a:lumMod val="50000"/>
                  </a:schemeClr>
                </a:solidFill>
                <a:latin typeface="Bahnschrift" panose="020B0502040204020203" pitchFamily="34" charset="0"/>
              </a:rPr>
              <a:t>Методы выбора k:</a:t>
            </a:r>
            <a:endParaRPr lang="ru-RU" sz="2000" dirty="0">
              <a:solidFill>
                <a:schemeClr val="accent2">
                  <a:lumMod val="50000"/>
                </a:schemeClr>
              </a:solidFill>
              <a:latin typeface="Bahnschrift" panose="020B0502040204020203" pitchFamily="34" charset="0"/>
            </a:endParaRPr>
          </a:p>
          <a:p>
            <a:pPr lvl="1"/>
            <a:r>
              <a:rPr lang="ru-RU" sz="2000" b="1" dirty="0">
                <a:solidFill>
                  <a:schemeClr val="accent2">
                    <a:lumMod val="50000"/>
                  </a:schemeClr>
                </a:solidFill>
                <a:latin typeface="Bahnschrift" panose="020B0502040204020203" pitchFamily="34" charset="0"/>
              </a:rPr>
              <a:t>Перебор:</a:t>
            </a:r>
            <a:r>
              <a:rPr lang="ru-RU" sz="2000" dirty="0">
                <a:solidFill>
                  <a:schemeClr val="accent2">
                    <a:lumMod val="50000"/>
                  </a:schemeClr>
                </a:solidFill>
                <a:latin typeface="Bahnschrift" panose="020B0502040204020203" pitchFamily="34" charset="0"/>
              </a:rPr>
              <a:t> Протестировать различные значения k и выбрать то значение, которое дает наилучшую производительность на валидационной выборке (или с помощью кросс-валидации).</a:t>
            </a:r>
          </a:p>
          <a:p>
            <a:pPr lvl="1"/>
            <a:r>
              <a:rPr lang="ru-RU" sz="2000" b="1" dirty="0">
                <a:solidFill>
                  <a:schemeClr val="accent2">
                    <a:lumMod val="50000"/>
                  </a:schemeClr>
                </a:solidFill>
                <a:latin typeface="Bahnschrift" panose="020B0502040204020203" pitchFamily="34" charset="0"/>
              </a:rPr>
              <a:t>Эвристические методы:</a:t>
            </a:r>
            <a:r>
              <a:rPr lang="ru-RU" sz="2000" dirty="0">
                <a:solidFill>
                  <a:schemeClr val="accent2">
                    <a:lumMod val="50000"/>
                  </a:schemeClr>
                </a:solidFill>
                <a:latin typeface="Bahnschrift" panose="020B0502040204020203" pitchFamily="34" charset="0"/>
              </a:rPr>
              <a:t> Например, правило “</a:t>
            </a:r>
            <a:r>
              <a:rPr lang="ru-RU" sz="2000" dirty="0" err="1">
                <a:solidFill>
                  <a:schemeClr val="accent2">
                    <a:lumMod val="50000"/>
                  </a:schemeClr>
                </a:solidFill>
                <a:latin typeface="Bahnschrift" panose="020B0502040204020203" pitchFamily="34" charset="0"/>
              </a:rPr>
              <a:t>sqrt</a:t>
            </a:r>
            <a:r>
              <a:rPr lang="ru-RU" sz="2000" dirty="0">
                <a:solidFill>
                  <a:schemeClr val="accent2">
                    <a:lumMod val="50000"/>
                  </a:schemeClr>
                </a:solidFill>
                <a:latin typeface="Bahnschrift" panose="020B0502040204020203" pitchFamily="34" charset="0"/>
              </a:rPr>
              <a:t>(n)” (где n — количество объектов в обучающей выборке).</a:t>
            </a:r>
          </a:p>
        </p:txBody>
      </p:sp>
      <p:sp>
        <p:nvSpPr>
          <p:cNvPr id="7" name="Заголовок 1">
            <a:extLst>
              <a:ext uri="{FF2B5EF4-FFF2-40B4-BE49-F238E27FC236}">
                <a16:creationId xmlns:a16="http://schemas.microsoft.com/office/drawing/2014/main" id="{5B755B29-DB64-9B9F-47A0-1B59B2F288EC}"/>
              </a:ext>
            </a:extLst>
          </p:cNvPr>
          <p:cNvSpPr>
            <a:spLocks noGrp="1"/>
          </p:cNvSpPr>
          <p:nvPr>
            <p:ph type="title"/>
          </p:nvPr>
        </p:nvSpPr>
        <p:spPr>
          <a:xfrm>
            <a:off x="256446" y="88956"/>
            <a:ext cx="11828508" cy="461665"/>
          </a:xfrm>
        </p:spPr>
        <p:txBody>
          <a:bodyPr>
            <a:noAutofit/>
          </a:bodyPr>
          <a:lstStyle/>
          <a:p>
            <a:pPr algn="ctr"/>
            <a:r>
              <a:rPr lang="en-US" sz="2400" b="1" dirty="0">
                <a:solidFill>
                  <a:schemeClr val="accent2">
                    <a:lumMod val="50000"/>
                  </a:schemeClr>
                </a:solidFill>
                <a:latin typeface="Arial Black" panose="020B0A04020102020204" pitchFamily="34" charset="0"/>
              </a:rPr>
              <a:t> K-</a:t>
            </a:r>
            <a:r>
              <a:rPr lang="ru-RU" sz="2400" b="1" dirty="0">
                <a:solidFill>
                  <a:schemeClr val="accent2">
                    <a:lumMod val="50000"/>
                  </a:schemeClr>
                </a:solidFill>
                <a:latin typeface="Arial Black" panose="020B0A04020102020204" pitchFamily="34" charset="0"/>
              </a:rPr>
              <a:t>ближайших соседей (</a:t>
            </a:r>
            <a:r>
              <a:rPr lang="en-US" sz="2400" b="1" dirty="0">
                <a:solidFill>
                  <a:schemeClr val="accent2">
                    <a:lumMod val="50000"/>
                  </a:schemeClr>
                </a:solidFill>
                <a:latin typeface="Arial Black" panose="020B0A04020102020204" pitchFamily="34" charset="0"/>
              </a:rPr>
              <a:t>KNN)</a:t>
            </a:r>
            <a:endParaRPr lang="ru-RU" sz="2400" b="1" dirty="0">
              <a:solidFill>
                <a:schemeClr val="accent2">
                  <a:lumMod val="50000"/>
                </a:schemeClr>
              </a:solidFill>
              <a:latin typeface="Arial Black" panose="020B0A04020102020204" pitchFamily="34" charset="0"/>
            </a:endParaRPr>
          </a:p>
        </p:txBody>
      </p:sp>
    </p:spTree>
    <p:extLst>
      <p:ext uri="{BB962C8B-B14F-4D97-AF65-F5344CB8AC3E}">
        <p14:creationId xmlns:p14="http://schemas.microsoft.com/office/powerpoint/2010/main" val="1852821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D5C53-4C25-FA86-A8B5-127EA670AC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A11CB2-F39D-FD65-E004-DEB1EA4F4206}"/>
              </a:ext>
            </a:extLst>
          </p:cNvPr>
          <p:cNvSpPr txBox="1"/>
          <p:nvPr/>
        </p:nvSpPr>
        <p:spPr>
          <a:xfrm>
            <a:off x="734096" y="836712"/>
            <a:ext cx="10873208" cy="5139869"/>
          </a:xfrm>
          <a:prstGeom prst="rect">
            <a:avLst/>
          </a:prstGeom>
          <a:noFill/>
        </p:spPr>
        <p:txBody>
          <a:bodyPr wrap="square">
            <a:spAutoFit/>
          </a:bodyPr>
          <a:lstStyle/>
          <a:p>
            <a:r>
              <a:rPr lang="ru-RU" sz="2000" b="1" dirty="0">
                <a:solidFill>
                  <a:schemeClr val="accent2">
                    <a:lumMod val="50000"/>
                  </a:schemeClr>
                </a:solidFill>
                <a:latin typeface="Bahnschrift" panose="020B0502040204020203" pitchFamily="34" charset="0"/>
              </a:rPr>
              <a:t>Параметры настройки </a:t>
            </a:r>
            <a:r>
              <a:rPr lang="ru-RU" sz="2000" b="1" dirty="0" err="1">
                <a:solidFill>
                  <a:schemeClr val="accent2">
                    <a:lumMod val="50000"/>
                  </a:schemeClr>
                </a:solidFill>
                <a:latin typeface="Bahnschrift" panose="020B0502040204020203" pitchFamily="34" charset="0"/>
              </a:rPr>
              <a:t>KNN</a:t>
            </a:r>
            <a:r>
              <a:rPr lang="ru-RU" sz="2000" b="1" dirty="0">
                <a:solidFill>
                  <a:schemeClr val="accent2">
                    <a:lumMod val="50000"/>
                  </a:schemeClr>
                </a:solidFill>
                <a:latin typeface="Bahnschrift" panose="020B0502040204020203" pitchFamily="34" charset="0"/>
              </a:rPr>
              <a:t>:</a:t>
            </a:r>
          </a:p>
          <a:p>
            <a:endParaRPr lang="ru-RU" sz="2000" dirty="0">
              <a:solidFill>
                <a:schemeClr val="accent2">
                  <a:lumMod val="50000"/>
                </a:schemeClr>
              </a:solidFill>
              <a:latin typeface="Bahnschrift" panose="020B0502040204020203" pitchFamily="34" charset="0"/>
            </a:endParaRPr>
          </a:p>
          <a:p>
            <a:pPr marL="712788" indent="-712788"/>
            <a:r>
              <a:rPr lang="ru-RU" b="1" dirty="0" err="1">
                <a:latin typeface="Bahnschrift" panose="020B0502040204020203" pitchFamily="34" charset="0"/>
              </a:rPr>
              <a:t>n_neighbors</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(Обязательный параметр) Число K  кол-во соседей, которые будут учитываться при предсказании. Выбирается нечетное число, чтобы не было поровну между двумя классами.</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weights</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Функция весов, используемая для предсказания.</a:t>
            </a:r>
          </a:p>
          <a:p>
            <a:pPr marL="73818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uniform</a:t>
            </a:r>
            <a:r>
              <a:rPr lang="ru-RU" dirty="0">
                <a:solidFill>
                  <a:schemeClr val="accent2">
                    <a:lumMod val="50000"/>
                  </a:schemeClr>
                </a:solidFill>
                <a:latin typeface="Bahnschrift" panose="020B0502040204020203" pitchFamily="34" charset="0"/>
              </a:rPr>
              <a:t>': Все соседи имеют одинаковый вес.</a:t>
            </a:r>
          </a:p>
          <a:p>
            <a:pPr marL="73818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distance</a:t>
            </a:r>
            <a:r>
              <a:rPr lang="ru-RU" dirty="0">
                <a:solidFill>
                  <a:schemeClr val="accent2">
                    <a:lumMod val="50000"/>
                  </a:schemeClr>
                </a:solidFill>
                <a:latin typeface="Bahnschrift" panose="020B0502040204020203" pitchFamily="34" charset="0"/>
              </a:rPr>
              <a:t>': Вес каждого соседа обратно пропорционален расстоянию до него. Ближайшие соседи имеют большее влияние на предсказание.</a:t>
            </a:r>
          </a:p>
          <a:p>
            <a:pPr marL="73818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callable</a:t>
            </a:r>
            <a:r>
              <a:rPr lang="ru-RU" dirty="0">
                <a:solidFill>
                  <a:schemeClr val="accent2">
                    <a:lumMod val="50000"/>
                  </a:schemeClr>
                </a:solidFill>
                <a:latin typeface="Bahnschrift" panose="020B0502040204020203" pitchFamily="34" charset="0"/>
              </a:rPr>
              <a:t>]: Пользовательская функция для вычисления весов.</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algorithm</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Алгоритм, используемый для поиска ближайших соседей.</a:t>
            </a:r>
          </a:p>
          <a:p>
            <a:pPr marL="885825" indent="-34290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ball_tree</a:t>
            </a:r>
            <a:r>
              <a:rPr lang="ru-RU" dirty="0">
                <a:solidFill>
                  <a:schemeClr val="accent2">
                    <a:lumMod val="50000"/>
                  </a:schemeClr>
                </a:solidFill>
                <a:latin typeface="Bahnschrift" panose="020B0502040204020203" pitchFamily="34" charset="0"/>
              </a:rPr>
              <a:t>': Использует структуру данных </a:t>
            </a:r>
            <a:r>
              <a:rPr lang="ru-RU" dirty="0" err="1">
                <a:solidFill>
                  <a:schemeClr val="accent2">
                    <a:lumMod val="50000"/>
                  </a:schemeClr>
                </a:solidFill>
                <a:latin typeface="Bahnschrift" panose="020B0502040204020203" pitchFamily="34" charset="0"/>
              </a:rPr>
              <a:t>BallTree</a:t>
            </a:r>
            <a:r>
              <a:rPr lang="ru-RU" dirty="0">
                <a:solidFill>
                  <a:schemeClr val="accent2">
                    <a:lumMod val="50000"/>
                  </a:schemeClr>
                </a:solidFill>
                <a:latin typeface="Bahnschrift" panose="020B0502040204020203" pitchFamily="34" charset="0"/>
              </a:rPr>
              <a:t>. Хорошо работает для многомерных данных.</a:t>
            </a:r>
          </a:p>
          <a:p>
            <a:pPr marL="885825" indent="-34290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kd_tree</a:t>
            </a:r>
            <a:r>
              <a:rPr lang="ru-RU" dirty="0">
                <a:solidFill>
                  <a:schemeClr val="accent2">
                    <a:lumMod val="50000"/>
                  </a:schemeClr>
                </a:solidFill>
                <a:latin typeface="Bahnschrift" panose="020B0502040204020203" pitchFamily="34" charset="0"/>
              </a:rPr>
              <a:t>': Использует структуру данных </a:t>
            </a:r>
            <a:r>
              <a:rPr lang="ru-RU" dirty="0" err="1">
                <a:solidFill>
                  <a:schemeClr val="accent2">
                    <a:lumMod val="50000"/>
                  </a:schemeClr>
                </a:solidFill>
                <a:latin typeface="Bahnschrift" panose="020B0502040204020203" pitchFamily="34" charset="0"/>
              </a:rPr>
              <a:t>KDTree</a:t>
            </a:r>
            <a:r>
              <a:rPr lang="ru-RU" dirty="0">
                <a:solidFill>
                  <a:schemeClr val="accent2">
                    <a:lumMod val="50000"/>
                  </a:schemeClr>
                </a:solidFill>
                <a:latin typeface="Bahnschrift" panose="020B0502040204020203" pitchFamily="34" charset="0"/>
              </a:rPr>
              <a:t>. Хорошо работает для данных с небольшим числом измерений.</a:t>
            </a:r>
          </a:p>
          <a:p>
            <a:pPr marL="885825" indent="-34290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brute</a:t>
            </a:r>
            <a:r>
              <a:rPr lang="ru-RU" dirty="0">
                <a:solidFill>
                  <a:schemeClr val="accent2">
                    <a:lumMod val="50000"/>
                  </a:schemeClr>
                </a:solidFill>
                <a:latin typeface="Bahnschrift" panose="020B0502040204020203" pitchFamily="34" charset="0"/>
              </a:rPr>
              <a:t>': Использует полный перебор. Подходит для небольших наборов данных.</a:t>
            </a:r>
          </a:p>
          <a:p>
            <a:pPr marL="885825" indent="-34290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auto</a:t>
            </a:r>
            <a:r>
              <a:rPr lang="ru-RU" dirty="0">
                <a:solidFill>
                  <a:schemeClr val="accent2">
                    <a:lumMod val="50000"/>
                  </a:schemeClr>
                </a:solidFill>
                <a:latin typeface="Bahnschrift" panose="020B0502040204020203" pitchFamily="34" charset="0"/>
              </a:rPr>
              <a:t>': Алгоритм выбирается автоматически на основе данных.</a:t>
            </a:r>
          </a:p>
        </p:txBody>
      </p:sp>
      <p:sp>
        <p:nvSpPr>
          <p:cNvPr id="7" name="Заголовок 1">
            <a:extLst>
              <a:ext uri="{FF2B5EF4-FFF2-40B4-BE49-F238E27FC236}">
                <a16:creationId xmlns:a16="http://schemas.microsoft.com/office/drawing/2014/main" id="{C6A522DC-9B39-3598-1A0B-19E71A821931}"/>
              </a:ext>
            </a:extLst>
          </p:cNvPr>
          <p:cNvSpPr>
            <a:spLocks noGrp="1"/>
          </p:cNvSpPr>
          <p:nvPr>
            <p:ph type="title"/>
          </p:nvPr>
        </p:nvSpPr>
        <p:spPr>
          <a:xfrm>
            <a:off x="256446" y="88956"/>
            <a:ext cx="11828508" cy="461665"/>
          </a:xfrm>
        </p:spPr>
        <p:txBody>
          <a:bodyPr>
            <a:noAutofit/>
          </a:bodyPr>
          <a:lstStyle/>
          <a:p>
            <a:pPr algn="ctr"/>
            <a:r>
              <a:rPr lang="en-US" sz="2400" b="1" dirty="0">
                <a:solidFill>
                  <a:schemeClr val="accent2">
                    <a:lumMod val="50000"/>
                  </a:schemeClr>
                </a:solidFill>
                <a:latin typeface="Arial Black" panose="020B0A04020102020204" pitchFamily="34" charset="0"/>
              </a:rPr>
              <a:t> K-</a:t>
            </a:r>
            <a:r>
              <a:rPr lang="ru-RU" sz="2400" b="1" dirty="0">
                <a:solidFill>
                  <a:schemeClr val="accent2">
                    <a:lumMod val="50000"/>
                  </a:schemeClr>
                </a:solidFill>
                <a:latin typeface="Arial Black" panose="020B0A04020102020204" pitchFamily="34" charset="0"/>
              </a:rPr>
              <a:t>ближайших соседей (</a:t>
            </a:r>
            <a:r>
              <a:rPr lang="en-US" sz="2400" b="1" dirty="0">
                <a:solidFill>
                  <a:schemeClr val="accent2">
                    <a:lumMod val="50000"/>
                  </a:schemeClr>
                </a:solidFill>
                <a:latin typeface="Arial Black" panose="020B0A04020102020204" pitchFamily="34" charset="0"/>
              </a:rPr>
              <a:t>KNN)</a:t>
            </a:r>
            <a:endParaRPr lang="ru-RU" sz="2400" b="1" dirty="0">
              <a:solidFill>
                <a:schemeClr val="accent2">
                  <a:lumMod val="50000"/>
                </a:schemeClr>
              </a:solidFill>
              <a:latin typeface="Arial Black" panose="020B0A04020102020204" pitchFamily="34" charset="0"/>
            </a:endParaRPr>
          </a:p>
        </p:txBody>
      </p:sp>
    </p:spTree>
    <p:extLst>
      <p:ext uri="{BB962C8B-B14F-4D97-AF65-F5344CB8AC3E}">
        <p14:creationId xmlns:p14="http://schemas.microsoft.com/office/powerpoint/2010/main" val="1700446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6EED6A91-623D-D4DB-B383-80C0F52744F3}"/>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8112224" y="1509858"/>
            <a:ext cx="3816424" cy="3795493"/>
          </a:xfrm>
          <a:prstGeom prst="rect">
            <a:avLst/>
          </a:prstGeom>
        </p:spPr>
      </p:pic>
      <p:pic>
        <p:nvPicPr>
          <p:cNvPr id="5" name="Рисунок 4">
            <a:extLst>
              <a:ext uri="{FF2B5EF4-FFF2-40B4-BE49-F238E27FC236}">
                <a16:creationId xmlns:a16="http://schemas.microsoft.com/office/drawing/2014/main" id="{548E727F-D29B-E9EA-1CC1-61D0AEB9625C}"/>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8800"/>
                    </a14:imgEffect>
                  </a14:imgLayer>
                </a14:imgProps>
              </a:ext>
            </a:extLst>
          </a:blip>
          <a:stretch>
            <a:fillRect/>
          </a:stretch>
        </p:blipFill>
        <p:spPr>
          <a:xfrm>
            <a:off x="263352" y="1624657"/>
            <a:ext cx="7309564" cy="3608686"/>
          </a:xfrm>
          <a:prstGeom prst="rect">
            <a:avLst/>
          </a:prstGeom>
        </p:spPr>
      </p:pic>
    </p:spTree>
    <p:extLst>
      <p:ext uri="{BB962C8B-B14F-4D97-AF65-F5344CB8AC3E}">
        <p14:creationId xmlns:p14="http://schemas.microsoft.com/office/powerpoint/2010/main" val="3790431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FEB0-BEE9-0D47-A83F-F78B894D7A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AD45C6-105A-9C05-6231-46E7530838AB}"/>
              </a:ext>
            </a:extLst>
          </p:cNvPr>
          <p:cNvSpPr txBox="1"/>
          <p:nvPr/>
        </p:nvSpPr>
        <p:spPr>
          <a:xfrm>
            <a:off x="734096" y="836712"/>
            <a:ext cx="10873208" cy="2369880"/>
          </a:xfrm>
          <a:prstGeom prst="rect">
            <a:avLst/>
          </a:prstGeom>
          <a:noFill/>
        </p:spPr>
        <p:txBody>
          <a:bodyPr wrap="square">
            <a:spAutoFit/>
          </a:bodyPr>
          <a:lstStyle/>
          <a:p>
            <a:r>
              <a:rPr lang="ru-RU" sz="2000" b="1" dirty="0">
                <a:solidFill>
                  <a:schemeClr val="accent2">
                    <a:lumMod val="50000"/>
                  </a:schemeClr>
                </a:solidFill>
                <a:latin typeface="Bahnschrift" panose="020B0502040204020203" pitchFamily="34" charset="0"/>
              </a:rPr>
              <a:t>Параметры настройки </a:t>
            </a:r>
            <a:r>
              <a:rPr lang="ru-RU" sz="2000" b="1" dirty="0" err="1">
                <a:solidFill>
                  <a:schemeClr val="accent2">
                    <a:lumMod val="50000"/>
                  </a:schemeClr>
                </a:solidFill>
                <a:latin typeface="Bahnschrift" panose="020B0502040204020203" pitchFamily="34" charset="0"/>
              </a:rPr>
              <a:t>KNN</a:t>
            </a:r>
            <a:r>
              <a:rPr lang="ru-RU" sz="2000" b="1" dirty="0">
                <a:solidFill>
                  <a:schemeClr val="accent2">
                    <a:lumMod val="50000"/>
                  </a:schemeClr>
                </a:solidFill>
                <a:latin typeface="Bahnschrift" panose="020B0502040204020203" pitchFamily="34" charset="0"/>
              </a:rPr>
              <a:t>:</a:t>
            </a:r>
          </a:p>
          <a:p>
            <a:endParaRPr lang="ru-RU" sz="2000" dirty="0">
              <a:solidFill>
                <a:schemeClr val="accent2">
                  <a:lumMod val="50000"/>
                </a:schemeClr>
              </a:solidFill>
              <a:latin typeface="Bahnschrift" panose="020B0502040204020203" pitchFamily="34" charset="0"/>
            </a:endParaRPr>
          </a:p>
          <a:p>
            <a:r>
              <a:rPr lang="ru-RU" dirty="0" err="1">
                <a:latin typeface="Bahnschrift" panose="020B0502040204020203" pitchFamily="34" charset="0"/>
              </a:rPr>
              <a:t>metric</a:t>
            </a:r>
            <a:r>
              <a:rPr lang="ru-RU"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Метрика расстояния, используемая для измерения близости между точками.</a:t>
            </a:r>
          </a:p>
          <a:p>
            <a:pPr marL="99853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euclidean</a:t>
            </a:r>
            <a:r>
              <a:rPr lang="ru-RU" dirty="0">
                <a:solidFill>
                  <a:schemeClr val="accent2">
                    <a:lumMod val="50000"/>
                  </a:schemeClr>
                </a:solidFill>
                <a:latin typeface="Bahnschrift" panose="020B0502040204020203" pitchFamily="34" charset="0"/>
              </a:rPr>
              <a:t>': Евклидово расстояние.</a:t>
            </a:r>
          </a:p>
          <a:p>
            <a:pPr marL="99853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manhattan</a:t>
            </a:r>
            <a:r>
              <a:rPr lang="ru-RU" dirty="0">
                <a:solidFill>
                  <a:schemeClr val="accent2">
                    <a:lumMod val="50000"/>
                  </a:schemeClr>
                </a:solidFill>
                <a:latin typeface="Bahnschrift" panose="020B0502040204020203" pitchFamily="34" charset="0"/>
              </a:rPr>
              <a:t>': Манхэттенское расстояние.</a:t>
            </a:r>
          </a:p>
          <a:p>
            <a:pPr marL="99853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minkowski</a:t>
            </a:r>
            <a:r>
              <a:rPr lang="ru-RU" dirty="0">
                <a:solidFill>
                  <a:schemeClr val="accent2">
                    <a:lumMod val="50000"/>
                  </a:schemeClr>
                </a:solidFill>
                <a:latin typeface="Bahnschrift" panose="020B0502040204020203" pitchFamily="34" charset="0"/>
              </a:rPr>
              <a:t>': Расстояние Минковского.</a:t>
            </a:r>
          </a:p>
          <a:p>
            <a:pPr marL="998538" indent="-285750">
              <a:buFont typeface="Wingdings" panose="05000000000000000000" pitchFamily="2" charset="2"/>
              <a:buChar char="§"/>
            </a:pPr>
            <a:r>
              <a:rPr lang="ru-RU" dirty="0">
                <a:solidFill>
                  <a:schemeClr val="accent2">
                    <a:lumMod val="50000"/>
                  </a:schemeClr>
                </a:solidFill>
                <a:latin typeface="Bahnschrift" panose="020B0502040204020203" pitchFamily="34" charset="0"/>
              </a:rPr>
              <a:t>И другие.</a:t>
            </a:r>
          </a:p>
          <a:p>
            <a:r>
              <a:rPr lang="ru-RU" dirty="0">
                <a:latin typeface="Bahnschrift" panose="020B0502040204020203" pitchFamily="34" charset="0"/>
              </a:rPr>
              <a:t>p:  </a:t>
            </a:r>
            <a:r>
              <a:rPr lang="ru-RU" dirty="0">
                <a:solidFill>
                  <a:schemeClr val="accent2">
                    <a:lumMod val="50000"/>
                  </a:schemeClr>
                </a:solidFill>
                <a:latin typeface="Bahnschrift" panose="020B0502040204020203" pitchFamily="34" charset="0"/>
              </a:rPr>
              <a:t>Параметр для метрики Минковского. (p=1 - манхэттенскому расстоянию, p=2 - евклидову.)</a:t>
            </a:r>
          </a:p>
        </p:txBody>
      </p:sp>
      <p:sp>
        <p:nvSpPr>
          <p:cNvPr id="7" name="Заголовок 1">
            <a:extLst>
              <a:ext uri="{FF2B5EF4-FFF2-40B4-BE49-F238E27FC236}">
                <a16:creationId xmlns:a16="http://schemas.microsoft.com/office/drawing/2014/main" id="{81FF251F-B498-C5F6-F036-074CB6EB3597}"/>
              </a:ext>
            </a:extLst>
          </p:cNvPr>
          <p:cNvSpPr>
            <a:spLocks noGrp="1"/>
          </p:cNvSpPr>
          <p:nvPr>
            <p:ph type="title"/>
          </p:nvPr>
        </p:nvSpPr>
        <p:spPr>
          <a:xfrm>
            <a:off x="256446" y="88956"/>
            <a:ext cx="11828508" cy="461665"/>
          </a:xfrm>
        </p:spPr>
        <p:txBody>
          <a:bodyPr>
            <a:noAutofit/>
          </a:bodyPr>
          <a:lstStyle/>
          <a:p>
            <a:pPr algn="ctr"/>
            <a:r>
              <a:rPr lang="en-US" sz="2400" b="1" dirty="0">
                <a:solidFill>
                  <a:schemeClr val="accent2">
                    <a:lumMod val="50000"/>
                  </a:schemeClr>
                </a:solidFill>
                <a:latin typeface="Arial Black" panose="020B0A04020102020204" pitchFamily="34" charset="0"/>
              </a:rPr>
              <a:t> K-</a:t>
            </a:r>
            <a:r>
              <a:rPr lang="ru-RU" sz="2400" b="1" dirty="0">
                <a:solidFill>
                  <a:schemeClr val="accent2">
                    <a:lumMod val="50000"/>
                  </a:schemeClr>
                </a:solidFill>
                <a:latin typeface="Arial Black" panose="020B0A04020102020204" pitchFamily="34" charset="0"/>
              </a:rPr>
              <a:t>ближайших соседей (</a:t>
            </a:r>
            <a:r>
              <a:rPr lang="en-US" sz="2400" b="1" dirty="0">
                <a:solidFill>
                  <a:schemeClr val="accent2">
                    <a:lumMod val="50000"/>
                  </a:schemeClr>
                </a:solidFill>
                <a:latin typeface="Arial Black" panose="020B0A04020102020204" pitchFamily="34" charset="0"/>
              </a:rPr>
              <a:t>KNN)</a:t>
            </a:r>
            <a:endParaRPr lang="ru-RU" sz="2400" b="1" dirty="0">
              <a:solidFill>
                <a:schemeClr val="accent2">
                  <a:lumMod val="50000"/>
                </a:schemeClr>
              </a:solidFill>
              <a:latin typeface="Arial Black" panose="020B0A04020102020204" pitchFamily="34" charset="0"/>
            </a:endParaRPr>
          </a:p>
        </p:txBody>
      </p:sp>
      <p:pic>
        <p:nvPicPr>
          <p:cNvPr id="5" name="Рисунок 4">
            <a:extLst>
              <a:ext uri="{FF2B5EF4-FFF2-40B4-BE49-F238E27FC236}">
                <a16:creationId xmlns:a16="http://schemas.microsoft.com/office/drawing/2014/main" id="{FCE52565-D554-79F9-F496-AEE16F050DF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2567608" y="3206592"/>
            <a:ext cx="5880966" cy="3561182"/>
          </a:xfrm>
          <a:prstGeom prst="rect">
            <a:avLst/>
          </a:prstGeom>
        </p:spPr>
      </p:pic>
    </p:spTree>
    <p:extLst>
      <p:ext uri="{BB962C8B-B14F-4D97-AF65-F5344CB8AC3E}">
        <p14:creationId xmlns:p14="http://schemas.microsoft.com/office/powerpoint/2010/main" val="1940920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8D6A1-BB67-9FD1-6FF7-D266188BD1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1CB2C7-9C25-4695-214A-4A9AC9BF67CF}"/>
              </a:ext>
            </a:extLst>
          </p:cNvPr>
          <p:cNvSpPr txBox="1"/>
          <p:nvPr/>
        </p:nvSpPr>
        <p:spPr>
          <a:xfrm>
            <a:off x="659396" y="489734"/>
            <a:ext cx="10873208" cy="6063198"/>
          </a:xfrm>
          <a:prstGeom prst="rect">
            <a:avLst/>
          </a:prstGeom>
          <a:noFill/>
        </p:spPr>
        <p:txBody>
          <a:bodyPr wrap="square">
            <a:spAutoFit/>
          </a:bodyPr>
          <a:lstStyle/>
          <a:p>
            <a:r>
              <a:rPr lang="ru-RU" b="1" dirty="0">
                <a:solidFill>
                  <a:schemeClr val="accent2">
                    <a:lumMod val="50000"/>
                  </a:schemeClr>
                </a:solidFill>
                <a:latin typeface="Bahnschrift" panose="020B0502040204020203" pitchFamily="34" charset="0"/>
              </a:rPr>
              <a:t>Преимущества и Недостатки </a:t>
            </a:r>
            <a:r>
              <a:rPr lang="ru-RU" b="1" dirty="0" err="1">
                <a:solidFill>
                  <a:schemeClr val="accent2">
                    <a:lumMod val="50000"/>
                  </a:schemeClr>
                </a:solidFill>
                <a:latin typeface="Bahnschrift" panose="020B0502040204020203" pitchFamily="34" charset="0"/>
              </a:rPr>
              <a:t>KNN</a:t>
            </a:r>
            <a:r>
              <a:rPr lang="ru-RU" b="1" dirty="0">
                <a:solidFill>
                  <a:schemeClr val="accent2">
                    <a:lumMod val="50000"/>
                  </a:schemeClr>
                </a:solidFill>
                <a:latin typeface="Bahnschrift" panose="020B0502040204020203" pitchFamily="34" charset="0"/>
              </a:rPr>
              <a:t>:</a:t>
            </a:r>
            <a:endParaRPr lang="en-US" b="1" dirty="0">
              <a:solidFill>
                <a:schemeClr val="accent2">
                  <a:lumMod val="50000"/>
                </a:schemeClr>
              </a:solidFill>
              <a:latin typeface="Bahnschrift" panose="020B0502040204020203" pitchFamily="34" charset="0"/>
            </a:endParaRPr>
          </a:p>
          <a:p>
            <a:endParaRPr lang="ru-RU" dirty="0">
              <a:solidFill>
                <a:schemeClr val="accent2">
                  <a:lumMod val="50000"/>
                </a:schemeClr>
              </a:solidFill>
              <a:latin typeface="Bahnschrift" panose="020B0502040204020203" pitchFamily="34" charset="0"/>
            </a:endParaRPr>
          </a:p>
          <a:p>
            <a:r>
              <a:rPr lang="ru-RU" b="1" dirty="0">
                <a:solidFill>
                  <a:schemeClr val="accent2">
                    <a:lumMod val="50000"/>
                  </a:schemeClr>
                </a:solidFill>
                <a:latin typeface="Bahnschrift" panose="020B0502040204020203" pitchFamily="34" charset="0"/>
              </a:rPr>
              <a:t>Преимущества:</a:t>
            </a:r>
            <a:endParaRPr lang="en-US" b="1" dirty="0">
              <a:solidFill>
                <a:schemeClr val="accent2">
                  <a:lumMod val="50000"/>
                </a:schemeClr>
              </a:solidFill>
              <a:latin typeface="Bahnschrift" panose="020B0502040204020203" pitchFamily="34" charset="0"/>
            </a:endParaRPr>
          </a:p>
          <a:p>
            <a:pPr marL="622300" lvl="0"/>
            <a:r>
              <a:rPr lang="ru-RU" b="1" dirty="0">
                <a:solidFill>
                  <a:schemeClr val="accent2">
                    <a:lumMod val="50000"/>
                  </a:schemeClr>
                </a:solidFill>
                <a:latin typeface="Bahnschrift" panose="020B0502040204020203" pitchFamily="34" charset="0"/>
              </a:rPr>
              <a:t>Простота:</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Легко понять и реализовать</a:t>
            </a:r>
            <a:r>
              <a:rPr lang="ru-RU" dirty="0">
                <a:solidFill>
                  <a:schemeClr val="accent2">
                    <a:lumMod val="50000"/>
                  </a:schemeClr>
                </a:solidFill>
                <a:latin typeface="Bahnschrift" panose="020B0502040204020203" pitchFamily="34" charset="0"/>
              </a:rPr>
              <a:t>.</a:t>
            </a:r>
          </a:p>
          <a:p>
            <a:pPr marL="622300" lvl="0"/>
            <a:r>
              <a:rPr lang="ru-RU" b="1" dirty="0">
                <a:solidFill>
                  <a:schemeClr val="accent2">
                    <a:lumMod val="50000"/>
                  </a:schemeClr>
                </a:solidFill>
                <a:latin typeface="Bahnschrift" panose="020B0502040204020203" pitchFamily="34" charset="0"/>
              </a:rPr>
              <a:t>Непараметрический:</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Не делает предположений о распределении данных</a:t>
            </a:r>
            <a:r>
              <a:rPr lang="ru-RU" dirty="0">
                <a:solidFill>
                  <a:schemeClr val="accent2">
                    <a:lumMod val="50000"/>
                  </a:schemeClr>
                </a:solidFill>
                <a:latin typeface="Bahnschrift" panose="020B0502040204020203" pitchFamily="34" charset="0"/>
              </a:rPr>
              <a:t>.</a:t>
            </a:r>
          </a:p>
          <a:p>
            <a:pPr marL="622300" lvl="0"/>
            <a:r>
              <a:rPr lang="ru-RU" b="1" dirty="0">
                <a:solidFill>
                  <a:schemeClr val="accent2">
                    <a:lumMod val="50000"/>
                  </a:schemeClr>
                </a:solidFill>
                <a:latin typeface="Bahnschrift" panose="020B0502040204020203" pitchFamily="34" charset="0"/>
              </a:rPr>
              <a:t>Универсальность:</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Может использоваться как для классификации, так и для регрессии</a:t>
            </a:r>
            <a:r>
              <a:rPr lang="ru-RU" dirty="0">
                <a:solidFill>
                  <a:schemeClr val="accent2">
                    <a:lumMod val="50000"/>
                  </a:schemeClr>
                </a:solidFill>
                <a:latin typeface="Bahnschrift" panose="020B0502040204020203" pitchFamily="34" charset="0"/>
              </a:rPr>
              <a:t>.</a:t>
            </a:r>
          </a:p>
          <a:p>
            <a:pPr marL="2873375" lvl="0" indent="-2251075"/>
            <a:r>
              <a:rPr lang="ru-RU" b="1" dirty="0">
                <a:solidFill>
                  <a:schemeClr val="accent2">
                    <a:lumMod val="50000"/>
                  </a:schemeClr>
                </a:solidFill>
                <a:latin typeface="Bahnschrift" panose="020B0502040204020203" pitchFamily="34" charset="0"/>
              </a:rPr>
              <a:t>Легкость адаптации:</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Легко адаптируется к новым данным (достаточно добавить новые объекты в обучающую выборку).</a:t>
            </a:r>
            <a:endParaRPr lang="en-US" sz="1600" dirty="0">
              <a:solidFill>
                <a:schemeClr val="accent2">
                  <a:lumMod val="50000"/>
                </a:schemeClr>
              </a:solidFill>
              <a:latin typeface="Bahnschrift" panose="020B0502040204020203" pitchFamily="34" charset="0"/>
            </a:endParaRPr>
          </a:p>
          <a:p>
            <a:pPr marL="622300" lvl="0"/>
            <a:endParaRPr lang="ru-RU" dirty="0">
              <a:solidFill>
                <a:schemeClr val="accent2">
                  <a:lumMod val="50000"/>
                </a:schemeClr>
              </a:solidFill>
              <a:latin typeface="Bahnschrift" panose="020B0502040204020203" pitchFamily="34" charset="0"/>
            </a:endParaRPr>
          </a:p>
          <a:p>
            <a:r>
              <a:rPr lang="ru-RU" b="1" dirty="0">
                <a:solidFill>
                  <a:schemeClr val="accent2">
                    <a:lumMod val="50000"/>
                  </a:schemeClr>
                </a:solidFill>
                <a:latin typeface="Bahnschrift" panose="020B0502040204020203" pitchFamily="34" charset="0"/>
              </a:rPr>
              <a:t>Недостатки:</a:t>
            </a:r>
            <a:endParaRPr lang="en-US" b="1" dirty="0">
              <a:solidFill>
                <a:schemeClr val="accent2">
                  <a:lumMod val="50000"/>
                </a:schemeClr>
              </a:solidFill>
              <a:latin typeface="Bahnschrift" panose="020B0502040204020203" pitchFamily="34" charset="0"/>
            </a:endParaRPr>
          </a:p>
          <a:p>
            <a:pPr marL="542925" lvl="0"/>
            <a:r>
              <a:rPr lang="ru-RU" b="1" dirty="0">
                <a:solidFill>
                  <a:schemeClr val="accent2">
                    <a:lumMod val="50000"/>
                  </a:schemeClr>
                </a:solidFill>
                <a:latin typeface="Bahnschrift" panose="020B0502040204020203" pitchFamily="34" charset="0"/>
              </a:rPr>
              <a:t>Вычислительная сложность:</a:t>
            </a:r>
            <a:r>
              <a:rPr lang="ru-RU" sz="1600" dirty="0">
                <a:solidFill>
                  <a:schemeClr val="accent2">
                    <a:lumMod val="50000"/>
                  </a:schemeClr>
                </a:solidFill>
                <a:latin typeface="Bahnschrift" panose="020B0502040204020203" pitchFamily="34" charset="0"/>
              </a:rPr>
              <a:t> Требует вычисления расстояния между новым объектом и всеми объектами в обучающей выборке, что может быть медленным для больших наборов данных</a:t>
            </a:r>
            <a:r>
              <a:rPr lang="ru-RU" dirty="0">
                <a:solidFill>
                  <a:schemeClr val="accent2">
                    <a:lumMod val="50000"/>
                  </a:schemeClr>
                </a:solidFill>
                <a:latin typeface="Bahnschrift" panose="020B0502040204020203" pitchFamily="34" charset="0"/>
              </a:rPr>
              <a:t>.</a:t>
            </a:r>
            <a:endParaRPr lang="en-US" dirty="0">
              <a:solidFill>
                <a:schemeClr val="accent2">
                  <a:lumMod val="50000"/>
                </a:schemeClr>
              </a:solidFill>
              <a:latin typeface="Bahnschrift" panose="020B0502040204020203" pitchFamily="34" charset="0"/>
            </a:endParaRPr>
          </a:p>
          <a:p>
            <a:pPr marL="542925" lvl="0"/>
            <a:endParaRPr lang="ru-RU" dirty="0">
              <a:solidFill>
                <a:schemeClr val="accent2">
                  <a:lumMod val="50000"/>
                </a:schemeClr>
              </a:solidFill>
              <a:latin typeface="Bahnschrift" panose="020B0502040204020203" pitchFamily="34" charset="0"/>
            </a:endParaRPr>
          </a:p>
          <a:p>
            <a:pPr marL="542925" lvl="0"/>
            <a:r>
              <a:rPr lang="ru-RU" b="1" dirty="0">
                <a:solidFill>
                  <a:schemeClr val="accent2">
                    <a:lumMod val="50000"/>
                  </a:schemeClr>
                </a:solidFill>
                <a:latin typeface="Bahnschrift" panose="020B0502040204020203" pitchFamily="34" charset="0"/>
              </a:rPr>
              <a:t>Зависимость от масштаба признаков:</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Чувствителен к масштабу признаков. Перед применением </a:t>
            </a:r>
            <a:r>
              <a:rPr lang="ru-RU" sz="1600" dirty="0" err="1">
                <a:solidFill>
                  <a:schemeClr val="accent2">
                    <a:lumMod val="50000"/>
                  </a:schemeClr>
                </a:solidFill>
                <a:latin typeface="Bahnschrift" panose="020B0502040204020203" pitchFamily="34" charset="0"/>
              </a:rPr>
              <a:t>KNN</a:t>
            </a:r>
            <a:r>
              <a:rPr lang="ru-RU" sz="1600" dirty="0">
                <a:solidFill>
                  <a:schemeClr val="accent2">
                    <a:lumMod val="50000"/>
                  </a:schemeClr>
                </a:solidFill>
                <a:latin typeface="Bahnschrift" panose="020B0502040204020203" pitchFamily="34" charset="0"/>
              </a:rPr>
              <a:t> необходимо масштабировать признаки (например, с помощью </a:t>
            </a:r>
            <a:r>
              <a:rPr lang="ru-RU" sz="1600" dirty="0" err="1">
                <a:solidFill>
                  <a:schemeClr val="accent2">
                    <a:lumMod val="50000"/>
                  </a:schemeClr>
                </a:solidFill>
                <a:latin typeface="Bahnschrift" panose="020B0502040204020203" pitchFamily="34" charset="0"/>
              </a:rPr>
              <a:t>StandardScaler</a:t>
            </a:r>
            <a:r>
              <a:rPr lang="ru-RU" sz="1600" dirty="0">
                <a:solidFill>
                  <a:schemeClr val="accent2">
                    <a:lumMod val="50000"/>
                  </a:schemeClr>
                </a:solidFill>
                <a:latin typeface="Bahnschrift" panose="020B0502040204020203" pitchFamily="34" charset="0"/>
              </a:rPr>
              <a:t> или </a:t>
            </a:r>
            <a:r>
              <a:rPr lang="ru-RU" sz="1600" dirty="0" err="1">
                <a:solidFill>
                  <a:schemeClr val="accent2">
                    <a:lumMod val="50000"/>
                  </a:schemeClr>
                </a:solidFill>
                <a:latin typeface="Bahnschrift" panose="020B0502040204020203" pitchFamily="34" charset="0"/>
              </a:rPr>
              <a:t>MinMaxScaler</a:t>
            </a:r>
            <a:r>
              <a:rPr lang="ru-RU" sz="1600" dirty="0">
                <a:solidFill>
                  <a:schemeClr val="accent2">
                    <a:lumMod val="50000"/>
                  </a:schemeClr>
                </a:solidFill>
                <a:latin typeface="Bahnschrift" panose="020B0502040204020203" pitchFamily="34" charset="0"/>
              </a:rPr>
              <a:t>).</a:t>
            </a:r>
            <a:endParaRPr lang="en-US" sz="1600" dirty="0">
              <a:solidFill>
                <a:schemeClr val="accent2">
                  <a:lumMod val="50000"/>
                </a:schemeClr>
              </a:solidFill>
              <a:latin typeface="Bahnschrift" panose="020B0502040204020203" pitchFamily="34" charset="0"/>
            </a:endParaRPr>
          </a:p>
          <a:p>
            <a:pPr marL="542925" lvl="0"/>
            <a:endParaRPr lang="ru-RU" sz="1600" dirty="0">
              <a:solidFill>
                <a:schemeClr val="accent2">
                  <a:lumMod val="50000"/>
                </a:schemeClr>
              </a:solidFill>
              <a:latin typeface="Bahnschrift" panose="020B0502040204020203" pitchFamily="34" charset="0"/>
            </a:endParaRPr>
          </a:p>
          <a:p>
            <a:pPr marL="542925" lvl="0"/>
            <a:r>
              <a:rPr lang="ru-RU" b="1" dirty="0">
                <a:solidFill>
                  <a:schemeClr val="accent2">
                    <a:lumMod val="50000"/>
                  </a:schemeClr>
                </a:solidFill>
                <a:latin typeface="Bahnschrift" panose="020B0502040204020203" pitchFamily="34" charset="0"/>
              </a:rPr>
              <a:t>Неэффективен для данных с большим количеством признаков (проклятие размерности):</a:t>
            </a:r>
            <a:r>
              <a:rPr lang="ru-RU" dirty="0">
                <a:solidFill>
                  <a:schemeClr val="accent2">
                    <a:lumMod val="50000"/>
                  </a:schemeClr>
                </a:solidFill>
                <a:latin typeface="Bahnschrift" panose="020B0502040204020203" pitchFamily="34" charset="0"/>
              </a:rPr>
              <a:t> </a:t>
            </a:r>
            <a:r>
              <a:rPr lang="ru-RU" sz="1600" dirty="0">
                <a:solidFill>
                  <a:schemeClr val="accent2">
                    <a:lumMod val="50000"/>
                  </a:schemeClr>
                </a:solidFill>
                <a:latin typeface="Bahnschrift" panose="020B0502040204020203" pitchFamily="34" charset="0"/>
              </a:rPr>
              <a:t>В </a:t>
            </a:r>
            <a:r>
              <a:rPr lang="ru-RU" sz="1600" dirty="0" err="1">
                <a:solidFill>
                  <a:schemeClr val="accent2">
                    <a:lumMod val="50000"/>
                  </a:schemeClr>
                </a:solidFill>
                <a:latin typeface="Bahnschrift" panose="020B0502040204020203" pitchFamily="34" charset="0"/>
              </a:rPr>
              <a:t>высокоразмерном</a:t>
            </a:r>
            <a:r>
              <a:rPr lang="ru-RU" sz="1600" dirty="0">
                <a:solidFill>
                  <a:schemeClr val="accent2">
                    <a:lumMod val="50000"/>
                  </a:schemeClr>
                </a:solidFill>
                <a:latin typeface="Bahnschrift" panose="020B0502040204020203" pitchFamily="34" charset="0"/>
              </a:rPr>
              <a:t> пространстве расстояния между объектами становятся менее различимыми</a:t>
            </a:r>
            <a:r>
              <a:rPr lang="ru-RU" dirty="0">
                <a:solidFill>
                  <a:schemeClr val="accent2">
                    <a:lumMod val="50000"/>
                  </a:schemeClr>
                </a:solidFill>
                <a:latin typeface="Bahnschrift" panose="020B0502040204020203" pitchFamily="34" charset="0"/>
              </a:rPr>
              <a:t>.</a:t>
            </a:r>
            <a:endParaRPr lang="en-US" dirty="0">
              <a:solidFill>
                <a:schemeClr val="accent2">
                  <a:lumMod val="50000"/>
                </a:schemeClr>
              </a:solidFill>
              <a:latin typeface="Bahnschrift" panose="020B0502040204020203" pitchFamily="34" charset="0"/>
            </a:endParaRPr>
          </a:p>
          <a:p>
            <a:pPr marL="542925" lvl="0"/>
            <a:endParaRPr lang="ru-RU" dirty="0">
              <a:solidFill>
                <a:schemeClr val="accent2">
                  <a:lumMod val="50000"/>
                </a:schemeClr>
              </a:solidFill>
              <a:latin typeface="Bahnschrift" panose="020B0502040204020203" pitchFamily="34" charset="0"/>
            </a:endParaRPr>
          </a:p>
          <a:p>
            <a:pPr marL="542925" lvl="0"/>
            <a:r>
              <a:rPr lang="ru-RU" b="1" dirty="0">
                <a:solidFill>
                  <a:schemeClr val="accent2">
                    <a:lumMod val="50000"/>
                  </a:schemeClr>
                </a:solidFill>
                <a:latin typeface="Bahnschrift" panose="020B0502040204020203" pitchFamily="34" charset="0"/>
              </a:rPr>
              <a:t>Требует хранения всей обучающей выборки:</a:t>
            </a:r>
            <a:r>
              <a:rPr lang="ru-RU" dirty="0">
                <a:solidFill>
                  <a:schemeClr val="accent2">
                    <a:lumMod val="50000"/>
                  </a:schemeClr>
                </a:solidFill>
                <a:latin typeface="Bahnschrift" panose="020B0502040204020203" pitchFamily="34" charset="0"/>
              </a:rPr>
              <a:t> </a:t>
            </a:r>
            <a:r>
              <a:rPr lang="ru-RU" sz="1600" dirty="0" err="1">
                <a:solidFill>
                  <a:schemeClr val="accent2">
                    <a:lumMod val="50000"/>
                  </a:schemeClr>
                </a:solidFill>
                <a:latin typeface="Bahnschrift" panose="020B0502040204020203" pitchFamily="34" charset="0"/>
              </a:rPr>
              <a:t>KNN</a:t>
            </a:r>
            <a:r>
              <a:rPr lang="ru-RU" sz="1600" dirty="0">
                <a:solidFill>
                  <a:schemeClr val="accent2">
                    <a:lumMod val="50000"/>
                  </a:schemeClr>
                </a:solidFill>
                <a:latin typeface="Bahnschrift" panose="020B0502040204020203" pitchFamily="34" charset="0"/>
              </a:rPr>
              <a:t> не строит явную модель, поэтому требует хранения всей обучающей выборки в памяти.</a:t>
            </a:r>
          </a:p>
          <a:p>
            <a:endParaRPr lang="ru-RU" dirty="0">
              <a:solidFill>
                <a:schemeClr val="accent2">
                  <a:lumMod val="50000"/>
                </a:schemeClr>
              </a:solidFill>
              <a:latin typeface="Bahnschrift" panose="020B0502040204020203" pitchFamily="34" charset="0"/>
            </a:endParaRPr>
          </a:p>
        </p:txBody>
      </p:sp>
      <p:sp>
        <p:nvSpPr>
          <p:cNvPr id="7" name="Заголовок 1">
            <a:extLst>
              <a:ext uri="{FF2B5EF4-FFF2-40B4-BE49-F238E27FC236}">
                <a16:creationId xmlns:a16="http://schemas.microsoft.com/office/drawing/2014/main" id="{B0607A9F-2160-DF68-46D7-58A8B8733F4C}"/>
              </a:ext>
            </a:extLst>
          </p:cNvPr>
          <p:cNvSpPr>
            <a:spLocks noGrp="1"/>
          </p:cNvSpPr>
          <p:nvPr>
            <p:ph type="title"/>
          </p:nvPr>
        </p:nvSpPr>
        <p:spPr>
          <a:xfrm>
            <a:off x="256446" y="88956"/>
            <a:ext cx="11828508" cy="461665"/>
          </a:xfrm>
        </p:spPr>
        <p:txBody>
          <a:bodyPr>
            <a:noAutofit/>
          </a:bodyPr>
          <a:lstStyle/>
          <a:p>
            <a:pPr algn="ctr"/>
            <a:r>
              <a:rPr lang="en-US" sz="2400" b="1" dirty="0">
                <a:solidFill>
                  <a:schemeClr val="accent2">
                    <a:lumMod val="50000"/>
                  </a:schemeClr>
                </a:solidFill>
                <a:latin typeface="Arial Black" panose="020B0A04020102020204" pitchFamily="34" charset="0"/>
              </a:rPr>
              <a:t> K-</a:t>
            </a:r>
            <a:r>
              <a:rPr lang="ru-RU" sz="2400" b="1" dirty="0">
                <a:solidFill>
                  <a:schemeClr val="accent2">
                    <a:lumMod val="50000"/>
                  </a:schemeClr>
                </a:solidFill>
                <a:latin typeface="Arial Black" panose="020B0A04020102020204" pitchFamily="34" charset="0"/>
              </a:rPr>
              <a:t>ближайших соседей (</a:t>
            </a:r>
            <a:r>
              <a:rPr lang="en-US" sz="2400" b="1" dirty="0">
                <a:solidFill>
                  <a:schemeClr val="accent2">
                    <a:lumMod val="50000"/>
                  </a:schemeClr>
                </a:solidFill>
                <a:latin typeface="Arial Black" panose="020B0A04020102020204" pitchFamily="34" charset="0"/>
              </a:rPr>
              <a:t>KNN)</a:t>
            </a:r>
            <a:endParaRPr lang="ru-RU" sz="2400" b="1" dirty="0">
              <a:solidFill>
                <a:schemeClr val="accent2">
                  <a:lumMod val="50000"/>
                </a:schemeClr>
              </a:solidFill>
              <a:latin typeface="Arial Black" panose="020B0A04020102020204" pitchFamily="34" charset="0"/>
            </a:endParaRPr>
          </a:p>
        </p:txBody>
      </p:sp>
    </p:spTree>
    <p:extLst>
      <p:ext uri="{BB962C8B-B14F-4D97-AF65-F5344CB8AC3E}">
        <p14:creationId xmlns:p14="http://schemas.microsoft.com/office/powerpoint/2010/main" val="3558620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41DA3-E2BD-F1A5-E6EB-BB1AC752566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DC6118-0C18-1D9A-F530-1680DC5FD15E}"/>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Дерево</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A286004F-B0E1-88F6-2A28-6531D6BA1ED1}"/>
              </a:ext>
            </a:extLst>
          </p:cNvPr>
          <p:cNvSpPr txBox="1"/>
          <p:nvPr/>
        </p:nvSpPr>
        <p:spPr>
          <a:xfrm>
            <a:off x="479376" y="864198"/>
            <a:ext cx="11161240" cy="1200329"/>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Дерево решений (</a:t>
            </a:r>
            <a:r>
              <a:rPr lang="ru-RU" sz="2400" dirty="0" err="1">
                <a:solidFill>
                  <a:schemeClr val="accent2">
                    <a:lumMod val="50000"/>
                  </a:schemeClr>
                </a:solidFill>
                <a:latin typeface="Bahnschrift" panose="020B0502040204020203" pitchFamily="34" charset="0"/>
              </a:rPr>
              <a:t>Decision</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Tree</a:t>
            </a:r>
            <a:r>
              <a:rPr lang="ru-RU" sz="2400" dirty="0">
                <a:solidFill>
                  <a:schemeClr val="accent2">
                    <a:lumMod val="50000"/>
                  </a:schemeClr>
                </a:solidFill>
                <a:latin typeface="Bahnschrift" panose="020B0502040204020203" pitchFamily="34" charset="0"/>
              </a:rPr>
              <a:t>) —алгоритм машинного обучения, который может использоваться как для задач классификации, так и для задач регрессии. Дерево решений представляет собой иерархическую структуру</a:t>
            </a:r>
          </a:p>
        </p:txBody>
      </p:sp>
      <p:pic>
        <p:nvPicPr>
          <p:cNvPr id="3" name="Рисунок 2">
            <a:extLst>
              <a:ext uri="{FF2B5EF4-FFF2-40B4-BE49-F238E27FC236}">
                <a16:creationId xmlns:a16="http://schemas.microsoft.com/office/drawing/2014/main" id="{C36C8B15-6A39-8C6D-6745-66545F9140C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2495600" y="2208156"/>
            <a:ext cx="6703762" cy="4636127"/>
          </a:xfrm>
          <a:prstGeom prst="rect">
            <a:avLst/>
          </a:prstGeom>
        </p:spPr>
      </p:pic>
    </p:spTree>
    <p:extLst>
      <p:ext uri="{BB962C8B-B14F-4D97-AF65-F5344CB8AC3E}">
        <p14:creationId xmlns:p14="http://schemas.microsoft.com/office/powerpoint/2010/main" val="3967314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58B6D-3633-8EB0-15A5-FA8FC3B2585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124608-C62F-3A85-4A9C-9A6EFFC74362}"/>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Дерево</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4" name="TextBox 3">
            <a:extLst>
              <a:ext uri="{FF2B5EF4-FFF2-40B4-BE49-F238E27FC236}">
                <a16:creationId xmlns:a16="http://schemas.microsoft.com/office/drawing/2014/main" id="{F8709D40-D98E-8B4B-197A-659F15AA764B}"/>
              </a:ext>
            </a:extLst>
          </p:cNvPr>
          <p:cNvSpPr txBox="1"/>
          <p:nvPr/>
        </p:nvSpPr>
        <p:spPr>
          <a:xfrm>
            <a:off x="1055440" y="882149"/>
            <a:ext cx="10441160" cy="5093702"/>
          </a:xfrm>
          <a:prstGeom prst="rect">
            <a:avLst/>
          </a:prstGeom>
          <a:noFill/>
        </p:spPr>
        <p:txBody>
          <a:bodyPr wrap="square">
            <a:spAutoFit/>
          </a:bodyPr>
          <a:lstStyle/>
          <a:p>
            <a:pPr algn="l">
              <a:spcBef>
                <a:spcPts val="600"/>
              </a:spcBef>
            </a:pPr>
            <a:r>
              <a:rPr lang="ru-RU" sz="2000" b="1" i="0" dirty="0">
                <a:solidFill>
                  <a:schemeClr val="accent2">
                    <a:lumMod val="50000"/>
                  </a:schemeClr>
                </a:solidFill>
                <a:effectLst/>
                <a:latin typeface="Bahnschrift" panose="020B0502040204020203" pitchFamily="34" charset="0"/>
              </a:rPr>
              <a:t>Структура дерева:</a:t>
            </a:r>
          </a:p>
          <a:p>
            <a:pPr algn="l">
              <a:spcBef>
                <a:spcPts val="600"/>
              </a:spcBef>
            </a:pPr>
            <a:endParaRPr lang="ru-RU" sz="2000" b="0" i="0" dirty="0">
              <a:solidFill>
                <a:schemeClr val="accent2">
                  <a:lumMod val="50000"/>
                </a:schemeClr>
              </a:solidFill>
              <a:effectLst/>
              <a:latin typeface="Bahnschrift" panose="020B0502040204020203" pitchFamily="34" charset="0"/>
            </a:endParaRPr>
          </a:p>
          <a:p>
            <a:pPr marL="1076325" lvl="1" indent="-269875" algn="l">
              <a:buFont typeface="Wingdings" panose="05000000000000000000" pitchFamily="2" charset="2"/>
              <a:buChar char="Ø"/>
            </a:pPr>
            <a:r>
              <a:rPr lang="ru-RU" sz="2000" b="1" i="0" dirty="0">
                <a:solidFill>
                  <a:schemeClr val="accent2">
                    <a:lumMod val="50000"/>
                  </a:schemeClr>
                </a:solidFill>
                <a:effectLst/>
                <a:latin typeface="Bahnschrift" panose="020B0502040204020203" pitchFamily="34" charset="0"/>
              </a:rPr>
              <a:t>Корень (</a:t>
            </a:r>
            <a:r>
              <a:rPr lang="ru-RU" sz="2000" b="1" i="0" dirty="0" err="1">
                <a:solidFill>
                  <a:schemeClr val="accent2">
                    <a:lumMod val="50000"/>
                  </a:schemeClr>
                </a:solidFill>
                <a:effectLst/>
                <a:latin typeface="Bahnschrift" panose="020B0502040204020203" pitchFamily="34" charset="0"/>
              </a:rPr>
              <a:t>Root</a:t>
            </a:r>
            <a:r>
              <a:rPr lang="ru-RU" sz="2000" b="1" i="0" dirty="0">
                <a:solidFill>
                  <a:schemeClr val="accent2">
                    <a:lumMod val="50000"/>
                  </a:schemeClr>
                </a:solidFill>
                <a:effectLst/>
                <a:latin typeface="Bahnschrift" panose="020B0502040204020203" pitchFamily="34" charset="0"/>
              </a:rPr>
              <a:t> </a:t>
            </a:r>
            <a:r>
              <a:rPr lang="ru-RU" sz="2000" b="1" i="0" dirty="0" err="1">
                <a:solidFill>
                  <a:schemeClr val="accent2">
                    <a:lumMod val="50000"/>
                  </a:schemeClr>
                </a:solidFill>
                <a:effectLst/>
                <a:latin typeface="Bahnschrift" panose="020B0502040204020203" pitchFamily="34" charset="0"/>
              </a:rPr>
              <a:t>Node</a:t>
            </a:r>
            <a:r>
              <a:rPr lang="ru-RU" sz="2000" b="1" i="0" dirty="0">
                <a:solidFill>
                  <a:schemeClr val="accent2">
                    <a:lumMod val="50000"/>
                  </a:schemeClr>
                </a:solidFill>
                <a:effectLst/>
                <a:latin typeface="Bahnschrift" panose="020B0502040204020203" pitchFamily="34" charset="0"/>
              </a:rPr>
              <a:t>):</a:t>
            </a:r>
            <a:r>
              <a:rPr lang="ru-RU" sz="2000" b="0" i="0" dirty="0">
                <a:solidFill>
                  <a:schemeClr val="accent2">
                    <a:lumMod val="50000"/>
                  </a:schemeClr>
                </a:solidFill>
                <a:effectLst/>
                <a:latin typeface="Bahnschrift" panose="020B0502040204020203" pitchFamily="34" charset="0"/>
              </a:rPr>
              <a:t> Самый верхний узел, представляющий весь набор данных.</a:t>
            </a:r>
          </a:p>
          <a:p>
            <a:pPr marL="1076325" lvl="1" indent="-269875" algn="l">
              <a:buFont typeface="Wingdings" panose="05000000000000000000" pitchFamily="2" charset="2"/>
              <a:buChar char="Ø"/>
            </a:pPr>
            <a:endParaRPr lang="ru-RU" sz="2000" b="0" i="0" dirty="0">
              <a:solidFill>
                <a:schemeClr val="accent2">
                  <a:lumMod val="50000"/>
                </a:schemeClr>
              </a:solidFill>
              <a:effectLst/>
              <a:latin typeface="Bahnschrift" panose="020B0502040204020203" pitchFamily="34" charset="0"/>
            </a:endParaRPr>
          </a:p>
          <a:p>
            <a:pPr marL="1076325" lvl="1" indent="-269875" algn="l">
              <a:buFont typeface="Wingdings" panose="05000000000000000000" pitchFamily="2" charset="2"/>
              <a:buChar char="Ø"/>
            </a:pPr>
            <a:r>
              <a:rPr lang="ru-RU" sz="2000" b="1" i="0" dirty="0">
                <a:solidFill>
                  <a:schemeClr val="accent2">
                    <a:lumMod val="50000"/>
                  </a:schemeClr>
                </a:solidFill>
                <a:effectLst/>
                <a:latin typeface="Bahnschrift" panose="020B0502040204020203" pitchFamily="34" charset="0"/>
              </a:rPr>
              <a:t>Внутренние узлы (</a:t>
            </a:r>
            <a:r>
              <a:rPr lang="ru-RU" sz="2000" b="1" i="0" dirty="0" err="1">
                <a:solidFill>
                  <a:schemeClr val="accent2">
                    <a:lumMod val="50000"/>
                  </a:schemeClr>
                </a:solidFill>
                <a:effectLst/>
                <a:latin typeface="Bahnschrift" panose="020B0502040204020203" pitchFamily="34" charset="0"/>
              </a:rPr>
              <a:t>Internal</a:t>
            </a:r>
            <a:r>
              <a:rPr lang="ru-RU" sz="2000" b="1" i="0" dirty="0">
                <a:solidFill>
                  <a:schemeClr val="accent2">
                    <a:lumMod val="50000"/>
                  </a:schemeClr>
                </a:solidFill>
                <a:effectLst/>
                <a:latin typeface="Bahnschrift" panose="020B0502040204020203" pitchFamily="34" charset="0"/>
              </a:rPr>
              <a:t> </a:t>
            </a:r>
            <a:r>
              <a:rPr lang="ru-RU" sz="2000" b="1" i="0" dirty="0" err="1">
                <a:solidFill>
                  <a:schemeClr val="accent2">
                    <a:lumMod val="50000"/>
                  </a:schemeClr>
                </a:solidFill>
                <a:effectLst/>
                <a:latin typeface="Bahnschrift" panose="020B0502040204020203" pitchFamily="34" charset="0"/>
              </a:rPr>
              <a:t>Nodes</a:t>
            </a:r>
            <a:r>
              <a:rPr lang="ru-RU" sz="2000" b="1" i="0" dirty="0">
                <a:solidFill>
                  <a:schemeClr val="accent2">
                    <a:lumMod val="50000"/>
                  </a:schemeClr>
                </a:solidFill>
                <a:effectLst/>
                <a:latin typeface="Bahnschrift" panose="020B0502040204020203" pitchFamily="34" charset="0"/>
              </a:rPr>
              <a:t>):</a:t>
            </a:r>
            <a:r>
              <a:rPr lang="ru-RU" sz="2000" b="0" i="0" dirty="0">
                <a:solidFill>
                  <a:schemeClr val="accent2">
                    <a:lumMod val="50000"/>
                  </a:schemeClr>
                </a:solidFill>
                <a:effectLst/>
                <a:latin typeface="Bahnschrift" panose="020B0502040204020203" pitchFamily="34" charset="0"/>
              </a:rPr>
              <a:t> Каждый внутренний узел представляет собой проверку на значение определенного признака. Например, “доход &gt; </a:t>
            </a:r>
            <a:r>
              <a:rPr lang="en-US" sz="2000" dirty="0">
                <a:solidFill>
                  <a:schemeClr val="accent2">
                    <a:lumMod val="50000"/>
                  </a:schemeClr>
                </a:solidFill>
                <a:latin typeface="Bahnschrift" panose="020B0502040204020203" pitchFamily="34" charset="0"/>
              </a:rPr>
              <a:t>60</a:t>
            </a:r>
            <a:r>
              <a:rPr lang="ru-RU" sz="2000" b="0" i="0" dirty="0">
                <a:solidFill>
                  <a:schemeClr val="accent2">
                    <a:lumMod val="50000"/>
                  </a:schemeClr>
                </a:solidFill>
                <a:effectLst/>
                <a:latin typeface="Bahnschrift" panose="020B0502040204020203" pitchFamily="34" charset="0"/>
              </a:rPr>
              <a:t>000?”.</a:t>
            </a:r>
          </a:p>
          <a:p>
            <a:pPr marL="1076325" lvl="1" indent="-269875" algn="l">
              <a:buFont typeface="Wingdings" panose="05000000000000000000" pitchFamily="2" charset="2"/>
              <a:buChar char="Ø"/>
            </a:pPr>
            <a:endParaRPr lang="ru-RU" sz="2000" b="0" i="0" dirty="0">
              <a:solidFill>
                <a:schemeClr val="accent2">
                  <a:lumMod val="50000"/>
                </a:schemeClr>
              </a:solidFill>
              <a:effectLst/>
              <a:latin typeface="Bahnschrift" panose="020B0502040204020203" pitchFamily="34" charset="0"/>
            </a:endParaRPr>
          </a:p>
          <a:p>
            <a:pPr marL="1076325" lvl="1" indent="-269875" algn="l">
              <a:buFont typeface="Wingdings" panose="05000000000000000000" pitchFamily="2" charset="2"/>
              <a:buChar char="Ø"/>
            </a:pPr>
            <a:r>
              <a:rPr lang="ru-RU" sz="2000" b="1" i="0" dirty="0">
                <a:solidFill>
                  <a:schemeClr val="accent2">
                    <a:lumMod val="50000"/>
                  </a:schemeClr>
                </a:solidFill>
                <a:effectLst/>
                <a:latin typeface="Bahnschrift" panose="020B0502040204020203" pitchFamily="34" charset="0"/>
              </a:rPr>
              <a:t>Ветви (</a:t>
            </a:r>
            <a:r>
              <a:rPr lang="ru-RU" sz="2000" b="1" i="0" dirty="0" err="1">
                <a:solidFill>
                  <a:schemeClr val="accent2">
                    <a:lumMod val="50000"/>
                  </a:schemeClr>
                </a:solidFill>
                <a:effectLst/>
                <a:latin typeface="Bahnschrift" panose="020B0502040204020203" pitchFamily="34" charset="0"/>
              </a:rPr>
              <a:t>Branches</a:t>
            </a:r>
            <a:r>
              <a:rPr lang="ru-RU" sz="2000" b="1" i="0" dirty="0">
                <a:solidFill>
                  <a:schemeClr val="accent2">
                    <a:lumMod val="50000"/>
                  </a:schemeClr>
                </a:solidFill>
                <a:effectLst/>
                <a:latin typeface="Bahnschrift" panose="020B0502040204020203" pitchFamily="34" charset="0"/>
              </a:rPr>
              <a:t>):</a:t>
            </a:r>
            <a:r>
              <a:rPr lang="ru-RU" sz="2000" b="0" i="0" dirty="0">
                <a:solidFill>
                  <a:schemeClr val="accent2">
                    <a:lumMod val="50000"/>
                  </a:schemeClr>
                </a:solidFill>
                <a:effectLst/>
                <a:latin typeface="Bahnschrift" panose="020B0502040204020203" pitchFamily="34" charset="0"/>
              </a:rPr>
              <a:t> Ветви соединяют узлы и представляют собой возможные исходы проверки признака (например, “да” или “нет”).</a:t>
            </a:r>
          </a:p>
          <a:p>
            <a:pPr marL="1076325" lvl="1" indent="-269875" algn="l">
              <a:buFont typeface="Wingdings" panose="05000000000000000000" pitchFamily="2" charset="2"/>
              <a:buChar char="Ø"/>
            </a:pPr>
            <a:endParaRPr lang="ru-RU" sz="2000" b="0" i="0" dirty="0">
              <a:solidFill>
                <a:schemeClr val="accent2">
                  <a:lumMod val="50000"/>
                </a:schemeClr>
              </a:solidFill>
              <a:effectLst/>
              <a:latin typeface="Bahnschrift" panose="020B0502040204020203" pitchFamily="34" charset="0"/>
            </a:endParaRPr>
          </a:p>
          <a:p>
            <a:pPr marL="1076325" lvl="1" indent="-269875" algn="l">
              <a:buFont typeface="Wingdings" panose="05000000000000000000" pitchFamily="2" charset="2"/>
              <a:buChar char="Ø"/>
            </a:pPr>
            <a:r>
              <a:rPr lang="ru-RU" sz="2000" b="1" i="0" dirty="0">
                <a:solidFill>
                  <a:schemeClr val="accent2">
                    <a:lumMod val="50000"/>
                  </a:schemeClr>
                </a:solidFill>
                <a:effectLst/>
                <a:latin typeface="Bahnschrift" panose="020B0502040204020203" pitchFamily="34" charset="0"/>
              </a:rPr>
              <a:t>Листья (</a:t>
            </a:r>
            <a:r>
              <a:rPr lang="ru-RU" sz="2000" b="1" i="0" dirty="0" err="1">
                <a:solidFill>
                  <a:schemeClr val="accent2">
                    <a:lumMod val="50000"/>
                  </a:schemeClr>
                </a:solidFill>
                <a:effectLst/>
                <a:latin typeface="Bahnschrift" panose="020B0502040204020203" pitchFamily="34" charset="0"/>
              </a:rPr>
              <a:t>Leaf</a:t>
            </a:r>
            <a:r>
              <a:rPr lang="ru-RU" sz="2000" b="1" i="0" dirty="0">
                <a:solidFill>
                  <a:schemeClr val="accent2">
                    <a:lumMod val="50000"/>
                  </a:schemeClr>
                </a:solidFill>
                <a:effectLst/>
                <a:latin typeface="Bahnschrift" panose="020B0502040204020203" pitchFamily="34" charset="0"/>
              </a:rPr>
              <a:t> </a:t>
            </a:r>
            <a:r>
              <a:rPr lang="ru-RU" sz="2000" b="1" i="0" dirty="0" err="1">
                <a:solidFill>
                  <a:schemeClr val="accent2">
                    <a:lumMod val="50000"/>
                  </a:schemeClr>
                </a:solidFill>
                <a:effectLst/>
                <a:latin typeface="Bahnschrift" panose="020B0502040204020203" pitchFamily="34" charset="0"/>
              </a:rPr>
              <a:t>Nodes</a:t>
            </a:r>
            <a:r>
              <a:rPr lang="ru-RU" sz="2000" b="1" i="0" dirty="0">
                <a:solidFill>
                  <a:schemeClr val="accent2">
                    <a:lumMod val="50000"/>
                  </a:schemeClr>
                </a:solidFill>
                <a:effectLst/>
                <a:latin typeface="Bahnschrift" panose="020B0502040204020203" pitchFamily="34" charset="0"/>
              </a:rPr>
              <a:t>):</a:t>
            </a:r>
            <a:r>
              <a:rPr lang="ru-RU" sz="2000" b="0" i="0" dirty="0">
                <a:solidFill>
                  <a:schemeClr val="accent2">
                    <a:lumMod val="50000"/>
                  </a:schemeClr>
                </a:solidFill>
                <a:effectLst/>
                <a:latin typeface="Bahnschrift" panose="020B0502040204020203" pitchFamily="34" charset="0"/>
              </a:rPr>
              <a:t> Конечные узлы, представляющие собой предсказание для конкретной области признакового пространства. В задачах классификации лист может представлять собой класс, а в задачах регрессии - значение.</a:t>
            </a:r>
          </a:p>
        </p:txBody>
      </p:sp>
    </p:spTree>
    <p:extLst>
      <p:ext uri="{BB962C8B-B14F-4D97-AF65-F5344CB8AC3E}">
        <p14:creationId xmlns:p14="http://schemas.microsoft.com/office/powerpoint/2010/main" val="318216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1B0E2-1D64-9FD6-64C5-F3FBD8926FB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AF79AF-074C-347D-6EAD-D905C538BA94}"/>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Дерево</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4" name="TextBox 3">
            <a:extLst>
              <a:ext uri="{FF2B5EF4-FFF2-40B4-BE49-F238E27FC236}">
                <a16:creationId xmlns:a16="http://schemas.microsoft.com/office/drawing/2014/main" id="{2B158F34-BA30-85A5-452E-CD3C8B2B777B}"/>
              </a:ext>
            </a:extLst>
          </p:cNvPr>
          <p:cNvSpPr txBox="1"/>
          <p:nvPr/>
        </p:nvSpPr>
        <p:spPr>
          <a:xfrm>
            <a:off x="443372" y="404664"/>
            <a:ext cx="11305256" cy="5863144"/>
          </a:xfrm>
          <a:prstGeom prst="rect">
            <a:avLst/>
          </a:prstGeom>
          <a:noFill/>
        </p:spPr>
        <p:txBody>
          <a:bodyPr wrap="square">
            <a:spAutoFit/>
          </a:bodyPr>
          <a:lstStyle/>
          <a:p>
            <a:pPr algn="l">
              <a:spcBef>
                <a:spcPts val="600"/>
              </a:spcBef>
            </a:pPr>
            <a:r>
              <a:rPr lang="ru-RU" sz="2000" b="1" i="0" dirty="0">
                <a:solidFill>
                  <a:schemeClr val="accent2">
                    <a:lumMod val="50000"/>
                  </a:schemeClr>
                </a:solidFill>
                <a:effectLst/>
                <a:latin typeface="Bahnschrift" panose="020B0502040204020203" pitchFamily="34" charset="0"/>
              </a:rPr>
              <a:t>Для классификации:</a:t>
            </a:r>
          </a:p>
          <a:p>
            <a:pPr algn="l">
              <a:spcBef>
                <a:spcPts val="600"/>
              </a:spcBef>
            </a:pPr>
            <a:endParaRPr lang="ru-RU" sz="2000" b="1" i="0" dirty="0">
              <a:solidFill>
                <a:schemeClr val="accent2">
                  <a:lumMod val="50000"/>
                </a:schemeClr>
              </a:solidFill>
              <a:effectLst/>
              <a:latin typeface="Bahnschrift" panose="020B0502040204020203" pitchFamily="34" charset="0"/>
            </a:endParaRPr>
          </a:p>
          <a:p>
            <a:pPr marL="355600" algn="l">
              <a:spcBef>
                <a:spcPts val="600"/>
              </a:spcBef>
            </a:pPr>
            <a:r>
              <a:rPr lang="ru-RU" sz="2000" b="1" i="0" dirty="0" err="1">
                <a:effectLst/>
                <a:latin typeface="Bahnschrift" panose="020B0502040204020203" pitchFamily="34" charset="0"/>
              </a:rPr>
              <a:t>Gini</a:t>
            </a:r>
            <a:r>
              <a:rPr lang="ru-RU" sz="2000" b="1" i="0" dirty="0">
                <a:effectLst/>
                <a:latin typeface="Bahnschrift" panose="020B0502040204020203" pitchFamily="34" charset="0"/>
              </a:rPr>
              <a:t> </a:t>
            </a:r>
            <a:r>
              <a:rPr lang="ru-RU" sz="2000" b="1" i="0" dirty="0" err="1">
                <a:effectLst/>
                <a:latin typeface="Bahnschrift" panose="020B0502040204020203" pitchFamily="34" charset="0"/>
              </a:rPr>
              <a:t>Impurity</a:t>
            </a:r>
            <a:r>
              <a:rPr lang="ru-RU" sz="2000" b="0" i="0" dirty="0">
                <a:effectLst/>
                <a:latin typeface="Bahnschrift" panose="020B0502040204020203" pitchFamily="34" charset="0"/>
              </a:rPr>
              <a:t> </a:t>
            </a:r>
            <a:r>
              <a:rPr lang="ru-RU" sz="2000" b="0" i="0" dirty="0">
                <a:solidFill>
                  <a:schemeClr val="accent2">
                    <a:lumMod val="50000"/>
                  </a:schemeClr>
                </a:solidFill>
                <a:effectLst/>
                <a:latin typeface="Bahnschrift" panose="020B0502040204020203" pitchFamily="34" charset="0"/>
              </a:rPr>
              <a:t>(Неопределенность Джини): Мера того, насколько часто случайно выбранный элемент из набора будет неправильно классифицирован, если он был случайно помечен на основе распределения классов в наборе. </a:t>
            </a:r>
            <a:r>
              <a:rPr lang="ru-RU" sz="2000" b="0" i="0" dirty="0">
                <a:effectLst/>
                <a:latin typeface="Bahnschrift" panose="020B0502040204020203" pitchFamily="34" charset="0"/>
              </a:rPr>
              <a:t>Чем меньше </a:t>
            </a:r>
            <a:r>
              <a:rPr lang="ru-RU" sz="2000" b="0" i="0" dirty="0" err="1">
                <a:effectLst/>
                <a:latin typeface="Bahnschrift" panose="020B0502040204020203" pitchFamily="34" charset="0"/>
              </a:rPr>
              <a:t>Gini</a:t>
            </a:r>
            <a:r>
              <a:rPr lang="ru-RU" sz="2000" b="0" i="0" dirty="0">
                <a:effectLst/>
                <a:latin typeface="Bahnschrift" panose="020B0502040204020203" pitchFamily="34" charset="0"/>
              </a:rPr>
              <a:t>, тем лучше</a:t>
            </a:r>
            <a:r>
              <a:rPr lang="ru-RU" sz="2000" b="0" i="0" dirty="0">
                <a:solidFill>
                  <a:schemeClr val="accent2">
                    <a:lumMod val="50000"/>
                  </a:schemeClr>
                </a:solidFill>
                <a:effectLst/>
                <a:latin typeface="Bahnschrift" panose="020B0502040204020203" pitchFamily="34" charset="0"/>
              </a:rPr>
              <a:t>.</a:t>
            </a:r>
          </a:p>
          <a:p>
            <a:pPr marL="355600" algn="l">
              <a:spcBef>
                <a:spcPts val="600"/>
              </a:spcBef>
            </a:pPr>
            <a:endParaRPr lang="ru-RU" sz="2000" b="0" i="0" dirty="0">
              <a:solidFill>
                <a:schemeClr val="accent2">
                  <a:lumMod val="50000"/>
                </a:schemeClr>
              </a:solidFill>
              <a:effectLst/>
              <a:latin typeface="Bahnschrift" panose="020B0502040204020203" pitchFamily="34" charset="0"/>
            </a:endParaRPr>
          </a:p>
          <a:p>
            <a:pPr marL="355600" algn="l">
              <a:spcBef>
                <a:spcPts val="600"/>
              </a:spcBef>
            </a:pPr>
            <a:r>
              <a:rPr lang="ru-RU" sz="2000" b="1" i="0" dirty="0">
                <a:effectLst/>
                <a:latin typeface="Bahnschrift" panose="020B0502040204020203" pitchFamily="34" charset="0"/>
              </a:rPr>
              <a:t>Information </a:t>
            </a:r>
            <a:r>
              <a:rPr lang="ru-RU" sz="2000" b="1" i="0" dirty="0" err="1">
                <a:effectLst/>
                <a:latin typeface="Bahnschrift" panose="020B0502040204020203" pitchFamily="34" charset="0"/>
              </a:rPr>
              <a:t>Gain</a:t>
            </a:r>
            <a:r>
              <a:rPr lang="ru-RU" sz="2000" b="1" i="0" dirty="0">
                <a:effectLst/>
                <a:latin typeface="Bahnschrift" panose="020B0502040204020203" pitchFamily="34" charset="0"/>
              </a:rPr>
              <a:t> </a:t>
            </a:r>
            <a:r>
              <a:rPr lang="ru-RU" sz="2000" b="0" i="0" dirty="0">
                <a:solidFill>
                  <a:schemeClr val="accent2">
                    <a:lumMod val="50000"/>
                  </a:schemeClr>
                </a:solidFill>
                <a:effectLst/>
                <a:latin typeface="Bahnschrift" panose="020B0502040204020203" pitchFamily="34" charset="0"/>
              </a:rPr>
              <a:t>(Информационный прирост): Мера уменьшения энтропии (неопределенности) после разделения данных по определенному признаку. </a:t>
            </a:r>
            <a:r>
              <a:rPr lang="ru-RU" sz="2000" b="0" i="0" dirty="0">
                <a:effectLst/>
                <a:latin typeface="Bahnschrift" panose="020B0502040204020203" pitchFamily="34" charset="0"/>
              </a:rPr>
              <a:t>Чем больше </a:t>
            </a:r>
            <a:r>
              <a:rPr lang="ru-RU" sz="2000" b="0" i="0" dirty="0">
                <a:solidFill>
                  <a:schemeClr val="accent2">
                    <a:lumMod val="50000"/>
                  </a:schemeClr>
                </a:solidFill>
                <a:effectLst/>
                <a:latin typeface="Bahnschrift" panose="020B0502040204020203" pitchFamily="34" charset="0"/>
              </a:rPr>
              <a:t>информационный прирост, </a:t>
            </a:r>
            <a:r>
              <a:rPr lang="ru-RU" sz="2000" b="0" i="0" dirty="0">
                <a:effectLst/>
                <a:latin typeface="Bahnschrift" panose="020B0502040204020203" pitchFamily="34" charset="0"/>
              </a:rPr>
              <a:t>тем лучше.</a:t>
            </a:r>
          </a:p>
          <a:p>
            <a:pPr marL="355600" algn="l">
              <a:spcBef>
                <a:spcPts val="600"/>
              </a:spcBef>
            </a:pPr>
            <a:endParaRPr lang="ru-RU" sz="2000" b="0" i="0" dirty="0">
              <a:solidFill>
                <a:schemeClr val="accent2">
                  <a:lumMod val="50000"/>
                </a:schemeClr>
              </a:solidFill>
              <a:effectLst/>
              <a:latin typeface="Bahnschrift" panose="020B0502040204020203" pitchFamily="34" charset="0"/>
            </a:endParaRPr>
          </a:p>
          <a:p>
            <a:pPr marL="355600" algn="l">
              <a:spcBef>
                <a:spcPts val="600"/>
              </a:spcBef>
            </a:pPr>
            <a:r>
              <a:rPr lang="ru-RU" sz="2000" b="1" i="0" dirty="0" err="1">
                <a:effectLst/>
                <a:latin typeface="Bahnschrift" panose="020B0502040204020203" pitchFamily="34" charset="0"/>
              </a:rPr>
              <a:t>Entropy</a:t>
            </a:r>
            <a:r>
              <a:rPr lang="ru-RU" sz="2000" b="0" i="0" dirty="0">
                <a:effectLst/>
                <a:latin typeface="Bahnschrift" panose="020B0502040204020203" pitchFamily="34" charset="0"/>
              </a:rPr>
              <a:t> </a:t>
            </a:r>
            <a:r>
              <a:rPr lang="ru-RU" sz="2000" b="0" i="0" dirty="0">
                <a:solidFill>
                  <a:schemeClr val="accent2">
                    <a:lumMod val="50000"/>
                  </a:schemeClr>
                </a:solidFill>
                <a:effectLst/>
                <a:latin typeface="Bahnschrift" panose="020B0502040204020203" pitchFamily="34" charset="0"/>
              </a:rPr>
              <a:t>(Энтропия): Мера беспорядка или неопределенности в наборе данных.</a:t>
            </a:r>
          </a:p>
          <a:p>
            <a:pPr marL="355600" algn="l">
              <a:spcBef>
                <a:spcPts val="600"/>
              </a:spcBef>
            </a:pPr>
            <a:endParaRPr lang="ru-RU" sz="2000" b="0" i="0" dirty="0">
              <a:solidFill>
                <a:schemeClr val="accent2">
                  <a:lumMod val="50000"/>
                </a:schemeClr>
              </a:solidFill>
              <a:effectLst/>
              <a:latin typeface="Bahnschrift" panose="020B0502040204020203" pitchFamily="34" charset="0"/>
            </a:endParaRPr>
          </a:p>
          <a:p>
            <a:pPr algn="l">
              <a:spcBef>
                <a:spcPts val="600"/>
              </a:spcBef>
            </a:pPr>
            <a:r>
              <a:rPr lang="ru-RU" sz="2000" b="1" i="0" dirty="0">
                <a:solidFill>
                  <a:schemeClr val="accent2">
                    <a:lumMod val="50000"/>
                  </a:schemeClr>
                </a:solidFill>
                <a:effectLst/>
                <a:latin typeface="Bahnschrift" panose="020B0502040204020203" pitchFamily="34" charset="0"/>
              </a:rPr>
              <a:t>Для регрессии</a:t>
            </a:r>
            <a:r>
              <a:rPr lang="ru-RU" sz="2000" b="0" i="0" dirty="0">
                <a:solidFill>
                  <a:schemeClr val="accent2">
                    <a:lumMod val="50000"/>
                  </a:schemeClr>
                </a:solidFill>
                <a:effectLst/>
                <a:latin typeface="Bahnschrift" panose="020B0502040204020203" pitchFamily="34" charset="0"/>
              </a:rPr>
              <a:t>:</a:t>
            </a:r>
          </a:p>
          <a:p>
            <a:pPr algn="l">
              <a:spcBef>
                <a:spcPts val="600"/>
              </a:spcBef>
            </a:pPr>
            <a:endParaRPr lang="ru-RU" sz="2000" b="0" i="0" dirty="0">
              <a:solidFill>
                <a:schemeClr val="accent2">
                  <a:lumMod val="50000"/>
                </a:schemeClr>
              </a:solidFill>
              <a:effectLst/>
              <a:latin typeface="Bahnschrift" panose="020B0502040204020203" pitchFamily="34" charset="0"/>
            </a:endParaRPr>
          </a:p>
          <a:p>
            <a:pPr marL="355600" algn="l">
              <a:spcBef>
                <a:spcPts val="600"/>
              </a:spcBef>
            </a:pPr>
            <a:r>
              <a:rPr lang="ru-RU" sz="2000" b="0" i="0" dirty="0" err="1">
                <a:solidFill>
                  <a:schemeClr val="accent2">
                    <a:lumMod val="50000"/>
                  </a:schemeClr>
                </a:solidFill>
                <a:effectLst/>
                <a:latin typeface="Bahnschrift" panose="020B0502040204020203" pitchFamily="34" charset="0"/>
              </a:rPr>
              <a:t>Mean</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Squared</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Error</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MSE</a:t>
            </a:r>
            <a:r>
              <a:rPr lang="ru-RU" sz="2000" b="0" i="0" dirty="0">
                <a:solidFill>
                  <a:schemeClr val="accent2">
                    <a:lumMod val="50000"/>
                  </a:schemeClr>
                </a:solidFill>
                <a:effectLst/>
                <a:latin typeface="Bahnschrift" panose="020B0502040204020203" pitchFamily="34" charset="0"/>
              </a:rPr>
              <a:t>): Среднеквадратичная ошибка.</a:t>
            </a:r>
          </a:p>
          <a:p>
            <a:pPr marL="355600" algn="l">
              <a:spcBef>
                <a:spcPts val="600"/>
              </a:spcBef>
            </a:pPr>
            <a:r>
              <a:rPr lang="ru-RU" sz="2000" b="0" i="0" dirty="0" err="1">
                <a:solidFill>
                  <a:schemeClr val="accent2">
                    <a:lumMod val="50000"/>
                  </a:schemeClr>
                </a:solidFill>
                <a:effectLst/>
                <a:latin typeface="Bahnschrift" panose="020B0502040204020203" pitchFamily="34" charset="0"/>
              </a:rPr>
              <a:t>Mean</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Absolute</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Error</a:t>
            </a:r>
            <a:r>
              <a:rPr lang="ru-RU" sz="2000" b="0" i="0" dirty="0">
                <a:solidFill>
                  <a:schemeClr val="accent2">
                    <a:lumMod val="50000"/>
                  </a:schemeClr>
                </a:solidFill>
                <a:effectLst/>
                <a:latin typeface="Bahnschrift" panose="020B0502040204020203" pitchFamily="34" charset="0"/>
              </a:rPr>
              <a:t> (</a:t>
            </a:r>
            <a:r>
              <a:rPr lang="ru-RU" sz="2000" b="0" i="0" dirty="0" err="1">
                <a:solidFill>
                  <a:schemeClr val="accent2">
                    <a:lumMod val="50000"/>
                  </a:schemeClr>
                </a:solidFill>
                <a:effectLst/>
                <a:latin typeface="Bahnschrift" panose="020B0502040204020203" pitchFamily="34" charset="0"/>
              </a:rPr>
              <a:t>MAE</a:t>
            </a:r>
            <a:r>
              <a:rPr lang="ru-RU" sz="2000" b="0" i="0" dirty="0">
                <a:solidFill>
                  <a:schemeClr val="accent2">
                    <a:lumMod val="50000"/>
                  </a:schemeClr>
                </a:solidFill>
                <a:effectLst/>
                <a:latin typeface="Bahnschrift" panose="020B0502040204020203" pitchFamily="34" charset="0"/>
              </a:rPr>
              <a:t>): Средняя абсолютная ошибка.</a:t>
            </a:r>
          </a:p>
        </p:txBody>
      </p:sp>
    </p:spTree>
    <p:extLst>
      <p:ext uri="{BB962C8B-B14F-4D97-AF65-F5344CB8AC3E}">
        <p14:creationId xmlns:p14="http://schemas.microsoft.com/office/powerpoint/2010/main" val="3506380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92E7-D55D-A579-AFC3-D4C9C9C2AC7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7875A3-1E90-EE3C-6E35-0D6A74AD6E97}"/>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Дерево</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2569376E-FB62-F5AB-EFED-66A53D50CCDA}"/>
              </a:ext>
            </a:extLst>
          </p:cNvPr>
          <p:cNvSpPr txBox="1"/>
          <p:nvPr/>
        </p:nvSpPr>
        <p:spPr>
          <a:xfrm>
            <a:off x="459124" y="692696"/>
            <a:ext cx="11612484" cy="461665"/>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Параметры дерева решений (важно для регуляризации и контроля сложности):</a:t>
            </a:r>
          </a:p>
        </p:txBody>
      </p:sp>
      <p:sp>
        <p:nvSpPr>
          <p:cNvPr id="9" name="TextBox 8">
            <a:extLst>
              <a:ext uri="{FF2B5EF4-FFF2-40B4-BE49-F238E27FC236}">
                <a16:creationId xmlns:a16="http://schemas.microsoft.com/office/drawing/2014/main" id="{9E697128-DE3E-864E-3FF5-E74C3C8377F1}"/>
              </a:ext>
            </a:extLst>
          </p:cNvPr>
          <p:cNvSpPr txBox="1"/>
          <p:nvPr/>
        </p:nvSpPr>
        <p:spPr>
          <a:xfrm>
            <a:off x="515380" y="1355477"/>
            <a:ext cx="11161240" cy="4801314"/>
          </a:xfrm>
          <a:prstGeom prst="rect">
            <a:avLst/>
          </a:prstGeom>
          <a:noFill/>
        </p:spPr>
        <p:txBody>
          <a:bodyPr wrap="square">
            <a:spAutoFit/>
          </a:bodyPr>
          <a:lstStyle/>
          <a:p>
            <a:r>
              <a:rPr lang="ru-RU" dirty="0" err="1">
                <a:latin typeface="Bahnschrift" panose="020B0502040204020203" pitchFamily="34" charset="0"/>
              </a:rPr>
              <a:t>max_depth</a:t>
            </a:r>
            <a:r>
              <a:rPr lang="ru-RU" dirty="0">
                <a:latin typeface="Bahnschrift" panose="020B0502040204020203" pitchFamily="34" charset="0"/>
              </a:rPr>
              <a:t>: </a:t>
            </a:r>
          </a:p>
          <a:p>
            <a:r>
              <a:rPr lang="ru-RU" dirty="0">
                <a:solidFill>
                  <a:schemeClr val="accent2">
                    <a:lumMod val="50000"/>
                  </a:schemeClr>
                </a:solidFill>
                <a:latin typeface="Bahnschrift" panose="020B0502040204020203" pitchFamily="34" charset="0"/>
              </a:rPr>
              <a:t>Максимальная глубина дерева. Ограничение глубины предотвращает переобучение, Меньшие значения </a:t>
            </a:r>
            <a:r>
              <a:rPr lang="ru-RU" dirty="0" err="1">
                <a:solidFill>
                  <a:schemeClr val="accent2">
                    <a:lumMod val="50000"/>
                  </a:schemeClr>
                </a:solidFill>
                <a:latin typeface="Bahnschrift" panose="020B0502040204020203" pitchFamily="34" charset="0"/>
              </a:rPr>
              <a:t>max_depth</a:t>
            </a:r>
            <a:r>
              <a:rPr lang="ru-RU" dirty="0">
                <a:solidFill>
                  <a:schemeClr val="accent2">
                    <a:lumMod val="50000"/>
                  </a:schemeClr>
                </a:solidFill>
                <a:latin typeface="Bahnschrift" panose="020B0502040204020203" pitchFamily="34" charset="0"/>
              </a:rPr>
              <a:t> приводят к более простым деревьям.</a:t>
            </a:r>
          </a:p>
          <a:p>
            <a:endParaRPr lang="ru-RU" dirty="0">
              <a:solidFill>
                <a:schemeClr val="accent2">
                  <a:lumMod val="50000"/>
                </a:schemeClr>
              </a:solidFill>
              <a:latin typeface="Bahnschrift" panose="020B0502040204020203" pitchFamily="34" charset="0"/>
            </a:endParaRPr>
          </a:p>
          <a:p>
            <a:r>
              <a:rPr lang="ru-RU" dirty="0" err="1">
                <a:latin typeface="Bahnschrift" panose="020B0502040204020203" pitchFamily="34" charset="0"/>
              </a:rPr>
              <a:t>min_samples_split</a:t>
            </a:r>
            <a:r>
              <a:rPr lang="ru-RU"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Минимальное количество образцов (</a:t>
            </a:r>
            <a:r>
              <a:rPr lang="ru-RU" dirty="0" err="1">
                <a:solidFill>
                  <a:schemeClr val="accent2">
                    <a:lumMod val="50000"/>
                  </a:schemeClr>
                </a:solidFill>
                <a:latin typeface="Bahnschrift" panose="020B0502040204020203" pitchFamily="34" charset="0"/>
              </a:rPr>
              <a:t>samples</a:t>
            </a:r>
            <a:r>
              <a:rPr lang="ru-RU" dirty="0">
                <a:solidFill>
                  <a:schemeClr val="accent2">
                    <a:lumMod val="50000"/>
                  </a:schemeClr>
                </a:solidFill>
                <a:latin typeface="Bahnschrift" panose="020B0502040204020203" pitchFamily="34" charset="0"/>
              </a:rPr>
              <a:t>), необходимых для разделения внутреннего узла. Увеличение этого значения также помогает предотвратить переобучение.</a:t>
            </a:r>
          </a:p>
          <a:p>
            <a:endParaRPr lang="ru-RU" dirty="0">
              <a:solidFill>
                <a:schemeClr val="accent2">
                  <a:lumMod val="50000"/>
                </a:schemeClr>
              </a:solidFill>
              <a:latin typeface="Bahnschrift" panose="020B0502040204020203" pitchFamily="34" charset="0"/>
            </a:endParaRPr>
          </a:p>
          <a:p>
            <a:r>
              <a:rPr lang="ru-RU" dirty="0" err="1">
                <a:latin typeface="Bahnschrift" panose="020B0502040204020203" pitchFamily="34" charset="0"/>
              </a:rPr>
              <a:t>min_samples_leaf</a:t>
            </a:r>
            <a:r>
              <a:rPr lang="ru-RU"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Минимальное количество образцов, которое должно быть в листовом узле. Аналогично </a:t>
            </a:r>
            <a:r>
              <a:rPr lang="ru-RU" dirty="0" err="1">
                <a:solidFill>
                  <a:schemeClr val="accent2">
                    <a:lumMod val="50000"/>
                  </a:schemeClr>
                </a:solidFill>
                <a:latin typeface="Bahnschrift" panose="020B0502040204020203" pitchFamily="34" charset="0"/>
              </a:rPr>
              <a:t>min_samples_split</a:t>
            </a:r>
            <a:r>
              <a:rPr lang="ru-RU" dirty="0">
                <a:solidFill>
                  <a:schemeClr val="accent2">
                    <a:lumMod val="50000"/>
                  </a:schemeClr>
                </a:solidFill>
                <a:latin typeface="Bahnschrift" panose="020B0502040204020203" pitchFamily="34" charset="0"/>
              </a:rPr>
              <a:t>, увеличивает стабильность и обобщающую способность.</a:t>
            </a:r>
          </a:p>
          <a:p>
            <a:endParaRPr lang="ru-RU" dirty="0">
              <a:solidFill>
                <a:schemeClr val="accent2">
                  <a:lumMod val="50000"/>
                </a:schemeClr>
              </a:solidFill>
              <a:latin typeface="Bahnschrift" panose="020B0502040204020203" pitchFamily="34" charset="0"/>
            </a:endParaRPr>
          </a:p>
          <a:p>
            <a:r>
              <a:rPr lang="ru-RU" dirty="0" err="1">
                <a:latin typeface="Bahnschrift" panose="020B0502040204020203" pitchFamily="34" charset="0"/>
              </a:rPr>
              <a:t>max_features</a:t>
            </a:r>
            <a:r>
              <a:rPr lang="ru-RU"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Максимальное кол-во признаков, которые рассматриваются при поиске наилучшего разделения. Уменьшение этого значения -предотвратит переобучение, особенно когда у вас много признаков.</a:t>
            </a:r>
          </a:p>
          <a:p>
            <a:endParaRPr lang="ru-RU" dirty="0">
              <a:solidFill>
                <a:schemeClr val="accent2">
                  <a:lumMod val="50000"/>
                </a:schemeClr>
              </a:solidFill>
              <a:latin typeface="Bahnschrift" panose="020B0502040204020203" pitchFamily="34" charset="0"/>
            </a:endParaRPr>
          </a:p>
          <a:p>
            <a:r>
              <a:rPr lang="ru-RU" dirty="0" err="1">
                <a:latin typeface="Bahnschrift" panose="020B0502040204020203" pitchFamily="34" charset="0"/>
              </a:rPr>
              <a:t>criterion</a:t>
            </a:r>
            <a:r>
              <a:rPr lang="ru-RU"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Критерий, используемый для измерения качества разделения. </a:t>
            </a:r>
            <a:r>
              <a:rPr lang="en-US" b="1" i="1" dirty="0"/>
              <a:t>{“</a:t>
            </a:r>
            <a:r>
              <a:rPr lang="en-US" b="1" i="1" dirty="0" err="1"/>
              <a:t>gini</a:t>
            </a:r>
            <a:r>
              <a:rPr lang="en-US" b="1" i="1" dirty="0"/>
              <a:t>”, “entropy”, “</a:t>
            </a:r>
            <a:r>
              <a:rPr lang="en-US" b="1" i="1" dirty="0" err="1"/>
              <a:t>log_loss</a:t>
            </a:r>
            <a:r>
              <a:rPr lang="en-US" b="1" i="1" dirty="0"/>
              <a:t>”}, default=”</a:t>
            </a:r>
            <a:r>
              <a:rPr lang="en-US" b="1" i="1" dirty="0" err="1"/>
              <a:t>gini</a:t>
            </a:r>
            <a:r>
              <a:rPr lang="en-US" b="1" i="1" dirty="0"/>
              <a:t>”</a:t>
            </a:r>
            <a:endParaRPr lang="ru-RU" dirty="0"/>
          </a:p>
          <a:p>
            <a:endParaRPr lang="ru-RU"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14541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0842A-BE2F-B334-B64D-ACE314D2CD3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51DC8D-75AF-4DDC-5B97-087AF9758458}"/>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Дерево</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00B1AB05-D1F2-14C1-B55E-BF5AD48FAF07}"/>
              </a:ext>
            </a:extLst>
          </p:cNvPr>
          <p:cNvSpPr txBox="1"/>
          <p:nvPr/>
        </p:nvSpPr>
        <p:spPr>
          <a:xfrm>
            <a:off x="459124" y="692696"/>
            <a:ext cx="11612484" cy="461665"/>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Реализация дерева решений в </a:t>
            </a:r>
            <a:r>
              <a:rPr lang="en-US" sz="2400" dirty="0">
                <a:solidFill>
                  <a:schemeClr val="accent2">
                    <a:lumMod val="50000"/>
                  </a:schemeClr>
                </a:solidFill>
                <a:latin typeface="Bahnschrift" panose="020B0502040204020203" pitchFamily="34" charset="0"/>
              </a:rPr>
              <a:t>scikit-learn:</a:t>
            </a:r>
          </a:p>
        </p:txBody>
      </p:sp>
      <p:sp>
        <p:nvSpPr>
          <p:cNvPr id="9" name="TextBox 8">
            <a:extLst>
              <a:ext uri="{FF2B5EF4-FFF2-40B4-BE49-F238E27FC236}">
                <a16:creationId xmlns:a16="http://schemas.microsoft.com/office/drawing/2014/main" id="{1DABE4EA-2A76-4BA2-C056-8ACABAB28F44}"/>
              </a:ext>
            </a:extLst>
          </p:cNvPr>
          <p:cNvSpPr txBox="1"/>
          <p:nvPr/>
        </p:nvSpPr>
        <p:spPr>
          <a:xfrm>
            <a:off x="571636" y="1154361"/>
            <a:ext cx="11161240" cy="646331"/>
          </a:xfrm>
          <a:prstGeom prst="rect">
            <a:avLst/>
          </a:prstGeom>
          <a:noFill/>
        </p:spPr>
        <p:txBody>
          <a:bodyPr wrap="square">
            <a:spAutoFit/>
          </a:bodyPr>
          <a:lstStyle/>
          <a:p>
            <a:r>
              <a:rPr lang="ru-RU" dirty="0">
                <a:solidFill>
                  <a:schemeClr val="accent2">
                    <a:lumMod val="50000"/>
                  </a:schemeClr>
                </a:solidFill>
                <a:latin typeface="Bahnschrift" panose="020B0502040204020203" pitchFamily="34" charset="0"/>
              </a:rPr>
              <a:t>Классификация: </a:t>
            </a:r>
            <a:r>
              <a:rPr lang="en-US" dirty="0" err="1">
                <a:latin typeface="Bahnschrift" panose="020B0502040204020203" pitchFamily="34" charset="0"/>
              </a:rPr>
              <a:t>DecisionTreeClassifier</a:t>
            </a:r>
            <a:endParaRPr lang="en-US" dirty="0">
              <a:latin typeface="Bahnschrift" panose="020B0502040204020203" pitchFamily="34" charset="0"/>
            </a:endParaRPr>
          </a:p>
          <a:p>
            <a:r>
              <a:rPr lang="ru-RU" dirty="0">
                <a:solidFill>
                  <a:schemeClr val="accent2">
                    <a:lumMod val="50000"/>
                  </a:schemeClr>
                </a:solidFill>
                <a:latin typeface="Bahnschrift" panose="020B0502040204020203" pitchFamily="34" charset="0"/>
              </a:rPr>
              <a:t>Регрессия: </a:t>
            </a:r>
            <a:r>
              <a:rPr lang="en-US" dirty="0" err="1">
                <a:latin typeface="Bahnschrift" panose="020B0502040204020203" pitchFamily="34" charset="0"/>
              </a:rPr>
              <a:t>DecisionTreeRegressor</a:t>
            </a:r>
            <a:endParaRPr lang="ru-RU" dirty="0">
              <a:latin typeface="Bahnschrift" panose="020B0502040204020203" pitchFamily="34" charset="0"/>
            </a:endParaRPr>
          </a:p>
        </p:txBody>
      </p:sp>
      <p:sp>
        <p:nvSpPr>
          <p:cNvPr id="6" name="TextBox 5">
            <a:extLst>
              <a:ext uri="{FF2B5EF4-FFF2-40B4-BE49-F238E27FC236}">
                <a16:creationId xmlns:a16="http://schemas.microsoft.com/office/drawing/2014/main" id="{3565AD34-FC32-4D34-7E62-D67A757DBAB2}"/>
              </a:ext>
            </a:extLst>
          </p:cNvPr>
          <p:cNvSpPr txBox="1"/>
          <p:nvPr/>
        </p:nvSpPr>
        <p:spPr>
          <a:xfrm>
            <a:off x="713402" y="3789040"/>
            <a:ext cx="10765196" cy="2246769"/>
          </a:xfrm>
          <a:prstGeom prst="rect">
            <a:avLst/>
          </a:prstGeom>
          <a:noFill/>
        </p:spPr>
        <p:txBody>
          <a:bodyPr wrap="square">
            <a:spAutoFit/>
          </a:bodyPr>
          <a:lstStyle/>
          <a:p>
            <a:pPr marL="342900" indent="-342900">
              <a:buFont typeface="Wingdings" panose="05000000000000000000" pitchFamily="2" charset="2"/>
              <a:buChar char="Ø"/>
            </a:pPr>
            <a:r>
              <a:rPr lang="ru-RU" sz="2000" dirty="0">
                <a:solidFill>
                  <a:schemeClr val="accent2">
                    <a:lumMod val="50000"/>
                  </a:schemeClr>
                </a:solidFill>
                <a:latin typeface="Bahnschrift" panose="020B0502040204020203" pitchFamily="34" charset="0"/>
              </a:rPr>
              <a:t>Регуляризация: Мы ограничиваем </a:t>
            </a:r>
            <a:r>
              <a:rPr lang="ru-RU" sz="2000" dirty="0" err="1">
                <a:solidFill>
                  <a:schemeClr val="accent2">
                    <a:lumMod val="50000"/>
                  </a:schemeClr>
                </a:solidFill>
                <a:latin typeface="Bahnschrift" panose="020B0502040204020203" pitchFamily="34" charset="0"/>
              </a:rPr>
              <a:t>max_depth</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min_samples_split</a:t>
            </a:r>
            <a:r>
              <a:rPr lang="ru-RU" sz="2000" dirty="0">
                <a:solidFill>
                  <a:schemeClr val="accent2">
                    <a:lumMod val="50000"/>
                  </a:schemeClr>
                </a:solidFill>
                <a:latin typeface="Bahnschrift" panose="020B0502040204020203" pitchFamily="34" charset="0"/>
              </a:rPr>
              <a:t>, и </a:t>
            </a:r>
            <a:r>
              <a:rPr lang="ru-RU" sz="2000" dirty="0" err="1">
                <a:solidFill>
                  <a:schemeClr val="accent2">
                    <a:lumMod val="50000"/>
                  </a:schemeClr>
                </a:solidFill>
                <a:latin typeface="Bahnschrift" panose="020B0502040204020203" pitchFamily="34" charset="0"/>
              </a:rPr>
              <a:t>min_samples_leaf</a:t>
            </a:r>
            <a:r>
              <a:rPr lang="ru-RU" sz="2000" dirty="0">
                <a:solidFill>
                  <a:schemeClr val="accent2">
                    <a:lumMod val="50000"/>
                  </a:schemeClr>
                </a:solidFill>
                <a:latin typeface="Bahnschrift" panose="020B0502040204020203" pitchFamily="34" charset="0"/>
              </a:rPr>
              <a:t> для предотвращения переобучения.</a:t>
            </a:r>
          </a:p>
          <a:p>
            <a:pPr marL="342900" indent="-342900">
              <a:buFont typeface="Wingdings" panose="05000000000000000000" pitchFamily="2" charset="2"/>
              <a:buChar char="Ø"/>
            </a:pPr>
            <a:endParaRPr lang="ru-RU" sz="2000" dirty="0">
              <a:solidFill>
                <a:schemeClr val="accent2">
                  <a:lumMod val="50000"/>
                </a:schemeClr>
              </a:solidFill>
              <a:latin typeface="Bahnschrift" panose="020B0502040204020203" pitchFamily="34" charset="0"/>
            </a:endParaRPr>
          </a:p>
          <a:p>
            <a:pPr marL="342900" indent="-342900">
              <a:buFont typeface="Wingdings" panose="05000000000000000000" pitchFamily="2" charset="2"/>
              <a:buChar char="Ø"/>
            </a:pPr>
            <a:r>
              <a:rPr lang="ru-RU" sz="2000" dirty="0">
                <a:solidFill>
                  <a:schemeClr val="accent2">
                    <a:lumMod val="50000"/>
                  </a:schemeClr>
                </a:solidFill>
                <a:latin typeface="Bahnschrift" panose="020B0502040204020203" pitchFamily="34" charset="0"/>
              </a:rPr>
              <a:t>Масштабирование (не обязательно): Для деревьев решений масштабирование признаков обычно не требуется, так как деревья решений не чувствительны к масштабу признаков. Однако, в некоторых случаях (особенно при использовании регуляризации) масштабирование может немного улучшить производительность.</a:t>
            </a:r>
          </a:p>
        </p:txBody>
      </p:sp>
      <p:sp>
        <p:nvSpPr>
          <p:cNvPr id="10" name="TextBox 9">
            <a:extLst>
              <a:ext uri="{FF2B5EF4-FFF2-40B4-BE49-F238E27FC236}">
                <a16:creationId xmlns:a16="http://schemas.microsoft.com/office/drawing/2014/main" id="{7D21DEBE-4D15-3C51-A21D-F782C239B2C1}"/>
              </a:ext>
            </a:extLst>
          </p:cNvPr>
          <p:cNvSpPr txBox="1"/>
          <p:nvPr/>
        </p:nvSpPr>
        <p:spPr>
          <a:xfrm>
            <a:off x="459124" y="2128606"/>
            <a:ext cx="11477928" cy="646331"/>
          </a:xfrm>
          <a:prstGeom prst="rect">
            <a:avLst/>
          </a:prstGeom>
          <a:noFill/>
        </p:spPr>
        <p:txBody>
          <a:bodyPr wrap="square">
            <a:spAutoFit/>
          </a:bodyPr>
          <a:lstStyle/>
          <a:p>
            <a:pPr marL="4040188" indent="-4040188">
              <a:buNone/>
            </a:pPr>
            <a:r>
              <a:rPr lang="en-US" b="0" dirty="0">
                <a:solidFill>
                  <a:srgbClr val="000000"/>
                </a:solidFill>
                <a:effectLst/>
                <a:latin typeface="Bahnschrift" panose="020B0502040204020203" pitchFamily="34" charset="0"/>
              </a:rPr>
              <a:t>tree = </a:t>
            </a:r>
            <a:r>
              <a:rPr lang="en-US" b="0" dirty="0" err="1">
                <a:solidFill>
                  <a:srgbClr val="000000"/>
                </a:solidFill>
                <a:effectLst/>
                <a:latin typeface="Bahnschrift" panose="020B0502040204020203" pitchFamily="34" charset="0"/>
              </a:rPr>
              <a:t>DecisionTreeClassifier</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max_depth</a:t>
            </a:r>
            <a:r>
              <a:rPr lang="en-US" b="0" dirty="0">
                <a:solidFill>
                  <a:srgbClr val="000000"/>
                </a:solidFill>
                <a:effectLst/>
                <a:latin typeface="Bahnschrift" panose="020B0502040204020203" pitchFamily="34" charset="0"/>
              </a:rPr>
              <a:t>= </a:t>
            </a:r>
            <a:r>
              <a:rPr lang="en-US" b="0" dirty="0">
                <a:solidFill>
                  <a:srgbClr val="116644"/>
                </a:solidFill>
                <a:effectLst/>
                <a:latin typeface="Bahnschrift" panose="020B0502040204020203" pitchFamily="34" charset="0"/>
              </a:rPr>
              <a:t>5</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min_samples_leaf</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1</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min_samples_split</a:t>
            </a:r>
            <a:r>
              <a:rPr lang="en-US" b="0" dirty="0">
                <a:solidFill>
                  <a:srgbClr val="000000"/>
                </a:solidFill>
                <a:effectLst/>
                <a:latin typeface="Bahnschrift" panose="020B0502040204020203" pitchFamily="34" charset="0"/>
              </a:rPr>
              <a:t>= </a:t>
            </a:r>
            <a:r>
              <a:rPr lang="en-US" b="0" dirty="0">
                <a:solidFill>
                  <a:srgbClr val="116644"/>
                </a:solidFill>
                <a:effectLst/>
                <a:latin typeface="Bahnschrift" panose="020B0502040204020203" pitchFamily="34" charset="0"/>
              </a:rPr>
              <a:t>2</a:t>
            </a:r>
            <a:r>
              <a:rPr lang="en-US" b="0" dirty="0">
                <a:solidFill>
                  <a:srgbClr val="000000"/>
                </a:solidFill>
                <a:effectLst/>
                <a:latin typeface="Bahnschrift" panose="020B0502040204020203" pitchFamily="34" charset="0"/>
              </a:rPr>
              <a:t>, random_state=</a:t>
            </a:r>
            <a:r>
              <a:rPr lang="en-US" b="0" dirty="0">
                <a:solidFill>
                  <a:srgbClr val="116644"/>
                </a:solidFill>
                <a:effectLst/>
                <a:latin typeface="Bahnschrift" panose="020B0502040204020203" pitchFamily="34" charset="0"/>
              </a:rPr>
              <a:t>42</a:t>
            </a:r>
            <a:r>
              <a:rPr lang="en-US" b="0" dirty="0">
                <a:solidFill>
                  <a:srgbClr val="000000"/>
                </a:solidFill>
                <a:effectLst/>
                <a:latin typeface="Bahnschrift" panose="020B0502040204020203" pitchFamily="34" charset="0"/>
              </a:rPr>
              <a:t>) </a:t>
            </a:r>
          </a:p>
          <a:p>
            <a:pPr>
              <a:buNone/>
            </a:pPr>
            <a:r>
              <a:rPr lang="en-US" b="0" dirty="0" err="1">
                <a:solidFill>
                  <a:srgbClr val="000000"/>
                </a:solidFill>
                <a:effectLst/>
                <a:latin typeface="Bahnschrift" panose="020B0502040204020203" pitchFamily="34" charset="0"/>
              </a:rPr>
              <a:t>tree.fit</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X_train_scaled</a:t>
            </a:r>
            <a:r>
              <a:rPr lang="en-US" b="0" dirty="0">
                <a:solidFill>
                  <a:srgbClr val="000000"/>
                </a:solidFill>
                <a:effectLst/>
                <a:latin typeface="Bahnschrift" panose="020B0502040204020203" pitchFamily="34" charset="0"/>
              </a:rPr>
              <a:t>, y_train)</a:t>
            </a:r>
          </a:p>
        </p:txBody>
      </p:sp>
    </p:spTree>
    <p:extLst>
      <p:ext uri="{BB962C8B-B14F-4D97-AF65-F5344CB8AC3E}">
        <p14:creationId xmlns:p14="http://schemas.microsoft.com/office/powerpoint/2010/main" val="192176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3DB41-A31F-3EA9-FBFD-F36B5096AA8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92C449-0634-4F4E-88E0-7A58EE1DEF90}"/>
              </a:ext>
            </a:extLst>
          </p:cNvPr>
          <p:cNvSpPr>
            <a:spLocks noGrp="1"/>
          </p:cNvSpPr>
          <p:nvPr>
            <p:ph type="title"/>
          </p:nvPr>
        </p:nvSpPr>
        <p:spPr>
          <a:xfrm>
            <a:off x="263352" y="201417"/>
            <a:ext cx="11828508" cy="662781"/>
          </a:xfrm>
        </p:spPr>
        <p:txBody>
          <a:bodyPr>
            <a:noAutofit/>
          </a:bodyPr>
          <a:lstStyle/>
          <a:p>
            <a:pPr algn="ctr"/>
            <a:r>
              <a:rPr lang="ru-RU" sz="2400" b="1" dirty="0">
                <a:solidFill>
                  <a:schemeClr val="accent2">
                    <a:lumMod val="50000"/>
                  </a:schemeClr>
                </a:solidFill>
                <a:latin typeface="Arial Black" panose="020B0A04020102020204" pitchFamily="34" charset="0"/>
              </a:rPr>
              <a:t>Преимущества и недостатки дерева</a:t>
            </a:r>
            <a:br>
              <a:rPr lang="ru-RU" sz="2400" b="1" dirty="0">
                <a:solidFill>
                  <a:schemeClr val="accent2">
                    <a:lumMod val="50000"/>
                  </a:schemeClr>
                </a:solidFill>
                <a:latin typeface="Arial Black" panose="020B0A04020102020204" pitchFamily="34" charset="0"/>
              </a:rPr>
            </a:br>
            <a:endParaRPr lang="ru-RU" sz="2400" b="1" dirty="0">
              <a:solidFill>
                <a:schemeClr val="accent2">
                  <a:lumMod val="5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4AF5C367-1912-E8A5-BAE8-3A28CFB8417C}"/>
              </a:ext>
            </a:extLst>
          </p:cNvPr>
          <p:cNvSpPr txBox="1"/>
          <p:nvPr/>
        </p:nvSpPr>
        <p:spPr>
          <a:xfrm>
            <a:off x="2063552" y="1305341"/>
            <a:ext cx="8784976" cy="4247317"/>
          </a:xfrm>
          <a:prstGeom prst="rect">
            <a:avLst/>
          </a:prstGeom>
          <a:noFill/>
        </p:spPr>
        <p:txBody>
          <a:bodyPr wrap="square">
            <a:spAutoFit/>
          </a:bodyPr>
          <a:lstStyle/>
          <a:p>
            <a:r>
              <a:rPr lang="ru-RU" b="1" dirty="0">
                <a:solidFill>
                  <a:schemeClr val="accent2">
                    <a:lumMod val="50000"/>
                  </a:schemeClr>
                </a:solidFill>
                <a:latin typeface="Bahnschrift" panose="020B0502040204020203" pitchFamily="34" charset="0"/>
              </a:rPr>
              <a:t>Преимущества:</a:t>
            </a:r>
          </a:p>
          <a:p>
            <a:endParaRPr lang="ru-RU" dirty="0">
              <a:solidFill>
                <a:schemeClr val="accent2">
                  <a:lumMod val="50000"/>
                </a:schemeClr>
              </a:solidFill>
              <a:latin typeface="Bahnschrift" panose="020B0502040204020203" pitchFamily="34" charset="0"/>
            </a:endParaRPr>
          </a:p>
          <a:p>
            <a:pPr lvl="0" indent="712788"/>
            <a:r>
              <a:rPr lang="ru-RU" b="1" dirty="0">
                <a:solidFill>
                  <a:schemeClr val="accent2">
                    <a:lumMod val="50000"/>
                  </a:schemeClr>
                </a:solidFill>
                <a:latin typeface="Bahnschrift" panose="020B0502040204020203" pitchFamily="34" charset="0"/>
              </a:rPr>
              <a:t>Интерпретируемость</a:t>
            </a:r>
            <a:r>
              <a:rPr lang="ru-RU" dirty="0">
                <a:solidFill>
                  <a:schemeClr val="accent2">
                    <a:lumMod val="50000"/>
                  </a:schemeClr>
                </a:solidFill>
                <a:latin typeface="Bahnschrift" panose="020B0502040204020203" pitchFamily="34" charset="0"/>
              </a:rPr>
              <a:t> </a:t>
            </a:r>
          </a:p>
          <a:p>
            <a:pPr marL="712788" lvl="0"/>
            <a:r>
              <a:rPr lang="ru-RU" b="1" dirty="0">
                <a:solidFill>
                  <a:schemeClr val="accent2">
                    <a:lumMod val="50000"/>
                  </a:schemeClr>
                </a:solidFill>
                <a:latin typeface="Bahnschrift" panose="020B0502040204020203" pitchFamily="34" charset="0"/>
              </a:rPr>
              <a:t>Не требует масштабирования признаков</a:t>
            </a:r>
            <a:endParaRPr lang="ru-RU" dirty="0">
              <a:solidFill>
                <a:schemeClr val="accent2">
                  <a:lumMod val="50000"/>
                </a:schemeClr>
              </a:solidFill>
              <a:latin typeface="Bahnschrift" panose="020B0502040204020203" pitchFamily="34" charset="0"/>
            </a:endParaRPr>
          </a:p>
          <a:p>
            <a:pPr marL="712788" lvl="0"/>
            <a:r>
              <a:rPr lang="ru-RU" b="1" dirty="0">
                <a:solidFill>
                  <a:schemeClr val="accent2">
                    <a:lumMod val="50000"/>
                  </a:schemeClr>
                </a:solidFill>
                <a:latin typeface="Bahnschrift" panose="020B0502040204020203" pitchFamily="34" charset="0"/>
              </a:rPr>
              <a:t>Может обрабатывать как числовые, так и категориальные признаки.</a:t>
            </a:r>
            <a:endParaRPr lang="ru-RU" dirty="0">
              <a:solidFill>
                <a:schemeClr val="accent2">
                  <a:lumMod val="50000"/>
                </a:schemeClr>
              </a:solidFill>
              <a:latin typeface="Bahnschrift" panose="020B0502040204020203" pitchFamily="34" charset="0"/>
            </a:endParaRPr>
          </a:p>
          <a:p>
            <a:pPr marL="712788" lvl="0"/>
            <a:r>
              <a:rPr lang="ru-RU" b="1" dirty="0">
                <a:solidFill>
                  <a:schemeClr val="accent2">
                    <a:lumMod val="50000"/>
                  </a:schemeClr>
                </a:solidFill>
                <a:latin typeface="Bahnschrift" panose="020B0502040204020203" pitchFamily="34" charset="0"/>
              </a:rPr>
              <a:t>Может моделировать нелинейные зависимости.</a:t>
            </a:r>
            <a:endParaRPr lang="ru-RU" dirty="0">
              <a:solidFill>
                <a:schemeClr val="accent2">
                  <a:lumMod val="50000"/>
                </a:schemeClr>
              </a:solidFill>
              <a:latin typeface="Bahnschrift" panose="020B0502040204020203" pitchFamily="34" charset="0"/>
            </a:endParaRPr>
          </a:p>
          <a:p>
            <a:pPr marL="712788" lvl="0"/>
            <a:r>
              <a:rPr lang="ru-RU" b="1" dirty="0">
                <a:solidFill>
                  <a:schemeClr val="accent2">
                    <a:lumMod val="50000"/>
                  </a:schemeClr>
                </a:solidFill>
                <a:latin typeface="Bahnschrift" panose="020B0502040204020203" pitchFamily="34" charset="0"/>
              </a:rPr>
              <a:t>Быстрое предсказание</a:t>
            </a:r>
          </a:p>
          <a:p>
            <a:pPr lvl="0"/>
            <a:endParaRPr lang="ru-RU" b="1" dirty="0">
              <a:solidFill>
                <a:schemeClr val="accent2">
                  <a:lumMod val="50000"/>
                </a:schemeClr>
              </a:solidFill>
              <a:latin typeface="Bahnschrift" panose="020B0502040204020203" pitchFamily="34" charset="0"/>
            </a:endParaRPr>
          </a:p>
          <a:p>
            <a:pPr lvl="0"/>
            <a:r>
              <a:rPr lang="ru-RU" b="1" dirty="0">
                <a:solidFill>
                  <a:schemeClr val="accent2">
                    <a:lumMod val="50000"/>
                  </a:schemeClr>
                </a:solidFill>
                <a:latin typeface="Bahnschrift" panose="020B0502040204020203" pitchFamily="34" charset="0"/>
              </a:rPr>
              <a:t>Недостатки:</a:t>
            </a:r>
          </a:p>
          <a:p>
            <a:pPr lvl="0"/>
            <a:endParaRPr lang="ru-RU" dirty="0">
              <a:solidFill>
                <a:schemeClr val="accent2">
                  <a:lumMod val="50000"/>
                </a:schemeClr>
              </a:solidFill>
              <a:latin typeface="Bahnschrift" panose="020B0502040204020203" pitchFamily="34" charset="0"/>
            </a:endParaRPr>
          </a:p>
          <a:p>
            <a:pPr lvl="0" indent="712788"/>
            <a:r>
              <a:rPr lang="ru-RU" b="1" dirty="0">
                <a:solidFill>
                  <a:schemeClr val="accent2">
                    <a:lumMod val="50000"/>
                  </a:schemeClr>
                </a:solidFill>
                <a:latin typeface="Bahnschrift" panose="020B0502040204020203" pitchFamily="34" charset="0"/>
              </a:rPr>
              <a:t>Склонность к переобучению </a:t>
            </a:r>
          </a:p>
          <a:p>
            <a:pPr lvl="0" indent="712788"/>
            <a:r>
              <a:rPr lang="ru-RU" b="1" dirty="0">
                <a:solidFill>
                  <a:schemeClr val="accent2">
                    <a:lumMod val="50000"/>
                  </a:schemeClr>
                </a:solidFill>
                <a:latin typeface="Bahnschrift" panose="020B0502040204020203" pitchFamily="34" charset="0"/>
              </a:rPr>
              <a:t>Нестабильность</a:t>
            </a:r>
          </a:p>
          <a:p>
            <a:pPr lvl="0" indent="712788"/>
            <a:r>
              <a:rPr lang="ru-RU" b="1" dirty="0">
                <a:solidFill>
                  <a:schemeClr val="accent2">
                    <a:lumMod val="50000"/>
                  </a:schemeClr>
                </a:solidFill>
                <a:latin typeface="Bahnschrift" panose="020B0502040204020203" pitchFamily="34" charset="0"/>
              </a:rPr>
              <a:t>Проблема “жадного” поиска</a:t>
            </a:r>
          </a:p>
          <a:p>
            <a:pPr lvl="0" indent="712788"/>
            <a:r>
              <a:rPr lang="ru-RU" b="1" dirty="0">
                <a:solidFill>
                  <a:schemeClr val="accent2">
                    <a:lumMod val="50000"/>
                  </a:schemeClr>
                </a:solidFill>
                <a:latin typeface="Bahnschrift" panose="020B0502040204020203" pitchFamily="34" charset="0"/>
              </a:rPr>
              <a:t>Сложность для задач регрессии с большим количеством признаков</a:t>
            </a:r>
            <a:r>
              <a:rPr lang="ru-RU" dirty="0">
                <a:solidFill>
                  <a:schemeClr val="accent2">
                    <a:lumMod val="50000"/>
                  </a:schemeClr>
                </a:solidFill>
                <a:latin typeface="Bahnschrift" panose="020B0502040204020203" pitchFamily="34" charset="0"/>
              </a:rPr>
              <a:t> </a:t>
            </a:r>
          </a:p>
          <a:p>
            <a:pPr marL="342900" indent="-342900">
              <a:buFont typeface="Wingdings" panose="05000000000000000000" pitchFamily="2" charset="2"/>
              <a:buChar char="Ø"/>
            </a:pPr>
            <a:endParaRPr lang="ru-RU"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2941700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2DF66-772F-C366-AAE3-3F80D31F2AE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67773B-13A0-6DB3-708B-20145239B32C}"/>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Случайный лес  (</a:t>
            </a:r>
            <a:r>
              <a:rPr lang="ru-RU" sz="2400" b="1" dirty="0" err="1">
                <a:solidFill>
                  <a:schemeClr val="accent2">
                    <a:lumMod val="50000"/>
                  </a:schemeClr>
                </a:solidFill>
                <a:latin typeface="Arial Black" panose="020B0A04020102020204" pitchFamily="34" charset="0"/>
              </a:rPr>
              <a:t>Random</a:t>
            </a:r>
            <a:r>
              <a:rPr lang="ru-RU" sz="2400" b="1" dirty="0">
                <a:solidFill>
                  <a:schemeClr val="accent2">
                    <a:lumMod val="50000"/>
                  </a:schemeClr>
                </a:solidFill>
                <a:latin typeface="Arial Black" panose="020B0A04020102020204" pitchFamily="34" charset="0"/>
              </a:rPr>
              <a:t> </a:t>
            </a:r>
            <a:r>
              <a:rPr lang="ru-RU" sz="2400" b="1" dirty="0" err="1">
                <a:solidFill>
                  <a:schemeClr val="accent2">
                    <a:lumMod val="50000"/>
                  </a:schemeClr>
                </a:solidFill>
                <a:latin typeface="Arial Black" panose="020B0A04020102020204" pitchFamily="34" charset="0"/>
              </a:rPr>
              <a:t>Forest</a:t>
            </a:r>
            <a:r>
              <a:rPr lang="ru-RU" sz="2400" b="1" dirty="0">
                <a:solidFill>
                  <a:schemeClr val="accent2">
                    <a:lumMod val="50000"/>
                  </a:schemeClr>
                </a:solidFill>
                <a:latin typeface="Arial Black" panose="020B0A04020102020204" pitchFamily="34" charset="0"/>
              </a:rPr>
              <a:t>)</a:t>
            </a:r>
          </a:p>
        </p:txBody>
      </p:sp>
      <p:sp>
        <p:nvSpPr>
          <p:cNvPr id="6" name="TextBox 5">
            <a:extLst>
              <a:ext uri="{FF2B5EF4-FFF2-40B4-BE49-F238E27FC236}">
                <a16:creationId xmlns:a16="http://schemas.microsoft.com/office/drawing/2014/main" id="{2CFF7D67-DB30-C616-C1A2-0860DAE289A5}"/>
              </a:ext>
            </a:extLst>
          </p:cNvPr>
          <p:cNvSpPr txBox="1"/>
          <p:nvPr/>
        </p:nvSpPr>
        <p:spPr>
          <a:xfrm>
            <a:off x="551384" y="1305341"/>
            <a:ext cx="11161240" cy="1569660"/>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Случайный лес (</a:t>
            </a:r>
            <a:r>
              <a:rPr lang="ru-RU" sz="2400" dirty="0" err="1">
                <a:solidFill>
                  <a:schemeClr val="accent2">
                    <a:lumMod val="50000"/>
                  </a:schemeClr>
                </a:solidFill>
                <a:latin typeface="Bahnschrift" panose="020B0502040204020203" pitchFamily="34" charset="0"/>
              </a:rPr>
              <a:t>Random</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Forest</a:t>
            </a:r>
            <a:r>
              <a:rPr lang="ru-RU" sz="2400" dirty="0">
                <a:solidFill>
                  <a:schemeClr val="accent2">
                    <a:lumMod val="50000"/>
                  </a:schemeClr>
                </a:solidFill>
                <a:latin typeface="Bahnschrift" panose="020B0502040204020203" pitchFamily="34" charset="0"/>
              </a:rPr>
              <a:t>) — это ансамблевый алгоритм машинного обучения, основанный на объединении множества деревьев решений. Он является одним из наиболее популярных и эффективных алгоритмов </a:t>
            </a:r>
            <a:r>
              <a:rPr lang="ru-RU" sz="2400" b="1" dirty="0">
                <a:solidFill>
                  <a:schemeClr val="accent2">
                    <a:lumMod val="50000"/>
                  </a:schemeClr>
                </a:solidFill>
                <a:latin typeface="Bahnschrift" panose="020B0502040204020203" pitchFamily="34" charset="0"/>
              </a:rPr>
              <a:t>для решения задач классификации и регрессии.</a:t>
            </a:r>
            <a:r>
              <a:rPr lang="ru-RU" sz="2400" dirty="0">
                <a:solidFill>
                  <a:schemeClr val="accent2">
                    <a:lumMod val="50000"/>
                  </a:schemeClr>
                </a:solidFill>
                <a:latin typeface="Bahnschrift" panose="020B0502040204020203" pitchFamily="34" charset="0"/>
              </a:rPr>
              <a:t> </a:t>
            </a:r>
          </a:p>
        </p:txBody>
      </p:sp>
      <p:sp>
        <p:nvSpPr>
          <p:cNvPr id="4" name="TextBox 3">
            <a:extLst>
              <a:ext uri="{FF2B5EF4-FFF2-40B4-BE49-F238E27FC236}">
                <a16:creationId xmlns:a16="http://schemas.microsoft.com/office/drawing/2014/main" id="{B54868BD-EE9E-08D6-0899-0A3028C11B10}"/>
              </a:ext>
            </a:extLst>
          </p:cNvPr>
          <p:cNvSpPr txBox="1"/>
          <p:nvPr/>
        </p:nvSpPr>
        <p:spPr>
          <a:xfrm>
            <a:off x="551384" y="3140968"/>
            <a:ext cx="11017223" cy="2308324"/>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Случайный лес сочетает в себе простоту деревьев решений с возможностью снижения переобучения и повышения точности, что делает его отличным выбором для широкого спектра задач</a:t>
            </a:r>
          </a:p>
          <a:p>
            <a:endParaRPr lang="ru-RU" sz="2400" dirty="0">
              <a:solidFill>
                <a:schemeClr val="accent2">
                  <a:lumMod val="50000"/>
                </a:schemeClr>
              </a:solidFill>
              <a:latin typeface="Bahnschrift" panose="020B0502040204020203" pitchFamily="34" charset="0"/>
            </a:endParaRPr>
          </a:p>
          <a:p>
            <a:r>
              <a:rPr lang="ru-RU" sz="2400" dirty="0">
                <a:solidFill>
                  <a:schemeClr val="accent2">
                    <a:lumMod val="50000"/>
                  </a:schemeClr>
                </a:solidFill>
                <a:latin typeface="Bahnschrift" panose="020B0502040204020203" pitchFamily="34" charset="0"/>
              </a:rPr>
              <a:t>Случайный лес работает по принципу ансамблевого обучения: он строит множество деревьев решений и усредняет их предсказания.</a:t>
            </a:r>
          </a:p>
        </p:txBody>
      </p:sp>
    </p:spTree>
    <p:extLst>
      <p:ext uri="{BB962C8B-B14F-4D97-AF65-F5344CB8AC3E}">
        <p14:creationId xmlns:p14="http://schemas.microsoft.com/office/powerpoint/2010/main" val="256366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821FC-F89E-358F-4121-DDF483104A53}"/>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35455B05-0562-D16E-6943-551CD505DE8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1631504" y="898462"/>
            <a:ext cx="8928992" cy="5564940"/>
          </a:xfrm>
          <a:prstGeom prst="rect">
            <a:avLst/>
          </a:prstGeom>
        </p:spPr>
      </p:pic>
      <p:sp>
        <p:nvSpPr>
          <p:cNvPr id="10" name="Заголовок 1">
            <a:extLst>
              <a:ext uri="{FF2B5EF4-FFF2-40B4-BE49-F238E27FC236}">
                <a16:creationId xmlns:a16="http://schemas.microsoft.com/office/drawing/2014/main" id="{BFA92C24-E48F-4907-C841-EAAC81A62139}"/>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  Случайный лес</a:t>
            </a:r>
          </a:p>
        </p:txBody>
      </p:sp>
    </p:spTree>
    <p:extLst>
      <p:ext uri="{BB962C8B-B14F-4D97-AF65-F5344CB8AC3E}">
        <p14:creationId xmlns:p14="http://schemas.microsoft.com/office/powerpoint/2010/main" val="3111036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60937C3-0DE0-AB77-C561-20C8436984DB}"/>
              </a:ext>
            </a:extLst>
          </p:cNvPr>
          <p:cNvSpPr>
            <a:spLocks noGrp="1"/>
          </p:cNvSpPr>
          <p:nvPr>
            <p:ph idx="1"/>
          </p:nvPr>
        </p:nvSpPr>
        <p:spPr>
          <a:xfrm>
            <a:off x="838200" y="908720"/>
            <a:ext cx="10515600" cy="4351338"/>
          </a:xfrm>
        </p:spPr>
        <p:txBody>
          <a:bodyPr>
            <a:noAutofit/>
          </a:bodyPr>
          <a:lstStyle/>
          <a:p>
            <a:pPr marL="0" indent="0">
              <a:buNone/>
            </a:pPr>
            <a:r>
              <a:rPr lang="ru-RU" sz="2400" b="1" dirty="0">
                <a:solidFill>
                  <a:schemeClr val="accent2">
                    <a:lumMod val="50000"/>
                  </a:schemeClr>
                </a:solidFill>
                <a:latin typeface="Bahnschrift" panose="020B0502040204020203" pitchFamily="34" charset="0"/>
              </a:rPr>
              <a:t>Идея случайности:</a:t>
            </a:r>
            <a:r>
              <a:rPr lang="ru-RU" sz="2400" dirty="0">
                <a:solidFill>
                  <a:schemeClr val="accent2">
                    <a:lumMod val="50000"/>
                  </a:schemeClr>
                </a:solidFill>
                <a:latin typeface="Bahnschrift" panose="020B0502040204020203" pitchFamily="34" charset="0"/>
              </a:rPr>
              <a:t> </a:t>
            </a:r>
            <a:r>
              <a:rPr lang="ru-RU" sz="2000" dirty="0">
                <a:solidFill>
                  <a:schemeClr val="accent2">
                    <a:lumMod val="50000"/>
                  </a:schemeClr>
                </a:solidFill>
                <a:latin typeface="Bahnschrift" panose="020B0502040204020203" pitchFamily="34" charset="0"/>
              </a:rPr>
              <a:t>Случайный лес использует две основные техники случайности, чтобы создать разнообразные деревья:</a:t>
            </a:r>
          </a:p>
          <a:p>
            <a:pPr marL="0" indent="0">
              <a:buNone/>
            </a:pPr>
            <a:r>
              <a:rPr lang="ru-RU" sz="2400" b="1" dirty="0" err="1">
                <a:solidFill>
                  <a:schemeClr val="accent2">
                    <a:lumMod val="50000"/>
                  </a:schemeClr>
                </a:solidFill>
                <a:latin typeface="Bahnschrift" panose="020B0502040204020203" pitchFamily="34" charset="0"/>
              </a:rPr>
              <a:t>Bootstrap</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Aggregating</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Bagging</a:t>
            </a:r>
            <a:r>
              <a:rPr lang="ru-RU" sz="2400" b="1"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 </a:t>
            </a:r>
            <a:r>
              <a:rPr lang="ru-RU" sz="2000" dirty="0">
                <a:solidFill>
                  <a:schemeClr val="accent2">
                    <a:lumMod val="50000"/>
                  </a:schemeClr>
                </a:solidFill>
                <a:latin typeface="Bahnschrift" panose="020B0502040204020203" pitchFamily="34" charset="0"/>
              </a:rPr>
              <a:t>Каждое дерево обучается на случайной </a:t>
            </a:r>
            <a:r>
              <a:rPr lang="ru-RU" sz="2000" dirty="0" err="1">
                <a:solidFill>
                  <a:schemeClr val="accent2">
                    <a:lumMod val="50000"/>
                  </a:schemeClr>
                </a:solidFill>
                <a:latin typeface="Bahnschrift" panose="020B0502040204020203" pitchFamily="34" charset="0"/>
              </a:rPr>
              <a:t>подвыборке</a:t>
            </a:r>
            <a:r>
              <a:rPr lang="ru-RU" sz="2000" dirty="0">
                <a:solidFill>
                  <a:schemeClr val="accent2">
                    <a:lumMod val="50000"/>
                  </a:schemeClr>
                </a:solidFill>
                <a:latin typeface="Bahnschrift" panose="020B0502040204020203" pitchFamily="34" charset="0"/>
              </a:rPr>
              <a:t> данных с возвращением (то есть, одни и те же образцы могут быть выбраны несколько раз). Это создает разные обучающие наборы для каждого дерева.</a:t>
            </a:r>
          </a:p>
          <a:p>
            <a:pPr marL="0" indent="0">
              <a:buNone/>
            </a:pPr>
            <a:r>
              <a:rPr lang="ru-RU" sz="2400" b="1" dirty="0" err="1">
                <a:solidFill>
                  <a:schemeClr val="accent2">
                    <a:lumMod val="50000"/>
                  </a:schemeClr>
                </a:solidFill>
                <a:latin typeface="Bahnschrift" panose="020B0502040204020203" pitchFamily="34" charset="0"/>
              </a:rPr>
              <a:t>Random</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Subspace</a:t>
            </a:r>
            <a:r>
              <a:rPr lang="ru-RU" sz="2400" b="1" dirty="0">
                <a:solidFill>
                  <a:schemeClr val="accent2">
                    <a:lumMod val="50000"/>
                  </a:schemeClr>
                </a:solidFill>
                <a:latin typeface="Bahnschrift" panose="020B0502040204020203" pitchFamily="34" charset="0"/>
              </a:rPr>
              <a:t> (Случайное подпространство):</a:t>
            </a:r>
            <a:r>
              <a:rPr lang="ru-RU" sz="2400" dirty="0">
                <a:solidFill>
                  <a:schemeClr val="accent2">
                    <a:lumMod val="50000"/>
                  </a:schemeClr>
                </a:solidFill>
                <a:latin typeface="Bahnschrift" panose="020B0502040204020203" pitchFamily="34" charset="0"/>
              </a:rPr>
              <a:t> </a:t>
            </a:r>
            <a:r>
              <a:rPr lang="ru-RU" sz="2000" dirty="0">
                <a:solidFill>
                  <a:schemeClr val="accent2">
                    <a:lumMod val="50000"/>
                  </a:schemeClr>
                </a:solidFill>
                <a:latin typeface="Bahnschrift" panose="020B0502040204020203" pitchFamily="34" charset="0"/>
              </a:rPr>
              <a:t>При каждом разделении узла в дереве рассматривается только случайное подмножество признаков. Это предотвращает доминирование сильных признаков и позволяет другим признакам внести свой вклад в модель.</a:t>
            </a:r>
          </a:p>
          <a:p>
            <a:pPr marL="0" indent="0">
              <a:buNone/>
            </a:pPr>
            <a:r>
              <a:rPr lang="ru-RU" sz="2400" b="1" dirty="0">
                <a:solidFill>
                  <a:schemeClr val="accent2">
                    <a:lumMod val="50000"/>
                  </a:schemeClr>
                </a:solidFill>
                <a:latin typeface="Bahnschrift" panose="020B0502040204020203" pitchFamily="34" charset="0"/>
              </a:rPr>
              <a:t>Предсказание:</a:t>
            </a:r>
            <a:r>
              <a:rPr lang="ru-RU" sz="2400" dirty="0">
                <a:solidFill>
                  <a:schemeClr val="accent2">
                    <a:lumMod val="50000"/>
                  </a:schemeClr>
                </a:solidFill>
                <a:latin typeface="Bahnschrift" panose="020B0502040204020203" pitchFamily="34" charset="0"/>
              </a:rPr>
              <a:t> </a:t>
            </a:r>
          </a:p>
          <a:p>
            <a:pPr marL="0" indent="0">
              <a:buNone/>
            </a:pPr>
            <a:r>
              <a:rPr lang="ru-RU" sz="2000" dirty="0">
                <a:solidFill>
                  <a:schemeClr val="accent2">
                    <a:lumMod val="50000"/>
                  </a:schemeClr>
                </a:solidFill>
                <a:latin typeface="Bahnschrift" panose="020B0502040204020203" pitchFamily="34" charset="0"/>
              </a:rPr>
              <a:t>Для задачи классификации случайный лес предсказывает класс, который чаще всего предсказывается деревьями в ансамбле (голосование). </a:t>
            </a:r>
          </a:p>
          <a:p>
            <a:pPr marL="0" indent="0">
              <a:buNone/>
            </a:pPr>
            <a:r>
              <a:rPr lang="ru-RU" sz="2000" dirty="0">
                <a:solidFill>
                  <a:schemeClr val="accent2">
                    <a:lumMod val="50000"/>
                  </a:schemeClr>
                </a:solidFill>
                <a:latin typeface="Bahnschrift" panose="020B0502040204020203" pitchFamily="34" charset="0"/>
              </a:rPr>
              <a:t>Для задачи регрессии случайный лес предсказывает среднее значение, предсказанное деревьями в ансамбле.</a:t>
            </a:r>
          </a:p>
          <a:p>
            <a:endParaRPr lang="ru-RU" sz="2400" dirty="0">
              <a:solidFill>
                <a:schemeClr val="accent2">
                  <a:lumMod val="50000"/>
                </a:schemeClr>
              </a:solidFill>
              <a:latin typeface="Bahnschrift" panose="020B0502040204020203" pitchFamily="34" charset="0"/>
            </a:endParaRPr>
          </a:p>
        </p:txBody>
      </p:sp>
      <p:sp>
        <p:nvSpPr>
          <p:cNvPr id="4" name="Заголовок 1">
            <a:extLst>
              <a:ext uri="{FF2B5EF4-FFF2-40B4-BE49-F238E27FC236}">
                <a16:creationId xmlns:a16="http://schemas.microsoft.com/office/drawing/2014/main" id="{1D3F4FCA-7A5C-DEDE-4706-D76A8D7D1B8B}"/>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Случайный лес  (</a:t>
            </a:r>
            <a:r>
              <a:rPr lang="ru-RU" sz="2400" b="1" dirty="0" err="1">
                <a:solidFill>
                  <a:schemeClr val="accent2">
                    <a:lumMod val="50000"/>
                  </a:schemeClr>
                </a:solidFill>
                <a:latin typeface="Arial Black" panose="020B0A04020102020204" pitchFamily="34" charset="0"/>
              </a:rPr>
              <a:t>Random</a:t>
            </a:r>
            <a:r>
              <a:rPr lang="ru-RU" sz="2400" b="1" dirty="0">
                <a:solidFill>
                  <a:schemeClr val="accent2">
                    <a:lumMod val="50000"/>
                  </a:schemeClr>
                </a:solidFill>
                <a:latin typeface="Arial Black" panose="020B0A04020102020204" pitchFamily="34" charset="0"/>
              </a:rPr>
              <a:t> </a:t>
            </a:r>
            <a:r>
              <a:rPr lang="ru-RU" sz="2400" b="1" dirty="0" err="1">
                <a:solidFill>
                  <a:schemeClr val="accent2">
                    <a:lumMod val="50000"/>
                  </a:schemeClr>
                </a:solidFill>
                <a:latin typeface="Arial Black" panose="020B0A04020102020204" pitchFamily="34" charset="0"/>
              </a:rPr>
              <a:t>Forest</a:t>
            </a:r>
            <a:r>
              <a:rPr lang="ru-RU" sz="2400" b="1" dirty="0">
                <a:solidFill>
                  <a:schemeClr val="accent2">
                    <a:lumMod val="50000"/>
                  </a:schemeClr>
                </a:solidFill>
                <a:latin typeface="Arial Black" panose="020B0A04020102020204" pitchFamily="34" charset="0"/>
              </a:rPr>
              <a:t>)</a:t>
            </a:r>
          </a:p>
        </p:txBody>
      </p:sp>
    </p:spTree>
    <p:extLst>
      <p:ext uri="{BB962C8B-B14F-4D97-AF65-F5344CB8AC3E}">
        <p14:creationId xmlns:p14="http://schemas.microsoft.com/office/powerpoint/2010/main" val="1144423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CE1F1-F4DE-C3D6-8829-2B02716B79E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855630-8219-4116-2DDE-897FE87F5470}"/>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Случайный лес  (</a:t>
            </a:r>
            <a:r>
              <a:rPr lang="ru-RU" sz="2400" b="1" dirty="0" err="1">
                <a:solidFill>
                  <a:schemeClr val="accent2">
                    <a:lumMod val="50000"/>
                  </a:schemeClr>
                </a:solidFill>
                <a:latin typeface="Arial Black" panose="020B0A04020102020204" pitchFamily="34" charset="0"/>
              </a:rPr>
              <a:t>Random</a:t>
            </a:r>
            <a:r>
              <a:rPr lang="ru-RU" sz="2400" b="1" dirty="0">
                <a:solidFill>
                  <a:schemeClr val="accent2">
                    <a:lumMod val="50000"/>
                  </a:schemeClr>
                </a:solidFill>
                <a:latin typeface="Arial Black" panose="020B0A04020102020204" pitchFamily="34" charset="0"/>
              </a:rPr>
              <a:t> </a:t>
            </a:r>
            <a:r>
              <a:rPr lang="ru-RU" sz="2400" b="1" dirty="0" err="1">
                <a:solidFill>
                  <a:schemeClr val="accent2">
                    <a:lumMod val="50000"/>
                  </a:schemeClr>
                </a:solidFill>
                <a:latin typeface="Arial Black" panose="020B0A04020102020204" pitchFamily="34" charset="0"/>
              </a:rPr>
              <a:t>Forest</a:t>
            </a:r>
            <a:r>
              <a:rPr lang="ru-RU" sz="2400" b="1" dirty="0">
                <a:solidFill>
                  <a:schemeClr val="accent2">
                    <a:lumMod val="50000"/>
                  </a:schemeClr>
                </a:solidFill>
                <a:latin typeface="Arial Black" panose="020B0A04020102020204" pitchFamily="34" charset="0"/>
              </a:rPr>
              <a:t>)</a:t>
            </a:r>
          </a:p>
        </p:txBody>
      </p:sp>
      <p:sp>
        <p:nvSpPr>
          <p:cNvPr id="9" name="TextBox 8">
            <a:extLst>
              <a:ext uri="{FF2B5EF4-FFF2-40B4-BE49-F238E27FC236}">
                <a16:creationId xmlns:a16="http://schemas.microsoft.com/office/drawing/2014/main" id="{2EDD4623-A93F-D814-9AB9-F75C301C4D91}"/>
              </a:ext>
            </a:extLst>
          </p:cNvPr>
          <p:cNvSpPr txBox="1"/>
          <p:nvPr/>
        </p:nvSpPr>
        <p:spPr>
          <a:xfrm>
            <a:off x="911424" y="889843"/>
            <a:ext cx="10729192" cy="5078313"/>
          </a:xfrm>
          <a:prstGeom prst="rect">
            <a:avLst/>
          </a:prstGeom>
          <a:noFill/>
        </p:spPr>
        <p:txBody>
          <a:bodyPr wrap="square">
            <a:spAutoFit/>
          </a:bodyPr>
          <a:lstStyle/>
          <a:p>
            <a:r>
              <a:rPr lang="ru-RU" b="1" dirty="0" err="1">
                <a:latin typeface="Bahnschrift" panose="020B0502040204020203" pitchFamily="34" charset="0"/>
              </a:rPr>
              <a:t>n_estimators</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(Обязательный) Количество деревьев в лесу. Чем больше деревьев, тем лучше (в большинстве случаев), но увеличение количества деревьев приводит к увеличению времени обучения. Обычно тестируют значения в диапазоне от 100 до 1000.</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criterion</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(Для классификации: "</a:t>
            </a:r>
            <a:r>
              <a:rPr lang="ru-RU" dirty="0" err="1">
                <a:solidFill>
                  <a:schemeClr val="accent2">
                    <a:lumMod val="50000"/>
                  </a:schemeClr>
                </a:solidFill>
                <a:latin typeface="Bahnschrift" panose="020B0502040204020203" pitchFamily="34" charset="0"/>
              </a:rPr>
              <a:t>gini</a:t>
            </a:r>
            <a:r>
              <a:rPr lang="ru-RU" dirty="0">
                <a:solidFill>
                  <a:schemeClr val="accent2">
                    <a:lumMod val="50000"/>
                  </a:schemeClr>
                </a:solidFill>
                <a:latin typeface="Bahnschrift" panose="020B0502040204020203" pitchFamily="34" charset="0"/>
              </a:rPr>
              <a:t>" или "</a:t>
            </a:r>
            <a:r>
              <a:rPr lang="ru-RU" dirty="0" err="1">
                <a:solidFill>
                  <a:schemeClr val="accent2">
                    <a:lumMod val="50000"/>
                  </a:schemeClr>
                </a:solidFill>
                <a:latin typeface="Bahnschrift" panose="020B0502040204020203" pitchFamily="34" charset="0"/>
              </a:rPr>
              <a:t>entropy</a:t>
            </a:r>
            <a:r>
              <a:rPr lang="ru-RU" dirty="0">
                <a:solidFill>
                  <a:schemeClr val="accent2">
                    <a:lumMod val="50000"/>
                  </a:schemeClr>
                </a:solidFill>
                <a:latin typeface="Bahnschrift" panose="020B0502040204020203" pitchFamily="34" charset="0"/>
              </a:rPr>
              <a:t>"; Для регрессии: "</a:t>
            </a:r>
            <a:r>
              <a:rPr lang="ru-RU" dirty="0" err="1">
                <a:solidFill>
                  <a:schemeClr val="accent2">
                    <a:lumMod val="50000"/>
                  </a:schemeClr>
                </a:solidFill>
                <a:latin typeface="Bahnschrift" panose="020B0502040204020203" pitchFamily="34" charset="0"/>
              </a:rPr>
              <a:t>squared_error</a:t>
            </a:r>
            <a:r>
              <a:rPr lang="ru-RU" dirty="0">
                <a:solidFill>
                  <a:schemeClr val="accent2">
                    <a:lumMod val="50000"/>
                  </a:schemeClr>
                </a:solidFill>
                <a:latin typeface="Bahnschrift" panose="020B0502040204020203" pitchFamily="34" charset="0"/>
              </a:rPr>
              <a:t>", "</a:t>
            </a:r>
            <a:r>
              <a:rPr lang="ru-RU" dirty="0" err="1">
                <a:solidFill>
                  <a:schemeClr val="accent2">
                    <a:lumMod val="50000"/>
                  </a:schemeClr>
                </a:solidFill>
                <a:latin typeface="Bahnschrift" panose="020B0502040204020203" pitchFamily="34" charset="0"/>
              </a:rPr>
              <a:t>absolute_error</a:t>
            </a:r>
            <a:r>
              <a:rPr lang="ru-RU" dirty="0">
                <a:solidFill>
                  <a:schemeClr val="accent2">
                    <a:lumMod val="50000"/>
                  </a:schemeClr>
                </a:solidFill>
                <a:latin typeface="Bahnschrift" panose="020B0502040204020203" pitchFamily="34" charset="0"/>
              </a:rPr>
              <a:t>", "</a:t>
            </a:r>
            <a:r>
              <a:rPr lang="ru-RU" dirty="0" err="1">
                <a:solidFill>
                  <a:schemeClr val="accent2">
                    <a:lumMod val="50000"/>
                  </a:schemeClr>
                </a:solidFill>
                <a:latin typeface="Bahnschrift" panose="020B0502040204020203" pitchFamily="34" charset="0"/>
              </a:rPr>
              <a:t>poisson</a:t>
            </a:r>
            <a:r>
              <a:rPr lang="ru-RU" dirty="0">
                <a:solidFill>
                  <a:schemeClr val="accent2">
                    <a:lumMod val="50000"/>
                  </a:schemeClr>
                </a:solidFill>
                <a:latin typeface="Bahnschrift" panose="020B0502040204020203" pitchFamily="34" charset="0"/>
              </a:rPr>
              <a:t>") Критерий для измерения качества разбиения. “</a:t>
            </a:r>
            <a:r>
              <a:rPr lang="ru-RU" dirty="0" err="1">
                <a:solidFill>
                  <a:schemeClr val="accent2">
                    <a:lumMod val="50000"/>
                  </a:schemeClr>
                </a:solidFill>
                <a:latin typeface="Bahnschrift" panose="020B0502040204020203" pitchFamily="34" charset="0"/>
              </a:rPr>
              <a:t>gini</a:t>
            </a:r>
            <a:r>
              <a:rPr lang="ru-RU" dirty="0">
                <a:solidFill>
                  <a:schemeClr val="accent2">
                    <a:lumMod val="50000"/>
                  </a:schemeClr>
                </a:solidFill>
                <a:latin typeface="Bahnschrift" panose="020B0502040204020203" pitchFamily="34" charset="0"/>
              </a:rPr>
              <a:t>” — индекс Джини, “</a:t>
            </a:r>
            <a:r>
              <a:rPr lang="ru-RU" dirty="0" err="1">
                <a:solidFill>
                  <a:schemeClr val="accent2">
                    <a:lumMod val="50000"/>
                  </a:schemeClr>
                </a:solidFill>
                <a:latin typeface="Bahnschrift" panose="020B0502040204020203" pitchFamily="34" charset="0"/>
              </a:rPr>
              <a:t>entropy</a:t>
            </a:r>
            <a:r>
              <a:rPr lang="ru-RU" dirty="0">
                <a:solidFill>
                  <a:schemeClr val="accent2">
                    <a:lumMod val="50000"/>
                  </a:schemeClr>
                </a:solidFill>
                <a:latin typeface="Bahnschrift" panose="020B0502040204020203" pitchFamily="34" charset="0"/>
              </a:rPr>
              <a:t>” — информационный выигрыш. Для регрессии доступны разные варианты ошибки.</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max_depth</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Максимальная глубина каждого дерева. Ограничение глубины может помочь предотвратить переобучение. Если не ограничена, деревья могут расти до тех пор, пока каждый лист не станет “чистым” (содержать только объекты одного класса).</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min_samples_split</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Минимальное количество объектов, необходимое для разделения внутреннего узла. Увеличение этого параметра может помочь предотвратить переобучение.</a:t>
            </a:r>
          </a:p>
          <a:p>
            <a:endParaRPr lang="ru-RU" dirty="0">
              <a:solidFill>
                <a:schemeClr val="accent2">
                  <a:lumMod val="50000"/>
                </a:schemeClr>
              </a:solidFill>
              <a:latin typeface="Bahnschrift" panose="020B0502040204020203" pitchFamily="34" charset="0"/>
            </a:endParaRPr>
          </a:p>
          <a:p>
            <a:r>
              <a:rPr lang="ru-RU" b="1" dirty="0" err="1">
                <a:latin typeface="Bahnschrift" panose="020B0502040204020203" pitchFamily="34" charset="0"/>
              </a:rPr>
              <a:t>min_samples_leaf</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Минимальное количество объектов, необходимое в листовом узле. Увеличение этого параметра может помочь предотвратить переобучение.</a:t>
            </a:r>
          </a:p>
          <a:p>
            <a:r>
              <a:rPr lang="ru-RU" dirty="0">
                <a:solidFill>
                  <a:schemeClr val="accent2">
                    <a:lumMod val="50000"/>
                  </a:schemeClr>
                </a:solidFill>
              </a:rPr>
              <a:t>	</a:t>
            </a:r>
          </a:p>
        </p:txBody>
      </p:sp>
    </p:spTree>
    <p:extLst>
      <p:ext uri="{BB962C8B-B14F-4D97-AF65-F5344CB8AC3E}">
        <p14:creationId xmlns:p14="http://schemas.microsoft.com/office/powerpoint/2010/main" val="3008648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3039-5A67-E063-D35C-CB7ACF323B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F67558-A644-3471-8BAC-B4466EC2298A}"/>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Случайный лес  (</a:t>
            </a:r>
            <a:r>
              <a:rPr lang="ru-RU" sz="2400" b="1" dirty="0" err="1">
                <a:solidFill>
                  <a:schemeClr val="accent2">
                    <a:lumMod val="50000"/>
                  </a:schemeClr>
                </a:solidFill>
                <a:latin typeface="Arial Black" panose="020B0A04020102020204" pitchFamily="34" charset="0"/>
              </a:rPr>
              <a:t>Random</a:t>
            </a:r>
            <a:r>
              <a:rPr lang="ru-RU" sz="2400" b="1" dirty="0">
                <a:solidFill>
                  <a:schemeClr val="accent2">
                    <a:lumMod val="50000"/>
                  </a:schemeClr>
                </a:solidFill>
                <a:latin typeface="Arial Black" panose="020B0A04020102020204" pitchFamily="34" charset="0"/>
              </a:rPr>
              <a:t> </a:t>
            </a:r>
            <a:r>
              <a:rPr lang="ru-RU" sz="2400" b="1" dirty="0" err="1">
                <a:solidFill>
                  <a:schemeClr val="accent2">
                    <a:lumMod val="50000"/>
                  </a:schemeClr>
                </a:solidFill>
                <a:latin typeface="Arial Black" panose="020B0A04020102020204" pitchFamily="34" charset="0"/>
              </a:rPr>
              <a:t>Forest</a:t>
            </a:r>
            <a:r>
              <a:rPr lang="ru-RU" sz="2400" b="1" dirty="0">
                <a:solidFill>
                  <a:schemeClr val="accent2">
                    <a:lumMod val="50000"/>
                  </a:schemeClr>
                </a:solidFill>
                <a:latin typeface="Arial Black" panose="020B0A04020102020204" pitchFamily="34" charset="0"/>
              </a:rPr>
              <a:t>)</a:t>
            </a:r>
          </a:p>
        </p:txBody>
      </p:sp>
      <p:sp>
        <p:nvSpPr>
          <p:cNvPr id="5" name="TextBox 4">
            <a:extLst>
              <a:ext uri="{FF2B5EF4-FFF2-40B4-BE49-F238E27FC236}">
                <a16:creationId xmlns:a16="http://schemas.microsoft.com/office/drawing/2014/main" id="{CEDD8BC4-C6E2-2B99-9100-0D240521BFEA}"/>
              </a:ext>
            </a:extLst>
          </p:cNvPr>
          <p:cNvSpPr txBox="1"/>
          <p:nvPr/>
        </p:nvSpPr>
        <p:spPr>
          <a:xfrm>
            <a:off x="1199456" y="1052736"/>
            <a:ext cx="9990114" cy="4801314"/>
          </a:xfrm>
          <a:prstGeom prst="rect">
            <a:avLst/>
          </a:prstGeom>
          <a:noFill/>
        </p:spPr>
        <p:txBody>
          <a:bodyPr wrap="square">
            <a:spAutoFit/>
          </a:bodyPr>
          <a:lstStyle/>
          <a:p>
            <a:pPr algn="just"/>
            <a:r>
              <a:rPr lang="ru-RU" b="1" dirty="0" err="1">
                <a:latin typeface="Bahnschrift" panose="020B0502040204020203" pitchFamily="34" charset="0"/>
              </a:rPr>
              <a:t>max_features</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Количество признаков, которые рассматриваются при каждом разбиении.</a:t>
            </a:r>
          </a:p>
          <a:p>
            <a:pPr marL="719138" algn="just"/>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sqrt</a:t>
            </a:r>
            <a:r>
              <a:rPr lang="ru-RU" dirty="0">
                <a:solidFill>
                  <a:schemeClr val="accent2">
                    <a:lumMod val="50000"/>
                  </a:schemeClr>
                </a:solidFill>
                <a:latin typeface="Bahnschrift" panose="020B0502040204020203" pitchFamily="34" charset="0"/>
              </a:rPr>
              <a:t>": Выбирается корень квадратный из общего количества признаков.</a:t>
            </a:r>
          </a:p>
          <a:p>
            <a:pPr marL="719138" algn="just"/>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log2</a:t>
            </a:r>
            <a:r>
              <a:rPr lang="ru-RU" dirty="0">
                <a:solidFill>
                  <a:schemeClr val="accent2">
                    <a:lumMod val="50000"/>
                  </a:schemeClr>
                </a:solidFill>
                <a:latin typeface="Bahnschrift" panose="020B0502040204020203" pitchFamily="34" charset="0"/>
              </a:rPr>
              <a:t>": Выбирается логарифм по основанию 2 из общего количества признаков.</a:t>
            </a:r>
          </a:p>
          <a:p>
            <a:pPr marL="719138" algn="just"/>
            <a:r>
              <a:rPr lang="ru-RU" dirty="0">
                <a:solidFill>
                  <a:schemeClr val="accent2">
                    <a:lumMod val="50000"/>
                  </a:schemeClr>
                </a:solidFill>
                <a:latin typeface="Bahnschrift" panose="020B0502040204020203" pitchFamily="34" charset="0"/>
              </a:rPr>
              <a:t> </a:t>
            </a:r>
            <a:r>
              <a:rPr lang="ru-RU" dirty="0" err="1">
                <a:solidFill>
                  <a:schemeClr val="accent2">
                    <a:lumMod val="50000"/>
                  </a:schemeClr>
                </a:solidFill>
                <a:latin typeface="Bahnschrift" panose="020B0502040204020203" pitchFamily="34" charset="0"/>
              </a:rPr>
              <a:t>int</a:t>
            </a:r>
            <a:r>
              <a:rPr lang="ru-RU" dirty="0">
                <a:solidFill>
                  <a:schemeClr val="accent2">
                    <a:lumMod val="50000"/>
                  </a:schemeClr>
                </a:solidFill>
                <a:latin typeface="Bahnschrift" panose="020B0502040204020203" pitchFamily="34" charset="0"/>
              </a:rPr>
              <a:t>: Выбирается указанное количество признаков.</a:t>
            </a:r>
          </a:p>
          <a:p>
            <a:pPr marL="719138" algn="just"/>
            <a:r>
              <a:rPr lang="ru-RU" dirty="0">
                <a:solidFill>
                  <a:schemeClr val="accent2">
                    <a:lumMod val="50000"/>
                  </a:schemeClr>
                </a:solidFill>
                <a:latin typeface="Bahnschrift" panose="020B0502040204020203" pitchFamily="34" charset="0"/>
              </a:rPr>
              <a:t> </a:t>
            </a:r>
            <a:r>
              <a:rPr lang="ru-RU" dirty="0" err="1">
                <a:solidFill>
                  <a:schemeClr val="accent2">
                    <a:lumMod val="50000"/>
                  </a:schemeClr>
                </a:solidFill>
                <a:latin typeface="Bahnschrift" panose="020B0502040204020203" pitchFamily="34" charset="0"/>
              </a:rPr>
              <a:t>float</a:t>
            </a:r>
            <a:r>
              <a:rPr lang="ru-RU" dirty="0">
                <a:solidFill>
                  <a:schemeClr val="accent2">
                    <a:lumMod val="50000"/>
                  </a:schemeClr>
                </a:solidFill>
                <a:latin typeface="Bahnschrift" panose="020B0502040204020203" pitchFamily="34" charset="0"/>
              </a:rPr>
              <a:t>: Выбирается указанная доля признаков.</a:t>
            </a:r>
          </a:p>
          <a:p>
            <a:pPr marL="719138" algn="just"/>
            <a:endParaRPr lang="ru-RU" dirty="0">
              <a:solidFill>
                <a:schemeClr val="accent2">
                  <a:lumMod val="50000"/>
                </a:schemeClr>
              </a:solidFill>
              <a:latin typeface="Bahnschrift" panose="020B0502040204020203" pitchFamily="34" charset="0"/>
            </a:endParaRPr>
          </a:p>
          <a:p>
            <a:pPr algn="just"/>
            <a:r>
              <a:rPr lang="ru-RU" b="1" dirty="0" err="1">
                <a:latin typeface="Bahnschrift" panose="020B0502040204020203" pitchFamily="34" charset="0"/>
              </a:rPr>
              <a:t>bootstrap</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(True или </a:t>
            </a:r>
            <a:r>
              <a:rPr lang="ru-RU" dirty="0" err="1">
                <a:solidFill>
                  <a:schemeClr val="accent2">
                    <a:lumMod val="50000"/>
                  </a:schemeClr>
                </a:solidFill>
                <a:latin typeface="Bahnschrift" panose="020B0502040204020203" pitchFamily="34" charset="0"/>
              </a:rPr>
              <a:t>False</a:t>
            </a:r>
            <a:r>
              <a:rPr lang="ru-RU" dirty="0">
                <a:solidFill>
                  <a:schemeClr val="accent2">
                    <a:lumMod val="50000"/>
                  </a:schemeClr>
                </a:solidFill>
                <a:latin typeface="Bahnschrift" panose="020B0502040204020203" pitchFamily="34" charset="0"/>
              </a:rPr>
              <a:t>) Определяет, использовать ли </a:t>
            </a:r>
            <a:r>
              <a:rPr lang="ru-RU" dirty="0" err="1">
                <a:solidFill>
                  <a:schemeClr val="accent2">
                    <a:lumMod val="50000"/>
                  </a:schemeClr>
                </a:solidFill>
                <a:latin typeface="Bahnschrift" panose="020B0502040204020203" pitchFamily="34" charset="0"/>
              </a:rPr>
              <a:t>bootstrap</a:t>
            </a:r>
            <a:r>
              <a:rPr lang="ru-RU" dirty="0">
                <a:solidFill>
                  <a:schemeClr val="accent2">
                    <a:lumMod val="50000"/>
                  </a:schemeClr>
                </a:solidFill>
                <a:latin typeface="Bahnschrift" panose="020B0502040204020203" pitchFamily="34" charset="0"/>
              </a:rPr>
              <a:t>-наборы данных. Рекомендуется оставлять True.</a:t>
            </a:r>
          </a:p>
          <a:p>
            <a:pPr algn="just"/>
            <a:endParaRPr lang="ru-RU" dirty="0">
              <a:solidFill>
                <a:schemeClr val="accent2">
                  <a:lumMod val="50000"/>
                </a:schemeClr>
              </a:solidFill>
              <a:latin typeface="Bahnschrift" panose="020B0502040204020203" pitchFamily="34" charset="0"/>
            </a:endParaRPr>
          </a:p>
          <a:p>
            <a:pPr algn="just"/>
            <a:r>
              <a:rPr lang="ru-RU" b="1" dirty="0" err="1">
                <a:latin typeface="Bahnschrift" panose="020B0502040204020203" pitchFamily="34" charset="0"/>
              </a:rPr>
              <a:t>oob_score</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(True или </a:t>
            </a:r>
            <a:r>
              <a:rPr lang="ru-RU" dirty="0" err="1">
                <a:solidFill>
                  <a:schemeClr val="accent2">
                    <a:lumMod val="50000"/>
                  </a:schemeClr>
                </a:solidFill>
                <a:latin typeface="Bahnschrift" panose="020B0502040204020203" pitchFamily="34" charset="0"/>
              </a:rPr>
              <a:t>False</a:t>
            </a:r>
            <a:r>
              <a:rPr lang="ru-RU" dirty="0">
                <a:solidFill>
                  <a:schemeClr val="accent2">
                    <a:lumMod val="50000"/>
                  </a:schemeClr>
                </a:solidFill>
                <a:latin typeface="Bahnschrift" panose="020B0502040204020203" pitchFamily="34" charset="0"/>
              </a:rPr>
              <a:t>) Определяет, использовать ли </a:t>
            </a:r>
            <a:r>
              <a:rPr lang="ru-RU" dirty="0" err="1">
                <a:solidFill>
                  <a:schemeClr val="accent2">
                    <a:lumMod val="50000"/>
                  </a:schemeClr>
                </a:solidFill>
                <a:latin typeface="Bahnschrift" panose="020B0502040204020203" pitchFamily="34" charset="0"/>
              </a:rPr>
              <a:t>out-of-bag</a:t>
            </a:r>
            <a:r>
              <a:rPr lang="ru-RU" dirty="0">
                <a:solidFill>
                  <a:schemeClr val="accent2">
                    <a:lumMod val="50000"/>
                  </a:schemeClr>
                </a:solidFill>
                <a:latin typeface="Bahnschrift" panose="020B0502040204020203" pitchFamily="34" charset="0"/>
              </a:rPr>
              <a:t> оценку. Out-</a:t>
            </a:r>
            <a:r>
              <a:rPr lang="ru-RU" dirty="0" err="1">
                <a:solidFill>
                  <a:schemeClr val="accent2">
                    <a:lumMod val="50000"/>
                  </a:schemeClr>
                </a:solidFill>
                <a:latin typeface="Bahnschrift" panose="020B0502040204020203" pitchFamily="34" charset="0"/>
              </a:rPr>
              <a:t>of</a:t>
            </a:r>
            <a:r>
              <a:rPr lang="ru-RU" dirty="0">
                <a:solidFill>
                  <a:schemeClr val="accent2">
                    <a:lumMod val="50000"/>
                  </a:schemeClr>
                </a:solidFill>
                <a:latin typeface="Bahnschrift" panose="020B0502040204020203" pitchFamily="34" charset="0"/>
              </a:rPr>
              <a:t>-</a:t>
            </a:r>
            <a:r>
              <a:rPr lang="ru-RU" dirty="0" err="1">
                <a:solidFill>
                  <a:schemeClr val="accent2">
                    <a:lumMod val="50000"/>
                  </a:schemeClr>
                </a:solidFill>
                <a:latin typeface="Bahnschrift" panose="020B0502040204020203" pitchFamily="34" charset="0"/>
              </a:rPr>
              <a:t>bag</a:t>
            </a:r>
            <a:r>
              <a:rPr lang="ru-RU" dirty="0">
                <a:solidFill>
                  <a:schemeClr val="accent2">
                    <a:lumMod val="50000"/>
                  </a:schemeClr>
                </a:solidFill>
                <a:latin typeface="Bahnschrift" panose="020B0502040204020203" pitchFamily="34" charset="0"/>
              </a:rPr>
              <a:t> оценка — это оценка производительности модели на объектах, которые не были использованы для обучения данного дерева.</a:t>
            </a:r>
          </a:p>
          <a:p>
            <a:pPr algn="just"/>
            <a:endParaRPr lang="ru-RU" dirty="0">
              <a:solidFill>
                <a:schemeClr val="accent2">
                  <a:lumMod val="50000"/>
                </a:schemeClr>
              </a:solidFill>
              <a:latin typeface="Bahnschrift" panose="020B0502040204020203" pitchFamily="34" charset="0"/>
            </a:endParaRPr>
          </a:p>
          <a:p>
            <a:pPr algn="just"/>
            <a:r>
              <a:rPr lang="ru-RU" b="1" dirty="0" err="1">
                <a:latin typeface="Bahnschrift" panose="020B0502040204020203" pitchFamily="34" charset="0"/>
              </a:rPr>
              <a:t>n_jobs</a:t>
            </a:r>
            <a:r>
              <a:rPr lang="ru-RU" b="1" dirty="0">
                <a:latin typeface="Bahnschrift" panose="020B0502040204020203" pitchFamily="34" charset="0"/>
              </a:rPr>
              <a:t>: </a:t>
            </a:r>
            <a:r>
              <a:rPr lang="ru-RU" dirty="0">
                <a:solidFill>
                  <a:schemeClr val="accent2">
                    <a:lumMod val="50000"/>
                  </a:schemeClr>
                </a:solidFill>
                <a:latin typeface="Bahnschrift" panose="020B0502040204020203" pitchFamily="34" charset="0"/>
              </a:rPr>
              <a:t>Количество параллельных потоков, используемых для обучения. -1 означает использование всех доступных ядер процессора.</a:t>
            </a:r>
          </a:p>
          <a:p>
            <a:pPr algn="just"/>
            <a:endParaRPr lang="ru-RU" dirty="0">
              <a:solidFill>
                <a:schemeClr val="accent2">
                  <a:lumMod val="50000"/>
                </a:schemeClr>
              </a:solidFill>
              <a:latin typeface="Bahnschrift" panose="020B0502040204020203" pitchFamily="34" charset="0"/>
            </a:endParaRPr>
          </a:p>
          <a:p>
            <a:pPr algn="just"/>
            <a:r>
              <a:rPr lang="ru-RU" b="1" dirty="0">
                <a:latin typeface="Bahnschrift" panose="020B0502040204020203" pitchFamily="34" charset="0"/>
              </a:rPr>
              <a:t>random_state: </a:t>
            </a:r>
            <a:r>
              <a:rPr lang="ru-RU" dirty="0">
                <a:solidFill>
                  <a:schemeClr val="accent2">
                    <a:lumMod val="50000"/>
                  </a:schemeClr>
                </a:solidFill>
                <a:latin typeface="Bahnschrift" panose="020B0502040204020203" pitchFamily="34" charset="0"/>
              </a:rPr>
              <a:t>Задает случайное состояние для воспроизводимости результатов.</a:t>
            </a:r>
          </a:p>
        </p:txBody>
      </p:sp>
    </p:spTree>
    <p:extLst>
      <p:ext uri="{BB962C8B-B14F-4D97-AF65-F5344CB8AC3E}">
        <p14:creationId xmlns:p14="http://schemas.microsoft.com/office/powerpoint/2010/main" val="3361195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4DA3-7E91-1103-A4CB-891FC016256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0BA1BD-0889-191E-EECA-9108149A41D7}"/>
              </a:ext>
            </a:extLst>
          </p:cNvPr>
          <p:cNvSpPr>
            <a:spLocks noGrp="1"/>
          </p:cNvSpPr>
          <p:nvPr>
            <p:ph type="title"/>
          </p:nvPr>
        </p:nvSpPr>
        <p:spPr>
          <a:xfrm>
            <a:off x="2567608" y="201417"/>
            <a:ext cx="6480720" cy="347263"/>
          </a:xfrm>
        </p:spPr>
        <p:txBody>
          <a:bodyPr>
            <a:noAutofit/>
          </a:bodyPr>
          <a:lstStyle/>
          <a:p>
            <a:pPr algn="ctr"/>
            <a:r>
              <a:rPr lang="ru-RU" sz="2400" b="1" dirty="0">
                <a:solidFill>
                  <a:schemeClr val="accent2">
                    <a:lumMod val="50000"/>
                  </a:schemeClr>
                </a:solidFill>
                <a:latin typeface="Arial Black" panose="020B0A04020102020204" pitchFamily="34" charset="0"/>
              </a:rPr>
              <a:t>Случайный лес  (</a:t>
            </a:r>
            <a:r>
              <a:rPr lang="ru-RU" sz="2400" b="1" dirty="0" err="1">
                <a:solidFill>
                  <a:schemeClr val="accent2">
                    <a:lumMod val="50000"/>
                  </a:schemeClr>
                </a:solidFill>
                <a:latin typeface="Arial Black" panose="020B0A04020102020204" pitchFamily="34" charset="0"/>
              </a:rPr>
              <a:t>Random</a:t>
            </a:r>
            <a:r>
              <a:rPr lang="ru-RU" sz="2400" b="1" dirty="0">
                <a:solidFill>
                  <a:schemeClr val="accent2">
                    <a:lumMod val="50000"/>
                  </a:schemeClr>
                </a:solidFill>
                <a:latin typeface="Arial Black" panose="020B0A04020102020204" pitchFamily="34" charset="0"/>
              </a:rPr>
              <a:t> </a:t>
            </a:r>
            <a:r>
              <a:rPr lang="ru-RU" sz="2400" b="1" dirty="0" err="1">
                <a:solidFill>
                  <a:schemeClr val="accent2">
                    <a:lumMod val="50000"/>
                  </a:schemeClr>
                </a:solidFill>
                <a:latin typeface="Arial Black" panose="020B0A04020102020204" pitchFamily="34" charset="0"/>
              </a:rPr>
              <a:t>Forest</a:t>
            </a:r>
            <a:r>
              <a:rPr lang="ru-RU" sz="2400" b="1" dirty="0">
                <a:solidFill>
                  <a:schemeClr val="accent2">
                    <a:lumMod val="50000"/>
                  </a:schemeClr>
                </a:solidFill>
                <a:latin typeface="Arial Black" panose="020B0A04020102020204" pitchFamily="34" charset="0"/>
              </a:rPr>
              <a:t>)</a:t>
            </a:r>
          </a:p>
        </p:txBody>
      </p:sp>
      <p:sp>
        <p:nvSpPr>
          <p:cNvPr id="6" name="TextBox 5">
            <a:extLst>
              <a:ext uri="{FF2B5EF4-FFF2-40B4-BE49-F238E27FC236}">
                <a16:creationId xmlns:a16="http://schemas.microsoft.com/office/drawing/2014/main" id="{6D9B4C39-2911-6B3A-889D-8DA2E000F417}"/>
              </a:ext>
            </a:extLst>
          </p:cNvPr>
          <p:cNvSpPr txBox="1"/>
          <p:nvPr/>
        </p:nvSpPr>
        <p:spPr>
          <a:xfrm>
            <a:off x="551384" y="1305341"/>
            <a:ext cx="11161240" cy="5170646"/>
          </a:xfrm>
          <a:prstGeom prst="rect">
            <a:avLst/>
          </a:prstGeom>
          <a:noFill/>
        </p:spPr>
        <p:txBody>
          <a:bodyPr wrap="square">
            <a:spAutoFit/>
          </a:bodyPr>
          <a:lstStyle/>
          <a:p>
            <a:r>
              <a:rPr lang="ru-RU" b="1" dirty="0">
                <a:solidFill>
                  <a:schemeClr val="accent2">
                    <a:lumMod val="50000"/>
                  </a:schemeClr>
                </a:solidFill>
                <a:latin typeface="Bahnschrift" panose="020B0502040204020203" pitchFamily="34" charset="0"/>
              </a:rPr>
              <a:t>Преимущества:</a:t>
            </a:r>
            <a:endParaRPr lang="ru-RU" dirty="0">
              <a:solidFill>
                <a:schemeClr val="accent2">
                  <a:lumMod val="50000"/>
                </a:schemeClr>
              </a:solidFill>
              <a:latin typeface="Bahnschrift" panose="020B0502040204020203" pitchFamily="34" charset="0"/>
            </a:endParaRPr>
          </a:p>
          <a:p>
            <a:pPr lvl="0"/>
            <a:r>
              <a:rPr lang="ru-RU" b="1" dirty="0">
                <a:solidFill>
                  <a:schemeClr val="accent2">
                    <a:lumMod val="50000"/>
                  </a:schemeClr>
                </a:solidFill>
                <a:latin typeface="Bahnschrift" panose="020B0502040204020203" pitchFamily="34" charset="0"/>
              </a:rPr>
              <a:t>Высокая точность:</a:t>
            </a:r>
            <a:r>
              <a:rPr lang="ru-RU" dirty="0">
                <a:solidFill>
                  <a:schemeClr val="accent2">
                    <a:lumMod val="50000"/>
                  </a:schemeClr>
                </a:solidFill>
                <a:latin typeface="Bahnschrift" panose="020B0502040204020203" pitchFamily="34" charset="0"/>
              </a:rPr>
              <a:t> Случайный лес часто показывает очень высокую точность на различных задачах.</a:t>
            </a:r>
          </a:p>
          <a:p>
            <a:pPr lvl="0"/>
            <a:r>
              <a:rPr lang="ru-RU" b="1" dirty="0">
                <a:solidFill>
                  <a:schemeClr val="accent2">
                    <a:lumMod val="50000"/>
                  </a:schemeClr>
                </a:solidFill>
                <a:latin typeface="Bahnschrift" panose="020B0502040204020203" pitchFamily="34" charset="0"/>
              </a:rPr>
              <a:t>Устойчивость к переобучению:</a:t>
            </a:r>
            <a:r>
              <a:rPr lang="ru-RU" dirty="0">
                <a:solidFill>
                  <a:schemeClr val="accent2">
                    <a:lumMod val="50000"/>
                  </a:schemeClr>
                </a:solidFill>
                <a:latin typeface="Bahnschrift" panose="020B0502040204020203" pitchFamily="34" charset="0"/>
              </a:rPr>
              <a:t> </a:t>
            </a:r>
            <a:r>
              <a:rPr lang="ru-RU" dirty="0" err="1">
                <a:solidFill>
                  <a:schemeClr val="accent2">
                    <a:lumMod val="50000"/>
                  </a:schemeClr>
                </a:solidFill>
                <a:latin typeface="Bahnschrift" panose="020B0502040204020203" pitchFamily="34" charset="0"/>
              </a:rPr>
              <a:t>Bagging</a:t>
            </a:r>
            <a:r>
              <a:rPr lang="ru-RU" dirty="0">
                <a:solidFill>
                  <a:schemeClr val="accent2">
                    <a:lumMod val="50000"/>
                  </a:schemeClr>
                </a:solidFill>
                <a:latin typeface="Bahnschrift" panose="020B0502040204020203" pitchFamily="34" charset="0"/>
              </a:rPr>
              <a:t> и случайный отбор признаков помогают предотвратить переобучение.</a:t>
            </a:r>
          </a:p>
          <a:p>
            <a:pPr lvl="0"/>
            <a:r>
              <a:rPr lang="ru-RU" b="1" dirty="0">
                <a:solidFill>
                  <a:schemeClr val="accent2">
                    <a:lumMod val="50000"/>
                  </a:schemeClr>
                </a:solidFill>
                <a:latin typeface="Bahnschrift" panose="020B0502040204020203" pitchFamily="34" charset="0"/>
              </a:rPr>
              <a:t>Оценка важности признаков (</a:t>
            </a:r>
            <a:r>
              <a:rPr lang="ru-RU" b="1" dirty="0" err="1">
                <a:solidFill>
                  <a:schemeClr val="accent2">
                    <a:lumMod val="50000"/>
                  </a:schemeClr>
                </a:solidFill>
                <a:latin typeface="Bahnschrift" panose="020B0502040204020203" pitchFamily="34" charset="0"/>
              </a:rPr>
              <a:t>Feature</a:t>
            </a:r>
            <a:r>
              <a:rPr lang="ru-RU" b="1" dirty="0">
                <a:solidFill>
                  <a:schemeClr val="accent2">
                    <a:lumMod val="50000"/>
                  </a:schemeClr>
                </a:solidFill>
                <a:latin typeface="Bahnschrift" panose="020B0502040204020203" pitchFamily="34" charset="0"/>
              </a:rPr>
              <a:t> </a:t>
            </a:r>
            <a:r>
              <a:rPr lang="ru-RU" b="1" dirty="0" err="1">
                <a:solidFill>
                  <a:schemeClr val="accent2">
                    <a:lumMod val="50000"/>
                  </a:schemeClr>
                </a:solidFill>
                <a:latin typeface="Bahnschrift" panose="020B0502040204020203" pitchFamily="34" charset="0"/>
              </a:rPr>
              <a:t>Importance</a:t>
            </a:r>
            <a:r>
              <a:rPr lang="ru-RU" b="1" dirty="0">
                <a:solidFill>
                  <a:schemeClr val="accent2">
                    <a:lumMod val="50000"/>
                  </a:schemeClr>
                </a:solidFill>
                <a:latin typeface="Bahnschrift" panose="020B0502040204020203" pitchFamily="34" charset="0"/>
              </a:rPr>
              <a:t>):</a:t>
            </a:r>
            <a:r>
              <a:rPr lang="ru-RU" dirty="0">
                <a:solidFill>
                  <a:schemeClr val="accent2">
                    <a:lumMod val="50000"/>
                  </a:schemeClr>
                </a:solidFill>
                <a:latin typeface="Bahnschrift" panose="020B0502040204020203" pitchFamily="34" charset="0"/>
              </a:rPr>
              <a:t> Случайный лес позволяет оценить важность каждого признака для предсказания.</a:t>
            </a:r>
          </a:p>
          <a:p>
            <a:pPr lvl="0"/>
            <a:r>
              <a:rPr lang="ru-RU" b="1" dirty="0">
                <a:solidFill>
                  <a:schemeClr val="accent2">
                    <a:lumMod val="50000"/>
                  </a:schemeClr>
                </a:solidFill>
                <a:latin typeface="Bahnschrift" panose="020B0502040204020203" pitchFamily="34" charset="0"/>
              </a:rPr>
              <a:t>Может обрабатывать как числовые, так и категориальные признаки.</a:t>
            </a:r>
            <a:endParaRPr lang="ru-RU" dirty="0">
              <a:solidFill>
                <a:schemeClr val="accent2">
                  <a:lumMod val="50000"/>
                </a:schemeClr>
              </a:solidFill>
              <a:latin typeface="Bahnschrift" panose="020B0502040204020203" pitchFamily="34" charset="0"/>
            </a:endParaRPr>
          </a:p>
          <a:p>
            <a:pPr lvl="0"/>
            <a:r>
              <a:rPr lang="ru-RU" b="1" dirty="0">
                <a:solidFill>
                  <a:schemeClr val="accent2">
                    <a:lumMod val="50000"/>
                  </a:schemeClr>
                </a:solidFill>
                <a:latin typeface="Bahnschrift" panose="020B0502040204020203" pitchFamily="34" charset="0"/>
              </a:rPr>
              <a:t>Не требует масштабирования признаков:</a:t>
            </a:r>
            <a:r>
              <a:rPr lang="ru-RU" dirty="0">
                <a:solidFill>
                  <a:schemeClr val="accent2">
                    <a:lumMod val="50000"/>
                  </a:schemeClr>
                </a:solidFill>
                <a:latin typeface="Bahnschrift" panose="020B0502040204020203" pitchFamily="34" charset="0"/>
              </a:rPr>
              <a:t> Случайный лес не чувствителен к масштабу признаков.</a:t>
            </a:r>
          </a:p>
          <a:p>
            <a:pPr lvl="0"/>
            <a:r>
              <a:rPr lang="ru-RU" b="1" dirty="0">
                <a:solidFill>
                  <a:schemeClr val="accent2">
                    <a:lumMod val="50000"/>
                  </a:schemeClr>
                </a:solidFill>
                <a:latin typeface="Bahnschrift" panose="020B0502040204020203" pitchFamily="34" charset="0"/>
              </a:rPr>
              <a:t>Устойчив к выбросам:</a:t>
            </a:r>
            <a:r>
              <a:rPr lang="ru-RU" dirty="0">
                <a:solidFill>
                  <a:schemeClr val="accent2">
                    <a:lumMod val="50000"/>
                  </a:schemeClr>
                </a:solidFill>
                <a:latin typeface="Bahnschrift" panose="020B0502040204020203" pitchFamily="34" charset="0"/>
              </a:rPr>
              <a:t> Благодаря усреднению предсказаний деревьев, случайный лес менее чувствителен к выбросам в данных.</a:t>
            </a:r>
          </a:p>
          <a:p>
            <a:pPr lvl="0"/>
            <a:r>
              <a:rPr lang="ru-RU" b="1" dirty="0">
                <a:solidFill>
                  <a:schemeClr val="accent2">
                    <a:lumMod val="50000"/>
                  </a:schemeClr>
                </a:solidFill>
                <a:latin typeface="Bahnschrift" panose="020B0502040204020203" pitchFamily="34" charset="0"/>
              </a:rPr>
              <a:t>Простота настройки:</a:t>
            </a:r>
            <a:r>
              <a:rPr lang="ru-RU" dirty="0">
                <a:solidFill>
                  <a:schemeClr val="accent2">
                    <a:lumMod val="50000"/>
                  </a:schemeClr>
                </a:solidFill>
                <a:latin typeface="Bahnschrift" panose="020B0502040204020203" pitchFamily="34" charset="0"/>
              </a:rPr>
              <a:t> Хорошие результаты можно получить, используя параметры по умолчанию.</a:t>
            </a:r>
          </a:p>
          <a:p>
            <a:endParaRPr lang="ru-RU" b="1" dirty="0">
              <a:solidFill>
                <a:schemeClr val="accent2">
                  <a:lumMod val="50000"/>
                </a:schemeClr>
              </a:solidFill>
              <a:latin typeface="Bahnschrift" panose="020B0502040204020203" pitchFamily="34" charset="0"/>
            </a:endParaRPr>
          </a:p>
          <a:p>
            <a:r>
              <a:rPr lang="ru-RU" b="1" dirty="0">
                <a:solidFill>
                  <a:schemeClr val="accent2">
                    <a:lumMod val="50000"/>
                  </a:schemeClr>
                </a:solidFill>
                <a:latin typeface="Bahnschrift" panose="020B0502040204020203" pitchFamily="34" charset="0"/>
              </a:rPr>
              <a:t>Недостатки:</a:t>
            </a:r>
            <a:endParaRPr lang="ru-RU" dirty="0">
              <a:solidFill>
                <a:schemeClr val="accent2">
                  <a:lumMod val="50000"/>
                </a:schemeClr>
              </a:solidFill>
              <a:latin typeface="Bahnschrift" panose="020B0502040204020203" pitchFamily="34" charset="0"/>
            </a:endParaRPr>
          </a:p>
          <a:p>
            <a:pPr lvl="0"/>
            <a:r>
              <a:rPr lang="ru-RU" b="1" dirty="0">
                <a:solidFill>
                  <a:schemeClr val="accent2">
                    <a:lumMod val="50000"/>
                  </a:schemeClr>
                </a:solidFill>
                <a:latin typeface="Bahnschrift" panose="020B0502040204020203" pitchFamily="34" charset="0"/>
              </a:rPr>
              <a:t>Менее интерпретируем, чем одно дерево решений:</a:t>
            </a:r>
            <a:r>
              <a:rPr lang="ru-RU" dirty="0">
                <a:solidFill>
                  <a:schemeClr val="accent2">
                    <a:lumMod val="50000"/>
                  </a:schemeClr>
                </a:solidFill>
                <a:latin typeface="Bahnschrift" panose="020B0502040204020203" pitchFamily="34" charset="0"/>
              </a:rPr>
              <a:t> Сложно понять, как случайный лес принимает решения, поскольку это ансамбль множества деревьев.</a:t>
            </a:r>
          </a:p>
          <a:p>
            <a:pPr lvl="0"/>
            <a:r>
              <a:rPr lang="ru-RU" b="1" dirty="0">
                <a:solidFill>
                  <a:schemeClr val="accent2">
                    <a:lumMod val="50000"/>
                  </a:schemeClr>
                </a:solidFill>
                <a:latin typeface="Bahnschrift" panose="020B0502040204020203" pitchFamily="34" charset="0"/>
              </a:rPr>
              <a:t>Вычислительная сложность:</a:t>
            </a:r>
            <a:r>
              <a:rPr lang="ru-RU" dirty="0">
                <a:solidFill>
                  <a:schemeClr val="accent2">
                    <a:lumMod val="50000"/>
                  </a:schemeClr>
                </a:solidFill>
                <a:latin typeface="Bahnschrift" panose="020B0502040204020203" pitchFamily="34" charset="0"/>
              </a:rPr>
              <a:t> Обучение случайного леса может быть затратным по времени и ресурсам, особенно для больших наборов данных и большого количества деревьев.</a:t>
            </a:r>
          </a:p>
          <a:p>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3881367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FDB6-BA55-6792-FEA7-795F041B5FA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9BA033-0C17-313F-06FB-CC33CA0CE713}"/>
              </a:ext>
            </a:extLst>
          </p:cNvPr>
          <p:cNvSpPr>
            <a:spLocks noGrp="1"/>
          </p:cNvSpPr>
          <p:nvPr>
            <p:ph type="title"/>
          </p:nvPr>
        </p:nvSpPr>
        <p:spPr>
          <a:xfrm>
            <a:off x="2567608" y="201417"/>
            <a:ext cx="7488832" cy="347263"/>
          </a:xfrm>
        </p:spPr>
        <p:txBody>
          <a:bodyPr>
            <a:noAutofit/>
          </a:bodyPr>
          <a:lstStyle/>
          <a:p>
            <a:pPr algn="ctr"/>
            <a:r>
              <a:rPr lang="ru-RU" sz="2400" b="1" dirty="0">
                <a:solidFill>
                  <a:schemeClr val="accent2">
                    <a:lumMod val="50000"/>
                  </a:schemeClr>
                </a:solidFill>
                <a:latin typeface="Arial Black" panose="020B0A04020102020204" pitchFamily="34" charset="0"/>
              </a:rPr>
              <a:t>Градиентный Бустинг (</a:t>
            </a:r>
            <a:r>
              <a:rPr lang="en-US" sz="2400" b="1" dirty="0">
                <a:solidFill>
                  <a:schemeClr val="accent2">
                    <a:lumMod val="50000"/>
                  </a:schemeClr>
                </a:solidFill>
                <a:latin typeface="Arial Black" panose="020B0A04020102020204" pitchFamily="34" charset="0"/>
              </a:rPr>
              <a:t>Gradient Boosting</a:t>
            </a:r>
            <a:r>
              <a:rPr lang="ru-RU" sz="2400" b="1" dirty="0">
                <a:solidFill>
                  <a:schemeClr val="accent2">
                    <a:lumMod val="50000"/>
                  </a:schemeClr>
                </a:solidFill>
                <a:latin typeface="Arial Black" panose="020B0A04020102020204" pitchFamily="34" charset="0"/>
              </a:rPr>
              <a:t>)</a:t>
            </a:r>
          </a:p>
        </p:txBody>
      </p:sp>
      <p:sp>
        <p:nvSpPr>
          <p:cNvPr id="6" name="TextBox 5">
            <a:extLst>
              <a:ext uri="{FF2B5EF4-FFF2-40B4-BE49-F238E27FC236}">
                <a16:creationId xmlns:a16="http://schemas.microsoft.com/office/drawing/2014/main" id="{445964C7-EBAA-533F-4C78-B05EC72028BD}"/>
              </a:ext>
            </a:extLst>
          </p:cNvPr>
          <p:cNvSpPr txBox="1"/>
          <p:nvPr/>
        </p:nvSpPr>
        <p:spPr>
          <a:xfrm>
            <a:off x="551384" y="1305341"/>
            <a:ext cx="11161240" cy="4154984"/>
          </a:xfrm>
          <a:prstGeom prst="rect">
            <a:avLst/>
          </a:prstGeom>
          <a:noFill/>
        </p:spPr>
        <p:txBody>
          <a:bodyPr wrap="square">
            <a:spAutoFit/>
          </a:bodyPr>
          <a:lstStyle/>
          <a:p>
            <a:r>
              <a:rPr lang="ru-RU" sz="2400" b="1" dirty="0">
                <a:solidFill>
                  <a:schemeClr val="accent2">
                    <a:lumMod val="50000"/>
                  </a:schemeClr>
                </a:solidFill>
                <a:latin typeface="Bahnschrift" panose="020B0502040204020203" pitchFamily="34" charset="0"/>
              </a:rPr>
              <a:t>Градиентный бустинг</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Gradient</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Boosting</a:t>
            </a:r>
            <a:r>
              <a:rPr lang="ru-RU" sz="2400" dirty="0">
                <a:solidFill>
                  <a:schemeClr val="accent2">
                    <a:lumMod val="50000"/>
                  </a:schemeClr>
                </a:solidFill>
                <a:latin typeface="Bahnschrift" panose="020B0502040204020203" pitchFamily="34" charset="0"/>
              </a:rPr>
              <a:t>) — это ансамблевый алгоритм машинного обучения, который строит модель последовательно, добавляя деревья решений одно за другим. Каждое новое дерево пытается исправить ошибки, сделанные предыдущими деревьями, что позволяет достигать очень высокой точности на различных задачах классификации и регрессии. </a:t>
            </a:r>
          </a:p>
          <a:p>
            <a:r>
              <a:rPr lang="ru-RU" sz="2400" dirty="0">
                <a:solidFill>
                  <a:schemeClr val="accent2">
                    <a:lumMod val="50000"/>
                  </a:schemeClr>
                </a:solidFill>
                <a:latin typeface="Bahnschrift" panose="020B0502040204020203" pitchFamily="34" charset="0"/>
              </a:rPr>
              <a:t> </a:t>
            </a:r>
          </a:p>
          <a:p>
            <a:r>
              <a:rPr lang="ru-RU" sz="2400" dirty="0">
                <a:solidFill>
                  <a:schemeClr val="accent2">
                    <a:lumMod val="50000"/>
                  </a:schemeClr>
                </a:solidFill>
                <a:latin typeface="Bahnschrift" panose="020B0502040204020203" pitchFamily="34" charset="0"/>
              </a:rPr>
              <a:t>В отличие от случайного леса, в градиентном бустинге деревья строятся последовательно и зависят друг от друга. Существуют различные реализации градиентного бустинга, такие как </a:t>
            </a:r>
            <a:r>
              <a:rPr lang="ru-RU" sz="2400" dirty="0" err="1">
                <a:solidFill>
                  <a:schemeClr val="accent2">
                    <a:lumMod val="50000"/>
                  </a:schemeClr>
                </a:solidFill>
                <a:latin typeface="Bahnschrift" panose="020B0502040204020203" pitchFamily="34" charset="0"/>
              </a:rPr>
              <a:t>XGBoost</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LightGBM</a:t>
            </a:r>
            <a:r>
              <a:rPr lang="ru-RU" sz="2400" dirty="0">
                <a:solidFill>
                  <a:schemeClr val="accent2">
                    <a:lumMod val="50000"/>
                  </a:schemeClr>
                </a:solidFill>
                <a:latin typeface="Bahnschrift" panose="020B0502040204020203" pitchFamily="34" charset="0"/>
              </a:rPr>
              <a:t> и </a:t>
            </a:r>
            <a:r>
              <a:rPr lang="ru-RU" sz="2400" dirty="0" err="1">
                <a:solidFill>
                  <a:schemeClr val="accent2">
                    <a:lumMod val="50000"/>
                  </a:schemeClr>
                </a:solidFill>
                <a:latin typeface="Bahnschrift" panose="020B0502040204020203" pitchFamily="34" charset="0"/>
              </a:rPr>
              <a:t>CatBoost</a:t>
            </a:r>
            <a:r>
              <a:rPr lang="ru-RU" sz="2400" dirty="0">
                <a:solidFill>
                  <a:schemeClr val="accent2">
                    <a:lumMod val="50000"/>
                  </a:schemeClr>
                </a:solidFill>
                <a:latin typeface="Bahnschrift" panose="020B0502040204020203" pitchFamily="34" charset="0"/>
              </a:rPr>
              <a:t>, каждая из которых имеет свои особенности и оптимизации. </a:t>
            </a:r>
          </a:p>
          <a:p>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4216190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5DC8-D7AE-866C-210B-A61E9EA1753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CECC53-4E61-6192-8A27-AAD954CF5C64}"/>
              </a:ext>
            </a:extLst>
          </p:cNvPr>
          <p:cNvSpPr>
            <a:spLocks noGrp="1"/>
          </p:cNvSpPr>
          <p:nvPr>
            <p:ph type="title"/>
          </p:nvPr>
        </p:nvSpPr>
        <p:spPr>
          <a:xfrm>
            <a:off x="2567608" y="201417"/>
            <a:ext cx="7488832" cy="347263"/>
          </a:xfrm>
        </p:spPr>
        <p:txBody>
          <a:bodyPr>
            <a:noAutofit/>
          </a:bodyPr>
          <a:lstStyle/>
          <a:p>
            <a:pPr algn="ctr"/>
            <a:r>
              <a:rPr lang="ru-RU" sz="2400" b="1" dirty="0">
                <a:solidFill>
                  <a:schemeClr val="accent2">
                    <a:lumMod val="50000"/>
                  </a:schemeClr>
                </a:solidFill>
                <a:latin typeface="Arial Black" panose="020B0A04020102020204" pitchFamily="34" charset="0"/>
              </a:rPr>
              <a:t>Градиентный Бустинг (</a:t>
            </a:r>
            <a:r>
              <a:rPr lang="en-US" sz="2400" b="1" dirty="0">
                <a:solidFill>
                  <a:schemeClr val="accent2">
                    <a:lumMod val="50000"/>
                  </a:schemeClr>
                </a:solidFill>
                <a:latin typeface="Arial Black" panose="020B0A04020102020204" pitchFamily="34" charset="0"/>
              </a:rPr>
              <a:t>Gradient Boosting</a:t>
            </a:r>
            <a:r>
              <a:rPr lang="ru-RU" sz="2400" b="1" dirty="0">
                <a:solidFill>
                  <a:schemeClr val="accent2">
                    <a:lumMod val="50000"/>
                  </a:schemeClr>
                </a:solidFill>
                <a:latin typeface="Arial Black" panose="020B0A04020102020204" pitchFamily="34" charset="0"/>
              </a:rPr>
              <a:t>)</a:t>
            </a:r>
          </a:p>
        </p:txBody>
      </p:sp>
      <p:pic>
        <p:nvPicPr>
          <p:cNvPr id="3" name="Рисунок 2">
            <a:extLst>
              <a:ext uri="{FF2B5EF4-FFF2-40B4-BE49-F238E27FC236}">
                <a16:creationId xmlns:a16="http://schemas.microsoft.com/office/drawing/2014/main" id="{1FD2F80D-EF33-D109-FEED-8C33CF0A2390}"/>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947428" y="778875"/>
            <a:ext cx="10297144" cy="5856627"/>
          </a:xfrm>
          <a:prstGeom prst="rect">
            <a:avLst/>
          </a:prstGeom>
        </p:spPr>
      </p:pic>
    </p:spTree>
    <p:extLst>
      <p:ext uri="{BB962C8B-B14F-4D97-AF65-F5344CB8AC3E}">
        <p14:creationId xmlns:p14="http://schemas.microsoft.com/office/powerpoint/2010/main" val="2558866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17897-41DD-8104-3FAA-B25DA1B30E6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843040-AF6D-506C-8A67-4D6FAB65CFC2}"/>
              </a:ext>
            </a:extLst>
          </p:cNvPr>
          <p:cNvSpPr>
            <a:spLocks noGrp="1"/>
          </p:cNvSpPr>
          <p:nvPr>
            <p:ph type="title"/>
          </p:nvPr>
        </p:nvSpPr>
        <p:spPr>
          <a:xfrm>
            <a:off x="1415480" y="201417"/>
            <a:ext cx="9505056" cy="347263"/>
          </a:xfrm>
        </p:spPr>
        <p:txBody>
          <a:bodyPr>
            <a:noAutofit/>
          </a:bodyPr>
          <a:lstStyle/>
          <a:p>
            <a:pPr algn="ctr"/>
            <a:r>
              <a:rPr lang="ru-RU" sz="2400" b="1" dirty="0">
                <a:solidFill>
                  <a:schemeClr val="accent2">
                    <a:lumMod val="50000"/>
                  </a:schemeClr>
                </a:solidFill>
                <a:latin typeface="Arial Black" panose="020B0A04020102020204" pitchFamily="34" charset="0"/>
              </a:rPr>
              <a:t>Различия между </a:t>
            </a:r>
            <a:r>
              <a:rPr lang="en-US" sz="2400" b="1" dirty="0" err="1">
                <a:solidFill>
                  <a:schemeClr val="accent2">
                    <a:lumMod val="50000"/>
                  </a:schemeClr>
                </a:solidFill>
                <a:latin typeface="Arial Black" panose="020B0A04020102020204" pitchFamily="34" charset="0"/>
              </a:rPr>
              <a:t>XGBoost</a:t>
            </a:r>
            <a:r>
              <a:rPr lang="en-US" sz="2400" b="1" dirty="0">
                <a:solidFill>
                  <a:schemeClr val="accent2">
                    <a:lumMod val="50000"/>
                  </a:schemeClr>
                </a:solidFill>
                <a:latin typeface="Arial Black" panose="020B0A04020102020204" pitchFamily="34" charset="0"/>
              </a:rPr>
              <a:t>, </a:t>
            </a:r>
            <a:r>
              <a:rPr lang="en-US" sz="2400" b="1" dirty="0" err="1">
                <a:solidFill>
                  <a:schemeClr val="accent2">
                    <a:lumMod val="50000"/>
                  </a:schemeClr>
                </a:solidFill>
                <a:latin typeface="Arial Black" panose="020B0A04020102020204" pitchFamily="34" charset="0"/>
              </a:rPr>
              <a:t>LightGBM</a:t>
            </a:r>
            <a:r>
              <a:rPr lang="en-US" sz="2400" b="1" dirty="0">
                <a:solidFill>
                  <a:schemeClr val="accent2">
                    <a:lumMod val="50000"/>
                  </a:schemeClr>
                </a:solidFill>
                <a:latin typeface="Arial Black" panose="020B0A04020102020204" pitchFamily="34" charset="0"/>
              </a:rPr>
              <a:t> </a:t>
            </a:r>
            <a:r>
              <a:rPr lang="ru-RU" sz="2400" b="1" dirty="0">
                <a:solidFill>
                  <a:schemeClr val="accent2">
                    <a:lumMod val="50000"/>
                  </a:schemeClr>
                </a:solidFill>
                <a:latin typeface="Arial Black" panose="020B0A04020102020204" pitchFamily="34" charset="0"/>
              </a:rPr>
              <a:t>и </a:t>
            </a:r>
            <a:r>
              <a:rPr lang="en-US" sz="2400" b="1" dirty="0" err="1">
                <a:solidFill>
                  <a:schemeClr val="accent2">
                    <a:lumMod val="50000"/>
                  </a:schemeClr>
                </a:solidFill>
                <a:latin typeface="Arial Black" panose="020B0A04020102020204" pitchFamily="34" charset="0"/>
              </a:rPr>
              <a:t>CatBoost</a:t>
            </a:r>
            <a:endParaRPr lang="ru-RU" sz="2400" b="1" dirty="0">
              <a:solidFill>
                <a:schemeClr val="accent2">
                  <a:lumMod val="5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5F8E253F-F51D-B12B-853A-073CC6600FB6}"/>
              </a:ext>
            </a:extLst>
          </p:cNvPr>
          <p:cNvSpPr txBox="1"/>
          <p:nvPr/>
        </p:nvSpPr>
        <p:spPr>
          <a:xfrm>
            <a:off x="839416" y="654940"/>
            <a:ext cx="11161240" cy="6001643"/>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Хотя все три алгоритма реализуют градиентный бустинг, они имеют различные оптимизации и особенности:</a:t>
            </a:r>
          </a:p>
          <a:p>
            <a:endParaRPr lang="ru-RU" sz="2400" dirty="0">
              <a:solidFill>
                <a:schemeClr val="accent2">
                  <a:lumMod val="50000"/>
                </a:schemeClr>
              </a:solidFill>
              <a:latin typeface="Bahnschrift" panose="020B0502040204020203" pitchFamily="34" charset="0"/>
            </a:endParaRPr>
          </a:p>
          <a:p>
            <a:pPr lvl="0"/>
            <a:r>
              <a:rPr lang="ru-RU" sz="2400" b="1" dirty="0" err="1">
                <a:solidFill>
                  <a:schemeClr val="accent2">
                    <a:lumMod val="50000"/>
                  </a:schemeClr>
                </a:solidFill>
                <a:latin typeface="Bahnschrift" panose="020B0502040204020203" pitchFamily="34" charset="0"/>
              </a:rPr>
              <a:t>XGBoost</a:t>
            </a:r>
            <a:r>
              <a:rPr lang="ru-RU" sz="2400" b="1" dirty="0">
                <a:solidFill>
                  <a:schemeClr val="accent2">
                    <a:lumMod val="50000"/>
                  </a:schemeClr>
                </a:solidFill>
                <a:latin typeface="Bahnschrift" panose="020B0502040204020203" pitchFamily="34" charset="0"/>
              </a:rPr>
              <a:t> (Extreme </a:t>
            </a:r>
            <a:r>
              <a:rPr lang="ru-RU" sz="2400" b="1" dirty="0" err="1">
                <a:solidFill>
                  <a:schemeClr val="accent2">
                    <a:lumMod val="50000"/>
                  </a:schemeClr>
                </a:solidFill>
                <a:latin typeface="Bahnschrift" panose="020B0502040204020203" pitchFamily="34" charset="0"/>
              </a:rPr>
              <a:t>Gradient</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Boosting</a:t>
            </a:r>
            <a:r>
              <a:rPr lang="ru-RU" sz="2400" b="1" dirty="0">
                <a:solidFill>
                  <a:schemeClr val="accent2">
                    <a:lumMod val="50000"/>
                  </a:schemeClr>
                </a:solidFill>
                <a:latin typeface="Bahnschrift" panose="020B0502040204020203" pitchFamily="34" charset="0"/>
              </a:rPr>
              <a:t>):</a:t>
            </a:r>
          </a:p>
          <a:p>
            <a:pPr lvl="0"/>
            <a:endParaRPr lang="ru-RU" sz="2400" dirty="0">
              <a:solidFill>
                <a:schemeClr val="accent2">
                  <a:lumMod val="50000"/>
                </a:schemeClr>
              </a:solidFill>
              <a:latin typeface="Bahnschrift" panose="020B0502040204020203" pitchFamily="34" charset="0"/>
            </a:endParaRPr>
          </a:p>
          <a:p>
            <a:pPr marL="0" lvl="1"/>
            <a:r>
              <a:rPr lang="ru-RU" sz="2400" b="1" dirty="0">
                <a:solidFill>
                  <a:schemeClr val="accent2">
                    <a:lumMod val="50000"/>
                  </a:schemeClr>
                </a:solidFill>
                <a:latin typeface="Bahnschrift" panose="020B0502040204020203" pitchFamily="34" charset="0"/>
              </a:rPr>
              <a:t>Регуляризация:</a:t>
            </a:r>
            <a:r>
              <a:rPr lang="ru-RU" sz="2400" dirty="0">
                <a:solidFill>
                  <a:schemeClr val="accent2">
                    <a:lumMod val="50000"/>
                  </a:schemeClr>
                </a:solidFill>
                <a:latin typeface="Bahnschrift" panose="020B0502040204020203" pitchFamily="34" charset="0"/>
              </a:rPr>
              <a:t> </a:t>
            </a:r>
          </a:p>
          <a:p>
            <a:pPr marL="714375" lvl="1"/>
            <a:r>
              <a:rPr lang="ru-RU" sz="2400" dirty="0">
                <a:solidFill>
                  <a:schemeClr val="accent2">
                    <a:lumMod val="50000"/>
                  </a:schemeClr>
                </a:solidFill>
                <a:latin typeface="Bahnschrift" panose="020B0502040204020203" pitchFamily="34" charset="0"/>
              </a:rPr>
              <a:t>Включает </a:t>
            </a:r>
            <a:r>
              <a:rPr lang="ru-RU" sz="2400" dirty="0" err="1">
                <a:solidFill>
                  <a:schemeClr val="accent2">
                    <a:lumMod val="50000"/>
                  </a:schemeClr>
                </a:solidFill>
                <a:latin typeface="Bahnschrift" panose="020B0502040204020203" pitchFamily="34" charset="0"/>
              </a:rPr>
              <a:t>L1</a:t>
            </a:r>
            <a:r>
              <a:rPr lang="ru-RU" sz="2400" dirty="0">
                <a:solidFill>
                  <a:schemeClr val="accent2">
                    <a:lumMod val="50000"/>
                  </a:schemeClr>
                </a:solidFill>
                <a:latin typeface="Bahnschrift" panose="020B0502040204020203" pitchFamily="34" charset="0"/>
              </a:rPr>
              <a:t> и </a:t>
            </a:r>
            <a:r>
              <a:rPr lang="ru-RU" sz="2400" dirty="0" err="1">
                <a:solidFill>
                  <a:schemeClr val="accent2">
                    <a:lumMod val="50000"/>
                  </a:schemeClr>
                </a:solidFill>
                <a:latin typeface="Bahnschrift" panose="020B0502040204020203" pitchFamily="34" charset="0"/>
              </a:rPr>
              <a:t>L2</a:t>
            </a:r>
            <a:r>
              <a:rPr lang="ru-RU" sz="2400" dirty="0">
                <a:solidFill>
                  <a:schemeClr val="accent2">
                    <a:lumMod val="50000"/>
                  </a:schemeClr>
                </a:solidFill>
                <a:latin typeface="Bahnschrift" panose="020B0502040204020203" pitchFamily="34" charset="0"/>
              </a:rPr>
              <a:t> регуляризацию для предотвращения переобучения.</a:t>
            </a:r>
          </a:p>
          <a:p>
            <a:pPr marL="0" lvl="1"/>
            <a:r>
              <a:rPr lang="ru-RU" sz="2400" b="1" dirty="0">
                <a:solidFill>
                  <a:schemeClr val="accent2">
                    <a:lumMod val="50000"/>
                  </a:schemeClr>
                </a:solidFill>
                <a:latin typeface="Bahnschrift" panose="020B0502040204020203" pitchFamily="34" charset="0"/>
              </a:rPr>
              <a:t>Обработка пропущенных значений:</a:t>
            </a:r>
            <a:r>
              <a:rPr lang="ru-RU" sz="2400" dirty="0">
                <a:solidFill>
                  <a:schemeClr val="accent2">
                    <a:lumMod val="50000"/>
                  </a:schemeClr>
                </a:solidFill>
                <a:latin typeface="Bahnschrift" panose="020B0502040204020203" pitchFamily="34" charset="0"/>
              </a:rPr>
              <a:t> </a:t>
            </a:r>
          </a:p>
          <a:p>
            <a:pPr marL="714375" lvl="1"/>
            <a:r>
              <a:rPr lang="ru-RU" sz="2400" dirty="0">
                <a:solidFill>
                  <a:schemeClr val="accent2">
                    <a:lumMod val="50000"/>
                  </a:schemeClr>
                </a:solidFill>
                <a:latin typeface="Bahnschrift" panose="020B0502040204020203" pitchFamily="34" charset="0"/>
              </a:rPr>
              <a:t>Может автоматически обрабатывать пропущенные значения.</a:t>
            </a:r>
          </a:p>
          <a:p>
            <a:pPr marL="0" lvl="1"/>
            <a:r>
              <a:rPr lang="ru-RU" sz="2400" b="1" dirty="0" err="1">
                <a:solidFill>
                  <a:schemeClr val="accent2">
                    <a:lumMod val="50000"/>
                  </a:schemeClr>
                </a:solidFill>
                <a:latin typeface="Bahnschrift" panose="020B0502040204020203" pitchFamily="34" charset="0"/>
              </a:rPr>
              <a:t>Параллелизация</a:t>
            </a:r>
            <a:r>
              <a:rPr lang="ru-RU" sz="2400" b="1"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 </a:t>
            </a:r>
          </a:p>
          <a:p>
            <a:pPr marL="714375" lvl="1"/>
            <a:r>
              <a:rPr lang="ru-RU" sz="2400" dirty="0">
                <a:solidFill>
                  <a:schemeClr val="accent2">
                    <a:lumMod val="50000"/>
                  </a:schemeClr>
                </a:solidFill>
                <a:latin typeface="Bahnschrift" panose="020B0502040204020203" pitchFamily="34" charset="0"/>
              </a:rPr>
              <a:t>Поддерживает параллельное обучение.</a:t>
            </a:r>
          </a:p>
          <a:p>
            <a:pPr marL="0" lvl="1"/>
            <a:r>
              <a:rPr lang="ru-RU" sz="2400" b="1" dirty="0">
                <a:solidFill>
                  <a:schemeClr val="accent2">
                    <a:lumMod val="50000"/>
                  </a:schemeClr>
                </a:solidFill>
                <a:latin typeface="Bahnschrift" panose="020B0502040204020203" pitchFamily="34" charset="0"/>
              </a:rPr>
              <a:t>Высокая точность:</a:t>
            </a:r>
            <a:r>
              <a:rPr lang="ru-RU" sz="2400" dirty="0">
                <a:solidFill>
                  <a:schemeClr val="accent2">
                    <a:lumMod val="50000"/>
                  </a:schemeClr>
                </a:solidFill>
                <a:latin typeface="Bahnschrift" panose="020B0502040204020203" pitchFamily="34" charset="0"/>
              </a:rPr>
              <a:t> </a:t>
            </a:r>
          </a:p>
          <a:p>
            <a:pPr marL="714375" lvl="1"/>
            <a:r>
              <a:rPr lang="ru-RU" sz="2400" dirty="0">
                <a:solidFill>
                  <a:schemeClr val="accent2">
                    <a:lumMod val="50000"/>
                  </a:schemeClr>
                </a:solidFill>
                <a:latin typeface="Bahnschrift" panose="020B0502040204020203" pitchFamily="34" charset="0"/>
              </a:rPr>
              <a:t>Один из самых точных алгоритмов градиентного бустинга.</a:t>
            </a:r>
          </a:p>
          <a:p>
            <a:pPr marL="0" lvl="1"/>
            <a:r>
              <a:rPr lang="ru-RU" sz="2400" b="1" dirty="0">
                <a:solidFill>
                  <a:schemeClr val="accent2">
                    <a:lumMod val="50000"/>
                  </a:schemeClr>
                </a:solidFill>
                <a:latin typeface="Bahnschrift" panose="020B0502040204020203" pitchFamily="34" charset="0"/>
              </a:rPr>
              <a:t>Сложность настройки:</a:t>
            </a:r>
            <a:r>
              <a:rPr lang="ru-RU" sz="2400" dirty="0">
                <a:solidFill>
                  <a:schemeClr val="accent2">
                    <a:lumMod val="50000"/>
                  </a:schemeClr>
                </a:solidFill>
                <a:latin typeface="Bahnschrift" panose="020B0502040204020203" pitchFamily="34" charset="0"/>
              </a:rPr>
              <a:t> </a:t>
            </a:r>
          </a:p>
          <a:p>
            <a:pPr marL="714375" lvl="1"/>
            <a:r>
              <a:rPr lang="ru-RU" sz="2400" dirty="0">
                <a:solidFill>
                  <a:schemeClr val="accent2">
                    <a:lumMod val="50000"/>
                  </a:schemeClr>
                </a:solidFill>
                <a:latin typeface="Bahnschrift" panose="020B0502040204020203" pitchFamily="34" charset="0"/>
              </a:rPr>
              <a:t>Может требовать более тщательной настройки гиперпараметров.</a:t>
            </a:r>
          </a:p>
          <a:p>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1657530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23CD7-D315-F7EB-E543-C375AD6B2E4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D03438-F6D6-4DFB-B3D7-E6E9B5662AD2}"/>
              </a:ext>
            </a:extLst>
          </p:cNvPr>
          <p:cNvSpPr>
            <a:spLocks noGrp="1"/>
          </p:cNvSpPr>
          <p:nvPr>
            <p:ph type="title"/>
          </p:nvPr>
        </p:nvSpPr>
        <p:spPr>
          <a:xfrm>
            <a:off x="1415480" y="201417"/>
            <a:ext cx="9505056" cy="347263"/>
          </a:xfrm>
        </p:spPr>
        <p:txBody>
          <a:bodyPr>
            <a:noAutofit/>
          </a:bodyPr>
          <a:lstStyle/>
          <a:p>
            <a:pPr algn="ctr"/>
            <a:r>
              <a:rPr lang="ru-RU" sz="2400" b="1" dirty="0">
                <a:solidFill>
                  <a:schemeClr val="accent2">
                    <a:lumMod val="50000"/>
                  </a:schemeClr>
                </a:solidFill>
                <a:latin typeface="Arial Black" panose="020B0A04020102020204" pitchFamily="34" charset="0"/>
              </a:rPr>
              <a:t>Различия между </a:t>
            </a:r>
            <a:r>
              <a:rPr lang="en-US" sz="2400" b="1" dirty="0" err="1">
                <a:solidFill>
                  <a:schemeClr val="accent2">
                    <a:lumMod val="50000"/>
                  </a:schemeClr>
                </a:solidFill>
                <a:latin typeface="Arial Black" panose="020B0A04020102020204" pitchFamily="34" charset="0"/>
              </a:rPr>
              <a:t>XGBoost</a:t>
            </a:r>
            <a:r>
              <a:rPr lang="en-US" sz="2400" b="1" dirty="0">
                <a:solidFill>
                  <a:schemeClr val="accent2">
                    <a:lumMod val="50000"/>
                  </a:schemeClr>
                </a:solidFill>
                <a:latin typeface="Arial Black" panose="020B0A04020102020204" pitchFamily="34" charset="0"/>
              </a:rPr>
              <a:t>, </a:t>
            </a:r>
            <a:r>
              <a:rPr lang="en-US" sz="2400" b="1" dirty="0" err="1">
                <a:solidFill>
                  <a:schemeClr val="accent2">
                    <a:lumMod val="50000"/>
                  </a:schemeClr>
                </a:solidFill>
                <a:latin typeface="Arial Black" panose="020B0A04020102020204" pitchFamily="34" charset="0"/>
              </a:rPr>
              <a:t>LightGBM</a:t>
            </a:r>
            <a:r>
              <a:rPr lang="en-US" sz="2400" b="1" dirty="0">
                <a:solidFill>
                  <a:schemeClr val="accent2">
                    <a:lumMod val="50000"/>
                  </a:schemeClr>
                </a:solidFill>
                <a:latin typeface="Arial Black" panose="020B0A04020102020204" pitchFamily="34" charset="0"/>
              </a:rPr>
              <a:t> </a:t>
            </a:r>
            <a:r>
              <a:rPr lang="ru-RU" sz="2400" b="1" dirty="0">
                <a:solidFill>
                  <a:schemeClr val="accent2">
                    <a:lumMod val="50000"/>
                  </a:schemeClr>
                </a:solidFill>
                <a:latin typeface="Arial Black" panose="020B0A04020102020204" pitchFamily="34" charset="0"/>
              </a:rPr>
              <a:t>и </a:t>
            </a:r>
            <a:r>
              <a:rPr lang="en-US" sz="2400" b="1" dirty="0" err="1">
                <a:solidFill>
                  <a:schemeClr val="accent2">
                    <a:lumMod val="50000"/>
                  </a:schemeClr>
                </a:solidFill>
                <a:latin typeface="Arial Black" panose="020B0A04020102020204" pitchFamily="34" charset="0"/>
              </a:rPr>
              <a:t>CatBoost</a:t>
            </a:r>
            <a:endParaRPr lang="ru-RU" sz="2400" b="1" dirty="0">
              <a:solidFill>
                <a:schemeClr val="accent2">
                  <a:lumMod val="5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C5687B87-C905-F0BA-7AD2-93443D24385F}"/>
              </a:ext>
            </a:extLst>
          </p:cNvPr>
          <p:cNvSpPr txBox="1"/>
          <p:nvPr/>
        </p:nvSpPr>
        <p:spPr>
          <a:xfrm>
            <a:off x="839416" y="654940"/>
            <a:ext cx="11161240" cy="6001643"/>
          </a:xfrm>
          <a:prstGeom prst="rect">
            <a:avLst/>
          </a:prstGeom>
          <a:noFill/>
        </p:spPr>
        <p:txBody>
          <a:bodyPr wrap="square">
            <a:spAutoFit/>
          </a:bodyPr>
          <a:lstStyle/>
          <a:p>
            <a:pPr lvl="0"/>
            <a:r>
              <a:rPr lang="en-US" sz="2400" b="1" dirty="0" err="1">
                <a:solidFill>
                  <a:schemeClr val="accent2">
                    <a:lumMod val="50000"/>
                  </a:schemeClr>
                </a:solidFill>
                <a:latin typeface="Bahnschrift" panose="020B0502040204020203" pitchFamily="34" charset="0"/>
              </a:rPr>
              <a:t>LightGBM</a:t>
            </a:r>
            <a:r>
              <a:rPr lang="en-US" sz="2400" b="1" dirty="0">
                <a:solidFill>
                  <a:schemeClr val="accent2">
                    <a:lumMod val="50000"/>
                  </a:schemeClr>
                </a:solidFill>
                <a:latin typeface="Bahnschrift" panose="020B0502040204020203" pitchFamily="34" charset="0"/>
              </a:rPr>
              <a:t> (Light Gradient Boosting Machine):</a:t>
            </a:r>
            <a:endParaRPr lang="ru-RU" sz="2400" b="1" dirty="0">
              <a:solidFill>
                <a:schemeClr val="accent2">
                  <a:lumMod val="50000"/>
                </a:schemeClr>
              </a:solidFill>
              <a:latin typeface="Bahnschrift" panose="020B0502040204020203" pitchFamily="34" charset="0"/>
            </a:endParaRPr>
          </a:p>
          <a:p>
            <a:pPr lvl="0"/>
            <a:endParaRPr lang="ru-RU" sz="2400" dirty="0">
              <a:solidFill>
                <a:schemeClr val="accent2">
                  <a:lumMod val="50000"/>
                </a:schemeClr>
              </a:solidFill>
              <a:latin typeface="Bahnschrift" panose="020B0502040204020203" pitchFamily="34" charset="0"/>
            </a:endParaRPr>
          </a:p>
          <a:p>
            <a:pPr marL="987425" lvl="1" indent="-987425"/>
            <a:r>
              <a:rPr lang="ru-RU" sz="2400" b="1" dirty="0">
                <a:solidFill>
                  <a:schemeClr val="accent2">
                    <a:lumMod val="50000"/>
                  </a:schemeClr>
                </a:solidFill>
                <a:latin typeface="Bahnschrift" panose="020B0502040204020203" pitchFamily="34" charset="0"/>
              </a:rPr>
              <a:t>Гистограммный метод (</a:t>
            </a:r>
            <a:r>
              <a:rPr lang="ru-RU" sz="2400" b="1" dirty="0" err="1">
                <a:solidFill>
                  <a:schemeClr val="accent2">
                    <a:lumMod val="50000"/>
                  </a:schemeClr>
                </a:solidFill>
                <a:latin typeface="Bahnschrift" panose="020B0502040204020203" pitchFamily="34" charset="0"/>
              </a:rPr>
              <a:t>Histogram-based</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Algorithm</a:t>
            </a:r>
            <a:r>
              <a:rPr lang="ru-RU" sz="2400" b="1"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 </a:t>
            </a:r>
          </a:p>
          <a:p>
            <a:pPr marL="987425" lvl="1"/>
            <a:r>
              <a:rPr lang="ru-RU" sz="2400" dirty="0">
                <a:solidFill>
                  <a:schemeClr val="accent2">
                    <a:lumMod val="50000"/>
                  </a:schemeClr>
                </a:solidFill>
                <a:latin typeface="Bahnschrift" panose="020B0502040204020203" pitchFamily="34" charset="0"/>
              </a:rPr>
              <a:t>Разбивает непрерывные значения признаков на дискретные интервалы (гистограммы), что позволяет ускорить обучение и уменьшить потребление памяти.</a:t>
            </a:r>
          </a:p>
          <a:p>
            <a:pPr marL="987425" lvl="1" indent="-987425"/>
            <a:r>
              <a:rPr lang="ru-RU" sz="2400" b="1" dirty="0" err="1">
                <a:solidFill>
                  <a:schemeClr val="accent2">
                    <a:lumMod val="50000"/>
                  </a:schemeClr>
                </a:solidFill>
                <a:latin typeface="Bahnschrift" panose="020B0502040204020203" pitchFamily="34" charset="0"/>
              </a:rPr>
              <a:t>Leaf-wise</a:t>
            </a:r>
            <a:r>
              <a:rPr lang="ru-RU" sz="2400" b="1" dirty="0">
                <a:solidFill>
                  <a:schemeClr val="accent2">
                    <a:lumMod val="50000"/>
                  </a:schemeClr>
                </a:solidFill>
                <a:latin typeface="Bahnschrift" panose="020B0502040204020203" pitchFamily="34" charset="0"/>
              </a:rPr>
              <a:t> Growth:</a:t>
            </a:r>
            <a:r>
              <a:rPr lang="ru-RU" sz="2400" dirty="0">
                <a:solidFill>
                  <a:schemeClr val="accent2">
                    <a:lumMod val="50000"/>
                  </a:schemeClr>
                </a:solidFill>
                <a:latin typeface="Bahnschrift" panose="020B0502040204020203" pitchFamily="34" charset="0"/>
              </a:rPr>
              <a:t> </a:t>
            </a:r>
          </a:p>
          <a:p>
            <a:pPr marL="987425" lvl="1"/>
            <a:r>
              <a:rPr lang="ru-RU" sz="2400" dirty="0">
                <a:solidFill>
                  <a:schemeClr val="accent2">
                    <a:lumMod val="50000"/>
                  </a:schemeClr>
                </a:solidFill>
                <a:latin typeface="Bahnschrift" panose="020B0502040204020203" pitchFamily="34" charset="0"/>
              </a:rPr>
              <a:t>Выбирает для разбиения лист, который дает наибольшее уменьшение функции потерь, что приводит к более быстрому росту дерева.</a:t>
            </a:r>
          </a:p>
          <a:p>
            <a:pPr marL="987425" lvl="1" indent="-987425"/>
            <a:r>
              <a:rPr lang="ru-RU" sz="2400" b="1" dirty="0">
                <a:solidFill>
                  <a:schemeClr val="accent2">
                    <a:lumMod val="50000"/>
                  </a:schemeClr>
                </a:solidFill>
                <a:latin typeface="Bahnschrift" panose="020B0502040204020203" pitchFamily="34" charset="0"/>
              </a:rPr>
              <a:t>Поддержка категориальных признаков:</a:t>
            </a:r>
            <a:r>
              <a:rPr lang="ru-RU" sz="2400" dirty="0">
                <a:solidFill>
                  <a:schemeClr val="accent2">
                    <a:lumMod val="50000"/>
                  </a:schemeClr>
                </a:solidFill>
                <a:latin typeface="Bahnschrift" panose="020B0502040204020203" pitchFamily="34" charset="0"/>
              </a:rPr>
              <a:t> Может напрямую обрабатывать категориальные признаки.</a:t>
            </a:r>
          </a:p>
          <a:p>
            <a:pPr marL="987425" lvl="1" indent="-987425"/>
            <a:r>
              <a:rPr lang="ru-RU" sz="2400" b="1" dirty="0">
                <a:solidFill>
                  <a:schemeClr val="accent2">
                    <a:lumMod val="50000"/>
                  </a:schemeClr>
                </a:solidFill>
                <a:latin typeface="Bahnschrift" panose="020B0502040204020203" pitchFamily="34" charset="0"/>
              </a:rPr>
              <a:t>Быстрое обучение:</a:t>
            </a:r>
            <a:r>
              <a:rPr lang="ru-RU" sz="2400" dirty="0">
                <a:solidFill>
                  <a:schemeClr val="accent2">
                    <a:lumMod val="50000"/>
                  </a:schemeClr>
                </a:solidFill>
                <a:latin typeface="Bahnschrift" panose="020B0502040204020203" pitchFamily="34" charset="0"/>
              </a:rPr>
              <a:t> Обычно обучается быстрее, чем </a:t>
            </a:r>
            <a:r>
              <a:rPr lang="ru-RU" sz="2400" dirty="0" err="1">
                <a:solidFill>
                  <a:schemeClr val="accent2">
                    <a:lumMod val="50000"/>
                  </a:schemeClr>
                </a:solidFill>
                <a:latin typeface="Bahnschrift" panose="020B0502040204020203" pitchFamily="34" charset="0"/>
              </a:rPr>
              <a:t>XGBoost</a:t>
            </a:r>
            <a:r>
              <a:rPr lang="ru-RU" sz="2400" dirty="0">
                <a:solidFill>
                  <a:schemeClr val="accent2">
                    <a:lumMod val="50000"/>
                  </a:schemeClr>
                </a:solidFill>
                <a:latin typeface="Bahnschrift" panose="020B0502040204020203" pitchFamily="34" charset="0"/>
              </a:rPr>
              <a:t>.</a:t>
            </a:r>
          </a:p>
          <a:p>
            <a:pPr marL="987425" lvl="1" indent="-987425"/>
            <a:r>
              <a:rPr lang="ru-RU" sz="2400" b="1" dirty="0">
                <a:solidFill>
                  <a:schemeClr val="accent2">
                    <a:lumMod val="50000"/>
                  </a:schemeClr>
                </a:solidFill>
                <a:latin typeface="Bahnschrift" panose="020B0502040204020203" pitchFamily="34" charset="0"/>
              </a:rPr>
              <a:t>Склонность к переобучению:</a:t>
            </a:r>
            <a:r>
              <a:rPr lang="ru-RU" sz="2400" dirty="0">
                <a:solidFill>
                  <a:schemeClr val="accent2">
                    <a:lumMod val="50000"/>
                  </a:schemeClr>
                </a:solidFill>
                <a:latin typeface="Bahnschrift" panose="020B0502040204020203" pitchFamily="34" charset="0"/>
              </a:rPr>
              <a:t> Может быть более склонен к переобучению, чем </a:t>
            </a:r>
            <a:r>
              <a:rPr lang="ru-RU" sz="2400" dirty="0" err="1">
                <a:solidFill>
                  <a:schemeClr val="accent2">
                    <a:lumMod val="50000"/>
                  </a:schemeClr>
                </a:solidFill>
                <a:latin typeface="Bahnschrift" panose="020B0502040204020203" pitchFamily="34" charset="0"/>
              </a:rPr>
              <a:t>XGBoost</a:t>
            </a:r>
            <a:r>
              <a:rPr lang="ru-RU" sz="2400" dirty="0">
                <a:solidFill>
                  <a:schemeClr val="accent2">
                    <a:lumMod val="50000"/>
                  </a:schemeClr>
                </a:solidFill>
                <a:latin typeface="Bahnschrift" panose="020B0502040204020203" pitchFamily="34" charset="0"/>
              </a:rPr>
              <a:t>, особенно на небольших наборах данных.</a:t>
            </a:r>
          </a:p>
          <a:p>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2901958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A7BC-BFCC-DCBB-20A8-E49FC8BF5F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87486F-D615-6F12-AC2C-91FC856117C2}"/>
              </a:ext>
            </a:extLst>
          </p:cNvPr>
          <p:cNvSpPr>
            <a:spLocks noGrp="1"/>
          </p:cNvSpPr>
          <p:nvPr>
            <p:ph type="title"/>
          </p:nvPr>
        </p:nvSpPr>
        <p:spPr>
          <a:xfrm>
            <a:off x="1415480" y="201417"/>
            <a:ext cx="9505056" cy="347263"/>
          </a:xfrm>
        </p:spPr>
        <p:txBody>
          <a:bodyPr>
            <a:noAutofit/>
          </a:bodyPr>
          <a:lstStyle/>
          <a:p>
            <a:pPr algn="ctr"/>
            <a:r>
              <a:rPr lang="ru-RU" sz="2400" b="1" dirty="0">
                <a:solidFill>
                  <a:schemeClr val="accent2">
                    <a:lumMod val="50000"/>
                  </a:schemeClr>
                </a:solidFill>
                <a:latin typeface="Arial Black" panose="020B0A04020102020204" pitchFamily="34" charset="0"/>
              </a:rPr>
              <a:t>Различия между </a:t>
            </a:r>
            <a:r>
              <a:rPr lang="en-US" sz="2400" b="1" dirty="0" err="1">
                <a:solidFill>
                  <a:schemeClr val="accent2">
                    <a:lumMod val="50000"/>
                  </a:schemeClr>
                </a:solidFill>
                <a:latin typeface="Arial Black" panose="020B0A04020102020204" pitchFamily="34" charset="0"/>
              </a:rPr>
              <a:t>XGBoost</a:t>
            </a:r>
            <a:r>
              <a:rPr lang="en-US" sz="2400" b="1" dirty="0">
                <a:solidFill>
                  <a:schemeClr val="accent2">
                    <a:lumMod val="50000"/>
                  </a:schemeClr>
                </a:solidFill>
                <a:latin typeface="Arial Black" panose="020B0A04020102020204" pitchFamily="34" charset="0"/>
              </a:rPr>
              <a:t>, </a:t>
            </a:r>
            <a:r>
              <a:rPr lang="en-US" sz="2400" b="1" dirty="0" err="1">
                <a:solidFill>
                  <a:schemeClr val="accent2">
                    <a:lumMod val="50000"/>
                  </a:schemeClr>
                </a:solidFill>
                <a:latin typeface="Arial Black" panose="020B0A04020102020204" pitchFamily="34" charset="0"/>
              </a:rPr>
              <a:t>LightGBM</a:t>
            </a:r>
            <a:r>
              <a:rPr lang="en-US" sz="2400" b="1" dirty="0">
                <a:solidFill>
                  <a:schemeClr val="accent2">
                    <a:lumMod val="50000"/>
                  </a:schemeClr>
                </a:solidFill>
                <a:latin typeface="Arial Black" panose="020B0A04020102020204" pitchFamily="34" charset="0"/>
              </a:rPr>
              <a:t> </a:t>
            </a:r>
            <a:r>
              <a:rPr lang="ru-RU" sz="2400" b="1" dirty="0">
                <a:solidFill>
                  <a:schemeClr val="accent2">
                    <a:lumMod val="50000"/>
                  </a:schemeClr>
                </a:solidFill>
                <a:latin typeface="Arial Black" panose="020B0A04020102020204" pitchFamily="34" charset="0"/>
              </a:rPr>
              <a:t>и </a:t>
            </a:r>
            <a:r>
              <a:rPr lang="en-US" sz="2400" b="1" dirty="0" err="1">
                <a:solidFill>
                  <a:schemeClr val="accent2">
                    <a:lumMod val="50000"/>
                  </a:schemeClr>
                </a:solidFill>
                <a:latin typeface="Arial Black" panose="020B0A04020102020204" pitchFamily="34" charset="0"/>
              </a:rPr>
              <a:t>CatBoost</a:t>
            </a:r>
            <a:endParaRPr lang="ru-RU" sz="2400" b="1" dirty="0">
              <a:solidFill>
                <a:schemeClr val="accent2">
                  <a:lumMod val="5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F7816891-2340-E71C-162F-E8A5B235B38C}"/>
              </a:ext>
            </a:extLst>
          </p:cNvPr>
          <p:cNvSpPr txBox="1"/>
          <p:nvPr/>
        </p:nvSpPr>
        <p:spPr>
          <a:xfrm>
            <a:off x="839416" y="654940"/>
            <a:ext cx="11161240" cy="5632311"/>
          </a:xfrm>
          <a:prstGeom prst="rect">
            <a:avLst/>
          </a:prstGeom>
          <a:noFill/>
        </p:spPr>
        <p:txBody>
          <a:bodyPr wrap="square">
            <a:spAutoFit/>
          </a:bodyPr>
          <a:lstStyle/>
          <a:p>
            <a:pPr lvl="0"/>
            <a:r>
              <a:rPr lang="ru-RU" sz="2400" b="1" dirty="0" err="1">
                <a:solidFill>
                  <a:schemeClr val="accent2">
                    <a:lumMod val="50000"/>
                  </a:schemeClr>
                </a:solidFill>
                <a:latin typeface="Bahnschrift" panose="020B0502040204020203" pitchFamily="34" charset="0"/>
              </a:rPr>
              <a:t>CatBoost</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Category</a:t>
            </a:r>
            <a:r>
              <a:rPr lang="ru-RU" sz="2400" b="1" dirty="0">
                <a:solidFill>
                  <a:schemeClr val="accent2">
                    <a:lumMod val="50000"/>
                  </a:schemeClr>
                </a:solidFill>
                <a:latin typeface="Bahnschrift" panose="020B0502040204020203" pitchFamily="34" charset="0"/>
              </a:rPr>
              <a:t> </a:t>
            </a:r>
            <a:r>
              <a:rPr lang="ru-RU" sz="2400" b="1" dirty="0" err="1">
                <a:solidFill>
                  <a:schemeClr val="accent2">
                    <a:lumMod val="50000"/>
                  </a:schemeClr>
                </a:solidFill>
                <a:latin typeface="Bahnschrift" panose="020B0502040204020203" pitchFamily="34" charset="0"/>
              </a:rPr>
              <a:t>Boosting</a:t>
            </a:r>
            <a:r>
              <a:rPr lang="ru-RU" sz="2400" b="1" dirty="0">
                <a:solidFill>
                  <a:schemeClr val="accent2">
                    <a:lumMod val="50000"/>
                  </a:schemeClr>
                </a:solidFill>
                <a:latin typeface="Bahnschrift" panose="020B0502040204020203" pitchFamily="34" charset="0"/>
              </a:rPr>
              <a:t>):</a:t>
            </a:r>
          </a:p>
          <a:p>
            <a:pPr lvl="0"/>
            <a:endParaRPr lang="ru-RU" sz="2400" dirty="0">
              <a:solidFill>
                <a:schemeClr val="accent2">
                  <a:lumMod val="50000"/>
                </a:schemeClr>
              </a:solidFill>
              <a:latin typeface="Bahnschrift" panose="020B0502040204020203" pitchFamily="34" charset="0"/>
            </a:endParaRPr>
          </a:p>
          <a:p>
            <a:pPr lvl="1" indent="-457200"/>
            <a:r>
              <a:rPr lang="ru-RU" sz="2400" b="1" dirty="0">
                <a:solidFill>
                  <a:schemeClr val="accent2">
                    <a:lumMod val="50000"/>
                  </a:schemeClr>
                </a:solidFill>
                <a:latin typeface="Bahnschrift" panose="020B0502040204020203" pitchFamily="34" charset="0"/>
              </a:rPr>
              <a:t>Обработка категориальных признаков:</a:t>
            </a:r>
            <a:r>
              <a:rPr lang="ru-RU" sz="2400" dirty="0">
                <a:solidFill>
                  <a:schemeClr val="accent2">
                    <a:lumMod val="50000"/>
                  </a:schemeClr>
                </a:solidFill>
                <a:latin typeface="Bahnschrift" panose="020B0502040204020203" pitchFamily="34" charset="0"/>
              </a:rPr>
              <a:t> </a:t>
            </a:r>
          </a:p>
          <a:p>
            <a:pPr marL="893763" lvl="1"/>
            <a:r>
              <a:rPr lang="ru-RU" sz="2400" dirty="0">
                <a:solidFill>
                  <a:schemeClr val="accent2">
                    <a:lumMod val="50000"/>
                  </a:schemeClr>
                </a:solidFill>
                <a:latin typeface="Bahnschrift" panose="020B0502040204020203" pitchFamily="34" charset="0"/>
              </a:rPr>
              <a:t>Разработан специально для работы с категориальными признаками. Использует алгоритм Target </a:t>
            </a:r>
            <a:r>
              <a:rPr lang="ru-RU" sz="2400" dirty="0" err="1">
                <a:solidFill>
                  <a:schemeClr val="accent2">
                    <a:lumMod val="50000"/>
                  </a:schemeClr>
                </a:solidFill>
                <a:latin typeface="Bahnschrift" panose="020B0502040204020203" pitchFamily="34" charset="0"/>
              </a:rPr>
              <a:t>Statistics</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TS</a:t>
            </a:r>
            <a:r>
              <a:rPr lang="ru-RU" sz="2400" dirty="0">
                <a:solidFill>
                  <a:schemeClr val="accent2">
                    <a:lumMod val="50000"/>
                  </a:schemeClr>
                </a:solidFill>
                <a:latin typeface="Bahnschrift" panose="020B0502040204020203" pitchFamily="34" charset="0"/>
              </a:rPr>
              <a:t>) для кодирования категориальных признаков.</a:t>
            </a:r>
          </a:p>
          <a:p>
            <a:pPr lvl="1" indent="-457200"/>
            <a:r>
              <a:rPr lang="ru-RU" sz="2400" b="1" dirty="0">
                <a:solidFill>
                  <a:schemeClr val="accent2">
                    <a:lumMod val="50000"/>
                  </a:schemeClr>
                </a:solidFill>
                <a:latin typeface="Bahnschrift" panose="020B0502040204020203" pitchFamily="34" charset="0"/>
              </a:rPr>
              <a:t>Устойчивость к переобучению:</a:t>
            </a:r>
            <a:r>
              <a:rPr lang="ru-RU" sz="2400" dirty="0">
                <a:solidFill>
                  <a:schemeClr val="accent2">
                    <a:lumMod val="50000"/>
                  </a:schemeClr>
                </a:solidFill>
                <a:latin typeface="Bahnschrift" panose="020B0502040204020203" pitchFamily="34" charset="0"/>
              </a:rPr>
              <a:t> </a:t>
            </a:r>
          </a:p>
          <a:p>
            <a:pPr marL="893763" lvl="1"/>
            <a:r>
              <a:rPr lang="ru-RU" sz="2400" dirty="0">
                <a:solidFill>
                  <a:schemeClr val="accent2">
                    <a:lumMod val="50000"/>
                  </a:schemeClr>
                </a:solidFill>
                <a:latin typeface="Bahnschrift" panose="020B0502040204020203" pitchFamily="34" charset="0"/>
              </a:rPr>
              <a:t>Включает различные механизмы для предотвращения переобучения, такие как </a:t>
            </a:r>
            <a:r>
              <a:rPr lang="ru-RU" sz="2400" dirty="0" err="1">
                <a:solidFill>
                  <a:schemeClr val="accent2">
                    <a:lumMod val="50000"/>
                  </a:schemeClr>
                </a:solidFill>
                <a:latin typeface="Bahnschrift" panose="020B0502040204020203" pitchFamily="34" charset="0"/>
              </a:rPr>
              <a:t>Ordered</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Boosting</a:t>
            </a:r>
            <a:r>
              <a:rPr lang="ru-RU" sz="2400" dirty="0">
                <a:solidFill>
                  <a:schemeClr val="accent2">
                    <a:lumMod val="50000"/>
                  </a:schemeClr>
                </a:solidFill>
                <a:latin typeface="Bahnschrift" panose="020B0502040204020203" pitchFamily="34" charset="0"/>
              </a:rPr>
              <a:t> и </a:t>
            </a:r>
            <a:r>
              <a:rPr lang="ru-RU" sz="2400" dirty="0" err="1">
                <a:solidFill>
                  <a:schemeClr val="accent2">
                    <a:lumMod val="50000"/>
                  </a:schemeClr>
                </a:solidFill>
                <a:latin typeface="Bahnschrift" panose="020B0502040204020203" pitchFamily="34" charset="0"/>
              </a:rPr>
              <a:t>Symmetric</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Trees</a:t>
            </a:r>
            <a:r>
              <a:rPr lang="ru-RU" sz="2400" dirty="0">
                <a:solidFill>
                  <a:schemeClr val="accent2">
                    <a:lumMod val="50000"/>
                  </a:schemeClr>
                </a:solidFill>
                <a:latin typeface="Bahnschrift" panose="020B0502040204020203" pitchFamily="34" charset="0"/>
              </a:rPr>
              <a:t>.</a:t>
            </a:r>
          </a:p>
          <a:p>
            <a:pPr lvl="1" indent="-457200"/>
            <a:r>
              <a:rPr lang="ru-RU" sz="2400" b="1" dirty="0">
                <a:solidFill>
                  <a:schemeClr val="accent2">
                    <a:lumMod val="50000"/>
                  </a:schemeClr>
                </a:solidFill>
                <a:latin typeface="Bahnschrift" panose="020B0502040204020203" pitchFamily="34" charset="0"/>
              </a:rPr>
              <a:t>Простота использования:</a:t>
            </a:r>
            <a:r>
              <a:rPr lang="ru-RU" sz="2400" dirty="0">
                <a:solidFill>
                  <a:schemeClr val="accent2">
                    <a:lumMod val="50000"/>
                  </a:schemeClr>
                </a:solidFill>
                <a:latin typeface="Bahnschrift" panose="020B0502040204020203" pitchFamily="34" charset="0"/>
              </a:rPr>
              <a:t> </a:t>
            </a:r>
          </a:p>
          <a:p>
            <a:pPr marL="893763" lvl="1"/>
            <a:r>
              <a:rPr lang="ru-RU" sz="2400" dirty="0">
                <a:solidFill>
                  <a:schemeClr val="accent2">
                    <a:lumMod val="50000"/>
                  </a:schemeClr>
                </a:solidFill>
                <a:latin typeface="Bahnschrift" panose="020B0502040204020203" pitchFamily="34" charset="0"/>
              </a:rPr>
              <a:t>Имеет удобный интерфейс и автоматическую настройку многих параметров.</a:t>
            </a:r>
          </a:p>
          <a:p>
            <a:pPr lvl="1" indent="-457200"/>
            <a:r>
              <a:rPr lang="ru-RU" sz="2400" b="1" dirty="0">
                <a:solidFill>
                  <a:schemeClr val="accent2">
                    <a:lumMod val="50000"/>
                  </a:schemeClr>
                </a:solidFill>
                <a:latin typeface="Bahnschrift" panose="020B0502040204020203" pitchFamily="34" charset="0"/>
              </a:rPr>
              <a:t>Сравнительно медленное обучение:</a:t>
            </a:r>
            <a:r>
              <a:rPr lang="ru-RU" sz="2400" dirty="0">
                <a:solidFill>
                  <a:schemeClr val="accent2">
                    <a:lumMod val="50000"/>
                  </a:schemeClr>
                </a:solidFill>
                <a:latin typeface="Bahnschrift" panose="020B0502040204020203" pitchFamily="34" charset="0"/>
              </a:rPr>
              <a:t> </a:t>
            </a:r>
          </a:p>
          <a:p>
            <a:pPr marL="893763" lvl="1"/>
            <a:r>
              <a:rPr lang="ru-RU" sz="2400" dirty="0">
                <a:solidFill>
                  <a:schemeClr val="accent2">
                    <a:lumMod val="50000"/>
                  </a:schemeClr>
                </a:solidFill>
                <a:latin typeface="Bahnschrift" panose="020B0502040204020203" pitchFamily="34" charset="0"/>
              </a:rPr>
              <a:t>Может обучаться медленнее, чем </a:t>
            </a:r>
            <a:r>
              <a:rPr lang="ru-RU" sz="2400" dirty="0" err="1">
                <a:solidFill>
                  <a:schemeClr val="accent2">
                    <a:lumMod val="50000"/>
                  </a:schemeClr>
                </a:solidFill>
                <a:latin typeface="Bahnschrift" panose="020B0502040204020203" pitchFamily="34" charset="0"/>
              </a:rPr>
              <a:t>LightGBM</a:t>
            </a:r>
            <a:r>
              <a:rPr lang="ru-RU" sz="2400" dirty="0">
                <a:solidFill>
                  <a:schemeClr val="accent2">
                    <a:lumMod val="50000"/>
                  </a:schemeClr>
                </a:solidFill>
                <a:latin typeface="Bahnschrift" panose="020B0502040204020203" pitchFamily="34" charset="0"/>
              </a:rPr>
              <a:t>.</a:t>
            </a:r>
          </a:p>
          <a:p>
            <a:endParaRPr lang="ru-RU" sz="2400" dirty="0">
              <a:solidFill>
                <a:schemeClr val="accent2">
                  <a:lumMod val="50000"/>
                </a:schemeClr>
              </a:solidFill>
              <a:latin typeface="Bahnschrift" panose="020B0502040204020203" pitchFamily="34" charset="0"/>
            </a:endParaRPr>
          </a:p>
        </p:txBody>
      </p:sp>
    </p:spTree>
    <p:extLst>
      <p:ext uri="{BB962C8B-B14F-4D97-AF65-F5344CB8AC3E}">
        <p14:creationId xmlns:p14="http://schemas.microsoft.com/office/powerpoint/2010/main" val="3475818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6034-09E7-6797-2F77-CA186D638F28}"/>
            </a:ext>
          </a:extLst>
        </p:cNvPr>
        <p:cNvGrpSpPr/>
        <p:nvPr/>
      </p:nvGrpSpPr>
      <p:grpSpPr>
        <a:xfrm>
          <a:off x="0" y="0"/>
          <a:ext cx="0" cy="0"/>
          <a:chOff x="0" y="0"/>
          <a:chExt cx="0" cy="0"/>
        </a:xfrm>
      </p:grpSpPr>
      <p:graphicFrame>
        <p:nvGraphicFramePr>
          <p:cNvPr id="3" name="Таблица 2">
            <a:extLst>
              <a:ext uri="{FF2B5EF4-FFF2-40B4-BE49-F238E27FC236}">
                <a16:creationId xmlns:a16="http://schemas.microsoft.com/office/drawing/2014/main" id="{F36EAB15-264F-6769-1DF6-A142B996AFCB}"/>
              </a:ext>
            </a:extLst>
          </p:cNvPr>
          <p:cNvGraphicFramePr>
            <a:graphicFrameLocks noGrp="1"/>
          </p:cNvGraphicFramePr>
          <p:nvPr>
            <p:extLst>
              <p:ext uri="{D42A27DB-BD31-4B8C-83A1-F6EECF244321}">
                <p14:modId xmlns:p14="http://schemas.microsoft.com/office/powerpoint/2010/main" val="410705552"/>
              </p:ext>
            </p:extLst>
          </p:nvPr>
        </p:nvGraphicFramePr>
        <p:xfrm>
          <a:off x="910816" y="836712"/>
          <a:ext cx="10370368" cy="5507708"/>
        </p:xfrm>
        <a:graphic>
          <a:graphicData uri="http://schemas.openxmlformats.org/drawingml/2006/table">
            <a:tbl>
              <a:tblPr firstRow="1" firstCol="1" bandRow="1">
                <a:tableStyleId>{5C22544A-7EE6-4342-B048-85BDC9FD1C3A}</a:tableStyleId>
              </a:tblPr>
              <a:tblGrid>
                <a:gridCol w="2592592">
                  <a:extLst>
                    <a:ext uri="{9D8B030D-6E8A-4147-A177-3AD203B41FA5}">
                      <a16:colId xmlns:a16="http://schemas.microsoft.com/office/drawing/2014/main" val="813864746"/>
                    </a:ext>
                  </a:extLst>
                </a:gridCol>
                <a:gridCol w="2592592">
                  <a:extLst>
                    <a:ext uri="{9D8B030D-6E8A-4147-A177-3AD203B41FA5}">
                      <a16:colId xmlns:a16="http://schemas.microsoft.com/office/drawing/2014/main" val="3973214040"/>
                    </a:ext>
                  </a:extLst>
                </a:gridCol>
                <a:gridCol w="2592592">
                  <a:extLst>
                    <a:ext uri="{9D8B030D-6E8A-4147-A177-3AD203B41FA5}">
                      <a16:colId xmlns:a16="http://schemas.microsoft.com/office/drawing/2014/main" val="3944619423"/>
                    </a:ext>
                  </a:extLst>
                </a:gridCol>
                <a:gridCol w="2592592">
                  <a:extLst>
                    <a:ext uri="{9D8B030D-6E8A-4147-A177-3AD203B41FA5}">
                      <a16:colId xmlns:a16="http://schemas.microsoft.com/office/drawing/2014/main" val="1443965311"/>
                    </a:ext>
                  </a:extLst>
                </a:gridCol>
              </a:tblGrid>
              <a:tr h="472052">
                <a:tc>
                  <a:txBody>
                    <a:bodyPr/>
                    <a:lstStyle/>
                    <a:p>
                      <a:pPr algn="ctr">
                        <a:spcAft>
                          <a:spcPts val="1125"/>
                        </a:spcAft>
                        <a:buNone/>
                      </a:pPr>
                      <a:r>
                        <a:rPr lang="ru-RU" sz="2000" dirty="0">
                          <a:effectLst/>
                          <a:latin typeface="Bahnschrift" panose="020B0502040204020203" pitchFamily="34" charset="0"/>
                        </a:rPr>
                        <a:t>Особенность</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lgn="ctr">
                        <a:spcAft>
                          <a:spcPts val="1125"/>
                        </a:spcAft>
                        <a:buNone/>
                      </a:pPr>
                      <a:r>
                        <a:rPr lang="ru-RU" sz="2000" dirty="0" err="1">
                          <a:effectLst/>
                          <a:latin typeface="Bahnschrift" panose="020B0502040204020203" pitchFamily="34" charset="0"/>
                        </a:rPr>
                        <a:t>XGBoost</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lgn="ctr">
                        <a:spcAft>
                          <a:spcPts val="1125"/>
                        </a:spcAft>
                        <a:buNone/>
                      </a:pPr>
                      <a:r>
                        <a:rPr lang="ru-RU" sz="2000">
                          <a:effectLst/>
                          <a:latin typeface="Bahnschrift" panose="020B0502040204020203" pitchFamily="34" charset="0"/>
                        </a:rPr>
                        <a:t>LightGBM</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lgn="ctr">
                        <a:spcAft>
                          <a:spcPts val="1125"/>
                        </a:spcAft>
                        <a:buNone/>
                      </a:pPr>
                      <a:r>
                        <a:rPr lang="ru-RU" sz="2000" dirty="0" err="1">
                          <a:effectLst/>
                          <a:latin typeface="Bahnschrift" panose="020B0502040204020203" pitchFamily="34" charset="0"/>
                        </a:rPr>
                        <a:t>CatBoost</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extLst>
                  <a:ext uri="{0D108BD9-81ED-4DB2-BD59-A6C34878D82A}">
                    <a16:rowId xmlns:a16="http://schemas.microsoft.com/office/drawing/2014/main" val="3953148678"/>
                  </a:ext>
                </a:extLst>
              </a:tr>
              <a:tr h="472052">
                <a:tc>
                  <a:txBody>
                    <a:bodyPr/>
                    <a:lstStyle/>
                    <a:p>
                      <a:pPr>
                        <a:spcAft>
                          <a:spcPts val="1125"/>
                        </a:spcAft>
                        <a:buNone/>
                      </a:pPr>
                      <a:r>
                        <a:rPr lang="ru-RU" sz="2000">
                          <a:effectLst/>
                          <a:latin typeface="Bahnschrift" panose="020B0502040204020203" pitchFamily="34" charset="0"/>
                        </a:rPr>
                        <a:t>Регуляризация</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err="1">
                          <a:effectLst/>
                          <a:latin typeface="Bahnschrift" panose="020B0502040204020203" pitchFamily="34" charset="0"/>
                        </a:rPr>
                        <a:t>L1</a:t>
                      </a:r>
                      <a:r>
                        <a:rPr lang="ru-RU" sz="2000" dirty="0">
                          <a:effectLst/>
                          <a:latin typeface="Bahnschrift" panose="020B0502040204020203" pitchFamily="34" charset="0"/>
                        </a:rPr>
                        <a:t>, </a:t>
                      </a:r>
                      <a:r>
                        <a:rPr lang="ru-RU" sz="2000" dirty="0" err="1">
                          <a:effectLst/>
                          <a:latin typeface="Bahnschrift" panose="020B0502040204020203" pitchFamily="34" charset="0"/>
                        </a:rPr>
                        <a:t>L2</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err="1">
                          <a:effectLst/>
                          <a:latin typeface="Bahnschrift" panose="020B0502040204020203" pitchFamily="34" charset="0"/>
                        </a:rPr>
                        <a:t>L1</a:t>
                      </a:r>
                      <a:r>
                        <a:rPr lang="ru-RU" sz="2000" dirty="0">
                          <a:effectLst/>
                          <a:latin typeface="Bahnschrift" panose="020B0502040204020203" pitchFamily="34" charset="0"/>
                        </a:rPr>
                        <a:t>, </a:t>
                      </a:r>
                      <a:r>
                        <a:rPr lang="ru-RU" sz="2000" dirty="0" err="1">
                          <a:effectLst/>
                          <a:latin typeface="Bahnschrift" panose="020B0502040204020203" pitchFamily="34" charset="0"/>
                        </a:rPr>
                        <a:t>L2</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err="1">
                          <a:effectLst/>
                          <a:latin typeface="Bahnschrift" panose="020B0502040204020203" pitchFamily="34" charset="0"/>
                        </a:rPr>
                        <a:t>Ordered</a:t>
                      </a:r>
                      <a:r>
                        <a:rPr lang="ru-RU" sz="2000" dirty="0">
                          <a:effectLst/>
                          <a:latin typeface="Bahnschrift" panose="020B0502040204020203" pitchFamily="34" charset="0"/>
                        </a:rPr>
                        <a:t> </a:t>
                      </a:r>
                      <a:r>
                        <a:rPr lang="ru-RU" sz="2000" dirty="0" err="1">
                          <a:effectLst/>
                          <a:latin typeface="Bahnschrift" panose="020B0502040204020203" pitchFamily="34" charset="0"/>
                        </a:rPr>
                        <a:t>Boosting</a:t>
                      </a:r>
                      <a:r>
                        <a:rPr lang="ru-RU" sz="2000" dirty="0">
                          <a:effectLst/>
                          <a:latin typeface="Bahnschrift" panose="020B0502040204020203" pitchFamily="34" charset="0"/>
                        </a:rPr>
                        <a:t>, </a:t>
                      </a:r>
                      <a:r>
                        <a:rPr lang="ru-RU" sz="2000" dirty="0" err="1">
                          <a:effectLst/>
                          <a:latin typeface="Bahnschrift" panose="020B0502040204020203" pitchFamily="34" charset="0"/>
                        </a:rPr>
                        <a:t>Symmetric</a:t>
                      </a:r>
                      <a:r>
                        <a:rPr lang="ru-RU" sz="2000" dirty="0">
                          <a:effectLst/>
                          <a:latin typeface="Bahnschrift" panose="020B0502040204020203" pitchFamily="34" charset="0"/>
                        </a:rPr>
                        <a:t> </a:t>
                      </a:r>
                      <a:r>
                        <a:rPr lang="ru-RU" sz="2000" dirty="0" err="1">
                          <a:effectLst/>
                          <a:latin typeface="Bahnschrift" panose="020B0502040204020203" pitchFamily="34" charset="0"/>
                        </a:rPr>
                        <a:t>Trees</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2328012875"/>
                  </a:ext>
                </a:extLst>
              </a:tr>
              <a:tr h="472052">
                <a:tc>
                  <a:txBody>
                    <a:bodyPr/>
                    <a:lstStyle/>
                    <a:p>
                      <a:pPr>
                        <a:spcAft>
                          <a:spcPts val="1125"/>
                        </a:spcAft>
                        <a:buNone/>
                      </a:pPr>
                      <a:r>
                        <a:rPr lang="ru-RU" sz="2000">
                          <a:effectLst/>
                          <a:latin typeface="Bahnschrift" panose="020B0502040204020203" pitchFamily="34" charset="0"/>
                        </a:rPr>
                        <a:t>Обработка пропусков</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Автоматически</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Автоматически</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Автоматически</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1767364497"/>
                  </a:ext>
                </a:extLst>
              </a:tr>
              <a:tr h="472052">
                <a:tc>
                  <a:txBody>
                    <a:bodyPr/>
                    <a:lstStyle/>
                    <a:p>
                      <a:pPr>
                        <a:spcAft>
                          <a:spcPts val="1125"/>
                        </a:spcAft>
                        <a:buNone/>
                      </a:pPr>
                      <a:r>
                        <a:rPr lang="ru-RU" sz="2000">
                          <a:effectLst/>
                          <a:latin typeface="Bahnschrift" panose="020B0502040204020203" pitchFamily="34" charset="0"/>
                        </a:rPr>
                        <a:t>Обработка категорий</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marL="0" algn="l" defTabSz="914400" rtl="0" eaLnBrk="1" latinLnBrk="0" hangingPunct="1">
                        <a:spcAft>
                          <a:spcPts val="1125"/>
                        </a:spcAft>
                        <a:buNone/>
                      </a:pPr>
                      <a:r>
                        <a:rPr lang="ru-RU" sz="2000" kern="1200" dirty="0">
                          <a:solidFill>
                            <a:schemeClr val="dk1"/>
                          </a:solidFill>
                          <a:effectLst/>
                          <a:latin typeface="Bahnschrift" panose="020B0502040204020203" pitchFamily="34" charset="0"/>
                          <a:ea typeface="+mn-ea"/>
                          <a:cs typeface="+mn-cs"/>
                        </a:rPr>
                        <a:t>Требует кодирования</a:t>
                      </a:r>
                    </a:p>
                  </a:txBody>
                  <a:tcPr marL="123825" marR="123825" marT="57150" marB="57150" anchor="ctr">
                    <a:solidFill>
                      <a:srgbClr val="EEE1C6"/>
                    </a:solidFill>
                  </a:tcPr>
                </a:tc>
                <a:tc>
                  <a:txBody>
                    <a:bodyPr/>
                    <a:lstStyle/>
                    <a:p>
                      <a:pPr marL="0" algn="l" defTabSz="914400" rtl="0" eaLnBrk="1" latinLnBrk="0" hangingPunct="1">
                        <a:spcAft>
                          <a:spcPts val="1125"/>
                        </a:spcAft>
                        <a:buNone/>
                      </a:pPr>
                      <a:r>
                        <a:rPr lang="ru-RU" sz="2000" kern="1200" dirty="0">
                          <a:solidFill>
                            <a:schemeClr val="dk1"/>
                          </a:solidFill>
                          <a:effectLst/>
                          <a:latin typeface="Bahnschrift" panose="020B0502040204020203" pitchFamily="34" charset="0"/>
                          <a:ea typeface="+mn-ea"/>
                          <a:cs typeface="+mn-cs"/>
                        </a:rPr>
                        <a:t>Поддержка</a:t>
                      </a:r>
                    </a:p>
                  </a:txBody>
                  <a:tcPr marL="123825" marR="123825" marT="57150" marB="57150" anchor="ctr">
                    <a:solidFill>
                      <a:srgbClr val="EEE1C6"/>
                    </a:solidFill>
                  </a:tcPr>
                </a:tc>
                <a:tc>
                  <a:txBody>
                    <a:bodyPr/>
                    <a:lstStyle/>
                    <a:p>
                      <a:pPr marL="0" algn="l" defTabSz="914400" rtl="0" eaLnBrk="1" latinLnBrk="0" hangingPunct="1">
                        <a:spcAft>
                          <a:spcPts val="1125"/>
                        </a:spcAft>
                        <a:buNone/>
                      </a:pPr>
                      <a:r>
                        <a:rPr lang="ru-RU" sz="2000" kern="1200" dirty="0">
                          <a:solidFill>
                            <a:schemeClr val="dk1"/>
                          </a:solidFill>
                          <a:effectLst/>
                          <a:latin typeface="Bahnschrift" panose="020B0502040204020203" pitchFamily="34" charset="0"/>
                          <a:ea typeface="+mn-ea"/>
                          <a:cs typeface="+mn-cs"/>
                        </a:rPr>
                        <a:t>Target </a:t>
                      </a:r>
                      <a:r>
                        <a:rPr lang="ru-RU" sz="2000" kern="1200" dirty="0" err="1">
                          <a:solidFill>
                            <a:schemeClr val="dk1"/>
                          </a:solidFill>
                          <a:effectLst/>
                          <a:latin typeface="Bahnschrift" panose="020B0502040204020203" pitchFamily="34" charset="0"/>
                          <a:ea typeface="+mn-ea"/>
                          <a:cs typeface="+mn-cs"/>
                        </a:rPr>
                        <a:t>Statistics</a:t>
                      </a:r>
                      <a:r>
                        <a:rPr lang="ru-RU" sz="2000" kern="1200" dirty="0">
                          <a:solidFill>
                            <a:schemeClr val="dk1"/>
                          </a:solidFill>
                          <a:effectLst/>
                          <a:latin typeface="Bahnschrift" panose="020B0502040204020203" pitchFamily="34" charset="0"/>
                          <a:ea typeface="+mn-ea"/>
                          <a:cs typeface="+mn-cs"/>
                        </a:rPr>
                        <a:t> (</a:t>
                      </a:r>
                      <a:r>
                        <a:rPr lang="ru-RU" sz="2000" kern="1200" dirty="0" err="1">
                          <a:solidFill>
                            <a:schemeClr val="dk1"/>
                          </a:solidFill>
                          <a:effectLst/>
                          <a:latin typeface="Bahnschrift" panose="020B0502040204020203" pitchFamily="34" charset="0"/>
                          <a:ea typeface="+mn-ea"/>
                          <a:cs typeface="+mn-cs"/>
                        </a:rPr>
                        <a:t>TS</a:t>
                      </a:r>
                      <a:r>
                        <a:rPr lang="ru-RU" sz="2000" kern="1200" dirty="0">
                          <a:solidFill>
                            <a:schemeClr val="dk1"/>
                          </a:solidFill>
                          <a:effectLst/>
                          <a:latin typeface="Bahnschrift" panose="020B0502040204020203" pitchFamily="34" charset="0"/>
                          <a:ea typeface="+mn-ea"/>
                          <a:cs typeface="+mn-cs"/>
                        </a:rPr>
                        <a:t>)</a:t>
                      </a:r>
                    </a:p>
                  </a:txBody>
                  <a:tcPr marL="123825" marR="123825" marT="57150" marB="57150" anchor="ctr">
                    <a:solidFill>
                      <a:srgbClr val="EEE1C6"/>
                    </a:solidFill>
                  </a:tcPr>
                </a:tc>
                <a:extLst>
                  <a:ext uri="{0D108BD9-81ED-4DB2-BD59-A6C34878D82A}">
                    <a16:rowId xmlns:a16="http://schemas.microsoft.com/office/drawing/2014/main" val="143011068"/>
                  </a:ext>
                </a:extLst>
              </a:tr>
              <a:tr h="472052">
                <a:tc>
                  <a:txBody>
                    <a:bodyPr/>
                    <a:lstStyle/>
                    <a:p>
                      <a:pPr>
                        <a:spcAft>
                          <a:spcPts val="1125"/>
                        </a:spcAft>
                        <a:buNone/>
                      </a:pPr>
                      <a:r>
                        <a:rPr lang="ru-RU" sz="2000">
                          <a:effectLst/>
                          <a:latin typeface="Bahnschrift" panose="020B0502040204020203" pitchFamily="34" charset="0"/>
                        </a:rPr>
                        <a:t>Параллелизация</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Поддерживается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a:effectLst/>
                          <a:latin typeface="Bahnschrift" panose="020B0502040204020203" pitchFamily="34" charset="0"/>
                        </a:rPr>
                        <a:t>Поддерживается</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Поддерживается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3709657716"/>
                  </a:ext>
                </a:extLst>
              </a:tr>
              <a:tr h="472052">
                <a:tc>
                  <a:txBody>
                    <a:bodyPr/>
                    <a:lstStyle/>
                    <a:p>
                      <a:pPr>
                        <a:spcAft>
                          <a:spcPts val="1125"/>
                        </a:spcAft>
                        <a:buNone/>
                      </a:pPr>
                      <a:r>
                        <a:rPr lang="ru-RU" sz="2000">
                          <a:effectLst/>
                          <a:latin typeface="Bahnschrift" panose="020B0502040204020203" pitchFamily="34" charset="0"/>
                        </a:rPr>
                        <a:t>Скорость обучения</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Средняя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Быстрая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Медленная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1817129515"/>
                  </a:ext>
                </a:extLst>
              </a:tr>
              <a:tr h="472052">
                <a:tc>
                  <a:txBody>
                    <a:bodyPr/>
                    <a:lstStyle/>
                    <a:p>
                      <a:pPr>
                        <a:spcAft>
                          <a:spcPts val="1125"/>
                        </a:spcAft>
                        <a:buNone/>
                      </a:pPr>
                      <a:r>
                        <a:rPr lang="ru-RU" sz="2000">
                          <a:effectLst/>
                          <a:latin typeface="Bahnschrift" panose="020B0502040204020203" pitchFamily="34" charset="0"/>
                        </a:rPr>
                        <a:t>Точность</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Высокая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Высокая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Высокая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1839480933"/>
                  </a:ext>
                </a:extLst>
              </a:tr>
              <a:tr h="472052">
                <a:tc>
                  <a:txBody>
                    <a:bodyPr/>
                    <a:lstStyle/>
                    <a:p>
                      <a:pPr>
                        <a:spcAft>
                          <a:spcPts val="1125"/>
                        </a:spcAft>
                        <a:buNone/>
                      </a:pPr>
                      <a:r>
                        <a:rPr lang="ru-RU" sz="2000">
                          <a:effectLst/>
                          <a:latin typeface="Bahnschrift" panose="020B0502040204020203" pitchFamily="34" charset="0"/>
                        </a:rPr>
                        <a:t>Склонность к переобучению</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Меньше</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a:effectLst/>
                          <a:latin typeface="Bahnschrift" panose="020B0502040204020203" pitchFamily="34" charset="0"/>
                        </a:rPr>
                        <a:t>Больше</a:t>
                      </a:r>
                      <a:endParaRPr lang="ru-RU" sz="200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Меньше</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4005690186"/>
                  </a:ext>
                </a:extLst>
              </a:tr>
              <a:tr h="472052">
                <a:tc>
                  <a:txBody>
                    <a:bodyPr/>
                    <a:lstStyle/>
                    <a:p>
                      <a:pPr>
                        <a:spcAft>
                          <a:spcPts val="1125"/>
                        </a:spcAft>
                        <a:buNone/>
                      </a:pPr>
                      <a:r>
                        <a:rPr lang="ru-RU" sz="2000" dirty="0">
                          <a:effectLst/>
                          <a:latin typeface="Bahnschrift" panose="020B0502040204020203" pitchFamily="34" charset="0"/>
                        </a:rPr>
                        <a:t>Простота использования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chemeClr val="accent2">
                        <a:lumMod val="50000"/>
                      </a:schemeClr>
                    </a:solidFill>
                  </a:tcPr>
                </a:tc>
                <a:tc>
                  <a:txBody>
                    <a:bodyPr/>
                    <a:lstStyle/>
                    <a:p>
                      <a:pPr>
                        <a:spcAft>
                          <a:spcPts val="1125"/>
                        </a:spcAft>
                        <a:buNone/>
                      </a:pPr>
                      <a:r>
                        <a:rPr lang="ru-RU" sz="2000" dirty="0">
                          <a:effectLst/>
                          <a:latin typeface="Bahnschrift" panose="020B0502040204020203" pitchFamily="34" charset="0"/>
                        </a:rPr>
                        <a:t>Средняя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Средняя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tc>
                  <a:txBody>
                    <a:bodyPr/>
                    <a:lstStyle/>
                    <a:p>
                      <a:pPr>
                        <a:spcAft>
                          <a:spcPts val="1125"/>
                        </a:spcAft>
                        <a:buNone/>
                      </a:pPr>
                      <a:r>
                        <a:rPr lang="ru-RU" sz="2000" dirty="0">
                          <a:effectLst/>
                          <a:latin typeface="Bahnschrift" panose="020B0502040204020203" pitchFamily="34" charset="0"/>
                        </a:rPr>
                        <a:t>Высокая</a:t>
                      </a:r>
                      <a:endParaRPr lang="ru-RU" sz="2000" dirty="0">
                        <a:solidFill>
                          <a:srgbClr val="000000"/>
                        </a:solidFill>
                        <a:effectLst/>
                        <a:latin typeface="Bahnschrift" panose="020B0502040204020203" pitchFamily="34" charset="0"/>
                        <a:ea typeface="Calibri" panose="020F0502020204030204" pitchFamily="34" charset="0"/>
                        <a:cs typeface="Times New Roman" panose="02020603050405020304" pitchFamily="18" charset="0"/>
                      </a:endParaRPr>
                    </a:p>
                  </a:txBody>
                  <a:tcPr marL="123825" marR="123825" marT="57150" marB="57150" anchor="ctr">
                    <a:solidFill>
                      <a:srgbClr val="EEE1C6"/>
                    </a:solidFill>
                  </a:tcPr>
                </a:tc>
                <a:extLst>
                  <a:ext uri="{0D108BD9-81ED-4DB2-BD59-A6C34878D82A}">
                    <a16:rowId xmlns:a16="http://schemas.microsoft.com/office/drawing/2014/main" val="3425842078"/>
                  </a:ext>
                </a:extLst>
              </a:tr>
            </a:tbl>
          </a:graphicData>
        </a:graphic>
      </p:graphicFrame>
    </p:spTree>
    <p:extLst>
      <p:ext uri="{BB962C8B-B14F-4D97-AF65-F5344CB8AC3E}">
        <p14:creationId xmlns:p14="http://schemas.microsoft.com/office/powerpoint/2010/main" val="507611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8B7A-A79D-7E1E-DF4B-E5504A2BFA5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58E3AA-FFCB-05CB-F367-379A1E282EBF}"/>
              </a:ext>
            </a:extLst>
          </p:cNvPr>
          <p:cNvSpPr>
            <a:spLocks noGrp="1"/>
          </p:cNvSpPr>
          <p:nvPr>
            <p:ph type="title"/>
          </p:nvPr>
        </p:nvSpPr>
        <p:spPr>
          <a:xfrm>
            <a:off x="1415480" y="201417"/>
            <a:ext cx="9505056" cy="347263"/>
          </a:xfrm>
        </p:spPr>
        <p:txBody>
          <a:bodyPr>
            <a:noAutofit/>
          </a:bodyPr>
          <a:lstStyle/>
          <a:p>
            <a:pPr algn="ctr"/>
            <a:r>
              <a:rPr lang="ru-RU" sz="2400" b="1" dirty="0">
                <a:solidFill>
                  <a:schemeClr val="accent2">
                    <a:lumMod val="50000"/>
                  </a:schemeClr>
                </a:solidFill>
                <a:latin typeface="Arial Black" panose="020B0A04020102020204" pitchFamily="34" charset="0"/>
              </a:rPr>
              <a:t>Ключевые Аргументы для Настройки </a:t>
            </a:r>
          </a:p>
        </p:txBody>
      </p:sp>
      <p:sp>
        <p:nvSpPr>
          <p:cNvPr id="5" name="TextBox 4">
            <a:extLst>
              <a:ext uri="{FF2B5EF4-FFF2-40B4-BE49-F238E27FC236}">
                <a16:creationId xmlns:a16="http://schemas.microsoft.com/office/drawing/2014/main" id="{BEDDA5E0-8D34-FD2C-0973-5F55BF0BA136}"/>
              </a:ext>
            </a:extLst>
          </p:cNvPr>
          <p:cNvSpPr txBox="1"/>
          <p:nvPr/>
        </p:nvSpPr>
        <p:spPr>
          <a:xfrm>
            <a:off x="623392" y="764704"/>
            <a:ext cx="10873208" cy="5632311"/>
          </a:xfrm>
          <a:prstGeom prst="rect">
            <a:avLst/>
          </a:prstGeom>
          <a:noFill/>
        </p:spPr>
        <p:txBody>
          <a:bodyPr wrap="square">
            <a:spAutoFit/>
          </a:bodyPr>
          <a:lstStyle/>
          <a:p>
            <a:r>
              <a:rPr lang="en-US" sz="2400" b="1" dirty="0" err="1">
                <a:latin typeface="Bahnschrift" panose="020B0502040204020203" pitchFamily="34" charset="0"/>
              </a:rPr>
              <a:t>n_estimators</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num_boost_round</a:t>
            </a:r>
            <a:r>
              <a:rPr lang="en-US" sz="2400" dirty="0">
                <a:solidFill>
                  <a:schemeClr val="accent2">
                    <a:lumMod val="50000"/>
                  </a:schemeClr>
                </a:solidFill>
                <a:latin typeface="Bahnschrift" panose="020B0502040204020203" pitchFamily="34" charset="0"/>
              </a:rPr>
              <a:t>, iterations): </a:t>
            </a:r>
            <a:r>
              <a:rPr lang="ru-RU" sz="2400" dirty="0">
                <a:solidFill>
                  <a:schemeClr val="accent2">
                    <a:lumMod val="50000"/>
                  </a:schemeClr>
                </a:solidFill>
                <a:latin typeface="Bahnschrift" panose="020B0502040204020203" pitchFamily="34" charset="0"/>
              </a:rPr>
              <a:t>Количество деревьев (итераций бустинга).</a:t>
            </a:r>
          </a:p>
          <a:p>
            <a:endParaRPr lang="ru-RU" sz="2400" dirty="0">
              <a:solidFill>
                <a:schemeClr val="accent2">
                  <a:lumMod val="50000"/>
                </a:schemeClr>
              </a:solidFill>
              <a:latin typeface="Bahnschrift" panose="020B0502040204020203" pitchFamily="34" charset="0"/>
            </a:endParaRPr>
          </a:p>
          <a:p>
            <a:r>
              <a:rPr lang="en-US" sz="2400" b="1" dirty="0" err="1">
                <a:latin typeface="Bahnschrift" panose="020B0502040204020203" pitchFamily="34" charset="0"/>
              </a:rPr>
              <a:t>learning_rate</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a:solidFill>
                  <a:schemeClr val="accent2">
                    <a:lumMod val="50000"/>
                  </a:schemeClr>
                </a:solidFill>
                <a:latin typeface="Bahnschrift" panose="020B0502040204020203" pitchFamily="34" charset="0"/>
              </a:rPr>
              <a:t>eta, </a:t>
            </a:r>
            <a:r>
              <a:rPr lang="en-US" sz="2400" dirty="0" err="1">
                <a:solidFill>
                  <a:schemeClr val="accent2">
                    <a:lumMod val="50000"/>
                  </a:schemeClr>
                </a:solidFill>
                <a:latin typeface="Bahnschrift" panose="020B0502040204020203" pitchFamily="34" charset="0"/>
              </a:rPr>
              <a:t>learning_rate</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Скорость обучения. Определяет, насколько сильно вклад каждого дерева в итоговое предсказание. Меньшие значения требуют большего количества деревьев.</a:t>
            </a:r>
          </a:p>
          <a:p>
            <a:endParaRPr lang="ru-RU" sz="2400" dirty="0">
              <a:solidFill>
                <a:schemeClr val="accent2">
                  <a:lumMod val="50000"/>
                </a:schemeClr>
              </a:solidFill>
              <a:latin typeface="Bahnschrift" panose="020B0502040204020203" pitchFamily="34" charset="0"/>
            </a:endParaRPr>
          </a:p>
          <a:p>
            <a:r>
              <a:rPr lang="en-US" sz="2400" b="1" dirty="0" err="1">
                <a:latin typeface="Bahnschrift" panose="020B0502040204020203" pitchFamily="34" charset="0"/>
              </a:rPr>
              <a:t>max_depth</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max_depth</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Максимальная глубина каждого дерева.</a:t>
            </a:r>
          </a:p>
          <a:p>
            <a:endParaRPr lang="ru-RU" sz="2400" dirty="0">
              <a:solidFill>
                <a:schemeClr val="accent2">
                  <a:lumMod val="50000"/>
                </a:schemeClr>
              </a:solidFill>
              <a:latin typeface="Bahnschrift" panose="020B0502040204020203" pitchFamily="34" charset="0"/>
            </a:endParaRPr>
          </a:p>
          <a:p>
            <a:r>
              <a:rPr lang="en-US" sz="2400" b="1" dirty="0" err="1">
                <a:latin typeface="Bahnschrift" panose="020B0502040204020203" pitchFamily="34" charset="0"/>
              </a:rPr>
              <a:t>min_child_weight</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min_child_samples</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min_data_in_leaf</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Минимальная сумма весов объектов, необходимых в листовом узле. Используется для регуляризации.</a:t>
            </a:r>
          </a:p>
          <a:p>
            <a:endParaRPr lang="ru-RU" sz="2400" dirty="0">
              <a:solidFill>
                <a:schemeClr val="accent2">
                  <a:lumMod val="50000"/>
                </a:schemeClr>
              </a:solidFill>
              <a:latin typeface="Bahnschrift" panose="020B0502040204020203" pitchFamily="34" charset="0"/>
            </a:endParaRPr>
          </a:p>
          <a:p>
            <a:r>
              <a:rPr lang="en-US" sz="2400" b="1" dirty="0">
                <a:latin typeface="Bahnschrift" panose="020B0502040204020203" pitchFamily="34" charset="0"/>
              </a:rPr>
              <a:t>subsample</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bagging_fraction</a:t>
            </a:r>
            <a:r>
              <a:rPr lang="en-US" sz="2400" dirty="0">
                <a:solidFill>
                  <a:schemeClr val="accent2">
                    <a:lumMod val="50000"/>
                  </a:schemeClr>
                </a:solidFill>
                <a:latin typeface="Bahnschrift" panose="020B0502040204020203" pitchFamily="34" charset="0"/>
              </a:rPr>
              <a:t>, subsample): </a:t>
            </a:r>
            <a:r>
              <a:rPr lang="ru-RU" sz="2400" dirty="0">
                <a:solidFill>
                  <a:schemeClr val="accent2">
                    <a:lumMod val="50000"/>
                  </a:schemeClr>
                </a:solidFill>
                <a:latin typeface="Bahnschrift" panose="020B0502040204020203" pitchFamily="34" charset="0"/>
              </a:rPr>
              <a:t>Доля объектов, используемых для обучения каждого дерева.</a:t>
            </a:r>
          </a:p>
        </p:txBody>
      </p:sp>
    </p:spTree>
    <p:extLst>
      <p:ext uri="{BB962C8B-B14F-4D97-AF65-F5344CB8AC3E}">
        <p14:creationId xmlns:p14="http://schemas.microsoft.com/office/powerpoint/2010/main" val="1958638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D076D-DFF4-2D8A-0549-AC0148B9353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0F63B7-038D-D11A-9509-ED5868E6A641}"/>
              </a:ext>
            </a:extLst>
          </p:cNvPr>
          <p:cNvSpPr>
            <a:spLocks noGrp="1"/>
          </p:cNvSpPr>
          <p:nvPr>
            <p:ph type="title"/>
          </p:nvPr>
        </p:nvSpPr>
        <p:spPr>
          <a:xfrm>
            <a:off x="1415480" y="201417"/>
            <a:ext cx="9505056" cy="347263"/>
          </a:xfrm>
        </p:spPr>
        <p:txBody>
          <a:bodyPr>
            <a:noAutofit/>
          </a:bodyPr>
          <a:lstStyle/>
          <a:p>
            <a:pPr algn="ctr"/>
            <a:r>
              <a:rPr lang="ru-RU" sz="2400" b="1" dirty="0">
                <a:solidFill>
                  <a:schemeClr val="accent2">
                    <a:lumMod val="50000"/>
                  </a:schemeClr>
                </a:solidFill>
                <a:latin typeface="Arial Black" panose="020B0A04020102020204" pitchFamily="34" charset="0"/>
              </a:rPr>
              <a:t>Ключевые Аргументы для Настройки </a:t>
            </a:r>
          </a:p>
        </p:txBody>
      </p:sp>
      <p:sp>
        <p:nvSpPr>
          <p:cNvPr id="7" name="TextBox 6">
            <a:extLst>
              <a:ext uri="{FF2B5EF4-FFF2-40B4-BE49-F238E27FC236}">
                <a16:creationId xmlns:a16="http://schemas.microsoft.com/office/drawing/2014/main" id="{FBEA0C5A-9B42-636F-099A-97E2F6AC3652}"/>
              </a:ext>
            </a:extLst>
          </p:cNvPr>
          <p:cNvSpPr txBox="1"/>
          <p:nvPr/>
        </p:nvSpPr>
        <p:spPr>
          <a:xfrm>
            <a:off x="767408" y="982176"/>
            <a:ext cx="10657184" cy="4893647"/>
          </a:xfrm>
          <a:prstGeom prst="rect">
            <a:avLst/>
          </a:prstGeom>
          <a:noFill/>
        </p:spPr>
        <p:txBody>
          <a:bodyPr wrap="square">
            <a:spAutoFit/>
          </a:bodyPr>
          <a:lstStyle/>
          <a:p>
            <a:r>
              <a:rPr lang="en-US" sz="2400" b="1" dirty="0" err="1">
                <a:latin typeface="Bahnschrift" panose="020B0502040204020203" pitchFamily="34" charset="0"/>
              </a:rPr>
              <a:t>colsample_bytree</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feature_fraction</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colsample_bylevel</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Доля признаков, используемых для построения каждого дерева.</a:t>
            </a:r>
          </a:p>
          <a:p>
            <a:endParaRPr lang="ru-RU" sz="2400" dirty="0">
              <a:solidFill>
                <a:schemeClr val="accent2">
                  <a:lumMod val="50000"/>
                </a:schemeClr>
              </a:solidFill>
              <a:latin typeface="Bahnschrift" panose="020B0502040204020203" pitchFamily="34" charset="0"/>
            </a:endParaRPr>
          </a:p>
          <a:p>
            <a:r>
              <a:rPr lang="en-US" sz="2400" b="1" dirty="0" err="1">
                <a:latin typeface="Bahnschrift" panose="020B0502040204020203" pitchFamily="34" charset="0"/>
              </a:rPr>
              <a:t>reg_alpha</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lambda_l1</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l1_leaf_reg</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L1</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регуляризация (</a:t>
            </a:r>
            <a:r>
              <a:rPr lang="en-US" sz="2400" dirty="0">
                <a:solidFill>
                  <a:schemeClr val="accent2">
                    <a:lumMod val="50000"/>
                  </a:schemeClr>
                </a:solidFill>
                <a:latin typeface="Bahnschrift" panose="020B0502040204020203" pitchFamily="34" charset="0"/>
              </a:rPr>
              <a:t>Lasso).</a:t>
            </a:r>
            <a:endParaRPr lang="ru-RU" sz="2400" dirty="0">
              <a:solidFill>
                <a:schemeClr val="accent2">
                  <a:lumMod val="50000"/>
                </a:schemeClr>
              </a:solidFill>
              <a:latin typeface="Bahnschrift" panose="020B0502040204020203" pitchFamily="34" charset="0"/>
            </a:endParaRPr>
          </a:p>
          <a:p>
            <a:endParaRPr lang="en-US" sz="2400" dirty="0">
              <a:solidFill>
                <a:schemeClr val="accent2">
                  <a:lumMod val="50000"/>
                </a:schemeClr>
              </a:solidFill>
              <a:latin typeface="Bahnschrift" panose="020B0502040204020203" pitchFamily="34" charset="0"/>
            </a:endParaRPr>
          </a:p>
          <a:p>
            <a:r>
              <a:rPr lang="en-US" sz="2400" b="1" dirty="0" err="1">
                <a:latin typeface="Bahnschrift" panose="020B0502040204020203" pitchFamily="34" charset="0"/>
              </a:rPr>
              <a:t>reg_lambda</a:t>
            </a:r>
            <a:r>
              <a:rPr lang="en-US" sz="2400" b="1" dirty="0">
                <a:latin typeface="Bahnschrift" panose="020B0502040204020203" pitchFamily="34" charset="0"/>
              </a:rPr>
              <a:t>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lambda_l2</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l2_leaf_reg</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L2</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регуляризация (</a:t>
            </a:r>
            <a:r>
              <a:rPr lang="en-US" sz="2400" dirty="0">
                <a:solidFill>
                  <a:schemeClr val="accent2">
                    <a:lumMod val="50000"/>
                  </a:schemeClr>
                </a:solidFill>
                <a:latin typeface="Bahnschrift" panose="020B0502040204020203" pitchFamily="34" charset="0"/>
              </a:rPr>
              <a:t>Ridge).</a:t>
            </a:r>
            <a:endParaRPr lang="ru-RU" sz="2400" dirty="0">
              <a:solidFill>
                <a:schemeClr val="accent2">
                  <a:lumMod val="50000"/>
                </a:schemeClr>
              </a:solidFill>
              <a:latin typeface="Bahnschrift" panose="020B0502040204020203" pitchFamily="34" charset="0"/>
            </a:endParaRPr>
          </a:p>
          <a:p>
            <a:endParaRPr lang="en-US" sz="2400" dirty="0">
              <a:solidFill>
                <a:schemeClr val="accent2">
                  <a:lumMod val="50000"/>
                </a:schemeClr>
              </a:solidFill>
              <a:latin typeface="Bahnschrift" panose="020B0502040204020203" pitchFamily="34" charset="0"/>
            </a:endParaRPr>
          </a:p>
          <a:p>
            <a:r>
              <a:rPr lang="en-US" sz="2400" b="1" dirty="0">
                <a:latin typeface="Bahnschrift" panose="020B0502040204020203" pitchFamily="34" charset="0"/>
              </a:rPr>
              <a:t>gamma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err="1">
                <a:solidFill>
                  <a:schemeClr val="accent2">
                    <a:lumMod val="50000"/>
                  </a:schemeClr>
                </a:solidFill>
                <a:latin typeface="Bahnschrift" panose="020B0502040204020203" pitchFamily="34" charset="0"/>
              </a:rPr>
              <a:t>min_gain_to_split</a:t>
            </a:r>
            <a:r>
              <a:rPr lang="en-US" sz="2400" dirty="0">
                <a:solidFill>
                  <a:schemeClr val="accent2">
                    <a:lumMod val="50000"/>
                  </a:schemeClr>
                </a:solidFill>
                <a:latin typeface="Bahnschrift" panose="020B0502040204020203" pitchFamily="34" charset="0"/>
              </a:rPr>
              <a:t>, </a:t>
            </a:r>
            <a:r>
              <a:rPr lang="en-US" sz="2400" dirty="0" err="1">
                <a:solidFill>
                  <a:schemeClr val="accent2">
                    <a:lumMod val="50000"/>
                  </a:schemeClr>
                </a:solidFill>
                <a:latin typeface="Bahnschrift" panose="020B0502040204020203" pitchFamily="34" charset="0"/>
              </a:rPr>
              <a:t>langevin_gamma</a:t>
            </a:r>
            <a:r>
              <a:rPr lang="en-US" sz="2400" dirty="0">
                <a:solidFill>
                  <a:schemeClr val="accent2">
                    <a:lumMod val="50000"/>
                  </a:schemeClr>
                </a:solidFill>
                <a:latin typeface="Bahnschrift" panose="020B0502040204020203" pitchFamily="34" charset="0"/>
              </a:rPr>
              <a:t>): </a:t>
            </a:r>
            <a:r>
              <a:rPr lang="ru-RU" sz="2400" dirty="0">
                <a:solidFill>
                  <a:schemeClr val="accent2">
                    <a:lumMod val="50000"/>
                  </a:schemeClr>
                </a:solidFill>
                <a:latin typeface="Bahnschrift" panose="020B0502040204020203" pitchFamily="34" charset="0"/>
              </a:rPr>
              <a:t>Минимальное уменьшение функции потерь, необходимое для дальнейшего разбиения узла. Используется для регуляризации.</a:t>
            </a:r>
          </a:p>
          <a:p>
            <a:endParaRPr lang="ru-RU" sz="2400" dirty="0">
              <a:solidFill>
                <a:schemeClr val="accent2">
                  <a:lumMod val="50000"/>
                </a:schemeClr>
              </a:solidFill>
              <a:latin typeface="Bahnschrift" panose="020B0502040204020203" pitchFamily="34" charset="0"/>
            </a:endParaRPr>
          </a:p>
          <a:p>
            <a:r>
              <a:rPr lang="en-US" sz="2400" b="1" dirty="0">
                <a:latin typeface="Bahnschrift" panose="020B0502040204020203" pitchFamily="34" charset="0"/>
              </a:rPr>
              <a:t>random_state </a:t>
            </a:r>
            <a:r>
              <a:rPr lang="en-US" sz="2400" dirty="0">
                <a:solidFill>
                  <a:schemeClr val="accent2">
                    <a:lumMod val="50000"/>
                  </a:schemeClr>
                </a:solidFill>
                <a:latin typeface="Bahnschrift" panose="020B0502040204020203" pitchFamily="34" charset="0"/>
              </a:rPr>
              <a:t>(</a:t>
            </a:r>
            <a:r>
              <a:rPr lang="ru-RU" sz="2400" dirty="0">
                <a:solidFill>
                  <a:schemeClr val="accent2">
                    <a:lumMod val="50000"/>
                  </a:schemeClr>
                </a:solidFill>
                <a:latin typeface="Bahnschrift" panose="020B0502040204020203" pitchFamily="34" charset="0"/>
              </a:rPr>
              <a:t>или </a:t>
            </a:r>
            <a:r>
              <a:rPr lang="en-US" sz="2400" dirty="0">
                <a:solidFill>
                  <a:schemeClr val="accent2">
                    <a:lumMod val="50000"/>
                  </a:schemeClr>
                </a:solidFill>
                <a:latin typeface="Bahnschrift" panose="020B0502040204020203" pitchFamily="34" charset="0"/>
              </a:rPr>
              <a:t>seed): </a:t>
            </a:r>
            <a:r>
              <a:rPr lang="ru-RU" sz="2400" dirty="0">
                <a:solidFill>
                  <a:schemeClr val="accent2">
                    <a:lumMod val="50000"/>
                  </a:schemeClr>
                </a:solidFill>
                <a:latin typeface="Bahnschrift" panose="020B0502040204020203" pitchFamily="34" charset="0"/>
              </a:rPr>
              <a:t>Задает случайное состояние для воспроизводимости результатов.</a:t>
            </a:r>
          </a:p>
        </p:txBody>
      </p:sp>
    </p:spTree>
    <p:extLst>
      <p:ext uri="{BB962C8B-B14F-4D97-AF65-F5344CB8AC3E}">
        <p14:creationId xmlns:p14="http://schemas.microsoft.com/office/powerpoint/2010/main" val="165715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07D0-F767-A641-C8AE-64A8000EDF53}"/>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29C42CC4-7C42-C2F3-D1F6-A87A108C47DB}"/>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err="1">
                <a:solidFill>
                  <a:schemeClr val="accent2">
                    <a:lumMod val="50000"/>
                  </a:schemeClr>
                </a:solidFill>
                <a:latin typeface="Arial Black" panose="020B0A04020102020204" pitchFamily="34" charset="0"/>
              </a:rPr>
              <a:t>XGBoost</a:t>
            </a:r>
            <a:r>
              <a:rPr lang="en-US" sz="2400" b="1" dirty="0">
                <a:solidFill>
                  <a:schemeClr val="accent2">
                    <a:lumMod val="50000"/>
                  </a:schemeClr>
                </a:solidFill>
                <a:latin typeface="Arial Black" panose="020B0A04020102020204" pitchFamily="34" charset="0"/>
              </a:rPr>
              <a:t>, </a:t>
            </a:r>
            <a:r>
              <a:rPr lang="en-US" sz="2400" b="1" dirty="0" err="1">
                <a:solidFill>
                  <a:schemeClr val="accent2">
                    <a:lumMod val="50000"/>
                  </a:schemeClr>
                </a:solidFill>
                <a:latin typeface="Arial Black" panose="020B0A04020102020204" pitchFamily="34" charset="0"/>
              </a:rPr>
              <a:t>LightGBM</a:t>
            </a:r>
            <a:r>
              <a:rPr lang="en-US" sz="2400" b="1" dirty="0">
                <a:solidFill>
                  <a:schemeClr val="accent2">
                    <a:lumMod val="50000"/>
                  </a:schemeClr>
                </a:solidFill>
                <a:latin typeface="Arial Black" panose="020B0A04020102020204" pitchFamily="34" charset="0"/>
              </a:rPr>
              <a:t> </a:t>
            </a:r>
            <a:r>
              <a:rPr lang="ru-RU" sz="2400" b="1" dirty="0">
                <a:solidFill>
                  <a:schemeClr val="accent2">
                    <a:lumMod val="50000"/>
                  </a:schemeClr>
                </a:solidFill>
                <a:latin typeface="Arial Black" panose="020B0A04020102020204" pitchFamily="34" charset="0"/>
              </a:rPr>
              <a:t>и </a:t>
            </a:r>
            <a:r>
              <a:rPr lang="en-US" sz="2400" b="1" dirty="0" err="1">
                <a:solidFill>
                  <a:schemeClr val="accent2">
                    <a:lumMod val="50000"/>
                  </a:schemeClr>
                </a:solidFill>
                <a:latin typeface="Arial Black" panose="020B0A04020102020204" pitchFamily="34" charset="0"/>
              </a:rPr>
              <a:t>CatBoost</a:t>
            </a:r>
            <a:endParaRPr lang="ru-RU" sz="2400" b="1" dirty="0">
              <a:solidFill>
                <a:schemeClr val="accent2">
                  <a:lumMod val="50000"/>
                </a:schemeClr>
              </a:solidFill>
              <a:latin typeface="Arial Black" panose="020B0A04020102020204" pitchFamily="34" charset="0"/>
            </a:endParaRPr>
          </a:p>
        </p:txBody>
      </p:sp>
      <p:sp>
        <p:nvSpPr>
          <p:cNvPr id="8" name="TextBox 7">
            <a:extLst>
              <a:ext uri="{FF2B5EF4-FFF2-40B4-BE49-F238E27FC236}">
                <a16:creationId xmlns:a16="http://schemas.microsoft.com/office/drawing/2014/main" id="{63D371D5-76B8-271D-766B-6A32D238E475}"/>
              </a:ext>
            </a:extLst>
          </p:cNvPr>
          <p:cNvSpPr txBox="1"/>
          <p:nvPr/>
        </p:nvSpPr>
        <p:spPr>
          <a:xfrm>
            <a:off x="551384" y="615040"/>
            <a:ext cx="8232576" cy="923330"/>
          </a:xfrm>
          <a:prstGeom prst="rect">
            <a:avLst/>
          </a:prstGeom>
          <a:noFill/>
        </p:spPr>
        <p:txBody>
          <a:bodyPr wrap="square">
            <a:spAutoFit/>
          </a:bodyPr>
          <a:lstStyle/>
          <a:p>
            <a:pPr>
              <a:buNone/>
            </a:pPr>
            <a:r>
              <a:rPr lang="en-US" b="0" dirty="0">
                <a:solidFill>
                  <a:srgbClr val="9723B4"/>
                </a:solidFill>
                <a:effectLst/>
                <a:latin typeface="Bahnschrift" panose="020B0502040204020203" pitchFamily="34" charset="0"/>
              </a:rPr>
              <a:t>from</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xgboost</a:t>
            </a:r>
            <a:r>
              <a:rPr lang="en-US" b="0" dirty="0">
                <a:solidFill>
                  <a:srgbClr val="000000"/>
                </a:solidFill>
                <a:effectLst/>
                <a:latin typeface="Bahnschrift" panose="020B0502040204020203" pitchFamily="34" charset="0"/>
              </a:rPr>
              <a:t> </a:t>
            </a:r>
            <a:r>
              <a:rPr lang="en-US" b="0" dirty="0">
                <a:solidFill>
                  <a:srgbClr val="9723B4"/>
                </a:solidFill>
                <a:effectLst/>
                <a:latin typeface="Bahnschrift" panose="020B0502040204020203" pitchFamily="34" charset="0"/>
              </a:rPr>
              <a:t>import</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XGBClassifier</a:t>
            </a:r>
            <a:endParaRPr lang="en-US" b="0" dirty="0">
              <a:solidFill>
                <a:srgbClr val="000000"/>
              </a:solidFill>
              <a:effectLst/>
              <a:latin typeface="Bahnschrift" panose="020B0502040204020203" pitchFamily="34" charset="0"/>
            </a:endParaRPr>
          </a:p>
          <a:p>
            <a:pPr>
              <a:buNone/>
            </a:pPr>
            <a:r>
              <a:rPr lang="en-US" b="0" dirty="0">
                <a:solidFill>
                  <a:srgbClr val="9723B4"/>
                </a:solidFill>
                <a:effectLst/>
                <a:latin typeface="Bahnschrift" panose="020B0502040204020203" pitchFamily="34" charset="0"/>
              </a:rPr>
              <a:t>from</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lightgbm</a:t>
            </a:r>
            <a:r>
              <a:rPr lang="en-US" b="0" dirty="0">
                <a:solidFill>
                  <a:srgbClr val="000000"/>
                </a:solidFill>
                <a:effectLst/>
                <a:latin typeface="Bahnschrift" panose="020B0502040204020203" pitchFamily="34" charset="0"/>
              </a:rPr>
              <a:t> </a:t>
            </a:r>
            <a:r>
              <a:rPr lang="en-US" b="0" dirty="0">
                <a:solidFill>
                  <a:srgbClr val="9723B4"/>
                </a:solidFill>
                <a:effectLst/>
                <a:latin typeface="Bahnschrift" panose="020B0502040204020203" pitchFamily="34" charset="0"/>
              </a:rPr>
              <a:t>import</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LGBMClassifier</a:t>
            </a:r>
            <a:endParaRPr lang="en-US" b="0" dirty="0">
              <a:solidFill>
                <a:srgbClr val="000000"/>
              </a:solidFill>
              <a:effectLst/>
              <a:latin typeface="Bahnschrift" panose="020B0502040204020203" pitchFamily="34" charset="0"/>
            </a:endParaRPr>
          </a:p>
          <a:p>
            <a:pPr>
              <a:buNone/>
            </a:pPr>
            <a:r>
              <a:rPr lang="en-US" b="0" dirty="0">
                <a:solidFill>
                  <a:srgbClr val="9723B4"/>
                </a:solidFill>
                <a:effectLst/>
                <a:latin typeface="Bahnschrift" panose="020B0502040204020203" pitchFamily="34" charset="0"/>
              </a:rPr>
              <a:t>from</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catboost</a:t>
            </a:r>
            <a:r>
              <a:rPr lang="en-US" b="0" dirty="0">
                <a:solidFill>
                  <a:srgbClr val="000000"/>
                </a:solidFill>
                <a:effectLst/>
                <a:latin typeface="Bahnschrift" panose="020B0502040204020203" pitchFamily="34" charset="0"/>
              </a:rPr>
              <a:t> </a:t>
            </a:r>
            <a:r>
              <a:rPr lang="en-US" b="0" dirty="0">
                <a:solidFill>
                  <a:srgbClr val="9723B4"/>
                </a:solidFill>
                <a:effectLst/>
                <a:latin typeface="Bahnschrift" panose="020B0502040204020203" pitchFamily="34" charset="0"/>
              </a:rPr>
              <a:t>import</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CatBoostClassifier</a:t>
            </a:r>
            <a:r>
              <a:rPr lang="en-US" b="0" dirty="0">
                <a:solidFill>
                  <a:srgbClr val="000000"/>
                </a:solidFill>
                <a:effectLst/>
                <a:latin typeface="Bahnschrift" panose="020B0502040204020203" pitchFamily="34" charset="0"/>
              </a:rPr>
              <a:t>, Pool</a:t>
            </a:r>
          </a:p>
        </p:txBody>
      </p:sp>
      <p:sp>
        <p:nvSpPr>
          <p:cNvPr id="10" name="TextBox 9">
            <a:extLst>
              <a:ext uri="{FF2B5EF4-FFF2-40B4-BE49-F238E27FC236}">
                <a16:creationId xmlns:a16="http://schemas.microsoft.com/office/drawing/2014/main" id="{8FA4BFD1-2558-78B7-C1CB-59B55AC44A5C}"/>
              </a:ext>
            </a:extLst>
          </p:cNvPr>
          <p:cNvSpPr txBox="1"/>
          <p:nvPr/>
        </p:nvSpPr>
        <p:spPr>
          <a:xfrm>
            <a:off x="427220" y="1691801"/>
            <a:ext cx="11449272" cy="1583767"/>
          </a:xfrm>
          <a:prstGeom prst="rect">
            <a:avLst/>
          </a:prstGeom>
          <a:noFill/>
        </p:spPr>
        <p:txBody>
          <a:bodyPr wrap="square">
            <a:spAutoFit/>
          </a:bodyPr>
          <a:lstStyle/>
          <a:p>
            <a:pPr>
              <a:buNone/>
            </a:pPr>
            <a:r>
              <a:rPr lang="en-US" b="0" dirty="0">
                <a:solidFill>
                  <a:srgbClr val="008000"/>
                </a:solidFill>
                <a:effectLst/>
                <a:latin typeface="Bahnschrift" panose="020B0502040204020203" pitchFamily="34" charset="0"/>
              </a:rPr>
              <a:t># </a:t>
            </a:r>
            <a:r>
              <a:rPr lang="en-US" b="0" dirty="0" err="1">
                <a:solidFill>
                  <a:srgbClr val="008000"/>
                </a:solidFill>
                <a:effectLst/>
                <a:latin typeface="Bahnschrift" panose="020B0502040204020203" pitchFamily="34" charset="0"/>
              </a:rPr>
              <a:t>XGBoost</a:t>
            </a:r>
            <a:r>
              <a:rPr lang="en-US" b="0" dirty="0">
                <a:solidFill>
                  <a:srgbClr val="008000"/>
                </a:solidFill>
                <a:effectLst/>
                <a:latin typeface="Bahnschrift" panose="020B0502040204020203" pitchFamily="34" charset="0"/>
              </a:rPr>
              <a:t> </a:t>
            </a:r>
            <a:r>
              <a:rPr lang="ru-RU" b="0" dirty="0">
                <a:solidFill>
                  <a:srgbClr val="008000"/>
                </a:solidFill>
                <a:effectLst/>
                <a:latin typeface="Bahnschrift" panose="020B0502040204020203" pitchFamily="34" charset="0"/>
              </a:rPr>
              <a:t>для классификации </a:t>
            </a:r>
            <a:endParaRPr lang="ru-RU" b="0" dirty="0">
              <a:solidFill>
                <a:srgbClr val="000000"/>
              </a:solidFill>
              <a:effectLst/>
              <a:latin typeface="Bahnschrift" panose="020B0502040204020203" pitchFamily="34" charset="0"/>
            </a:endParaRPr>
          </a:p>
          <a:p>
            <a:pPr>
              <a:buNone/>
            </a:pPr>
            <a:r>
              <a:rPr lang="en-US" b="0" dirty="0" err="1">
                <a:solidFill>
                  <a:srgbClr val="000000"/>
                </a:solidFill>
                <a:effectLst/>
                <a:latin typeface="Bahnschrift" panose="020B0502040204020203" pitchFamily="34" charset="0"/>
              </a:rPr>
              <a:t>xgb</a:t>
            </a:r>
            <a:r>
              <a:rPr lang="en-US" b="0" dirty="0">
                <a:solidFill>
                  <a:srgbClr val="000000"/>
                </a:solidFill>
                <a:effectLst/>
                <a:latin typeface="Bahnschrift" panose="020B0502040204020203" pitchFamily="34" charset="0"/>
              </a:rPr>
              <a:t> = </a:t>
            </a:r>
            <a:r>
              <a:rPr lang="en-US" b="0" dirty="0" err="1">
                <a:solidFill>
                  <a:srgbClr val="000000"/>
                </a:solidFill>
                <a:effectLst/>
                <a:latin typeface="Bahnschrift" panose="020B0502040204020203" pitchFamily="34" charset="0"/>
              </a:rPr>
              <a:t>XGBClassifier</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n_estimators</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50</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learning_rate</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0.1</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max_depth</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3</a:t>
            </a:r>
            <a:r>
              <a:rPr lang="en-US" b="0" dirty="0">
                <a:solidFill>
                  <a:srgbClr val="000000"/>
                </a:solidFill>
                <a:effectLst/>
                <a:latin typeface="Bahnschrift" panose="020B0502040204020203" pitchFamily="34" charset="0"/>
              </a:rPr>
              <a:t>, subsample=</a:t>
            </a:r>
            <a:r>
              <a:rPr lang="en-US" b="0" dirty="0">
                <a:solidFill>
                  <a:srgbClr val="116644"/>
                </a:solidFill>
                <a:effectLst/>
                <a:latin typeface="Bahnschrift" panose="020B0502040204020203" pitchFamily="34" charset="0"/>
              </a:rPr>
              <a:t>0.5</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colsample_bytree</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0.5</a:t>
            </a:r>
            <a:r>
              <a:rPr lang="en-US" b="0" dirty="0">
                <a:solidFill>
                  <a:srgbClr val="000000"/>
                </a:solidFill>
                <a:effectLst/>
                <a:latin typeface="Bahnschrift" panose="020B0502040204020203" pitchFamily="34" charset="0"/>
              </a:rPr>
              <a:t>, </a:t>
            </a:r>
            <a:endParaRPr lang="ru-RU" b="0" dirty="0">
              <a:solidFill>
                <a:srgbClr val="000000"/>
              </a:solidFill>
              <a:effectLst/>
              <a:latin typeface="Bahnschrift" panose="020B0502040204020203" pitchFamily="34" charset="0"/>
            </a:endParaRPr>
          </a:p>
          <a:p>
            <a:pPr>
              <a:buNone/>
            </a:pPr>
            <a:r>
              <a:rPr lang="ru-RU" b="0" dirty="0">
                <a:solidFill>
                  <a:srgbClr val="000000"/>
                </a:solidFill>
                <a:effectLst/>
                <a:latin typeface="Bahnschrift" panose="020B0502040204020203" pitchFamily="34" charset="0"/>
              </a:rPr>
              <a:t>    </a:t>
            </a:r>
            <a:r>
              <a:rPr lang="en-US" b="0" dirty="0">
                <a:solidFill>
                  <a:srgbClr val="000000"/>
                </a:solidFill>
                <a:effectLst/>
                <a:latin typeface="Bahnschrift" panose="020B0502040204020203" pitchFamily="34" charset="0"/>
              </a:rPr>
              <a:t>random_state=</a:t>
            </a:r>
            <a:r>
              <a:rPr lang="en-US" b="0" dirty="0">
                <a:solidFill>
                  <a:srgbClr val="116644"/>
                </a:solidFill>
                <a:effectLst/>
                <a:latin typeface="Bahnschrift" panose="020B0502040204020203" pitchFamily="34" charset="0"/>
              </a:rPr>
              <a:t>42</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use_label_encoder</a:t>
            </a:r>
            <a:r>
              <a:rPr lang="en-US" b="0" dirty="0">
                <a:solidFill>
                  <a:srgbClr val="000000"/>
                </a:solidFill>
                <a:effectLst/>
                <a:latin typeface="Bahnschrift" panose="020B0502040204020203" pitchFamily="34" charset="0"/>
              </a:rPr>
              <a:t>=</a:t>
            </a:r>
            <a:r>
              <a:rPr lang="en-US" b="0" dirty="0">
                <a:solidFill>
                  <a:srgbClr val="0000FF"/>
                </a:solidFill>
                <a:effectLst/>
                <a:latin typeface="Bahnschrift" panose="020B0502040204020203" pitchFamily="34" charset="0"/>
              </a:rPr>
              <a:t>False</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eval_metric</a:t>
            </a:r>
            <a:r>
              <a:rPr lang="en-US" b="0" dirty="0">
                <a:solidFill>
                  <a:srgbClr val="000000"/>
                </a:solidFill>
                <a:effectLst/>
                <a:latin typeface="Bahnschrift" panose="020B0502040204020203" pitchFamily="34" charset="0"/>
              </a:rPr>
              <a:t>=</a:t>
            </a:r>
            <a:r>
              <a:rPr lang="en-US" b="0" dirty="0">
                <a:solidFill>
                  <a:srgbClr val="A31515"/>
                </a:solidFill>
                <a:effectLst/>
                <a:latin typeface="Bahnschrift" panose="020B0502040204020203" pitchFamily="34" charset="0"/>
              </a:rPr>
              <a:t>'</a:t>
            </a:r>
            <a:r>
              <a:rPr lang="en-US" b="0" dirty="0" err="1">
                <a:solidFill>
                  <a:srgbClr val="A31515"/>
                </a:solidFill>
                <a:effectLst/>
                <a:latin typeface="Bahnschrift" panose="020B0502040204020203" pitchFamily="34" charset="0"/>
              </a:rPr>
              <a:t>logloss</a:t>
            </a:r>
            <a:r>
              <a:rPr lang="en-US" b="0" dirty="0">
                <a:solidFill>
                  <a:srgbClr val="A31515"/>
                </a:solidFill>
                <a:effectLst/>
                <a:latin typeface="Bahnschrift" panose="020B0502040204020203" pitchFamily="34" charset="0"/>
              </a:rPr>
              <a:t>’</a:t>
            </a:r>
            <a:r>
              <a:rPr lang="en-US" b="0" dirty="0">
                <a:solidFill>
                  <a:srgbClr val="000000"/>
                </a:solidFill>
                <a:effectLst/>
                <a:latin typeface="Bahnschrift" panose="020B0502040204020203" pitchFamily="34" charset="0"/>
              </a:rPr>
              <a:t> ) </a:t>
            </a:r>
            <a:br>
              <a:rPr lang="ru-RU" b="0" dirty="0">
                <a:solidFill>
                  <a:srgbClr val="000000"/>
                </a:solidFill>
                <a:effectLst/>
                <a:latin typeface="Bahnschrift" panose="020B0502040204020203" pitchFamily="34" charset="0"/>
              </a:rPr>
            </a:br>
            <a:r>
              <a:rPr lang="en-US" b="0" dirty="0" err="1">
                <a:solidFill>
                  <a:srgbClr val="000000"/>
                </a:solidFill>
                <a:effectLst/>
                <a:latin typeface="Bahnschrift" panose="020B0502040204020203" pitchFamily="34" charset="0"/>
              </a:rPr>
              <a:t>xgb.fit</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X_train_scaled</a:t>
            </a:r>
            <a:r>
              <a:rPr lang="en-US" b="0" dirty="0">
                <a:solidFill>
                  <a:srgbClr val="000000"/>
                </a:solidFill>
                <a:effectLst/>
                <a:latin typeface="Bahnschrift" panose="020B0502040204020203" pitchFamily="34" charset="0"/>
              </a:rPr>
              <a:t>, y_train)</a:t>
            </a:r>
          </a:p>
          <a:p>
            <a:pPr>
              <a:lnSpc>
                <a:spcPts val="1425"/>
              </a:lnSpc>
              <a:buNone/>
            </a:pPr>
            <a:br>
              <a:rPr lang="en-US" b="0" dirty="0">
                <a:solidFill>
                  <a:srgbClr val="000000"/>
                </a:solidFill>
                <a:effectLst/>
                <a:latin typeface="Courier New" panose="02070309020205020404" pitchFamily="49" charset="0"/>
              </a:rPr>
            </a:br>
            <a:endParaRPr lang="en-US" b="0" dirty="0">
              <a:solidFill>
                <a:srgbClr val="000000"/>
              </a:solidFill>
              <a:effectLst/>
              <a:latin typeface="Courier New" panose="02070309020205020404" pitchFamily="49" charset="0"/>
            </a:endParaRPr>
          </a:p>
        </p:txBody>
      </p:sp>
      <p:sp>
        <p:nvSpPr>
          <p:cNvPr id="12" name="TextBox 11">
            <a:extLst>
              <a:ext uri="{FF2B5EF4-FFF2-40B4-BE49-F238E27FC236}">
                <a16:creationId xmlns:a16="http://schemas.microsoft.com/office/drawing/2014/main" id="{164EA497-2220-F5F1-3B73-68F469A5E358}"/>
              </a:ext>
            </a:extLst>
          </p:cNvPr>
          <p:cNvSpPr txBox="1"/>
          <p:nvPr/>
        </p:nvSpPr>
        <p:spPr>
          <a:xfrm>
            <a:off x="349296" y="2982268"/>
            <a:ext cx="11605120" cy="1200329"/>
          </a:xfrm>
          <a:prstGeom prst="rect">
            <a:avLst/>
          </a:prstGeom>
          <a:noFill/>
        </p:spPr>
        <p:txBody>
          <a:bodyPr wrap="square">
            <a:spAutoFit/>
          </a:bodyPr>
          <a:lstStyle/>
          <a:p>
            <a:pPr>
              <a:buNone/>
            </a:pPr>
            <a:r>
              <a:rPr lang="en-US" b="0" dirty="0">
                <a:solidFill>
                  <a:srgbClr val="008000"/>
                </a:solidFill>
                <a:effectLst/>
                <a:latin typeface="Bahnschrift" panose="020B0502040204020203" pitchFamily="34" charset="0"/>
              </a:rPr>
              <a:t># </a:t>
            </a:r>
            <a:r>
              <a:rPr lang="en-US" b="0" dirty="0" err="1">
                <a:solidFill>
                  <a:srgbClr val="008000"/>
                </a:solidFill>
                <a:effectLst/>
                <a:latin typeface="Bahnschrift" panose="020B0502040204020203" pitchFamily="34" charset="0"/>
              </a:rPr>
              <a:t>LightGBM</a:t>
            </a:r>
            <a:r>
              <a:rPr lang="en-US" b="0" dirty="0">
                <a:solidFill>
                  <a:srgbClr val="008000"/>
                </a:solidFill>
                <a:effectLst/>
                <a:latin typeface="Bahnschrift" panose="020B0502040204020203" pitchFamily="34" charset="0"/>
              </a:rPr>
              <a:t> </a:t>
            </a:r>
            <a:r>
              <a:rPr lang="ru-RU" b="0" dirty="0">
                <a:solidFill>
                  <a:srgbClr val="008000"/>
                </a:solidFill>
                <a:effectLst/>
                <a:latin typeface="Bahnschrift" panose="020B0502040204020203" pitchFamily="34" charset="0"/>
              </a:rPr>
              <a:t>для классификации </a:t>
            </a:r>
            <a:endParaRPr lang="ru-RU" b="0" dirty="0">
              <a:solidFill>
                <a:srgbClr val="000000"/>
              </a:solidFill>
              <a:effectLst/>
              <a:latin typeface="Bahnschrift" panose="020B0502040204020203" pitchFamily="34" charset="0"/>
            </a:endParaRPr>
          </a:p>
          <a:p>
            <a:pPr>
              <a:buNone/>
            </a:pPr>
            <a:r>
              <a:rPr lang="en-US" b="0" dirty="0" err="1">
                <a:solidFill>
                  <a:srgbClr val="000000"/>
                </a:solidFill>
                <a:effectLst/>
                <a:latin typeface="Bahnschrift" panose="020B0502040204020203" pitchFamily="34" charset="0"/>
              </a:rPr>
              <a:t>lgbm</a:t>
            </a:r>
            <a:r>
              <a:rPr lang="en-US" b="0" dirty="0">
                <a:solidFill>
                  <a:srgbClr val="000000"/>
                </a:solidFill>
                <a:effectLst/>
                <a:latin typeface="Bahnschrift" panose="020B0502040204020203" pitchFamily="34" charset="0"/>
              </a:rPr>
              <a:t> = </a:t>
            </a:r>
            <a:r>
              <a:rPr lang="en-US" b="0" dirty="0" err="1">
                <a:solidFill>
                  <a:srgbClr val="000000"/>
                </a:solidFill>
                <a:effectLst/>
                <a:latin typeface="Bahnschrift" panose="020B0502040204020203" pitchFamily="34" charset="0"/>
              </a:rPr>
              <a:t>LGBMClassifier</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n_estimators</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50</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learning_rate</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0.01</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max_depth</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3</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num_leaves</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5</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min_child_samples</a:t>
            </a:r>
            <a:r>
              <a:rPr lang="en-US" b="0" dirty="0">
                <a:solidFill>
                  <a:srgbClr val="000000"/>
                </a:solidFill>
                <a:effectLst/>
                <a:latin typeface="Bahnschrift" panose="020B0502040204020203" pitchFamily="34" charset="0"/>
              </a:rPr>
              <a:t> =</a:t>
            </a:r>
            <a:r>
              <a:rPr lang="en-US" b="0" dirty="0">
                <a:solidFill>
                  <a:srgbClr val="116644"/>
                </a:solidFill>
                <a:effectLst/>
                <a:latin typeface="Bahnschrift" panose="020B0502040204020203" pitchFamily="34" charset="0"/>
              </a:rPr>
              <a:t>1</a:t>
            </a:r>
            <a:r>
              <a:rPr lang="en-US" b="0" dirty="0">
                <a:solidFill>
                  <a:srgbClr val="000000"/>
                </a:solidFill>
                <a:effectLst/>
                <a:latin typeface="Bahnschrift" panose="020B0502040204020203" pitchFamily="34" charset="0"/>
              </a:rPr>
              <a:t> , </a:t>
            </a:r>
            <a:r>
              <a:rPr lang="en-US" b="0" dirty="0" err="1">
                <a:solidFill>
                  <a:srgbClr val="000000"/>
                </a:solidFill>
                <a:effectLst/>
                <a:latin typeface="Bahnschrift" panose="020B0502040204020203" pitchFamily="34" charset="0"/>
              </a:rPr>
              <a:t>min_samples_leaf</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1</a:t>
            </a:r>
            <a:r>
              <a:rPr lang="en-US" b="0" dirty="0">
                <a:solidFill>
                  <a:srgbClr val="000000"/>
                </a:solidFill>
                <a:effectLst/>
                <a:latin typeface="Bahnschrift" panose="020B0502040204020203" pitchFamily="34" charset="0"/>
              </a:rPr>
              <a:t>,  subsample=</a:t>
            </a:r>
            <a:r>
              <a:rPr lang="en-US" b="0" dirty="0">
                <a:solidFill>
                  <a:srgbClr val="116644"/>
                </a:solidFill>
                <a:effectLst/>
                <a:latin typeface="Bahnschrift" panose="020B0502040204020203" pitchFamily="34" charset="0"/>
              </a:rPr>
              <a:t>0.5</a:t>
            </a: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colsample_bytree</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0.3</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a:solidFill>
                  <a:srgbClr val="000000"/>
                </a:solidFill>
                <a:effectLst/>
                <a:latin typeface="Bahnschrift" panose="020B0502040204020203" pitchFamily="34" charset="0"/>
              </a:rPr>
              <a:t>random_state=</a:t>
            </a:r>
            <a:r>
              <a:rPr lang="en-US" b="0" dirty="0">
                <a:solidFill>
                  <a:srgbClr val="116644"/>
                </a:solidFill>
                <a:effectLst/>
                <a:latin typeface="Bahnschrift" panose="020B0502040204020203" pitchFamily="34" charset="0"/>
              </a:rPr>
              <a:t>42</a:t>
            </a:r>
            <a:r>
              <a:rPr lang="en-US" b="0" dirty="0">
                <a:solidFill>
                  <a:srgbClr val="000000"/>
                </a:solidFill>
                <a:effectLst/>
                <a:latin typeface="Bahnschrift" panose="020B0502040204020203" pitchFamily="34" charset="0"/>
              </a:rPr>
              <a:t>,   metric=</a:t>
            </a:r>
            <a:r>
              <a:rPr lang="en-US" b="0" dirty="0">
                <a:solidFill>
                  <a:srgbClr val="A31515"/>
                </a:solidFill>
                <a:effectLst/>
                <a:latin typeface="Bahnschrift" panose="020B0502040204020203" pitchFamily="34" charset="0"/>
              </a:rPr>
              <a:t>'</a:t>
            </a:r>
            <a:r>
              <a:rPr lang="en-US" b="0" dirty="0" err="1">
                <a:solidFill>
                  <a:srgbClr val="A31515"/>
                </a:solidFill>
                <a:effectLst/>
                <a:latin typeface="Bahnschrift" panose="020B0502040204020203" pitchFamily="34" charset="0"/>
              </a:rPr>
              <a:t>binary_logloss</a:t>
            </a:r>
            <a:r>
              <a:rPr lang="en-US" b="0" dirty="0">
                <a:solidFill>
                  <a:srgbClr val="A31515"/>
                </a:solidFill>
                <a:effectLst/>
                <a:latin typeface="Bahnschrift" panose="020B0502040204020203" pitchFamily="34" charset="0"/>
              </a:rPr>
              <a:t>'</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a:t>
            </a:r>
          </a:p>
          <a:p>
            <a:pPr>
              <a:buNone/>
            </a:pPr>
            <a:r>
              <a:rPr lang="en-US" b="0" dirty="0" err="1">
                <a:solidFill>
                  <a:srgbClr val="000000"/>
                </a:solidFill>
                <a:effectLst/>
                <a:latin typeface="Bahnschrift" panose="020B0502040204020203" pitchFamily="34" charset="0"/>
              </a:rPr>
              <a:t>lgbm.fit</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X_train_scaled</a:t>
            </a:r>
            <a:r>
              <a:rPr lang="en-US" b="0" dirty="0">
                <a:solidFill>
                  <a:srgbClr val="000000"/>
                </a:solidFill>
                <a:effectLst/>
                <a:latin typeface="Bahnschrift" panose="020B0502040204020203" pitchFamily="34" charset="0"/>
              </a:rPr>
              <a:t>, y_train)</a:t>
            </a:r>
          </a:p>
        </p:txBody>
      </p:sp>
      <p:sp>
        <p:nvSpPr>
          <p:cNvPr id="14" name="TextBox 13">
            <a:extLst>
              <a:ext uri="{FF2B5EF4-FFF2-40B4-BE49-F238E27FC236}">
                <a16:creationId xmlns:a16="http://schemas.microsoft.com/office/drawing/2014/main" id="{1E088619-8B44-6120-FBE3-4AA64A65FD37}"/>
              </a:ext>
            </a:extLst>
          </p:cNvPr>
          <p:cNvSpPr txBox="1"/>
          <p:nvPr/>
        </p:nvSpPr>
        <p:spPr>
          <a:xfrm>
            <a:off x="371364" y="4366318"/>
            <a:ext cx="11449272" cy="2213491"/>
          </a:xfrm>
          <a:prstGeom prst="rect">
            <a:avLst/>
          </a:prstGeom>
          <a:noFill/>
        </p:spPr>
        <p:txBody>
          <a:bodyPr wrap="square">
            <a:spAutoFit/>
          </a:bodyPr>
          <a:lstStyle/>
          <a:p>
            <a:r>
              <a:rPr lang="en-US" dirty="0">
                <a:solidFill>
                  <a:srgbClr val="008000"/>
                </a:solidFill>
                <a:latin typeface="Bahnschrift" panose="020B0502040204020203" pitchFamily="34" charset="0"/>
              </a:rPr>
              <a:t># </a:t>
            </a:r>
            <a:r>
              <a:rPr lang="en-US" dirty="0" err="1">
                <a:solidFill>
                  <a:srgbClr val="008000"/>
                </a:solidFill>
                <a:latin typeface="Bahnschrift" panose="020B0502040204020203" pitchFamily="34" charset="0"/>
              </a:rPr>
              <a:t>CatBoost</a:t>
            </a:r>
            <a:r>
              <a:rPr lang="en-US" dirty="0">
                <a:solidFill>
                  <a:srgbClr val="008000"/>
                </a:solidFill>
                <a:latin typeface="Bahnschrift" panose="020B0502040204020203" pitchFamily="34" charset="0"/>
              </a:rPr>
              <a:t> </a:t>
            </a:r>
            <a:r>
              <a:rPr lang="ru-RU" dirty="0">
                <a:solidFill>
                  <a:srgbClr val="008000"/>
                </a:solidFill>
                <a:latin typeface="Bahnschrift" panose="020B0502040204020203" pitchFamily="34" charset="0"/>
              </a:rPr>
              <a:t>классификации</a:t>
            </a:r>
            <a:endParaRPr lang="en-US" dirty="0">
              <a:solidFill>
                <a:srgbClr val="008000"/>
              </a:solidFill>
              <a:latin typeface="Bahnschrift" panose="020B0502040204020203" pitchFamily="34" charset="0"/>
            </a:endParaRPr>
          </a:p>
          <a:p>
            <a:pPr>
              <a:buNone/>
            </a:pPr>
            <a:endParaRPr lang="en-US" b="0" dirty="0">
              <a:solidFill>
                <a:srgbClr val="000000"/>
              </a:solidFill>
              <a:effectLst/>
              <a:latin typeface="Bahnschrift" panose="020B0502040204020203" pitchFamily="34" charset="0"/>
            </a:endParaRPr>
          </a:p>
          <a:p>
            <a:pPr>
              <a:buNone/>
            </a:pPr>
            <a:r>
              <a:rPr lang="en-US" b="0" dirty="0" err="1">
                <a:solidFill>
                  <a:srgbClr val="000000"/>
                </a:solidFill>
                <a:effectLst/>
                <a:latin typeface="Bahnschrift" panose="020B0502040204020203" pitchFamily="34" charset="0"/>
              </a:rPr>
              <a:t>train_pool</a:t>
            </a:r>
            <a:r>
              <a:rPr lang="en-US" b="0" dirty="0">
                <a:solidFill>
                  <a:srgbClr val="000000"/>
                </a:solidFill>
                <a:effectLst/>
                <a:latin typeface="Bahnschrift" panose="020B0502040204020203" pitchFamily="34" charset="0"/>
              </a:rPr>
              <a:t> = Pool(data=</a:t>
            </a:r>
            <a:r>
              <a:rPr lang="en-US" b="0" dirty="0" err="1">
                <a:solidFill>
                  <a:srgbClr val="000000"/>
                </a:solidFill>
                <a:effectLst/>
                <a:latin typeface="Bahnschrift" panose="020B0502040204020203" pitchFamily="34" charset="0"/>
              </a:rPr>
              <a:t>X_train_scaled</a:t>
            </a:r>
            <a:r>
              <a:rPr lang="en-US" b="0" dirty="0">
                <a:solidFill>
                  <a:srgbClr val="000000"/>
                </a:solidFill>
                <a:effectLst/>
                <a:latin typeface="Bahnschrift" panose="020B0502040204020203" pitchFamily="34" charset="0"/>
              </a:rPr>
              <a:t>, label=y_train)</a:t>
            </a:r>
          </a:p>
          <a:p>
            <a:pPr>
              <a:buNone/>
            </a:pPr>
            <a:r>
              <a:rPr lang="en-US" b="0" dirty="0" err="1">
                <a:solidFill>
                  <a:srgbClr val="000000"/>
                </a:solidFill>
                <a:effectLst/>
                <a:latin typeface="Bahnschrift" panose="020B0502040204020203" pitchFamily="34" charset="0"/>
              </a:rPr>
              <a:t>test_pool</a:t>
            </a:r>
            <a:r>
              <a:rPr lang="en-US" b="0" dirty="0">
                <a:solidFill>
                  <a:srgbClr val="000000"/>
                </a:solidFill>
                <a:effectLst/>
                <a:latin typeface="Bahnschrift" panose="020B0502040204020203" pitchFamily="34" charset="0"/>
              </a:rPr>
              <a:t> = Pool(data=</a:t>
            </a:r>
            <a:r>
              <a:rPr lang="en-US" b="0" dirty="0" err="1">
                <a:solidFill>
                  <a:srgbClr val="000000"/>
                </a:solidFill>
                <a:effectLst/>
                <a:latin typeface="Bahnschrift" panose="020B0502040204020203" pitchFamily="34" charset="0"/>
              </a:rPr>
              <a:t>X_test_scaled</a:t>
            </a:r>
            <a:r>
              <a:rPr lang="en-US" b="0" dirty="0">
                <a:solidFill>
                  <a:srgbClr val="000000"/>
                </a:solidFill>
                <a:effectLst/>
                <a:latin typeface="Bahnschrift" panose="020B0502040204020203" pitchFamily="34" charset="0"/>
              </a:rPr>
              <a:t>, label=y_test)</a:t>
            </a:r>
          </a:p>
          <a:p>
            <a:pPr>
              <a:buNone/>
            </a:pPr>
            <a:r>
              <a:rPr lang="en-US" b="0" dirty="0">
                <a:solidFill>
                  <a:srgbClr val="000000"/>
                </a:solidFill>
                <a:effectLst/>
                <a:latin typeface="Bahnschrift" panose="020B0502040204020203" pitchFamily="34" charset="0"/>
              </a:rPr>
              <a:t>model = </a:t>
            </a:r>
            <a:r>
              <a:rPr lang="en-US" b="0" dirty="0" err="1">
                <a:solidFill>
                  <a:srgbClr val="000000"/>
                </a:solidFill>
                <a:effectLst/>
                <a:latin typeface="Bahnschrift" panose="020B0502040204020203" pitchFamily="34" charset="0"/>
              </a:rPr>
              <a:t>CatBoostClassifier</a:t>
            </a:r>
            <a:r>
              <a:rPr lang="en-US" b="0" dirty="0">
                <a:solidFill>
                  <a:srgbClr val="000000"/>
                </a:solidFill>
                <a:effectLst/>
                <a:latin typeface="Bahnschrift" panose="020B0502040204020203" pitchFamily="34" charset="0"/>
              </a:rPr>
              <a:t>(iterations=100, </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learning_rate</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0.1</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a:solidFill>
                  <a:srgbClr val="000000"/>
                </a:solidFill>
                <a:effectLst/>
                <a:latin typeface="Bahnschrift" panose="020B0502040204020203" pitchFamily="34" charset="0"/>
              </a:rPr>
              <a:t>depth=</a:t>
            </a:r>
            <a:r>
              <a:rPr lang="en-US" b="0" dirty="0">
                <a:solidFill>
                  <a:srgbClr val="116644"/>
                </a:solidFill>
                <a:effectLst/>
                <a:latin typeface="Bahnschrift" panose="020B0502040204020203" pitchFamily="34" charset="0"/>
              </a:rPr>
              <a:t>3</a:t>
            </a:r>
            <a:r>
              <a:rPr lang="en-US" dirty="0">
                <a:solidFill>
                  <a:srgbClr val="116644"/>
                </a:solidFill>
                <a:latin typeface="Bahnschrift" panose="020B0502040204020203" pitchFamily="34" charset="0"/>
              </a:rPr>
              <a:t>,</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l2_leaf_reg</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3</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loss_function</a:t>
            </a:r>
            <a:r>
              <a:rPr lang="en-US" b="0" dirty="0">
                <a:solidFill>
                  <a:srgbClr val="000000"/>
                </a:solidFill>
                <a:effectLst/>
                <a:latin typeface="Bahnschrift" panose="020B0502040204020203" pitchFamily="34" charset="0"/>
              </a:rPr>
              <a:t>=</a:t>
            </a:r>
            <a:r>
              <a:rPr lang="en-US" b="0" dirty="0">
                <a:solidFill>
                  <a:srgbClr val="A31515"/>
                </a:solidFill>
                <a:effectLst/>
                <a:latin typeface="Bahnschrift" panose="020B0502040204020203" pitchFamily="34" charset="0"/>
              </a:rPr>
              <a:t>'</a:t>
            </a:r>
            <a:r>
              <a:rPr lang="en-US" b="0" dirty="0" err="1">
                <a:solidFill>
                  <a:srgbClr val="A31515"/>
                </a:solidFill>
                <a:effectLst/>
                <a:latin typeface="Bahnschrift" panose="020B0502040204020203" pitchFamily="34" charset="0"/>
              </a:rPr>
              <a:t>Logloss</a:t>
            </a:r>
            <a:r>
              <a:rPr lang="en-US" b="0" dirty="0">
                <a:solidFill>
                  <a:srgbClr val="A31515"/>
                </a:solidFill>
                <a:effectLst/>
                <a:latin typeface="Bahnschrift" panose="020B0502040204020203" pitchFamily="34" charset="0"/>
              </a:rPr>
              <a:t>'</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eval_metric</a:t>
            </a:r>
            <a:r>
              <a:rPr lang="en-US" b="0" dirty="0">
                <a:solidFill>
                  <a:srgbClr val="000000"/>
                </a:solidFill>
                <a:effectLst/>
                <a:latin typeface="Bahnschrift" panose="020B0502040204020203" pitchFamily="34" charset="0"/>
              </a:rPr>
              <a:t>=</a:t>
            </a:r>
            <a:r>
              <a:rPr lang="en-US" b="0" dirty="0">
                <a:solidFill>
                  <a:srgbClr val="A31515"/>
                </a:solidFill>
                <a:effectLst/>
                <a:latin typeface="Bahnschrift" panose="020B0502040204020203" pitchFamily="34" charset="0"/>
              </a:rPr>
              <a:t>'Accuracy'</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random_seed</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42</a:t>
            </a:r>
            <a:r>
              <a:rPr lang="en-US" b="0" dirty="0">
                <a:solidFill>
                  <a:srgbClr val="000000"/>
                </a:solidFill>
                <a:effectLst/>
                <a:latin typeface="Bahnschrift" panose="020B0502040204020203" pitchFamily="34" charset="0"/>
              </a:rPr>
              <a:t>,  verbose=</a:t>
            </a:r>
            <a:r>
              <a:rPr lang="en-US" b="0" dirty="0">
                <a:solidFill>
                  <a:srgbClr val="116644"/>
                </a:solidFill>
                <a:effectLst/>
                <a:latin typeface="Bahnschrift" panose="020B0502040204020203" pitchFamily="34" charset="0"/>
              </a:rPr>
              <a:t>0</a:t>
            </a:r>
            <a:r>
              <a:rPr lang="en-US" b="0" dirty="0">
                <a:solidFill>
                  <a:srgbClr val="000000"/>
                </a:solidFill>
                <a:effectLst/>
                <a:latin typeface="Bahnschrift" panose="020B0502040204020203" pitchFamily="34" charset="0"/>
              </a:rPr>
              <a:t>  </a:t>
            </a:r>
            <a:r>
              <a:rPr lang="ru-RU" b="0" dirty="0">
                <a:solidFill>
                  <a:srgbClr val="000000"/>
                </a:solidFill>
                <a:effectLst/>
                <a:latin typeface="Bahnschrift" panose="020B0502040204020203" pitchFamily="34" charset="0"/>
              </a:rPr>
              <a:t>)</a:t>
            </a:r>
            <a:endParaRPr lang="en-US" b="0" dirty="0">
              <a:solidFill>
                <a:srgbClr val="000000"/>
              </a:solidFill>
              <a:effectLst/>
              <a:latin typeface="Bahnschrift" panose="020B0502040204020203" pitchFamily="34" charset="0"/>
            </a:endParaRPr>
          </a:p>
          <a:p>
            <a:r>
              <a:rPr lang="en-US" dirty="0" err="1">
                <a:solidFill>
                  <a:srgbClr val="000000"/>
                </a:solidFill>
                <a:latin typeface="Bahnschrift" panose="020B0502040204020203" pitchFamily="34" charset="0"/>
              </a:rPr>
              <a:t>model.fit</a:t>
            </a:r>
            <a:r>
              <a:rPr lang="en-US" dirty="0">
                <a:solidFill>
                  <a:srgbClr val="000000"/>
                </a:solidFill>
                <a:latin typeface="Bahnschrift" panose="020B0502040204020203" pitchFamily="34" charset="0"/>
              </a:rPr>
              <a:t>(</a:t>
            </a:r>
            <a:r>
              <a:rPr lang="en-US" dirty="0" err="1">
                <a:solidFill>
                  <a:srgbClr val="000000"/>
                </a:solidFill>
                <a:latin typeface="Bahnschrift" panose="020B0502040204020203" pitchFamily="34" charset="0"/>
              </a:rPr>
              <a:t>train_pool</a:t>
            </a:r>
            <a:r>
              <a:rPr lang="en-US" dirty="0">
                <a:solidFill>
                  <a:srgbClr val="000000"/>
                </a:solidFill>
                <a:latin typeface="Bahnschrift" panose="020B0502040204020203" pitchFamily="34" charset="0"/>
              </a:rPr>
              <a:t>, </a:t>
            </a:r>
            <a:r>
              <a:rPr lang="en-US" dirty="0" err="1">
                <a:solidFill>
                  <a:srgbClr val="000000"/>
                </a:solidFill>
                <a:latin typeface="Bahnschrift" panose="020B0502040204020203" pitchFamily="34" charset="0"/>
              </a:rPr>
              <a:t>eval_set</a:t>
            </a:r>
            <a:r>
              <a:rPr lang="en-US" dirty="0">
                <a:solidFill>
                  <a:srgbClr val="000000"/>
                </a:solidFill>
                <a:latin typeface="Bahnschrift" panose="020B0502040204020203" pitchFamily="34" charset="0"/>
              </a:rPr>
              <a:t>=</a:t>
            </a:r>
            <a:r>
              <a:rPr lang="en-US" dirty="0" err="1">
                <a:solidFill>
                  <a:srgbClr val="000000"/>
                </a:solidFill>
                <a:latin typeface="Bahnschrift" panose="020B0502040204020203" pitchFamily="34" charset="0"/>
              </a:rPr>
              <a:t>test_pool</a:t>
            </a:r>
            <a:r>
              <a:rPr lang="en-US" dirty="0">
                <a:solidFill>
                  <a:srgbClr val="000000"/>
                </a:solidFill>
                <a:latin typeface="Bahnschrift" panose="020B0502040204020203" pitchFamily="34" charset="0"/>
              </a:rPr>
              <a:t>, verbose=False</a:t>
            </a:r>
            <a:r>
              <a:rPr lang="en-US" dirty="0"/>
              <a:t>)</a:t>
            </a:r>
          </a:p>
          <a:p>
            <a:pPr>
              <a:lnSpc>
                <a:spcPts val="1425"/>
              </a:lnSpc>
              <a:buNone/>
            </a:pPr>
            <a:endParaRPr lang="ru-RU" b="0" dirty="0">
              <a:solidFill>
                <a:srgbClr val="000000"/>
              </a:solidFill>
              <a:effectLst/>
              <a:latin typeface="Bahnschrift" panose="020B0502040204020203" pitchFamily="34" charset="0"/>
            </a:endParaRPr>
          </a:p>
        </p:txBody>
      </p:sp>
    </p:spTree>
    <p:extLst>
      <p:ext uri="{BB962C8B-B14F-4D97-AF65-F5344CB8AC3E}">
        <p14:creationId xmlns:p14="http://schemas.microsoft.com/office/powerpoint/2010/main" val="3302178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DDB8D-B71D-2774-58D7-424BF1DC66F5}"/>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8C30B424-35C2-9AC9-00BE-A792EE884E5F}"/>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14" name="TextBox 13">
            <a:extLst>
              <a:ext uri="{FF2B5EF4-FFF2-40B4-BE49-F238E27FC236}">
                <a16:creationId xmlns:a16="http://schemas.microsoft.com/office/drawing/2014/main" id="{11BC2DCF-2CAE-2406-8D06-549C57EB0223}"/>
              </a:ext>
            </a:extLst>
          </p:cNvPr>
          <p:cNvSpPr txBox="1"/>
          <p:nvPr/>
        </p:nvSpPr>
        <p:spPr>
          <a:xfrm>
            <a:off x="371364" y="1196752"/>
            <a:ext cx="11449272" cy="1569660"/>
          </a:xfrm>
          <a:prstGeom prst="rect">
            <a:avLst/>
          </a:prstGeom>
          <a:noFill/>
        </p:spPr>
        <p:txBody>
          <a:bodyPr wrap="square">
            <a:spAutoFit/>
          </a:bodyPr>
          <a:lstStyle/>
          <a:p>
            <a:r>
              <a:rPr lang="ru-RU" sz="2400" dirty="0">
                <a:solidFill>
                  <a:schemeClr val="accent2">
                    <a:lumMod val="50000"/>
                  </a:schemeClr>
                </a:solidFill>
                <a:latin typeface="Bahnschrift" panose="020B0502040204020203" pitchFamily="34" charset="0"/>
              </a:rPr>
              <a:t>Многослойный персептрон (</a:t>
            </a:r>
            <a:r>
              <a:rPr lang="ru-RU" sz="2400" dirty="0" err="1">
                <a:solidFill>
                  <a:schemeClr val="accent2">
                    <a:lumMod val="50000"/>
                  </a:schemeClr>
                </a:solidFill>
                <a:latin typeface="Bahnschrift" panose="020B0502040204020203" pitchFamily="34" charset="0"/>
              </a:rPr>
              <a:t>MLP</a:t>
            </a:r>
            <a:r>
              <a:rPr lang="ru-RU" sz="2400" dirty="0">
                <a:solidFill>
                  <a:schemeClr val="accent2">
                    <a:lumMod val="50000"/>
                  </a:schemeClr>
                </a:solidFill>
                <a:latin typeface="Bahnschrift" panose="020B0502040204020203" pitchFamily="34" charset="0"/>
              </a:rPr>
              <a:t>) — это тип искусственной нейронной сети прямого распространения (</a:t>
            </a:r>
            <a:r>
              <a:rPr lang="ru-RU" sz="2400" dirty="0" err="1">
                <a:solidFill>
                  <a:schemeClr val="accent2">
                    <a:lumMod val="50000"/>
                  </a:schemeClr>
                </a:solidFill>
                <a:latin typeface="Bahnschrift" panose="020B0502040204020203" pitchFamily="34" charset="0"/>
              </a:rPr>
              <a:t>feedforward</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neural</a:t>
            </a:r>
            <a:r>
              <a:rPr lang="ru-RU" sz="2400" dirty="0">
                <a:solidFill>
                  <a:schemeClr val="accent2">
                    <a:lumMod val="50000"/>
                  </a:schemeClr>
                </a:solidFill>
                <a:latin typeface="Bahnschrift" panose="020B0502040204020203" pitchFamily="34" charset="0"/>
              </a:rPr>
              <a:t> </a:t>
            </a:r>
            <a:r>
              <a:rPr lang="ru-RU" sz="2400" dirty="0" err="1">
                <a:solidFill>
                  <a:schemeClr val="accent2">
                    <a:lumMod val="50000"/>
                  </a:schemeClr>
                </a:solidFill>
                <a:latin typeface="Bahnschrift" panose="020B0502040204020203" pitchFamily="34" charset="0"/>
              </a:rPr>
              <a:t>network</a:t>
            </a:r>
            <a:r>
              <a:rPr lang="ru-RU" sz="2400" dirty="0">
                <a:solidFill>
                  <a:schemeClr val="accent2">
                    <a:lumMod val="50000"/>
                  </a:schemeClr>
                </a:solidFill>
                <a:latin typeface="Bahnschrift" panose="020B0502040204020203" pitchFamily="34" charset="0"/>
              </a:rPr>
              <a:t>). Он состоит из одного или нескольких слоев персептронов (нейронов), организованных последовательно</a:t>
            </a:r>
            <a:endParaRPr lang="ru-RU" sz="2400" b="0" dirty="0">
              <a:solidFill>
                <a:schemeClr val="accent2">
                  <a:lumMod val="50000"/>
                </a:schemeClr>
              </a:solidFill>
              <a:effectLst/>
              <a:latin typeface="Bahnschrift" panose="020B0502040204020203" pitchFamily="34" charset="0"/>
            </a:endParaRPr>
          </a:p>
        </p:txBody>
      </p:sp>
      <p:pic>
        <p:nvPicPr>
          <p:cNvPr id="2" name="Рисунок 1">
            <a:extLst>
              <a:ext uri="{FF2B5EF4-FFF2-40B4-BE49-F238E27FC236}">
                <a16:creationId xmlns:a16="http://schemas.microsoft.com/office/drawing/2014/main" id="{364818CD-0D1A-73A6-0B9B-CBD3B2BDB6A8}"/>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2783632" y="2924944"/>
            <a:ext cx="6264696" cy="3663256"/>
          </a:xfrm>
          <a:prstGeom prst="rect">
            <a:avLst/>
          </a:prstGeom>
        </p:spPr>
      </p:pic>
    </p:spTree>
    <p:extLst>
      <p:ext uri="{BB962C8B-B14F-4D97-AF65-F5344CB8AC3E}">
        <p14:creationId xmlns:p14="http://schemas.microsoft.com/office/powerpoint/2010/main" val="3134904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66EE-29E5-BE6E-D364-46D662DDB46A}"/>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B22A676D-DAFF-EF5C-FEB3-07220E7EF426}"/>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14" name="TextBox 13">
            <a:extLst>
              <a:ext uri="{FF2B5EF4-FFF2-40B4-BE49-F238E27FC236}">
                <a16:creationId xmlns:a16="http://schemas.microsoft.com/office/drawing/2014/main" id="{0B6505A9-B7E0-8971-2834-56133A891596}"/>
              </a:ext>
            </a:extLst>
          </p:cNvPr>
          <p:cNvSpPr txBox="1"/>
          <p:nvPr/>
        </p:nvSpPr>
        <p:spPr>
          <a:xfrm>
            <a:off x="371364" y="764704"/>
            <a:ext cx="11449272" cy="5632311"/>
          </a:xfrm>
          <a:prstGeom prst="rect">
            <a:avLst/>
          </a:prstGeom>
          <a:noFill/>
        </p:spPr>
        <p:txBody>
          <a:bodyPr wrap="square">
            <a:spAutoFit/>
          </a:bodyPr>
          <a:lstStyle/>
          <a:p>
            <a:r>
              <a:rPr lang="ru-RU" sz="2000" b="1" dirty="0">
                <a:solidFill>
                  <a:schemeClr val="accent2">
                    <a:lumMod val="50000"/>
                  </a:schemeClr>
                </a:solidFill>
                <a:latin typeface="Bahnschrift" panose="020B0502040204020203" pitchFamily="34" charset="0"/>
              </a:rPr>
              <a:t>Архитектура </a:t>
            </a:r>
            <a:r>
              <a:rPr lang="ru-RU" sz="2000" b="1" dirty="0" err="1">
                <a:solidFill>
                  <a:schemeClr val="accent2">
                    <a:lumMod val="50000"/>
                  </a:schemeClr>
                </a:solidFill>
                <a:latin typeface="Bahnschrift" panose="020B0502040204020203" pitchFamily="34" charset="0"/>
              </a:rPr>
              <a:t>MLP</a:t>
            </a:r>
            <a:r>
              <a:rPr lang="ru-RU" sz="2000" b="1" dirty="0">
                <a:solidFill>
                  <a:schemeClr val="accent2">
                    <a:lumMod val="50000"/>
                  </a:schemeClr>
                </a:solidFill>
                <a:latin typeface="Bahnschrift" panose="020B0502040204020203" pitchFamily="34" charset="0"/>
              </a:rPr>
              <a:t>:</a:t>
            </a:r>
            <a:endParaRPr lang="ru-RU" sz="2000" dirty="0">
              <a:solidFill>
                <a:schemeClr val="accent2">
                  <a:lumMod val="50000"/>
                </a:schemeClr>
              </a:solidFill>
              <a:latin typeface="Bahnschrift" panose="020B0502040204020203" pitchFamily="34" charset="0"/>
            </a:endParaRPr>
          </a:p>
          <a:p>
            <a:pPr marL="987425" indent="-987425"/>
            <a:r>
              <a:rPr lang="ru-RU" sz="2000" b="1" dirty="0">
                <a:solidFill>
                  <a:schemeClr val="accent2">
                    <a:lumMod val="50000"/>
                  </a:schemeClr>
                </a:solidFill>
                <a:latin typeface="Bahnschrift" panose="020B0502040204020203" pitchFamily="34" charset="0"/>
              </a:rPr>
              <a:t>Входной слой (</a:t>
            </a:r>
            <a:r>
              <a:rPr lang="ru-RU" sz="2000" b="1" dirty="0" err="1">
                <a:solidFill>
                  <a:schemeClr val="accent2">
                    <a:lumMod val="50000"/>
                  </a:schemeClr>
                </a:solidFill>
                <a:latin typeface="Bahnschrift" panose="020B0502040204020203" pitchFamily="34" charset="0"/>
              </a:rPr>
              <a:t>Input</a:t>
            </a:r>
            <a:r>
              <a:rPr lang="ru-RU" sz="2000" b="1" dirty="0">
                <a:solidFill>
                  <a:schemeClr val="accent2">
                    <a:lumMod val="50000"/>
                  </a:schemeClr>
                </a:solidFill>
                <a:latin typeface="Bahnschrift" panose="020B0502040204020203" pitchFamily="34" charset="0"/>
              </a:rPr>
              <a:t> Layer):</a:t>
            </a:r>
            <a:r>
              <a:rPr lang="ru-RU" sz="2000" dirty="0">
                <a:solidFill>
                  <a:schemeClr val="accent2">
                    <a:lumMod val="50000"/>
                  </a:schemeClr>
                </a:solidFill>
                <a:latin typeface="Bahnschrift" panose="020B0502040204020203" pitchFamily="34" charset="0"/>
              </a:rPr>
              <a:t> Получает входные данные. Количество нейронов во входном слое соответствует количеству признаков в ваших данных.</a:t>
            </a:r>
            <a:endParaRPr lang="en-US" sz="2000" dirty="0">
              <a:solidFill>
                <a:schemeClr val="accent2">
                  <a:lumMod val="50000"/>
                </a:schemeClr>
              </a:solidFill>
              <a:latin typeface="Bahnschrift" panose="020B0502040204020203" pitchFamily="34" charset="0"/>
            </a:endParaRPr>
          </a:p>
          <a:p>
            <a:pPr marL="987425" indent="-987425"/>
            <a:endParaRPr lang="ru-RU" sz="2000" dirty="0">
              <a:solidFill>
                <a:schemeClr val="accent2">
                  <a:lumMod val="50000"/>
                </a:schemeClr>
              </a:solidFill>
              <a:latin typeface="Bahnschrift" panose="020B0502040204020203" pitchFamily="34" charset="0"/>
            </a:endParaRPr>
          </a:p>
          <a:p>
            <a:pPr marL="987425" indent="-987425"/>
            <a:r>
              <a:rPr lang="ru-RU" sz="2000" b="1" dirty="0">
                <a:solidFill>
                  <a:schemeClr val="accent2">
                    <a:lumMod val="50000"/>
                  </a:schemeClr>
                </a:solidFill>
                <a:latin typeface="Bahnschrift" panose="020B0502040204020203" pitchFamily="34" charset="0"/>
              </a:rPr>
              <a:t>Скрытые слои (</a:t>
            </a:r>
            <a:r>
              <a:rPr lang="ru-RU" sz="2000" b="1" dirty="0" err="1">
                <a:solidFill>
                  <a:schemeClr val="accent2">
                    <a:lumMod val="50000"/>
                  </a:schemeClr>
                </a:solidFill>
                <a:latin typeface="Bahnschrift" panose="020B0502040204020203" pitchFamily="34" charset="0"/>
              </a:rPr>
              <a:t>Hidden</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Layers</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Один или несколько слоев, расположенных между входным и выходным слоями. Каждый нейрон в скрытом слое получает взвешенную сумму выходов из предыдущего слоя, к которой добавляется смещение (</a:t>
            </a:r>
            <a:r>
              <a:rPr lang="ru-RU" sz="2000" dirty="0" err="1">
                <a:solidFill>
                  <a:schemeClr val="accent2">
                    <a:lumMod val="50000"/>
                  </a:schemeClr>
                </a:solidFill>
                <a:latin typeface="Bahnschrift" panose="020B0502040204020203" pitchFamily="34" charset="0"/>
              </a:rPr>
              <a:t>bias</a:t>
            </a:r>
            <a:r>
              <a:rPr lang="ru-RU" sz="2000" dirty="0">
                <a:solidFill>
                  <a:schemeClr val="accent2">
                    <a:lumMod val="50000"/>
                  </a:schemeClr>
                </a:solidFill>
                <a:latin typeface="Bahnschrift" panose="020B0502040204020203" pitchFamily="34" charset="0"/>
              </a:rPr>
              <a:t>). Затем к этой сумме применяется функция активации.</a:t>
            </a:r>
            <a:endParaRPr lang="en-US" sz="2000" dirty="0">
              <a:solidFill>
                <a:schemeClr val="accent2">
                  <a:lumMod val="50000"/>
                </a:schemeClr>
              </a:solidFill>
              <a:latin typeface="Bahnschrift" panose="020B0502040204020203" pitchFamily="34" charset="0"/>
            </a:endParaRPr>
          </a:p>
          <a:p>
            <a:endParaRPr lang="ru-RU" sz="2000" dirty="0">
              <a:solidFill>
                <a:schemeClr val="accent2">
                  <a:lumMod val="50000"/>
                </a:schemeClr>
              </a:solidFill>
              <a:latin typeface="Bahnschrift" panose="020B0502040204020203" pitchFamily="34" charset="0"/>
            </a:endParaRPr>
          </a:p>
          <a:p>
            <a:pPr marL="987425" indent="-987425"/>
            <a:r>
              <a:rPr lang="ru-RU" sz="2000" b="1" dirty="0">
                <a:solidFill>
                  <a:schemeClr val="accent2">
                    <a:lumMod val="50000"/>
                  </a:schemeClr>
                </a:solidFill>
                <a:latin typeface="Bahnschrift" panose="020B0502040204020203" pitchFamily="34" charset="0"/>
              </a:rPr>
              <a:t>Выходной слой (</a:t>
            </a:r>
            <a:r>
              <a:rPr lang="ru-RU" sz="2000" b="1" dirty="0" err="1">
                <a:solidFill>
                  <a:schemeClr val="accent2">
                    <a:lumMod val="50000"/>
                  </a:schemeClr>
                </a:solidFill>
                <a:latin typeface="Bahnschrift" panose="020B0502040204020203" pitchFamily="34" charset="0"/>
              </a:rPr>
              <a:t>Output</a:t>
            </a:r>
            <a:r>
              <a:rPr lang="ru-RU" sz="2000" b="1" dirty="0">
                <a:solidFill>
                  <a:schemeClr val="accent2">
                    <a:lumMod val="50000"/>
                  </a:schemeClr>
                </a:solidFill>
                <a:latin typeface="Bahnschrift" panose="020B0502040204020203" pitchFamily="34" charset="0"/>
              </a:rPr>
              <a:t> Layer):</a:t>
            </a:r>
            <a:r>
              <a:rPr lang="ru-RU" sz="2000" dirty="0">
                <a:solidFill>
                  <a:schemeClr val="accent2">
                    <a:lumMod val="50000"/>
                  </a:schemeClr>
                </a:solidFill>
                <a:latin typeface="Bahnschrift" panose="020B0502040204020203" pitchFamily="34" charset="0"/>
              </a:rPr>
              <a:t> Выдает результат. Количество нейронов в выходном слое зависит от задачи:</a:t>
            </a:r>
            <a:endParaRPr lang="en-US" sz="2000" dirty="0">
              <a:solidFill>
                <a:schemeClr val="accent2">
                  <a:lumMod val="50000"/>
                </a:schemeClr>
              </a:solidFill>
              <a:latin typeface="Bahnschrift" panose="020B0502040204020203" pitchFamily="34" charset="0"/>
            </a:endParaRPr>
          </a:p>
          <a:p>
            <a:endParaRPr lang="ru-RU" sz="2000" dirty="0">
              <a:solidFill>
                <a:schemeClr val="accent2">
                  <a:lumMod val="50000"/>
                </a:schemeClr>
              </a:solidFill>
              <a:latin typeface="Bahnschrift" panose="020B0502040204020203" pitchFamily="34" charset="0"/>
            </a:endParaRPr>
          </a:p>
          <a:p>
            <a:pPr marL="893763" lvl="1" indent="-436563"/>
            <a:r>
              <a:rPr lang="ru-RU" sz="2000" b="1" dirty="0">
                <a:solidFill>
                  <a:schemeClr val="accent2">
                    <a:lumMod val="50000"/>
                  </a:schemeClr>
                </a:solidFill>
                <a:latin typeface="Bahnschrift" panose="020B0502040204020203" pitchFamily="34" charset="0"/>
              </a:rPr>
              <a:t>Классификация:</a:t>
            </a:r>
            <a:r>
              <a:rPr lang="ru-RU" sz="2000" dirty="0">
                <a:solidFill>
                  <a:schemeClr val="accent2">
                    <a:lumMod val="50000"/>
                  </a:schemeClr>
                </a:solidFill>
                <a:latin typeface="Bahnschrift" panose="020B0502040204020203" pitchFamily="34" charset="0"/>
              </a:rPr>
              <a:t> Для бинарной классификации обычно один нейрон (с </a:t>
            </a:r>
            <a:r>
              <a:rPr lang="ru-RU" sz="2000" dirty="0" err="1">
                <a:solidFill>
                  <a:schemeClr val="accent2">
                    <a:lumMod val="50000"/>
                  </a:schemeClr>
                </a:solidFill>
                <a:latin typeface="Bahnschrift" panose="020B0502040204020203" pitchFamily="34" charset="0"/>
              </a:rPr>
              <a:t>сигмоидной</a:t>
            </a:r>
            <a:r>
              <a:rPr lang="ru-RU" sz="2000" dirty="0">
                <a:solidFill>
                  <a:schemeClr val="accent2">
                    <a:lumMod val="50000"/>
                  </a:schemeClr>
                </a:solidFill>
                <a:latin typeface="Bahnschrift" panose="020B0502040204020203" pitchFamily="34" charset="0"/>
              </a:rPr>
              <a:t> функцией активации), для </a:t>
            </a:r>
            <a:r>
              <a:rPr lang="ru-RU" sz="2000" dirty="0" err="1">
                <a:solidFill>
                  <a:schemeClr val="accent2">
                    <a:lumMod val="50000"/>
                  </a:schemeClr>
                </a:solidFill>
                <a:latin typeface="Bahnschrift" panose="020B0502040204020203" pitchFamily="34" charset="0"/>
              </a:rPr>
              <a:t>многоклассовой</a:t>
            </a:r>
            <a:r>
              <a:rPr lang="ru-RU" sz="2000" dirty="0">
                <a:solidFill>
                  <a:schemeClr val="accent2">
                    <a:lumMod val="50000"/>
                  </a:schemeClr>
                </a:solidFill>
                <a:latin typeface="Bahnschrift" panose="020B0502040204020203" pitchFamily="34" charset="0"/>
              </a:rPr>
              <a:t> классификации — количество нейронов равно количеству классов (с функцией активации </a:t>
            </a:r>
            <a:r>
              <a:rPr lang="ru-RU" sz="2000" dirty="0" err="1">
                <a:solidFill>
                  <a:schemeClr val="accent2">
                    <a:lumMod val="50000"/>
                  </a:schemeClr>
                </a:solidFill>
                <a:latin typeface="Bahnschrift" panose="020B0502040204020203" pitchFamily="34" charset="0"/>
              </a:rPr>
              <a:t>softmax</a:t>
            </a:r>
            <a:r>
              <a:rPr lang="ru-RU" sz="2000" dirty="0">
                <a:solidFill>
                  <a:schemeClr val="accent2">
                    <a:lumMod val="50000"/>
                  </a:schemeClr>
                </a:solidFill>
                <a:latin typeface="Bahnschrift" panose="020B0502040204020203" pitchFamily="34" charset="0"/>
              </a:rPr>
              <a:t>).</a:t>
            </a:r>
            <a:endParaRPr lang="en-US" sz="2000" dirty="0">
              <a:solidFill>
                <a:schemeClr val="accent2">
                  <a:lumMod val="50000"/>
                </a:schemeClr>
              </a:solidFill>
              <a:latin typeface="Bahnschrift" panose="020B0502040204020203" pitchFamily="34" charset="0"/>
            </a:endParaRPr>
          </a:p>
          <a:p>
            <a:pPr lvl="1"/>
            <a:endParaRPr lang="ru-RU" sz="2000" dirty="0">
              <a:solidFill>
                <a:schemeClr val="accent2">
                  <a:lumMod val="50000"/>
                </a:schemeClr>
              </a:solidFill>
              <a:latin typeface="Bahnschrift" panose="020B0502040204020203" pitchFamily="34" charset="0"/>
            </a:endParaRPr>
          </a:p>
          <a:p>
            <a:pPr marL="987425" lvl="1" indent="-530225"/>
            <a:r>
              <a:rPr lang="ru-RU" sz="2000" b="1" dirty="0">
                <a:solidFill>
                  <a:schemeClr val="accent2">
                    <a:lumMod val="50000"/>
                  </a:schemeClr>
                </a:solidFill>
                <a:latin typeface="Bahnschrift" panose="020B0502040204020203" pitchFamily="34" charset="0"/>
              </a:rPr>
              <a:t>Регрессия:</a:t>
            </a:r>
            <a:r>
              <a:rPr lang="ru-RU" sz="2000" dirty="0">
                <a:solidFill>
                  <a:schemeClr val="accent2">
                    <a:lumMod val="50000"/>
                  </a:schemeClr>
                </a:solidFill>
                <a:latin typeface="Bahnschrift" panose="020B0502040204020203" pitchFamily="34" charset="0"/>
              </a:rPr>
              <a:t> Обычно один нейрон (без функции активации или с линейной функцией активации).</a:t>
            </a:r>
          </a:p>
        </p:txBody>
      </p:sp>
    </p:spTree>
    <p:extLst>
      <p:ext uri="{BB962C8B-B14F-4D97-AF65-F5344CB8AC3E}">
        <p14:creationId xmlns:p14="http://schemas.microsoft.com/office/powerpoint/2010/main" val="1885650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5711F-DDAF-ABDD-7BE5-55BDAEA84C9E}"/>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670BE990-1765-7AD6-574F-8E4E53EB86D9}"/>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14" name="TextBox 13">
            <a:extLst>
              <a:ext uri="{FF2B5EF4-FFF2-40B4-BE49-F238E27FC236}">
                <a16:creationId xmlns:a16="http://schemas.microsoft.com/office/drawing/2014/main" id="{88C6EEB7-E2DF-699E-69C9-FD7C73976D2F}"/>
              </a:ext>
            </a:extLst>
          </p:cNvPr>
          <p:cNvSpPr txBox="1"/>
          <p:nvPr/>
        </p:nvSpPr>
        <p:spPr>
          <a:xfrm>
            <a:off x="371364" y="530452"/>
            <a:ext cx="11449272" cy="5940088"/>
          </a:xfrm>
          <a:prstGeom prst="rect">
            <a:avLst/>
          </a:prstGeom>
          <a:noFill/>
        </p:spPr>
        <p:txBody>
          <a:bodyPr wrap="square">
            <a:spAutoFit/>
          </a:bodyPr>
          <a:lstStyle/>
          <a:p>
            <a:r>
              <a:rPr lang="ru-RU" sz="2000" b="1" dirty="0">
                <a:solidFill>
                  <a:schemeClr val="accent2">
                    <a:lumMod val="50000"/>
                  </a:schemeClr>
                </a:solidFill>
                <a:latin typeface="Bahnschrift" panose="020B0502040204020203" pitchFamily="34" charset="0"/>
              </a:rPr>
              <a:t>Принцип работы </a:t>
            </a:r>
            <a:r>
              <a:rPr lang="ru-RU" sz="2000" b="1" dirty="0" err="1">
                <a:solidFill>
                  <a:schemeClr val="accent2">
                    <a:lumMod val="50000"/>
                  </a:schemeClr>
                </a:solidFill>
                <a:latin typeface="Bahnschrift" panose="020B0502040204020203" pitchFamily="34" charset="0"/>
              </a:rPr>
              <a:t>MLP</a:t>
            </a:r>
            <a:r>
              <a:rPr lang="ru-RU" sz="2000" b="1" dirty="0">
                <a:solidFill>
                  <a:schemeClr val="accent2">
                    <a:lumMod val="50000"/>
                  </a:schemeClr>
                </a:solidFill>
                <a:latin typeface="Bahnschrift" panose="020B0502040204020203" pitchFamily="34" charset="0"/>
              </a:rPr>
              <a:t>:</a:t>
            </a:r>
            <a:endParaRPr lang="en-US" sz="2000" b="1" dirty="0">
              <a:solidFill>
                <a:schemeClr val="accent2">
                  <a:lumMod val="50000"/>
                </a:schemeClr>
              </a:solidFill>
              <a:latin typeface="Bahnschrift" panose="020B0502040204020203" pitchFamily="34" charset="0"/>
            </a:endParaRP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Прямое распространение (</a:t>
            </a:r>
            <a:r>
              <a:rPr lang="ru-RU" sz="2000" b="1" dirty="0" err="1">
                <a:solidFill>
                  <a:schemeClr val="accent2">
                    <a:lumMod val="50000"/>
                  </a:schemeClr>
                </a:solidFill>
                <a:latin typeface="Bahnschrift" panose="020B0502040204020203" pitchFamily="34" charset="0"/>
              </a:rPr>
              <a:t>Forward</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Propagation</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a:t>
            </a:r>
            <a:endParaRPr lang="en-US" sz="2000" dirty="0">
              <a:solidFill>
                <a:schemeClr val="accent2">
                  <a:lumMod val="50000"/>
                </a:schemeClr>
              </a:solidFill>
              <a:latin typeface="Bahnschrift" panose="020B0502040204020203" pitchFamily="34" charset="0"/>
            </a:endParaRPr>
          </a:p>
          <a:p>
            <a:pPr marL="1071563"/>
            <a:r>
              <a:rPr lang="ru-RU" sz="2000" dirty="0">
                <a:solidFill>
                  <a:schemeClr val="accent2">
                    <a:lumMod val="50000"/>
                  </a:schemeClr>
                </a:solidFill>
                <a:latin typeface="Bahnschrift" panose="020B0502040204020203" pitchFamily="34" charset="0"/>
              </a:rPr>
              <a:t>Входные данные проходят через сеть, слой за слоем. На каждом нейроне вычисляется взвешенная сумма входов, к которой добавляется смещение, и применяется функция активации.</a:t>
            </a:r>
            <a:endParaRPr lang="en-US" sz="2000" dirty="0">
              <a:solidFill>
                <a:schemeClr val="accent2">
                  <a:lumMod val="50000"/>
                </a:schemeClr>
              </a:solidFill>
              <a:latin typeface="Bahnschrift" panose="020B0502040204020203" pitchFamily="34" charset="0"/>
            </a:endParaRP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Функция потерь (</a:t>
            </a:r>
            <a:r>
              <a:rPr lang="ru-RU" sz="2000" b="1" dirty="0" err="1">
                <a:solidFill>
                  <a:schemeClr val="accent2">
                    <a:lumMod val="50000"/>
                  </a:schemeClr>
                </a:solidFill>
                <a:latin typeface="Bahnschrift" panose="020B0502040204020203" pitchFamily="34" charset="0"/>
              </a:rPr>
              <a:t>Loss</a:t>
            </a:r>
            <a:r>
              <a:rPr lang="ru-RU" sz="2000" b="1" dirty="0">
                <a:solidFill>
                  <a:schemeClr val="accent2">
                    <a:lumMod val="50000"/>
                  </a:schemeClr>
                </a:solidFill>
                <a:latin typeface="Bahnschrift" panose="020B0502040204020203" pitchFamily="34" charset="0"/>
              </a:rPr>
              <a:t> </a:t>
            </a:r>
            <a:r>
              <a:rPr lang="ru-RU" sz="2000" b="1" dirty="0" err="1">
                <a:solidFill>
                  <a:schemeClr val="accent2">
                    <a:lumMod val="50000"/>
                  </a:schemeClr>
                </a:solidFill>
                <a:latin typeface="Bahnschrift" panose="020B0502040204020203" pitchFamily="34" charset="0"/>
              </a:rPr>
              <a:t>Function</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a:t>
            </a:r>
            <a:endParaRPr lang="en-US" sz="2000" dirty="0">
              <a:solidFill>
                <a:schemeClr val="accent2">
                  <a:lumMod val="50000"/>
                </a:schemeClr>
              </a:solidFill>
              <a:latin typeface="Bahnschrift" panose="020B0502040204020203" pitchFamily="34" charset="0"/>
            </a:endParaRPr>
          </a:p>
          <a:p>
            <a:pPr marL="1071563"/>
            <a:r>
              <a:rPr lang="ru-RU" sz="2000" dirty="0">
                <a:solidFill>
                  <a:schemeClr val="accent2">
                    <a:lumMod val="50000"/>
                  </a:schemeClr>
                </a:solidFill>
                <a:latin typeface="Bahnschrift" panose="020B0502040204020203" pitchFamily="34" charset="0"/>
              </a:rPr>
              <a:t>Выход сети сравнивается с фактическим значением, и вычисляется функция потерь, которая показывает, насколько хорошо сеть предсказывает результат. </a:t>
            </a:r>
            <a:endParaRPr lang="en-US" sz="2000" dirty="0">
              <a:solidFill>
                <a:schemeClr val="accent2">
                  <a:lumMod val="50000"/>
                </a:schemeClr>
              </a:solidFill>
              <a:latin typeface="Bahnschrift" panose="020B0502040204020203" pitchFamily="34" charset="0"/>
            </a:endParaRPr>
          </a:p>
          <a:p>
            <a:pPr lvl="1"/>
            <a:r>
              <a:rPr lang="ru-RU" sz="2000" b="1" dirty="0">
                <a:solidFill>
                  <a:schemeClr val="accent2">
                    <a:lumMod val="50000"/>
                  </a:schemeClr>
                </a:solidFill>
                <a:latin typeface="Bahnschrift" panose="020B0502040204020203" pitchFamily="34" charset="0"/>
              </a:rPr>
              <a:t>Классификация:</a:t>
            </a:r>
            <a:r>
              <a:rPr lang="ru-RU" sz="2000" dirty="0">
                <a:solidFill>
                  <a:schemeClr val="accent2">
                    <a:lumMod val="50000"/>
                  </a:schemeClr>
                </a:solidFill>
                <a:latin typeface="Bahnschrift" panose="020B0502040204020203" pitchFamily="34" charset="0"/>
              </a:rPr>
              <a:t> Cross-</a:t>
            </a:r>
            <a:r>
              <a:rPr lang="ru-RU" sz="2000" dirty="0" err="1">
                <a:solidFill>
                  <a:schemeClr val="accent2">
                    <a:lumMod val="50000"/>
                  </a:schemeClr>
                </a:solidFill>
                <a:latin typeface="Bahnschrift" panose="020B0502040204020203" pitchFamily="34" charset="0"/>
              </a:rPr>
              <a:t>entropy</a:t>
            </a:r>
            <a:r>
              <a:rPr lang="ru-RU" sz="2000" dirty="0">
                <a:solidFill>
                  <a:schemeClr val="accent2">
                    <a:lumMod val="50000"/>
                  </a:schemeClr>
                </a:solidFill>
                <a:latin typeface="Bahnschrift" panose="020B0502040204020203" pitchFamily="34" charset="0"/>
              </a:rPr>
              <a:t> (логистическая функция потерь).</a:t>
            </a:r>
          </a:p>
          <a:p>
            <a:pPr lvl="1"/>
            <a:r>
              <a:rPr lang="ru-RU" sz="2000" b="1" dirty="0">
                <a:solidFill>
                  <a:schemeClr val="accent2">
                    <a:lumMod val="50000"/>
                  </a:schemeClr>
                </a:solidFill>
                <a:latin typeface="Bahnschrift" panose="020B0502040204020203" pitchFamily="34" charset="0"/>
              </a:rPr>
              <a:t>Регрессия:</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Mean</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Squared</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Error</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MSE</a:t>
            </a:r>
            <a:r>
              <a:rPr lang="ru-RU" sz="2000" dirty="0">
                <a:solidFill>
                  <a:schemeClr val="accent2">
                    <a:lumMod val="50000"/>
                  </a:schemeClr>
                </a:solidFill>
                <a:latin typeface="Bahnschrift" panose="020B0502040204020203" pitchFamily="34" charset="0"/>
              </a:rPr>
              <a:t>).</a:t>
            </a:r>
            <a:endParaRPr lang="en-US" sz="2000" dirty="0">
              <a:solidFill>
                <a:schemeClr val="accent2">
                  <a:lumMod val="50000"/>
                </a:schemeClr>
              </a:solidFill>
              <a:latin typeface="Bahnschrift" panose="020B0502040204020203" pitchFamily="34" charset="0"/>
            </a:endParaRPr>
          </a:p>
          <a:p>
            <a:pPr lvl="1"/>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Обратное распространение (</a:t>
            </a:r>
            <a:r>
              <a:rPr lang="ru-RU" sz="2000" b="1" dirty="0" err="1">
                <a:solidFill>
                  <a:schemeClr val="accent2">
                    <a:lumMod val="50000"/>
                  </a:schemeClr>
                </a:solidFill>
                <a:latin typeface="Bahnschrift" panose="020B0502040204020203" pitchFamily="34" charset="0"/>
              </a:rPr>
              <a:t>Backpropagation</a:t>
            </a:r>
            <a:r>
              <a:rPr lang="ru-RU" sz="2000" b="1" dirty="0">
                <a:solidFill>
                  <a:schemeClr val="accent2">
                    <a:lumMod val="50000"/>
                  </a:schemeClr>
                </a:solidFill>
                <a:latin typeface="Bahnschrift" panose="020B0502040204020203" pitchFamily="34" charset="0"/>
              </a:rPr>
              <a:t>):</a:t>
            </a:r>
            <a:r>
              <a:rPr lang="ru-RU" sz="2000" dirty="0">
                <a:solidFill>
                  <a:schemeClr val="accent2">
                    <a:lumMod val="50000"/>
                  </a:schemeClr>
                </a:solidFill>
                <a:latin typeface="Bahnschrift" panose="020B0502040204020203" pitchFamily="34" charset="0"/>
              </a:rPr>
              <a:t> </a:t>
            </a:r>
            <a:endParaRPr lang="en-US" sz="2000" dirty="0">
              <a:solidFill>
                <a:schemeClr val="accent2">
                  <a:lumMod val="50000"/>
                </a:schemeClr>
              </a:solidFill>
              <a:latin typeface="Bahnschrift" panose="020B0502040204020203" pitchFamily="34" charset="0"/>
            </a:endParaRPr>
          </a:p>
          <a:p>
            <a:pPr marL="1071563"/>
            <a:r>
              <a:rPr lang="ru-RU" sz="2000" dirty="0">
                <a:solidFill>
                  <a:schemeClr val="accent2">
                    <a:lumMod val="50000"/>
                  </a:schemeClr>
                </a:solidFill>
                <a:latin typeface="Bahnschrift" panose="020B0502040204020203" pitchFamily="34" charset="0"/>
              </a:rPr>
              <a:t>Вычисляются градиенты функции потерь по отношению ко всем параметрам сети (весам и смещениям).</a:t>
            </a:r>
          </a:p>
          <a:p>
            <a:r>
              <a:rPr lang="ru-RU" sz="2000" b="1" dirty="0">
                <a:solidFill>
                  <a:schemeClr val="accent2">
                    <a:lumMod val="50000"/>
                  </a:schemeClr>
                </a:solidFill>
                <a:latin typeface="Bahnschrift" panose="020B0502040204020203" pitchFamily="34" charset="0"/>
              </a:rPr>
              <a:t>Оптимизация:</a:t>
            </a:r>
            <a:endParaRPr lang="en-US" sz="2000" b="1" dirty="0">
              <a:solidFill>
                <a:schemeClr val="accent2">
                  <a:lumMod val="50000"/>
                </a:schemeClr>
              </a:solidFill>
              <a:latin typeface="Bahnschrift" panose="020B0502040204020203" pitchFamily="34" charset="0"/>
            </a:endParaRPr>
          </a:p>
          <a:p>
            <a:pPr marL="1071563"/>
            <a:r>
              <a:rPr lang="ru-RU" sz="2000" dirty="0">
                <a:solidFill>
                  <a:schemeClr val="accent2">
                    <a:lumMod val="50000"/>
                  </a:schemeClr>
                </a:solidFill>
                <a:latin typeface="Bahnschrift" panose="020B0502040204020203" pitchFamily="34" charset="0"/>
              </a:rPr>
              <a:t> Параметры сети обновляются с использованием алгоритма оптимизации (например, градиентного спуска) для минимизации функции потерь.</a:t>
            </a:r>
          </a:p>
        </p:txBody>
      </p:sp>
    </p:spTree>
    <p:extLst>
      <p:ext uri="{BB962C8B-B14F-4D97-AF65-F5344CB8AC3E}">
        <p14:creationId xmlns:p14="http://schemas.microsoft.com/office/powerpoint/2010/main" val="1948478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6920696E-E76E-B224-A9CD-DDEE2249874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732280" y="424469"/>
            <a:ext cx="10692311" cy="6028867"/>
          </a:xfrm>
          <a:prstGeom prst="rect">
            <a:avLst/>
          </a:prstGeom>
        </p:spPr>
      </p:pic>
    </p:spTree>
    <p:extLst>
      <p:ext uri="{BB962C8B-B14F-4D97-AF65-F5344CB8AC3E}">
        <p14:creationId xmlns:p14="http://schemas.microsoft.com/office/powerpoint/2010/main" val="35069545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317C7-29B1-0A74-E67E-0E8318DDBE05}"/>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9E0611E7-7FC4-123C-8DD0-43FAFBBF337A}"/>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4" name="TextBox 3">
            <a:extLst>
              <a:ext uri="{FF2B5EF4-FFF2-40B4-BE49-F238E27FC236}">
                <a16:creationId xmlns:a16="http://schemas.microsoft.com/office/drawing/2014/main" id="{B294D39D-BB0F-F98E-DE21-F67191811E38}"/>
              </a:ext>
            </a:extLst>
          </p:cNvPr>
          <p:cNvSpPr txBox="1"/>
          <p:nvPr/>
        </p:nvSpPr>
        <p:spPr>
          <a:xfrm>
            <a:off x="623392" y="612844"/>
            <a:ext cx="10369152" cy="5632311"/>
          </a:xfrm>
          <a:prstGeom prst="rect">
            <a:avLst/>
          </a:prstGeom>
          <a:noFill/>
        </p:spPr>
        <p:txBody>
          <a:bodyPr wrap="square">
            <a:spAutoFit/>
          </a:bodyPr>
          <a:lstStyle/>
          <a:p>
            <a:r>
              <a:rPr lang="ru-RU" b="1" dirty="0">
                <a:solidFill>
                  <a:schemeClr val="accent2">
                    <a:lumMod val="50000"/>
                  </a:schemeClr>
                </a:solidFill>
                <a:latin typeface="Bahnschrift" panose="020B0502040204020203" pitchFamily="34" charset="0"/>
              </a:rPr>
              <a:t>Параметры </a:t>
            </a:r>
            <a:r>
              <a:rPr lang="en-US" b="1" dirty="0" err="1">
                <a:solidFill>
                  <a:schemeClr val="accent2">
                    <a:lumMod val="50000"/>
                  </a:schemeClr>
                </a:solidFill>
                <a:latin typeface="Bahnschrift" panose="020B0502040204020203" pitchFamily="34" charset="0"/>
              </a:rPr>
              <a:t>MLP</a:t>
            </a:r>
            <a:r>
              <a:rPr lang="en-US" b="1" dirty="0">
                <a:solidFill>
                  <a:schemeClr val="accent2">
                    <a:lumMod val="50000"/>
                  </a:schemeClr>
                </a:solidFill>
                <a:latin typeface="Bahnschrift" panose="020B0502040204020203" pitchFamily="34" charset="0"/>
              </a:rPr>
              <a:t>:</a:t>
            </a:r>
          </a:p>
          <a:p>
            <a:endParaRPr lang="en-US" dirty="0">
              <a:solidFill>
                <a:schemeClr val="accent2">
                  <a:lumMod val="50000"/>
                </a:schemeClr>
              </a:solidFill>
              <a:latin typeface="Bahnschrift" panose="020B0502040204020203" pitchFamily="34" charset="0"/>
            </a:endParaRPr>
          </a:p>
          <a:p>
            <a:r>
              <a:rPr lang="en-US" b="1" dirty="0" err="1">
                <a:latin typeface="Bahnschrift" panose="020B0502040204020203" pitchFamily="34" charset="0"/>
              </a:rPr>
              <a:t>hidden_layer_sizes</a:t>
            </a:r>
            <a:r>
              <a:rPr lang="en-US" b="1" dirty="0">
                <a:latin typeface="Bahnschrift" panose="020B0502040204020203" pitchFamily="34" charset="0"/>
              </a:rPr>
              <a:t>: </a:t>
            </a:r>
            <a:r>
              <a:rPr lang="en-US" dirty="0">
                <a:solidFill>
                  <a:schemeClr val="accent2">
                    <a:lumMod val="50000"/>
                  </a:schemeClr>
                </a:solidFill>
                <a:latin typeface="Bahnschrift" panose="020B0502040204020203" pitchFamily="34" charset="0"/>
              </a:rPr>
              <a:t>(tuple, default=(100,)) </a:t>
            </a:r>
            <a:r>
              <a:rPr lang="ru-RU" dirty="0">
                <a:solidFill>
                  <a:schemeClr val="accent2">
                    <a:lumMod val="50000"/>
                  </a:schemeClr>
                </a:solidFill>
                <a:latin typeface="Bahnschrift" panose="020B0502040204020203" pitchFamily="34" charset="0"/>
              </a:rPr>
              <a:t>Размеры скрытых слоев. Например, (100, 50) означает, что у вас два скрытых слоя: первый с 100 нейронами, второй с 50.</a:t>
            </a:r>
          </a:p>
          <a:p>
            <a:r>
              <a:rPr lang="en-US" b="1" dirty="0">
                <a:latin typeface="Bahnschrift" panose="020B0502040204020203" pitchFamily="34" charset="0"/>
              </a:rPr>
              <a:t>activation: </a:t>
            </a:r>
            <a:r>
              <a:rPr lang="en-US" dirty="0">
                <a:solidFill>
                  <a:schemeClr val="accent2">
                    <a:lumMod val="50000"/>
                  </a:schemeClr>
                </a:solidFill>
                <a:latin typeface="Bahnschrift" panose="020B0502040204020203" pitchFamily="34" charset="0"/>
              </a:rPr>
              <a:t>(str, default=’</a:t>
            </a:r>
            <a:r>
              <a:rPr lang="en-US" dirty="0" err="1">
                <a:solidFill>
                  <a:schemeClr val="accent2">
                    <a:lumMod val="50000"/>
                  </a:schemeClr>
                </a:solidFill>
                <a:latin typeface="Bahnschrift" panose="020B0502040204020203" pitchFamily="34" charset="0"/>
              </a:rPr>
              <a:t>relu</a:t>
            </a:r>
            <a:r>
              <a:rPr lang="en-US" dirty="0">
                <a:solidFill>
                  <a:schemeClr val="accent2">
                    <a:lumMod val="50000"/>
                  </a:schemeClr>
                </a:solidFill>
                <a:latin typeface="Bahnschrift" panose="020B0502040204020203" pitchFamily="34" charset="0"/>
              </a:rPr>
              <a:t>’) </a:t>
            </a:r>
            <a:r>
              <a:rPr lang="ru-RU" dirty="0">
                <a:solidFill>
                  <a:schemeClr val="accent2">
                    <a:lumMod val="50000"/>
                  </a:schemeClr>
                </a:solidFill>
                <a:latin typeface="Bahnschrift" panose="020B0502040204020203" pitchFamily="34" charset="0"/>
              </a:rPr>
              <a:t>Функция активации для скрытых слоев.</a:t>
            </a:r>
          </a:p>
          <a:p>
            <a:pPr marL="714375"/>
            <a:r>
              <a:rPr lang="ru-RU" dirty="0">
                <a:solidFill>
                  <a:schemeClr val="accent2">
                    <a:lumMod val="50000"/>
                  </a:schemeClr>
                </a:solidFill>
                <a:latin typeface="Bahnschrift" panose="020B0502040204020203" pitchFamily="34" charset="0"/>
              </a:rPr>
              <a:t>'</a:t>
            </a:r>
            <a:r>
              <a:rPr lang="en-US" dirty="0" err="1">
                <a:solidFill>
                  <a:schemeClr val="accent2">
                    <a:lumMod val="50000"/>
                  </a:schemeClr>
                </a:solidFill>
                <a:latin typeface="Bahnschrift" panose="020B0502040204020203" pitchFamily="34" charset="0"/>
              </a:rPr>
              <a:t>relu</a:t>
            </a:r>
            <a:r>
              <a:rPr lang="en-US" dirty="0">
                <a:solidFill>
                  <a:schemeClr val="accent2">
                    <a:lumMod val="50000"/>
                  </a:schemeClr>
                </a:solidFill>
                <a:latin typeface="Bahnschrift" panose="020B0502040204020203" pitchFamily="34" charset="0"/>
              </a:rPr>
              <a:t>' (Rectified Linear Unit): f(x) = max(0, x)</a:t>
            </a:r>
          </a:p>
          <a:p>
            <a:pPr marL="714375"/>
            <a:r>
              <a:rPr lang="en-US" dirty="0">
                <a:solidFill>
                  <a:schemeClr val="accent2">
                    <a:lumMod val="50000"/>
                  </a:schemeClr>
                </a:solidFill>
                <a:latin typeface="Bahnschrift" panose="020B0502040204020203" pitchFamily="34" charset="0"/>
              </a:rPr>
              <a:t>'tanh' (Hyperbolic Tangent): f(x) = tanh(x)</a:t>
            </a:r>
          </a:p>
          <a:p>
            <a:pPr marL="714375"/>
            <a:r>
              <a:rPr lang="en-US" dirty="0">
                <a:solidFill>
                  <a:schemeClr val="accent2">
                    <a:lumMod val="50000"/>
                  </a:schemeClr>
                </a:solidFill>
                <a:latin typeface="Bahnschrift" panose="020B0502040204020203" pitchFamily="34" charset="0"/>
              </a:rPr>
              <a:t>'logistic' (Sigmoid): f(x) = 1 / (1 + exp(-x))</a:t>
            </a:r>
          </a:p>
          <a:p>
            <a:pPr marL="714375"/>
            <a:r>
              <a:rPr lang="en-US" dirty="0">
                <a:solidFill>
                  <a:schemeClr val="accent2">
                    <a:lumMod val="50000"/>
                  </a:schemeClr>
                </a:solidFill>
                <a:latin typeface="Bahnschrift" panose="020B0502040204020203" pitchFamily="34" charset="0"/>
              </a:rPr>
              <a:t>'identity' (Linear): f(x) = x</a:t>
            </a:r>
          </a:p>
          <a:p>
            <a:r>
              <a:rPr lang="en-US" b="1" dirty="0">
                <a:latin typeface="Bahnschrift" panose="020B0502040204020203" pitchFamily="34" charset="0"/>
              </a:rPr>
              <a:t>solver: </a:t>
            </a:r>
            <a:r>
              <a:rPr lang="en-US" dirty="0">
                <a:solidFill>
                  <a:schemeClr val="accent2">
                    <a:lumMod val="50000"/>
                  </a:schemeClr>
                </a:solidFill>
                <a:latin typeface="Bahnschrift" panose="020B0502040204020203" pitchFamily="34" charset="0"/>
              </a:rPr>
              <a:t>(str, default=’</a:t>
            </a:r>
            <a:r>
              <a:rPr lang="en-US" dirty="0" err="1">
                <a:solidFill>
                  <a:schemeClr val="accent2">
                    <a:lumMod val="50000"/>
                  </a:schemeClr>
                </a:solidFill>
                <a:latin typeface="Bahnschrift" panose="020B0502040204020203" pitchFamily="34" charset="0"/>
              </a:rPr>
              <a:t>adam</a:t>
            </a:r>
            <a:r>
              <a:rPr lang="en-US" dirty="0">
                <a:solidFill>
                  <a:schemeClr val="accent2">
                    <a:lumMod val="50000"/>
                  </a:schemeClr>
                </a:solidFill>
                <a:latin typeface="Bahnschrift" panose="020B0502040204020203" pitchFamily="34" charset="0"/>
              </a:rPr>
              <a:t>’) </a:t>
            </a:r>
            <a:r>
              <a:rPr lang="ru-RU" dirty="0">
                <a:solidFill>
                  <a:schemeClr val="accent2">
                    <a:lumMod val="50000"/>
                  </a:schemeClr>
                </a:solidFill>
                <a:latin typeface="Bahnschrift" panose="020B0502040204020203" pitchFamily="34" charset="0"/>
              </a:rPr>
              <a:t>Алгоритм оптимизации.</a:t>
            </a:r>
          </a:p>
          <a:p>
            <a:pPr marL="714375"/>
            <a:r>
              <a:rPr lang="ru-RU" dirty="0">
                <a:solidFill>
                  <a:schemeClr val="accent2">
                    <a:lumMod val="50000"/>
                  </a:schemeClr>
                </a:solidFill>
                <a:latin typeface="Bahnschrift" panose="020B0502040204020203" pitchFamily="34" charset="0"/>
              </a:rPr>
              <a:t>'</a:t>
            </a:r>
            <a:r>
              <a:rPr lang="en-US" dirty="0" err="1">
                <a:solidFill>
                  <a:schemeClr val="accent2">
                    <a:lumMod val="50000"/>
                  </a:schemeClr>
                </a:solidFill>
                <a:latin typeface="Bahnschrift" panose="020B0502040204020203" pitchFamily="34" charset="0"/>
              </a:rPr>
              <a:t>adam</a:t>
            </a:r>
            <a:r>
              <a:rPr lang="en-US" dirty="0">
                <a:solidFill>
                  <a:schemeClr val="accent2">
                    <a:lumMod val="50000"/>
                  </a:schemeClr>
                </a:solidFill>
                <a:latin typeface="Bahnschrift" panose="020B0502040204020203" pitchFamily="34" charset="0"/>
              </a:rPr>
              <a:t>': </a:t>
            </a:r>
            <a:r>
              <a:rPr lang="ru-RU" dirty="0">
                <a:solidFill>
                  <a:schemeClr val="accent2">
                    <a:lumMod val="50000"/>
                  </a:schemeClr>
                </a:solidFill>
                <a:latin typeface="Bahnschrift" panose="020B0502040204020203" pitchFamily="34" charset="0"/>
              </a:rPr>
              <a:t>Стохастический градиентный спуск на основе адаптивной оценки моментов первого и второго порядка. Часто лучший выбор для больших наборов данных.</a:t>
            </a:r>
          </a:p>
          <a:p>
            <a:pPr marL="714375"/>
            <a:r>
              <a:rPr lang="ru-RU" dirty="0">
                <a:solidFill>
                  <a:schemeClr val="accent2">
                    <a:lumMod val="50000"/>
                  </a:schemeClr>
                </a:solidFill>
                <a:latin typeface="Bahnschrift" panose="020B0502040204020203" pitchFamily="34" charset="0"/>
              </a:rPr>
              <a:t>'</a:t>
            </a:r>
            <a:r>
              <a:rPr lang="en-US" dirty="0" err="1">
                <a:solidFill>
                  <a:schemeClr val="accent2">
                    <a:lumMod val="50000"/>
                  </a:schemeClr>
                </a:solidFill>
                <a:latin typeface="Bahnschrift" panose="020B0502040204020203" pitchFamily="34" charset="0"/>
              </a:rPr>
              <a:t>lbfgs</a:t>
            </a:r>
            <a:r>
              <a:rPr lang="en-US" dirty="0">
                <a:solidFill>
                  <a:schemeClr val="accent2">
                    <a:lumMod val="50000"/>
                  </a:schemeClr>
                </a:solidFill>
                <a:latin typeface="Bahnschrift" panose="020B0502040204020203" pitchFamily="34" charset="0"/>
              </a:rPr>
              <a:t>': Quasi-Newton </a:t>
            </a:r>
            <a:r>
              <a:rPr lang="ru-RU" dirty="0">
                <a:solidFill>
                  <a:schemeClr val="accent2">
                    <a:lumMod val="50000"/>
                  </a:schemeClr>
                </a:solidFill>
                <a:latin typeface="Bahnschrift" panose="020B0502040204020203" pitchFamily="34" charset="0"/>
              </a:rPr>
              <a:t>метод, хорошо подходит для небольших наборов данных.</a:t>
            </a:r>
          </a:p>
          <a:p>
            <a:pPr marL="714375"/>
            <a:r>
              <a:rPr lang="ru-RU" dirty="0">
                <a:solidFill>
                  <a:schemeClr val="accent2">
                    <a:lumMod val="50000"/>
                  </a:schemeClr>
                </a:solidFill>
                <a:latin typeface="Bahnschrift" panose="020B0502040204020203" pitchFamily="34" charset="0"/>
              </a:rPr>
              <a:t>'</a:t>
            </a:r>
            <a:r>
              <a:rPr lang="en-US" dirty="0" err="1">
                <a:solidFill>
                  <a:schemeClr val="accent2">
                    <a:lumMod val="50000"/>
                  </a:schemeClr>
                </a:solidFill>
                <a:latin typeface="Bahnschrift" panose="020B0502040204020203" pitchFamily="34" charset="0"/>
              </a:rPr>
              <a:t>sgd</a:t>
            </a:r>
            <a:r>
              <a:rPr lang="en-US" dirty="0">
                <a:solidFill>
                  <a:schemeClr val="accent2">
                    <a:lumMod val="50000"/>
                  </a:schemeClr>
                </a:solidFill>
                <a:latin typeface="Bahnschrift" panose="020B0502040204020203" pitchFamily="34" charset="0"/>
              </a:rPr>
              <a:t>': </a:t>
            </a:r>
            <a:r>
              <a:rPr lang="ru-RU" dirty="0">
                <a:solidFill>
                  <a:schemeClr val="accent2">
                    <a:lumMod val="50000"/>
                  </a:schemeClr>
                </a:solidFill>
                <a:latin typeface="Bahnschrift" panose="020B0502040204020203" pitchFamily="34" charset="0"/>
              </a:rPr>
              <a:t>Стохастический градиентный спуск.</a:t>
            </a:r>
          </a:p>
          <a:p>
            <a:pPr marL="809625" indent="-809625"/>
            <a:r>
              <a:rPr lang="en-US" b="1" dirty="0">
                <a:latin typeface="Bahnschrift" panose="020B0502040204020203" pitchFamily="34" charset="0"/>
              </a:rPr>
              <a:t>alpha: </a:t>
            </a:r>
            <a:r>
              <a:rPr lang="en-US" dirty="0">
                <a:solidFill>
                  <a:schemeClr val="accent2">
                    <a:lumMod val="50000"/>
                  </a:schemeClr>
                </a:solidFill>
                <a:latin typeface="Bahnschrift" panose="020B0502040204020203" pitchFamily="34" charset="0"/>
              </a:rPr>
              <a:t>(float, default=0.0001) </a:t>
            </a:r>
            <a:r>
              <a:rPr lang="ru-RU" dirty="0">
                <a:solidFill>
                  <a:schemeClr val="accent2">
                    <a:lumMod val="50000"/>
                  </a:schemeClr>
                </a:solidFill>
                <a:latin typeface="Bahnschrift" panose="020B0502040204020203" pitchFamily="34" charset="0"/>
              </a:rPr>
              <a:t>Параметр </a:t>
            </a:r>
            <a:r>
              <a:rPr lang="en-US" dirty="0" err="1">
                <a:solidFill>
                  <a:schemeClr val="accent2">
                    <a:lumMod val="50000"/>
                  </a:schemeClr>
                </a:solidFill>
                <a:latin typeface="Bahnschrift" panose="020B0502040204020203" pitchFamily="34" charset="0"/>
              </a:rPr>
              <a:t>L2</a:t>
            </a:r>
            <a:r>
              <a:rPr lang="en-US" dirty="0">
                <a:solidFill>
                  <a:schemeClr val="accent2">
                    <a:lumMod val="50000"/>
                  </a:schemeClr>
                </a:solidFill>
                <a:latin typeface="Bahnschrift" panose="020B0502040204020203" pitchFamily="34" charset="0"/>
              </a:rPr>
              <a:t> </a:t>
            </a:r>
            <a:r>
              <a:rPr lang="ru-RU" dirty="0">
                <a:solidFill>
                  <a:schemeClr val="accent2">
                    <a:lumMod val="50000"/>
                  </a:schemeClr>
                </a:solidFill>
                <a:latin typeface="Bahnschrift" panose="020B0502040204020203" pitchFamily="34" charset="0"/>
              </a:rPr>
              <a:t>регуляризации. Увеличивает устойчивость модели и предотвращает переобучение.</a:t>
            </a:r>
          </a:p>
          <a:p>
            <a:r>
              <a:rPr lang="en-US" b="1" dirty="0" err="1">
                <a:latin typeface="Bahnschrift" panose="020B0502040204020203" pitchFamily="34" charset="0"/>
              </a:rPr>
              <a:t>batch_size</a:t>
            </a:r>
            <a:r>
              <a:rPr lang="en-US" b="1" dirty="0">
                <a:latin typeface="Bahnschrift" panose="020B0502040204020203" pitchFamily="34" charset="0"/>
              </a:rPr>
              <a:t>: </a:t>
            </a:r>
            <a:r>
              <a:rPr lang="en-US" dirty="0">
                <a:solidFill>
                  <a:schemeClr val="accent2">
                    <a:lumMod val="50000"/>
                  </a:schemeClr>
                </a:solidFill>
                <a:latin typeface="Bahnschrift" panose="020B0502040204020203" pitchFamily="34" charset="0"/>
              </a:rPr>
              <a:t>(int, default=’auto’) </a:t>
            </a:r>
            <a:r>
              <a:rPr lang="ru-RU" dirty="0">
                <a:solidFill>
                  <a:schemeClr val="accent2">
                    <a:lumMod val="50000"/>
                  </a:schemeClr>
                </a:solidFill>
                <a:latin typeface="Bahnschrift" panose="020B0502040204020203" pitchFamily="34" charset="0"/>
              </a:rPr>
              <a:t>Размер мини-пакета для стохастического градиентного спуска.</a:t>
            </a:r>
          </a:p>
          <a:p>
            <a:r>
              <a:rPr lang="en-US" b="1" dirty="0" err="1">
                <a:latin typeface="Bahnschrift" panose="020B0502040204020203" pitchFamily="34" charset="0"/>
              </a:rPr>
              <a:t>learning_rate_init</a:t>
            </a:r>
            <a:r>
              <a:rPr lang="en-US" b="1" dirty="0">
                <a:latin typeface="Bahnschrift" panose="020B0502040204020203" pitchFamily="34" charset="0"/>
              </a:rPr>
              <a:t>: </a:t>
            </a:r>
            <a:r>
              <a:rPr lang="en-US" dirty="0">
                <a:solidFill>
                  <a:schemeClr val="accent2">
                    <a:lumMod val="50000"/>
                  </a:schemeClr>
                </a:solidFill>
                <a:latin typeface="Bahnschrift" panose="020B0502040204020203" pitchFamily="34" charset="0"/>
              </a:rPr>
              <a:t>(float, default=0.001) </a:t>
            </a:r>
            <a:r>
              <a:rPr lang="ru-RU" dirty="0">
                <a:solidFill>
                  <a:schemeClr val="accent2">
                    <a:lumMod val="50000"/>
                  </a:schemeClr>
                </a:solidFill>
                <a:latin typeface="Bahnschrift" panose="020B0502040204020203" pitchFamily="34" charset="0"/>
              </a:rPr>
              <a:t>Начальная скорость обучения.</a:t>
            </a:r>
          </a:p>
          <a:p>
            <a:r>
              <a:rPr lang="en-US" b="1" dirty="0" err="1">
                <a:latin typeface="Bahnschrift" panose="020B0502040204020203" pitchFamily="34" charset="0"/>
              </a:rPr>
              <a:t>max_iter</a:t>
            </a:r>
            <a:r>
              <a:rPr lang="en-US" b="1" dirty="0">
                <a:latin typeface="Bahnschrift" panose="020B0502040204020203" pitchFamily="34" charset="0"/>
              </a:rPr>
              <a:t>: </a:t>
            </a:r>
            <a:r>
              <a:rPr lang="en-US" dirty="0">
                <a:solidFill>
                  <a:schemeClr val="accent2">
                    <a:lumMod val="50000"/>
                  </a:schemeClr>
                </a:solidFill>
                <a:latin typeface="Bahnschrift" panose="020B0502040204020203" pitchFamily="34" charset="0"/>
              </a:rPr>
              <a:t>(int, default=200) </a:t>
            </a:r>
            <a:r>
              <a:rPr lang="ru-RU" dirty="0">
                <a:solidFill>
                  <a:schemeClr val="accent2">
                    <a:lumMod val="50000"/>
                  </a:schemeClr>
                </a:solidFill>
                <a:latin typeface="Bahnschrift" panose="020B0502040204020203" pitchFamily="34" charset="0"/>
              </a:rPr>
              <a:t>Максимальное количество итераций.</a:t>
            </a:r>
          </a:p>
          <a:p>
            <a:r>
              <a:rPr lang="en-US" b="1" dirty="0">
                <a:latin typeface="Bahnschrift" panose="020B0502040204020203" pitchFamily="34" charset="0"/>
              </a:rPr>
              <a:t>random_state: </a:t>
            </a:r>
            <a:r>
              <a:rPr lang="en-US" dirty="0">
                <a:solidFill>
                  <a:schemeClr val="accent2">
                    <a:lumMod val="50000"/>
                  </a:schemeClr>
                </a:solidFill>
                <a:latin typeface="Bahnschrift" panose="020B0502040204020203" pitchFamily="34" charset="0"/>
              </a:rPr>
              <a:t>(int, default=None) </a:t>
            </a:r>
            <a:r>
              <a:rPr lang="ru-RU" dirty="0">
                <a:solidFill>
                  <a:schemeClr val="accent2">
                    <a:lumMod val="50000"/>
                  </a:schemeClr>
                </a:solidFill>
                <a:latin typeface="Bahnschrift" panose="020B0502040204020203" pitchFamily="34" charset="0"/>
              </a:rPr>
              <a:t>Зерно для воспроизводимости.</a:t>
            </a:r>
          </a:p>
        </p:txBody>
      </p:sp>
    </p:spTree>
    <p:extLst>
      <p:ext uri="{BB962C8B-B14F-4D97-AF65-F5344CB8AC3E}">
        <p14:creationId xmlns:p14="http://schemas.microsoft.com/office/powerpoint/2010/main" val="1091039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C9C19-88C4-1C07-642D-C75900001A14}"/>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21BB3D2A-B0C3-6753-1F54-FC92A1491E3B}"/>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5" name="TextBox 4">
            <a:extLst>
              <a:ext uri="{FF2B5EF4-FFF2-40B4-BE49-F238E27FC236}">
                <a16:creationId xmlns:a16="http://schemas.microsoft.com/office/drawing/2014/main" id="{322A345F-0150-7893-7F91-90C0381A1324}"/>
              </a:ext>
            </a:extLst>
          </p:cNvPr>
          <p:cNvSpPr txBox="1"/>
          <p:nvPr/>
        </p:nvSpPr>
        <p:spPr>
          <a:xfrm>
            <a:off x="551384" y="1196752"/>
            <a:ext cx="8592616" cy="279820"/>
          </a:xfrm>
          <a:prstGeom prst="rect">
            <a:avLst/>
          </a:prstGeom>
          <a:noFill/>
        </p:spPr>
        <p:txBody>
          <a:bodyPr wrap="square">
            <a:spAutoFit/>
          </a:bodyPr>
          <a:lstStyle/>
          <a:p>
            <a:pPr>
              <a:lnSpc>
                <a:spcPts val="1425"/>
              </a:lnSpc>
              <a:buNone/>
            </a:pPr>
            <a:r>
              <a:rPr lang="en-US" sz="2000" b="0" dirty="0">
                <a:solidFill>
                  <a:srgbClr val="9723B4"/>
                </a:solidFill>
                <a:effectLst/>
                <a:latin typeface="Bahnschrift" panose="020B0502040204020203" pitchFamily="34" charset="0"/>
              </a:rPr>
              <a:t>from</a:t>
            </a:r>
            <a:r>
              <a:rPr lang="en-US" sz="2000" b="0" dirty="0">
                <a:solidFill>
                  <a:srgbClr val="000000"/>
                </a:solidFill>
                <a:effectLst/>
                <a:latin typeface="Bahnschrift" panose="020B0502040204020203" pitchFamily="34" charset="0"/>
              </a:rPr>
              <a:t> </a:t>
            </a:r>
            <a:r>
              <a:rPr lang="en-US" sz="2000" b="0" dirty="0" err="1">
                <a:solidFill>
                  <a:srgbClr val="000000"/>
                </a:solidFill>
                <a:effectLst/>
                <a:latin typeface="Bahnschrift" panose="020B0502040204020203" pitchFamily="34" charset="0"/>
              </a:rPr>
              <a:t>sklearn.neural_network</a:t>
            </a:r>
            <a:r>
              <a:rPr lang="en-US" sz="2000" b="0" dirty="0">
                <a:solidFill>
                  <a:srgbClr val="000000"/>
                </a:solidFill>
                <a:effectLst/>
                <a:latin typeface="Bahnschrift" panose="020B0502040204020203" pitchFamily="34" charset="0"/>
              </a:rPr>
              <a:t> </a:t>
            </a:r>
            <a:r>
              <a:rPr lang="en-US" sz="2000" b="0" dirty="0">
                <a:solidFill>
                  <a:srgbClr val="9723B4"/>
                </a:solidFill>
                <a:effectLst/>
                <a:latin typeface="Bahnschrift" panose="020B0502040204020203" pitchFamily="34" charset="0"/>
              </a:rPr>
              <a:t>import</a:t>
            </a:r>
            <a:r>
              <a:rPr lang="en-US" sz="2000" b="0" dirty="0">
                <a:solidFill>
                  <a:srgbClr val="000000"/>
                </a:solidFill>
                <a:effectLst/>
                <a:latin typeface="Bahnschrift" panose="020B0502040204020203" pitchFamily="34" charset="0"/>
              </a:rPr>
              <a:t> </a:t>
            </a:r>
            <a:r>
              <a:rPr lang="en-US" sz="2000" b="0" dirty="0" err="1">
                <a:solidFill>
                  <a:srgbClr val="000000"/>
                </a:solidFill>
                <a:effectLst/>
                <a:latin typeface="Bahnschrift" panose="020B0502040204020203" pitchFamily="34" charset="0"/>
              </a:rPr>
              <a:t>MLPClassifier</a:t>
            </a:r>
            <a:endParaRPr lang="en-US" sz="2000" b="0" dirty="0">
              <a:solidFill>
                <a:srgbClr val="000000"/>
              </a:solidFill>
              <a:effectLst/>
              <a:latin typeface="Bahnschrift" panose="020B0502040204020203" pitchFamily="34" charset="0"/>
            </a:endParaRPr>
          </a:p>
        </p:txBody>
      </p:sp>
      <p:sp>
        <p:nvSpPr>
          <p:cNvPr id="7" name="TextBox 6">
            <a:extLst>
              <a:ext uri="{FF2B5EF4-FFF2-40B4-BE49-F238E27FC236}">
                <a16:creationId xmlns:a16="http://schemas.microsoft.com/office/drawing/2014/main" id="{F3B7733B-CB8B-0822-984C-F0A46CEF1DA0}"/>
              </a:ext>
            </a:extLst>
          </p:cNvPr>
          <p:cNvSpPr txBox="1"/>
          <p:nvPr/>
        </p:nvSpPr>
        <p:spPr>
          <a:xfrm>
            <a:off x="1055440" y="1998716"/>
            <a:ext cx="10225136" cy="3693319"/>
          </a:xfrm>
          <a:prstGeom prst="rect">
            <a:avLst/>
          </a:prstGeom>
          <a:noFill/>
        </p:spPr>
        <p:txBody>
          <a:bodyPr wrap="square">
            <a:spAutoFit/>
          </a:bodyPr>
          <a:lstStyle/>
          <a:p>
            <a:pPr>
              <a:buNone/>
            </a:pPr>
            <a:r>
              <a:rPr lang="ru-RU" b="0" dirty="0">
                <a:solidFill>
                  <a:srgbClr val="008000"/>
                </a:solidFill>
                <a:effectLst/>
                <a:latin typeface="Bahnschrift" panose="020B0502040204020203" pitchFamily="34" charset="0"/>
              </a:rPr>
              <a:t>#  Создание и обучение </a:t>
            </a:r>
            <a:r>
              <a:rPr lang="en-US" b="0" dirty="0" err="1">
                <a:solidFill>
                  <a:srgbClr val="008000"/>
                </a:solidFill>
                <a:effectLst/>
                <a:latin typeface="Bahnschrift" panose="020B0502040204020203" pitchFamily="34" charset="0"/>
              </a:rPr>
              <a:t>MLP</a:t>
            </a:r>
            <a:endParaRPr lang="en-US" b="0" dirty="0">
              <a:solidFill>
                <a:srgbClr val="000000"/>
              </a:solidFill>
              <a:effectLst/>
              <a:latin typeface="Bahnschrift" panose="020B0502040204020203" pitchFamily="34" charset="0"/>
            </a:endParaRPr>
          </a:p>
          <a:p>
            <a:pPr>
              <a:buNone/>
            </a:pPr>
            <a:r>
              <a:rPr lang="en-US" b="0" dirty="0" err="1">
                <a:solidFill>
                  <a:srgbClr val="000000"/>
                </a:solidFill>
                <a:effectLst/>
                <a:latin typeface="Bahnschrift" panose="020B0502040204020203" pitchFamily="34" charset="0"/>
              </a:rPr>
              <a:t>mlp</a:t>
            </a:r>
            <a:r>
              <a:rPr lang="en-US" b="0" dirty="0">
                <a:solidFill>
                  <a:srgbClr val="000000"/>
                </a:solidFill>
                <a:effectLst/>
                <a:latin typeface="Bahnschrift" panose="020B0502040204020203" pitchFamily="34" charset="0"/>
              </a:rPr>
              <a:t> = </a:t>
            </a:r>
            <a:r>
              <a:rPr lang="en-US" b="0" dirty="0" err="1">
                <a:solidFill>
                  <a:srgbClr val="000000"/>
                </a:solidFill>
                <a:effectLst/>
                <a:latin typeface="Bahnschrift" panose="020B0502040204020203" pitchFamily="34" charset="0"/>
              </a:rPr>
              <a:t>MLPClassifier</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hidden_layer_sizes</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10</a:t>
            </a:r>
            <a:r>
              <a:rPr lang="en-US" b="0" dirty="0">
                <a:solidFill>
                  <a:srgbClr val="000000"/>
                </a:solidFill>
                <a:effectLst/>
                <a:latin typeface="Bahnschrift" panose="020B0502040204020203" pitchFamily="34" charset="0"/>
              </a:rPr>
              <a:t>, ),  </a:t>
            </a:r>
            <a:r>
              <a:rPr lang="en-US" b="0" dirty="0">
                <a:solidFill>
                  <a:srgbClr val="008000"/>
                </a:solidFill>
                <a:effectLst/>
                <a:latin typeface="Bahnschrift" panose="020B0502040204020203" pitchFamily="34" charset="0"/>
              </a:rPr>
              <a:t># </a:t>
            </a:r>
            <a:r>
              <a:rPr lang="ru-RU" b="0" dirty="0">
                <a:solidFill>
                  <a:srgbClr val="008000"/>
                </a:solidFill>
                <a:effectLst/>
                <a:latin typeface="Bahnschrift" panose="020B0502040204020203" pitchFamily="34" charset="0"/>
              </a:rPr>
              <a:t>Один скрытый слой с 10 нейронами</a:t>
            </a:r>
            <a:endParaRPr lang="ru-RU" b="0" dirty="0">
              <a:solidFill>
                <a:srgbClr val="000000"/>
              </a:solidFill>
              <a:effectLst/>
              <a:latin typeface="Bahnschrift" panose="020B0502040204020203" pitchFamily="34" charset="0"/>
            </a:endParaRPr>
          </a:p>
          <a:p>
            <a:pPr>
              <a:buNone/>
            </a:pPr>
            <a:r>
              <a:rPr lang="ru-RU" b="0" dirty="0">
                <a:solidFill>
                  <a:srgbClr val="000000"/>
                </a:solidFill>
                <a:effectLst/>
                <a:latin typeface="Bahnschrift" panose="020B0502040204020203" pitchFamily="34" charset="0"/>
              </a:rPr>
              <a:t>    </a:t>
            </a:r>
            <a:r>
              <a:rPr lang="en-US" b="0" dirty="0">
                <a:solidFill>
                  <a:srgbClr val="000000"/>
                </a:solidFill>
                <a:effectLst/>
                <a:latin typeface="Bahnschrift" panose="020B0502040204020203" pitchFamily="34" charset="0"/>
              </a:rPr>
              <a:t>activation=</a:t>
            </a:r>
            <a:r>
              <a:rPr lang="en-US" b="0" dirty="0">
                <a:solidFill>
                  <a:srgbClr val="A31515"/>
                </a:solidFill>
                <a:effectLst/>
                <a:latin typeface="Bahnschrift" panose="020B0502040204020203" pitchFamily="34" charset="0"/>
              </a:rPr>
              <a:t>'</a:t>
            </a:r>
            <a:r>
              <a:rPr lang="en-US" b="0" dirty="0" err="1">
                <a:solidFill>
                  <a:srgbClr val="A31515"/>
                </a:solidFill>
                <a:effectLst/>
                <a:latin typeface="Bahnschrift" panose="020B0502040204020203" pitchFamily="34" charset="0"/>
              </a:rPr>
              <a:t>relu</a:t>
            </a:r>
            <a:r>
              <a:rPr lang="en-US" b="0" dirty="0">
                <a:solidFill>
                  <a:srgbClr val="A31515"/>
                </a:solidFill>
                <a:effectLst/>
                <a:latin typeface="Bahnschrift" panose="020B0502040204020203" pitchFamily="34" charset="0"/>
              </a:rPr>
              <a:t>'</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solver=</a:t>
            </a:r>
            <a:r>
              <a:rPr lang="en-US" b="0" dirty="0">
                <a:solidFill>
                  <a:srgbClr val="A31515"/>
                </a:solidFill>
                <a:effectLst/>
                <a:latin typeface="Bahnschrift" panose="020B0502040204020203" pitchFamily="34" charset="0"/>
              </a:rPr>
              <a:t>'</a:t>
            </a:r>
            <a:r>
              <a:rPr lang="en-US" b="0" dirty="0" err="1">
                <a:solidFill>
                  <a:srgbClr val="A31515"/>
                </a:solidFill>
                <a:effectLst/>
                <a:latin typeface="Bahnschrift" panose="020B0502040204020203" pitchFamily="34" charset="0"/>
              </a:rPr>
              <a:t>adam</a:t>
            </a:r>
            <a:r>
              <a:rPr lang="en-US" b="0" dirty="0">
                <a:solidFill>
                  <a:srgbClr val="A31515"/>
                </a:solidFill>
                <a:effectLst/>
                <a:latin typeface="Bahnschrift" panose="020B0502040204020203" pitchFamily="34" charset="0"/>
              </a:rPr>
              <a:t>'</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alpha=</a:t>
            </a:r>
            <a:r>
              <a:rPr lang="en-US" b="0" dirty="0">
                <a:solidFill>
                  <a:srgbClr val="116644"/>
                </a:solidFill>
                <a:effectLst/>
                <a:latin typeface="Bahnschrift" panose="020B0502040204020203" pitchFamily="34" charset="0"/>
              </a:rPr>
              <a:t>0.0001</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batch_size</a:t>
            </a:r>
            <a:r>
              <a:rPr lang="en-US" b="0" dirty="0">
                <a:solidFill>
                  <a:srgbClr val="000000"/>
                </a:solidFill>
                <a:effectLst/>
                <a:latin typeface="Bahnschrift" panose="020B0502040204020203" pitchFamily="34" charset="0"/>
              </a:rPr>
              <a:t>=</a:t>
            </a:r>
            <a:r>
              <a:rPr lang="en-US" b="0" dirty="0">
                <a:solidFill>
                  <a:srgbClr val="A31515"/>
                </a:solidFill>
                <a:effectLst/>
                <a:latin typeface="Bahnschrift" panose="020B0502040204020203" pitchFamily="34" charset="0"/>
              </a:rPr>
              <a:t>'auto'</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learning_rate_init</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0.001</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a:t>
            </a:r>
            <a:r>
              <a:rPr lang="en-US" b="0" dirty="0" err="1">
                <a:solidFill>
                  <a:srgbClr val="000000"/>
                </a:solidFill>
                <a:effectLst/>
                <a:latin typeface="Bahnschrift" panose="020B0502040204020203" pitchFamily="34" charset="0"/>
              </a:rPr>
              <a:t>max_iter</a:t>
            </a:r>
            <a:r>
              <a:rPr lang="en-US" b="0" dirty="0">
                <a:solidFill>
                  <a:srgbClr val="000000"/>
                </a:solidFill>
                <a:effectLst/>
                <a:latin typeface="Bahnschrift" panose="020B0502040204020203" pitchFamily="34" charset="0"/>
              </a:rPr>
              <a:t>=</a:t>
            </a:r>
            <a:r>
              <a:rPr lang="en-US" b="0" dirty="0">
                <a:solidFill>
                  <a:srgbClr val="116644"/>
                </a:solidFill>
                <a:effectLst/>
                <a:latin typeface="Bahnschrift" panose="020B0502040204020203" pitchFamily="34" charset="0"/>
              </a:rPr>
              <a:t>200</a:t>
            </a:r>
            <a:r>
              <a:rPr lang="en-US" b="0" dirty="0">
                <a:solidFill>
                  <a:srgbClr val="000000"/>
                </a:solidFill>
                <a:effectLst/>
                <a:latin typeface="Bahnschrift" panose="020B0502040204020203" pitchFamily="34" charset="0"/>
              </a:rPr>
              <a:t>,</a:t>
            </a:r>
          </a:p>
          <a:p>
            <a:pPr>
              <a:buNone/>
            </a:pPr>
            <a:r>
              <a:rPr lang="en-US" b="0" dirty="0">
                <a:solidFill>
                  <a:srgbClr val="000000"/>
                </a:solidFill>
                <a:effectLst/>
                <a:latin typeface="Bahnschrift" panose="020B0502040204020203" pitchFamily="34" charset="0"/>
              </a:rPr>
              <a:t>    random_state=</a:t>
            </a:r>
            <a:r>
              <a:rPr lang="en-US" b="0" dirty="0">
                <a:solidFill>
                  <a:srgbClr val="116644"/>
                </a:solidFill>
                <a:effectLst/>
                <a:latin typeface="Bahnschrift" panose="020B0502040204020203" pitchFamily="34" charset="0"/>
              </a:rPr>
              <a:t>42</a:t>
            </a:r>
            <a:endParaRPr lang="en-US" b="0" dirty="0">
              <a:solidFill>
                <a:srgbClr val="000000"/>
              </a:solidFill>
              <a:effectLst/>
              <a:latin typeface="Bahnschrift" panose="020B0502040204020203" pitchFamily="34" charset="0"/>
            </a:endParaRPr>
          </a:p>
          <a:p>
            <a:pPr>
              <a:buNone/>
            </a:pPr>
            <a:r>
              <a:rPr lang="en-US" b="0" dirty="0">
                <a:solidFill>
                  <a:srgbClr val="000000"/>
                </a:solidFill>
                <a:effectLst/>
                <a:latin typeface="Bahnschrift" panose="020B0502040204020203" pitchFamily="34" charset="0"/>
              </a:rPr>
              <a:t>)</a:t>
            </a:r>
          </a:p>
          <a:p>
            <a:pPr>
              <a:buNone/>
            </a:pPr>
            <a:br>
              <a:rPr lang="en-US" b="0" dirty="0">
                <a:solidFill>
                  <a:srgbClr val="000000"/>
                </a:solidFill>
                <a:effectLst/>
                <a:latin typeface="Bahnschrift" panose="020B0502040204020203" pitchFamily="34" charset="0"/>
              </a:rPr>
            </a:br>
            <a:r>
              <a:rPr lang="en-US" b="0" dirty="0" err="1">
                <a:solidFill>
                  <a:srgbClr val="000000"/>
                </a:solidFill>
                <a:effectLst/>
                <a:latin typeface="Bahnschrift" panose="020B0502040204020203" pitchFamily="34" charset="0"/>
              </a:rPr>
              <a:t>mlp.fit</a:t>
            </a:r>
            <a:r>
              <a:rPr lang="en-US" b="0" dirty="0">
                <a:solidFill>
                  <a:srgbClr val="000000"/>
                </a:solidFill>
                <a:effectLst/>
                <a:latin typeface="Bahnschrift" panose="020B0502040204020203" pitchFamily="34" charset="0"/>
              </a:rPr>
              <a:t>(</a:t>
            </a:r>
            <a:r>
              <a:rPr lang="en-US" b="0" dirty="0" err="1">
                <a:solidFill>
                  <a:srgbClr val="000000"/>
                </a:solidFill>
                <a:effectLst/>
                <a:latin typeface="Bahnschrift" panose="020B0502040204020203" pitchFamily="34" charset="0"/>
              </a:rPr>
              <a:t>X_train_scaled</a:t>
            </a:r>
            <a:r>
              <a:rPr lang="en-US" b="0" dirty="0">
                <a:solidFill>
                  <a:srgbClr val="000000"/>
                </a:solidFill>
                <a:effectLst/>
                <a:latin typeface="Bahnschrift" panose="020B0502040204020203" pitchFamily="34" charset="0"/>
              </a:rPr>
              <a:t>, y_train)</a:t>
            </a:r>
          </a:p>
        </p:txBody>
      </p:sp>
    </p:spTree>
    <p:extLst>
      <p:ext uri="{BB962C8B-B14F-4D97-AF65-F5344CB8AC3E}">
        <p14:creationId xmlns:p14="http://schemas.microsoft.com/office/powerpoint/2010/main" val="1716327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9F798-9535-79A8-DA79-5665A0BBC230}"/>
            </a:ext>
          </a:extLst>
        </p:cNvPr>
        <p:cNvGrpSpPr/>
        <p:nvPr/>
      </p:nvGrpSpPr>
      <p:grpSpPr>
        <a:xfrm>
          <a:off x="0" y="0"/>
          <a:ext cx="0" cy="0"/>
          <a:chOff x="0" y="0"/>
          <a:chExt cx="0" cy="0"/>
        </a:xfrm>
      </p:grpSpPr>
      <p:sp>
        <p:nvSpPr>
          <p:cNvPr id="3" name="Заголовок 1">
            <a:extLst>
              <a:ext uri="{FF2B5EF4-FFF2-40B4-BE49-F238E27FC236}">
                <a16:creationId xmlns:a16="http://schemas.microsoft.com/office/drawing/2014/main" id="{A6E31E0B-C47F-0CAD-757F-8633B344596A}"/>
              </a:ext>
            </a:extLst>
          </p:cNvPr>
          <p:cNvSpPr txBox="1">
            <a:spLocks/>
          </p:cNvSpPr>
          <p:nvPr/>
        </p:nvSpPr>
        <p:spPr>
          <a:xfrm>
            <a:off x="1559496" y="185740"/>
            <a:ext cx="9505056" cy="3472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sz="2400" b="1" dirty="0">
                <a:solidFill>
                  <a:schemeClr val="accent2">
                    <a:lumMod val="50000"/>
                  </a:schemeClr>
                </a:solidFill>
                <a:latin typeface="Arial Black" panose="020B0A04020102020204" pitchFamily="34" charset="0"/>
              </a:rPr>
              <a:t>Многослойный персептрон (</a:t>
            </a:r>
            <a:r>
              <a:rPr lang="en-US" sz="2400" b="1" dirty="0" err="1">
                <a:solidFill>
                  <a:schemeClr val="accent2">
                    <a:lumMod val="50000"/>
                  </a:schemeClr>
                </a:solidFill>
                <a:latin typeface="Arial Black" panose="020B0A04020102020204" pitchFamily="34" charset="0"/>
              </a:rPr>
              <a:t>MLP</a:t>
            </a:r>
            <a:r>
              <a:rPr lang="en-US" sz="2400" b="1" dirty="0">
                <a:solidFill>
                  <a:schemeClr val="accent2">
                    <a:lumMod val="50000"/>
                  </a:schemeClr>
                </a:solidFill>
                <a:latin typeface="Arial Black" panose="020B0A04020102020204" pitchFamily="34" charset="0"/>
              </a:rPr>
              <a:t>) </a:t>
            </a:r>
            <a:endParaRPr lang="ru-RU" sz="2400" b="1" dirty="0">
              <a:solidFill>
                <a:schemeClr val="accent2">
                  <a:lumMod val="50000"/>
                </a:schemeClr>
              </a:solidFill>
              <a:latin typeface="Arial Black" panose="020B0A04020102020204" pitchFamily="34" charset="0"/>
            </a:endParaRPr>
          </a:p>
        </p:txBody>
      </p:sp>
      <p:sp>
        <p:nvSpPr>
          <p:cNvPr id="6" name="TextBox 5">
            <a:extLst>
              <a:ext uri="{FF2B5EF4-FFF2-40B4-BE49-F238E27FC236}">
                <a16:creationId xmlns:a16="http://schemas.microsoft.com/office/drawing/2014/main" id="{A40C34CD-8528-F4E1-5CA9-D799EBC9ABC5}"/>
              </a:ext>
            </a:extLst>
          </p:cNvPr>
          <p:cNvSpPr txBox="1"/>
          <p:nvPr/>
        </p:nvSpPr>
        <p:spPr>
          <a:xfrm>
            <a:off x="983432" y="151179"/>
            <a:ext cx="10657184" cy="5940088"/>
          </a:xfrm>
          <a:prstGeom prst="rect">
            <a:avLst/>
          </a:prstGeom>
          <a:noFill/>
        </p:spPr>
        <p:txBody>
          <a:bodyPr wrap="square">
            <a:spAutoFit/>
          </a:bodyPr>
          <a:lstStyle/>
          <a:p>
            <a:r>
              <a:rPr lang="ru-RU" sz="2000" dirty="0">
                <a:solidFill>
                  <a:schemeClr val="accent2">
                    <a:lumMod val="50000"/>
                  </a:schemeClr>
                </a:solidFill>
                <a:latin typeface="Bahnschrift" panose="020B0502040204020203" pitchFamily="34" charset="0"/>
              </a:rPr>
              <a:t>Важно:</a:t>
            </a: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Масштабирование признаков: </a:t>
            </a:r>
          </a:p>
          <a:p>
            <a:r>
              <a:rPr lang="ru-RU" sz="2000" dirty="0">
                <a:solidFill>
                  <a:schemeClr val="accent2">
                    <a:lumMod val="50000"/>
                  </a:schemeClr>
                </a:solidFill>
                <a:latin typeface="Bahnschrift" panose="020B0502040204020203" pitchFamily="34" charset="0"/>
              </a:rPr>
              <a:t>Для </a:t>
            </a:r>
            <a:r>
              <a:rPr lang="ru-RU" sz="2000" dirty="0" err="1">
                <a:solidFill>
                  <a:schemeClr val="accent2">
                    <a:lumMod val="50000"/>
                  </a:schemeClr>
                </a:solidFill>
                <a:latin typeface="Bahnschrift" panose="020B0502040204020203" pitchFamily="34" charset="0"/>
              </a:rPr>
              <a:t>MLP</a:t>
            </a:r>
            <a:r>
              <a:rPr lang="ru-RU" sz="2000" dirty="0">
                <a:solidFill>
                  <a:schemeClr val="accent2">
                    <a:lumMod val="50000"/>
                  </a:schemeClr>
                </a:solidFill>
                <a:latin typeface="Bahnschrift" panose="020B0502040204020203" pitchFamily="34" charset="0"/>
              </a:rPr>
              <a:t> крайне важно масштабировать признаки. Без масштабирования может не сходиться или показывать очень плохие результаты.</a:t>
            </a: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Выбор параметров: </a:t>
            </a:r>
          </a:p>
          <a:p>
            <a:r>
              <a:rPr lang="ru-RU" sz="2000" dirty="0">
                <a:solidFill>
                  <a:schemeClr val="accent2">
                    <a:lumMod val="50000"/>
                  </a:schemeClr>
                </a:solidFill>
                <a:latin typeface="Bahnschrift" panose="020B0502040204020203" pitchFamily="34" charset="0"/>
              </a:rPr>
              <a:t>Подбор оптимальных параметров может быть сложной задачей. Рекомендуется использовать кросс-валидацию (</a:t>
            </a:r>
            <a:r>
              <a:rPr lang="ru-RU" sz="2000" dirty="0" err="1">
                <a:solidFill>
                  <a:schemeClr val="accent2">
                    <a:lumMod val="50000"/>
                  </a:schemeClr>
                </a:solidFill>
                <a:latin typeface="Bahnschrift" panose="020B0502040204020203" pitchFamily="34" charset="0"/>
              </a:rPr>
              <a:t>GridSearchCV</a:t>
            </a:r>
            <a:r>
              <a:rPr lang="ru-RU" sz="2000" dirty="0">
                <a:solidFill>
                  <a:schemeClr val="accent2">
                    <a:lumMod val="50000"/>
                  </a:schemeClr>
                </a:solidFill>
                <a:latin typeface="Bahnschrift" panose="020B0502040204020203" pitchFamily="34" charset="0"/>
              </a:rPr>
              <a:t> или </a:t>
            </a:r>
            <a:r>
              <a:rPr lang="ru-RU" sz="2000" dirty="0" err="1">
                <a:solidFill>
                  <a:schemeClr val="accent2">
                    <a:lumMod val="50000"/>
                  </a:schemeClr>
                </a:solidFill>
                <a:latin typeface="Bahnschrift" panose="020B0502040204020203" pitchFamily="34" charset="0"/>
              </a:rPr>
              <a:t>RandomizedSearchCV</a:t>
            </a:r>
            <a:r>
              <a:rPr lang="ru-RU" sz="2000" dirty="0">
                <a:solidFill>
                  <a:schemeClr val="accent2">
                    <a:lumMod val="50000"/>
                  </a:schemeClr>
                </a:solidFill>
                <a:latin typeface="Bahnschrift" panose="020B0502040204020203" pitchFamily="34" charset="0"/>
              </a:rPr>
              <a:t>) для выбора наилучших значений </a:t>
            </a:r>
            <a:r>
              <a:rPr lang="ru-RU" sz="2000" dirty="0" err="1">
                <a:solidFill>
                  <a:schemeClr val="accent2">
                    <a:lumMod val="50000"/>
                  </a:schemeClr>
                </a:solidFill>
                <a:latin typeface="Bahnschrift" panose="020B0502040204020203" pitchFamily="34" charset="0"/>
              </a:rPr>
              <a:t>hidden_layer_sizes</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activation</a:t>
            </a:r>
            <a:r>
              <a:rPr lang="ru-RU" sz="2000" dirty="0">
                <a:solidFill>
                  <a:schemeClr val="accent2">
                    <a:lumMod val="50000"/>
                  </a:schemeClr>
                </a:solidFill>
                <a:latin typeface="Bahnschrift" panose="020B0502040204020203" pitchFamily="34" charset="0"/>
              </a:rPr>
              <a:t>, </a:t>
            </a:r>
            <a:r>
              <a:rPr lang="ru-RU" sz="2000" dirty="0" err="1">
                <a:solidFill>
                  <a:schemeClr val="accent2">
                    <a:lumMod val="50000"/>
                  </a:schemeClr>
                </a:solidFill>
                <a:latin typeface="Bahnschrift" panose="020B0502040204020203" pitchFamily="34" charset="0"/>
              </a:rPr>
              <a:t>solver</a:t>
            </a:r>
            <a:r>
              <a:rPr lang="ru-RU" sz="2000" dirty="0">
                <a:solidFill>
                  <a:schemeClr val="accent2">
                    <a:lumMod val="50000"/>
                  </a:schemeClr>
                </a:solidFill>
                <a:latin typeface="Bahnschrift" panose="020B0502040204020203" pitchFamily="34" charset="0"/>
              </a:rPr>
              <a:t> и других параметров.</a:t>
            </a: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Сложность модели: </a:t>
            </a:r>
          </a:p>
          <a:p>
            <a:r>
              <a:rPr lang="ru-RU" sz="2000" dirty="0" err="1">
                <a:solidFill>
                  <a:schemeClr val="accent2">
                    <a:lumMod val="50000"/>
                  </a:schemeClr>
                </a:solidFill>
                <a:latin typeface="Bahnschrift" panose="020B0502040204020203" pitchFamily="34" charset="0"/>
              </a:rPr>
              <a:t>MLP</a:t>
            </a:r>
            <a:r>
              <a:rPr lang="ru-RU" sz="2000" dirty="0">
                <a:solidFill>
                  <a:schemeClr val="accent2">
                    <a:lumMod val="50000"/>
                  </a:schemeClr>
                </a:solidFill>
                <a:latin typeface="Bahnschrift" panose="020B0502040204020203" pitchFamily="34" charset="0"/>
              </a:rPr>
              <a:t> может быть очень мощной моделью, но слишком сложная модель может переобучиться на небольшом наборе данных.</a:t>
            </a:r>
          </a:p>
          <a:p>
            <a:endParaRPr lang="ru-RU" sz="2000" dirty="0">
              <a:solidFill>
                <a:schemeClr val="accent2">
                  <a:lumMod val="50000"/>
                </a:schemeClr>
              </a:solidFill>
              <a:latin typeface="Bahnschrift" panose="020B0502040204020203" pitchFamily="34" charset="0"/>
            </a:endParaRPr>
          </a:p>
          <a:p>
            <a:r>
              <a:rPr lang="ru-RU" sz="2000" b="1" dirty="0">
                <a:solidFill>
                  <a:schemeClr val="accent2">
                    <a:lumMod val="50000"/>
                  </a:schemeClr>
                </a:solidFill>
                <a:latin typeface="Bahnschrift" panose="020B0502040204020203" pitchFamily="34" charset="0"/>
              </a:rPr>
              <a:t>Сходимость: </a:t>
            </a:r>
          </a:p>
          <a:p>
            <a:r>
              <a:rPr lang="ru-RU" sz="2000" dirty="0">
                <a:solidFill>
                  <a:schemeClr val="accent2">
                    <a:lumMod val="50000"/>
                  </a:schemeClr>
                </a:solidFill>
                <a:latin typeface="Bahnschrift" panose="020B0502040204020203" pitchFamily="34" charset="0"/>
              </a:rPr>
              <a:t>Обучение может занять некоторое время, особенно для больших сетей и сложных задач. Если модель не сходится, попробуйте увеличить </a:t>
            </a:r>
            <a:r>
              <a:rPr lang="ru-RU" sz="2000" dirty="0" err="1">
                <a:solidFill>
                  <a:schemeClr val="accent2">
                    <a:lumMod val="50000"/>
                  </a:schemeClr>
                </a:solidFill>
                <a:latin typeface="Bahnschrift" panose="020B0502040204020203" pitchFamily="34" charset="0"/>
              </a:rPr>
              <a:t>max_iter</a:t>
            </a:r>
            <a:r>
              <a:rPr lang="ru-RU" sz="2000" dirty="0">
                <a:solidFill>
                  <a:schemeClr val="accent2">
                    <a:lumMod val="50000"/>
                  </a:schemeClr>
                </a:solidFill>
                <a:latin typeface="Bahnschrift" panose="020B0502040204020203" pitchFamily="34" charset="0"/>
              </a:rPr>
              <a:t>, изменить </a:t>
            </a:r>
            <a:r>
              <a:rPr lang="ru-RU" sz="2000" dirty="0" err="1">
                <a:solidFill>
                  <a:schemeClr val="accent2">
                    <a:lumMod val="50000"/>
                  </a:schemeClr>
                </a:solidFill>
                <a:latin typeface="Bahnschrift" panose="020B0502040204020203" pitchFamily="34" charset="0"/>
              </a:rPr>
              <a:t>learning_rate_init</a:t>
            </a:r>
            <a:r>
              <a:rPr lang="ru-RU" sz="2000" dirty="0">
                <a:solidFill>
                  <a:schemeClr val="accent2">
                    <a:lumMod val="50000"/>
                  </a:schemeClr>
                </a:solidFill>
                <a:latin typeface="Bahnschrift" panose="020B0502040204020203" pitchFamily="34" charset="0"/>
              </a:rPr>
              <a:t> или использовать другой алгоритм оптимизации (</a:t>
            </a:r>
            <a:r>
              <a:rPr lang="ru-RU" sz="2000" dirty="0" err="1">
                <a:solidFill>
                  <a:schemeClr val="accent2">
                    <a:lumMod val="50000"/>
                  </a:schemeClr>
                </a:solidFill>
                <a:latin typeface="Bahnschrift" panose="020B0502040204020203" pitchFamily="34" charset="0"/>
              </a:rPr>
              <a:t>solver</a:t>
            </a:r>
            <a:r>
              <a:rPr lang="ru-RU" sz="2000" dirty="0">
                <a:solidFill>
                  <a:schemeClr val="accent2">
                    <a:lumMod val="50000"/>
                  </a:schemeClr>
                </a:solidFill>
                <a:latin typeface="Bahnschrift" panose="020B0502040204020203" pitchFamily="34" charset="0"/>
              </a:rPr>
              <a:t>).</a:t>
            </a:r>
          </a:p>
        </p:txBody>
      </p:sp>
    </p:spTree>
    <p:extLst>
      <p:ext uri="{BB962C8B-B14F-4D97-AF65-F5344CB8AC3E}">
        <p14:creationId xmlns:p14="http://schemas.microsoft.com/office/powerpoint/2010/main" val="102613994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3640</TotalTime>
  <Words>4512</Words>
  <Application>Microsoft Office PowerPoint</Application>
  <PresentationFormat>Широкоэкранный</PresentationFormat>
  <Paragraphs>462</Paragraphs>
  <Slides>46</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46</vt:i4>
      </vt:variant>
    </vt:vector>
  </HeadingPairs>
  <TitlesOfParts>
    <vt:vector size="55" baseType="lpstr">
      <vt:lpstr>Arial</vt:lpstr>
      <vt:lpstr>Arial Black</vt:lpstr>
      <vt:lpstr>Bahnschrift</vt:lpstr>
      <vt:lpstr>Calibri</vt:lpstr>
      <vt:lpstr>Calibri Light</vt:lpstr>
      <vt:lpstr>Courier New</vt:lpstr>
      <vt:lpstr>Times New Roman</vt:lpstr>
      <vt:lpstr>Wingdings</vt:lpstr>
      <vt:lpstr>Тема Office</vt:lpstr>
      <vt:lpstr>Лекция 3 по Машинному обучению  </vt:lpstr>
      <vt:lpstr>Логистическая регрессия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K-ближайших соседей (KNN)</vt:lpstr>
      <vt:lpstr> K-ближайших соседей (KNN)</vt:lpstr>
      <vt:lpstr> K-ближайших соседей (KNN)</vt:lpstr>
      <vt:lpstr>Презентация PowerPoint</vt:lpstr>
      <vt:lpstr> K-ближайших соседей (KNN)</vt:lpstr>
      <vt:lpstr> K-ближайших соседей (KNN)</vt:lpstr>
      <vt:lpstr>Дерево </vt:lpstr>
      <vt:lpstr>Дерево </vt:lpstr>
      <vt:lpstr>Дерево </vt:lpstr>
      <vt:lpstr>Дерево </vt:lpstr>
      <vt:lpstr>Дерево </vt:lpstr>
      <vt:lpstr>Преимущества и недостатки дерева </vt:lpstr>
      <vt:lpstr>Случайный лес  (Random Forest)</vt:lpstr>
      <vt:lpstr>  Случайный лес</vt:lpstr>
      <vt:lpstr>Случайный лес  (Random Forest)</vt:lpstr>
      <vt:lpstr>Случайный лес  (Random Forest)</vt:lpstr>
      <vt:lpstr>Случайный лес  (Random Forest)</vt:lpstr>
      <vt:lpstr>Случайный лес  (Random Forest)</vt:lpstr>
      <vt:lpstr>Градиентный Бустинг (Gradient Boosting)</vt:lpstr>
      <vt:lpstr>Градиентный Бустинг (Gradient Boosting)</vt:lpstr>
      <vt:lpstr>Различия между XGBoost, LightGBM и CatBoost</vt:lpstr>
      <vt:lpstr>Различия между XGBoost, LightGBM и CatBoost</vt:lpstr>
      <vt:lpstr>Различия между XGBoost, LightGBM и CatBoost</vt:lpstr>
      <vt:lpstr>Презентация PowerPoint</vt:lpstr>
      <vt:lpstr>Ключевые Аргументы для Настройки </vt:lpstr>
      <vt:lpstr>Ключевые Аргументы для Настройки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Людмила Герськина</dc:creator>
  <cp:lastModifiedBy>Людмила Герськина</cp:lastModifiedBy>
  <cp:revision>56</cp:revision>
  <dcterms:created xsi:type="dcterms:W3CDTF">2025-07-23T17:56:42Z</dcterms:created>
  <dcterms:modified xsi:type="dcterms:W3CDTF">2025-08-13T18:09:55Z</dcterms:modified>
</cp:coreProperties>
</file>