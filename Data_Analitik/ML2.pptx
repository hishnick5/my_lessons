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5" r:id="rId3"/>
    <p:sldId id="339" r:id="rId4"/>
    <p:sldId id="338" r:id="rId5"/>
    <p:sldId id="335" r:id="rId6"/>
    <p:sldId id="336" r:id="rId7"/>
    <p:sldId id="337" r:id="rId8"/>
    <p:sldId id="340" r:id="rId9"/>
    <p:sldId id="341" r:id="rId10"/>
    <p:sldId id="342" r:id="rId11"/>
    <p:sldId id="343" r:id="rId12"/>
    <p:sldId id="344" r:id="rId13"/>
    <p:sldId id="346" r:id="rId14"/>
    <p:sldId id="348" r:id="rId15"/>
    <p:sldId id="350" r:id="rId16"/>
    <p:sldId id="352" r:id="rId17"/>
    <p:sldId id="347" r:id="rId18"/>
    <p:sldId id="349" r:id="rId19"/>
    <p:sldId id="353" r:id="rId20"/>
    <p:sldId id="351" r:id="rId21"/>
    <p:sldId id="354" r:id="rId22"/>
    <p:sldId id="379" r:id="rId23"/>
    <p:sldId id="355" r:id="rId24"/>
    <p:sldId id="380" r:id="rId25"/>
    <p:sldId id="356" r:id="rId26"/>
    <p:sldId id="357" r:id="rId27"/>
    <p:sldId id="361" r:id="rId28"/>
    <p:sldId id="359" r:id="rId29"/>
    <p:sldId id="358" r:id="rId30"/>
    <p:sldId id="360" r:id="rId31"/>
    <p:sldId id="381" r:id="rId32"/>
    <p:sldId id="382" r:id="rId33"/>
    <p:sldId id="362" r:id="rId34"/>
    <p:sldId id="383" r:id="rId35"/>
    <p:sldId id="363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373" r:id="rId46"/>
    <p:sldId id="374" r:id="rId47"/>
    <p:sldId id="378" r:id="rId48"/>
    <p:sldId id="375" r:id="rId49"/>
    <p:sldId id="377" r:id="rId50"/>
    <p:sldId id="376" r:id="rId51"/>
    <p:sldId id="384" r:id="rId52"/>
    <p:sldId id="385" r:id="rId53"/>
    <p:sldId id="386" r:id="rId5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104929FB-E88D-4DC9-BA6D-315C4591C05F}">
          <p14:sldIdLst>
            <p14:sldId id="256"/>
          </p14:sldIdLst>
        </p14:section>
        <p14:section name="Метрики регрессии" id="{8ECCA6EF-57CB-41DE-A3CA-92DDD94291CD}">
          <p14:sldIdLst>
            <p14:sldId id="345"/>
            <p14:sldId id="339"/>
            <p14:sldId id="338"/>
            <p14:sldId id="335"/>
            <p14:sldId id="336"/>
            <p14:sldId id="337"/>
            <p14:sldId id="340"/>
            <p14:sldId id="341"/>
            <p14:sldId id="342"/>
            <p14:sldId id="343"/>
            <p14:sldId id="344"/>
          </p14:sldIdLst>
        </p14:section>
        <p14:section name="Обработка категориальных признаков" id="{1C5CDAB6-2A1F-4C38-AEDB-622DCF2A79F6}">
          <p14:sldIdLst>
            <p14:sldId id="346"/>
            <p14:sldId id="348"/>
            <p14:sldId id="350"/>
            <p14:sldId id="352"/>
            <p14:sldId id="347"/>
            <p14:sldId id="349"/>
            <p14:sldId id="353"/>
            <p14:sldId id="351"/>
            <p14:sldId id="354"/>
            <p14:sldId id="379"/>
          </p14:sldIdLst>
        </p14:section>
        <p14:section name="Масштабирование признаков" id="{76CBD2DE-5DF3-4FF4-84DA-2E9990DCA570}">
          <p14:sldIdLst>
            <p14:sldId id="355"/>
            <p14:sldId id="380"/>
            <p14:sldId id="356"/>
            <p14:sldId id="357"/>
            <p14:sldId id="361"/>
            <p14:sldId id="359"/>
            <p14:sldId id="358"/>
            <p14:sldId id="360"/>
            <p14:sldId id="381"/>
            <p14:sldId id="382"/>
            <p14:sldId id="362"/>
            <p14:sldId id="383"/>
          </p14:sldIdLst>
        </p14:section>
        <p14:section name="создание новых фичей" id="{2917BE22-1485-4697-8195-5FA903CCC455}">
          <p14:sldIdLst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</p14:sldIdLst>
        </p14:section>
        <p14:section name="линейная регрессия" id="{E6467324-F29C-4CFF-95CD-79C0FAA45D23}">
          <p14:sldIdLst>
            <p14:sldId id="374"/>
            <p14:sldId id="378"/>
            <p14:sldId id="375"/>
            <p14:sldId id="377"/>
            <p14:sldId id="376"/>
            <p14:sldId id="384"/>
            <p14:sldId id="385"/>
            <p14:sldId id="3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FF00FF"/>
    <a:srgbClr val="FF9999"/>
    <a:srgbClr val="FF9966"/>
    <a:srgbClr val="EEE1C6"/>
    <a:srgbClr val="E8B7A8"/>
    <a:srgbClr val="FEF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2" autoAdjust="0"/>
    <p:restoredTop sz="94660"/>
  </p:normalViewPr>
  <p:slideViewPr>
    <p:cSldViewPr>
      <p:cViewPr varScale="1">
        <p:scale>
          <a:sx n="73" d="100"/>
          <a:sy n="73" d="100"/>
        </p:scale>
        <p:origin x="78" y="8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3F167-FA33-48B3-0430-B5643DA4F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4A2F2F-4B4B-F9D7-D14B-CC850057C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C1B7AA-3925-5643-DB78-D7D02E8D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7F4EFE-81C0-D183-F553-BDDB21EFE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372D8-DBA3-C2B5-4D62-B783462E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49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9B455-880F-80EB-047A-89268627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DE4296-FF25-F1EB-E86F-885F0FE9C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4C8F4E-DBE7-9047-4BDA-F5F0850F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E7CC6A-0BCC-138C-D226-86A0CA2B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EECB53-0F41-A539-C36B-01800D55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80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9B2EC-8D23-C324-150C-D1AAA75D3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577615-9B84-0236-1BEC-2099773FC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7B17D-6347-CD8C-689A-6885C795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FB098-99D1-1EE5-B23B-D561723D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E1FF3E-FDA1-7E77-33D5-E9A0AEAB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52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44D48-4224-A4FA-255C-20EA2760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7D94FB-BE85-B774-F446-7DC307172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C131CA-26A8-2FE4-80CC-FA873BD80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8D904E-5006-68E6-A998-5147A545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5BDC02-C0E7-3AE4-1DFD-85FE6124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A1E6C6-EED5-2F5F-372D-269187A6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21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0A222-CAC2-8C61-F94A-D1D1F976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83F600-F5B2-B84B-9C42-9E67D7C02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6D9D76-E67C-48F9-4D7F-521A33BF4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509F06-94B3-D476-903F-5BF4F2491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AC36AF-BDFF-2251-6FE9-27B7EFA9F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BD7590-A984-3970-B59F-5118DC52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2DB9D9-9A76-40FD-AC81-63C31D7E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FDA232-AEA7-0EFC-CD2E-2CC29EC1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68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97E9B-5BB3-EBA9-9DB1-0DF428A1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289E5BA-9A8B-4AC5-170D-52DC6F6A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855E4A-D4F7-4D73-036B-4EB4CF94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ABEE2-A3C8-8D1F-A3EA-E6209D63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1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4CFB5B-EB2E-97D0-0DC6-E9635B5C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499F58-687D-BE8D-D181-248E6A15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586355-CC7C-B19D-E55E-8C45E21A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56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7ED3E-47A7-958D-80E1-347D1DAF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AB6C56-285A-EDF8-144F-A23DE6F79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D635C4-9F0F-7B48-2B65-E998C7EEE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964268-7903-8DDC-B89A-41EFC8A4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EBAAF0-4B69-F5E7-6720-F7FF5670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68FFB-C9BC-C494-3155-99DD79D6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16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5F8C0-945B-B952-A93C-08A7CB1C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2B0658-B76B-81E7-974B-F320443E3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4FD365-D544-231C-AF29-866B74FCB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82A17E-2731-87DB-3B9E-1E1247EE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60A586-88B7-4411-A8C4-DFCACC3C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460324-DF72-D36D-9A0A-659209B1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95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F7007-B977-5F07-AB2F-7F4953FC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B3837A-CB74-86DD-CA18-D4F4EA181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7D95AD-7E17-0313-4FBE-1E09F9E6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794CC0-ED5F-CE08-F5C2-2EA75B64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BA781-29F8-932C-2617-AF4AE410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4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1D0B386-4B11-0632-DF89-83717315B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C5BD41-D1AD-91F0-9E95-F52861C4F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F34EF4-9EDE-0EB1-98BB-D95FAF36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2D3221-0C29-EED4-9740-146FDB48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17F01B-57DD-69F9-CC02-B50173D1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02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FBF4"/>
            </a:gs>
            <a:gs pos="74000">
              <a:srgbClr val="EEE1C6"/>
            </a:gs>
            <a:gs pos="95000">
              <a:srgbClr val="E8B7A8"/>
            </a:gs>
            <a:gs pos="100000">
              <a:srgbClr val="EEE1C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0D709-AA38-D0A0-AFE6-D1E82DA0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2DC53C-52FE-1A4B-428E-46BEF51CA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CDBE4B-2EDD-2678-ED98-7C8D54388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968FD-478E-4870-8D5F-B407F39A9BB7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D7CDBF-17A6-03C1-0F54-F016DEFD4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8B32F2-66C8-AE15-AC63-5F4174805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6901E-1BF3-46DD-A945-C13FC288C8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74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CF5AB-4BB7-E70E-15C5-65BBFBED0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5989" y="675145"/>
            <a:ext cx="9144000" cy="2387600"/>
          </a:xfrm>
        </p:spPr>
        <p:txBody>
          <a:bodyPr>
            <a:normAutofit/>
          </a:bodyPr>
          <a:lstStyle/>
          <a:p>
            <a:r>
              <a:rPr lang="ru-RU" sz="31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rPr>
              <a:t>Лекция </a:t>
            </a:r>
            <a:r>
              <a:rPr lang="en-US" sz="31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rPr>
              <a:t>2</a:t>
            </a:r>
            <a:r>
              <a:rPr lang="ru-RU" sz="31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rPr>
              <a:t> по Машинному обучению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E42DB-C10A-1C3B-AF66-9C4020818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989" y="5478264"/>
            <a:ext cx="9144000" cy="676672"/>
          </a:xfrm>
          <a:noFill/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2025г.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DB00A-6B0C-382F-B916-33137505D7BC}"/>
              </a:ext>
            </a:extLst>
          </p:cNvPr>
          <p:cNvSpPr txBox="1"/>
          <p:nvPr/>
        </p:nvSpPr>
        <p:spPr>
          <a:xfrm>
            <a:off x="3995243" y="3429000"/>
            <a:ext cx="42015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Гераськина Л. А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7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3C0C5-9E35-8E38-7992-45C06A93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1587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Метрики для Задач Регрессии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3D66E-4C0D-5D21-A04F-91B55484A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792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Функция потерь</a:t>
            </a:r>
            <a:r>
              <a:rPr lang="ru-RU" dirty="0"/>
              <a:t> в машинном обучении является мерой того, насколько точно полученная модель способна предсказать целевую функцию (правильные ответы).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Функция потерь по всем объектам называется </a:t>
            </a:r>
            <a:r>
              <a:rPr lang="ru-RU" b="1" dirty="0"/>
              <a:t>эмпирическим риском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b="1" dirty="0"/>
              <a:t>Функция потерь – это эмпирический риск</a:t>
            </a:r>
            <a:r>
              <a:rPr lang="ru-RU" dirty="0"/>
              <a:t> . Чем меньше эмпирический риск тем точнее работает модель машинного обучения.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809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F279-C59A-C970-D075-71043459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8BF28D-086A-893D-5AC7-633B91D529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752184" y="2276872"/>
            <a:ext cx="4327968" cy="13681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8A6AA-0EAC-AA36-25A5-25D0F99B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Метрики для Задач Регрессии: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AE7B5-039E-CE89-B3AB-94351C29FE57}"/>
              </a:ext>
            </a:extLst>
          </p:cNvPr>
          <p:cNvSpPr txBox="1"/>
          <p:nvPr/>
        </p:nvSpPr>
        <p:spPr>
          <a:xfrm>
            <a:off x="710971" y="864198"/>
            <a:ext cx="11217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Средняя абсолютная ошибка (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MAE - Mean Absolute Error)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3421A-D631-8E71-699D-8751D0A9340F}"/>
              </a:ext>
            </a:extLst>
          </p:cNvPr>
          <p:cNvSpPr txBox="1"/>
          <p:nvPr/>
        </p:nvSpPr>
        <p:spPr>
          <a:xfrm>
            <a:off x="111848" y="2937057"/>
            <a:ext cx="10524485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Расчет функции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 </a:t>
            </a:r>
          </a:p>
          <a:p>
            <a:endParaRPr lang="en-US" sz="2400" b="1" dirty="0">
              <a:latin typeface="Bahnschrift" panose="020B0502040204020203" pitchFamily="34" charset="0"/>
            </a:endParaRPr>
          </a:p>
          <a:p>
            <a:r>
              <a:rPr lang="en-US" sz="20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en-US" sz="2000" dirty="0" err="1">
                <a:solidFill>
                  <a:srgbClr val="00B050"/>
                </a:solidFill>
                <a:latin typeface="Bahnschrift" panose="020B0502040204020203" pitchFamily="34" charset="0"/>
              </a:rPr>
              <a:t>pred_label</a:t>
            </a:r>
            <a:r>
              <a:rPr lang="en-US" sz="20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Bahnschrift" panose="020B0502040204020203" pitchFamily="34" charset="0"/>
              </a:rPr>
              <a:t>предсказанное</a:t>
            </a:r>
            <a:r>
              <a:rPr lang="en-US" sz="20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Bahnschrift" panose="020B0502040204020203" pitchFamily="34" charset="0"/>
              </a:rPr>
              <a:t>значение</a:t>
            </a:r>
            <a:endParaRPr lang="en-US" sz="2000" b="1" dirty="0">
              <a:latin typeface="Bahnschrift" panose="020B0502040204020203" pitchFamily="34" charset="0"/>
            </a:endParaRPr>
          </a:p>
          <a:p>
            <a:pPr marL="342900" indent="-342900">
              <a:buAutoNum type="arabicParenR"/>
            </a:pPr>
            <a:r>
              <a:rPr lang="en-US" sz="2400" dirty="0" err="1">
                <a:latin typeface="Bahnschrift" panose="020B0502040204020203" pitchFamily="34" charset="0"/>
              </a:rPr>
              <a:t>mae</a:t>
            </a:r>
            <a:r>
              <a:rPr lang="ru-RU" sz="2400" dirty="0">
                <a:latin typeface="Bahnschrift" panose="020B0502040204020203" pitchFamily="34" charset="0"/>
              </a:rPr>
              <a:t>_ = </a:t>
            </a:r>
            <a:r>
              <a:rPr lang="en-US" sz="2400" dirty="0">
                <a:latin typeface="Bahnschrift" panose="020B0502040204020203" pitchFamily="34" charset="0"/>
              </a:rPr>
              <a:t>sum</a:t>
            </a:r>
            <a:r>
              <a:rPr lang="ru-RU" sz="2400" dirty="0">
                <a:latin typeface="Bahnschrift" panose="020B0502040204020203" pitchFamily="34" charset="0"/>
              </a:rPr>
              <a:t>(</a:t>
            </a:r>
            <a:r>
              <a:rPr lang="en-US" sz="2400" dirty="0">
                <a:latin typeface="Bahnschrift" panose="020B0502040204020203" pitchFamily="34" charset="0"/>
              </a:rPr>
              <a:t>abs</a:t>
            </a:r>
            <a:r>
              <a:rPr lang="ru-RU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true_label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pred_label</a:t>
            </a:r>
            <a:r>
              <a:rPr lang="ru-RU" sz="2400" dirty="0">
                <a:latin typeface="Bahnschrift" panose="020B0502040204020203" pitchFamily="34" charset="0"/>
              </a:rPr>
              <a:t>))/</a:t>
            </a:r>
            <a:r>
              <a:rPr lang="en-US" sz="2400" dirty="0" err="1">
                <a:latin typeface="Bahnschrift" panose="020B0502040204020203" pitchFamily="34" charset="0"/>
              </a:rPr>
              <a:t>len</a:t>
            </a:r>
            <a:r>
              <a:rPr lang="ru-RU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true_label</a:t>
            </a:r>
            <a:r>
              <a:rPr lang="ru-RU" sz="2400" dirty="0">
                <a:latin typeface="Bahnschrift" panose="020B0502040204020203" pitchFamily="34" charset="0"/>
              </a:rPr>
              <a:t>) </a:t>
            </a:r>
          </a:p>
          <a:p>
            <a:r>
              <a:rPr lang="ru-RU" sz="2400" dirty="0">
                <a:latin typeface="Bahnschrift" panose="020B0502040204020203" pitchFamily="34" charset="0"/>
              </a:rPr>
              <a:t>Или</a:t>
            </a:r>
            <a:endParaRPr lang="en-US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подключение библиотеки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2) </a:t>
            </a:r>
            <a:r>
              <a:rPr lang="en-US" sz="2400" dirty="0">
                <a:solidFill>
                  <a:srgbClr val="7030A0"/>
                </a:solidFill>
                <a:latin typeface="Bahnschrift" panose="020B0502040204020203" pitchFamily="34" charset="0"/>
              </a:rPr>
              <a:t>from </a:t>
            </a:r>
            <a:r>
              <a:rPr lang="en-US" sz="2400" dirty="0" err="1">
                <a:latin typeface="Bahnschrift" panose="020B0502040204020203" pitchFamily="34" charset="0"/>
              </a:rPr>
              <a:t>sklearn.metrics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Bahnschrift" panose="020B0502040204020203" pitchFamily="34" charset="0"/>
              </a:rPr>
              <a:t>import </a:t>
            </a:r>
            <a:r>
              <a:rPr lang="en-US" sz="2400" dirty="0" err="1">
                <a:latin typeface="Bahnschrift" panose="020B0502040204020203" pitchFamily="34" charset="0"/>
              </a:rPr>
              <a:t>mean_absolute_error</a:t>
            </a:r>
            <a:endParaRPr lang="ru-RU" sz="2000" dirty="0">
              <a:solidFill>
                <a:srgbClr val="00B050"/>
              </a:solidFill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mae</a:t>
            </a:r>
            <a:r>
              <a:rPr lang="en-US" sz="2400" dirty="0">
                <a:latin typeface="Bahnschrift" panose="020B0502040204020203" pitchFamily="34" charset="0"/>
              </a:rPr>
              <a:t>_  = </a:t>
            </a:r>
            <a:r>
              <a:rPr lang="en-US" sz="2400" dirty="0" err="1">
                <a:latin typeface="Bahnschrift" panose="020B0502040204020203" pitchFamily="34" charset="0"/>
              </a:rPr>
              <a:t>mean_absolute_error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true_label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pred_label</a:t>
            </a:r>
            <a:r>
              <a:rPr lang="en-US" sz="2400" dirty="0">
                <a:latin typeface="Bahnschrift" panose="020B0502040204020203" pitchFamily="34" charset="0"/>
              </a:rPr>
              <a:t>) 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84034-08F4-2E67-09B5-7B56A9860EBB}"/>
              </a:ext>
            </a:extLst>
          </p:cNvPr>
          <p:cNvSpPr txBox="1"/>
          <p:nvPr/>
        </p:nvSpPr>
        <p:spPr>
          <a:xfrm>
            <a:off x="548769" y="1462425"/>
            <a:ext cx="10873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MAE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— это среднее значение абсолютных разностей между фактическими значениями и предсказанными значениями. 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61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852E-959F-32E2-77F5-A9BF9FC8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6826C-D73D-14D2-C2A0-79BC45730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23" y="724871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Средняя абсолютная ошибка (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MAE - Mean Absolute Error)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E3BF7-5890-5799-8506-0B6254212C1C}"/>
              </a:ext>
            </a:extLst>
          </p:cNvPr>
          <p:cNvSpPr txBox="1"/>
          <p:nvPr/>
        </p:nvSpPr>
        <p:spPr>
          <a:xfrm>
            <a:off x="767408" y="1484784"/>
            <a:ext cx="1121767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Достоинства: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Устойчива к выбросам.</a:t>
            </a: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Интерпретируется в тех же единицах измерения, что и целевая переменная.</a:t>
            </a:r>
          </a:p>
          <a:p>
            <a:pPr marL="706438" lvl="0" indent="-3429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Менее чувствительна к большим ошибкам, чем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MSE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.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Когда важна устойчивость к выбросам и легкость интерпретации. Например, в прогнозировании температуры.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41F2E8-3BA9-41DF-7F5E-19AA8F0E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38" y="-18493"/>
            <a:ext cx="11833362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0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C3E1-B66D-E27A-A3C3-E19AD645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53C3D5-3A17-51B4-BB19-F7F6693115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2497968"/>
            <a:ext cx="3794493" cy="11863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E91AB-400E-E9FB-431B-059DD25F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85" y="203304"/>
            <a:ext cx="11828508" cy="383610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Метрики для Задач Регрессии: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1E89A-FB12-9D57-BC0D-3D6121801BE5}"/>
              </a:ext>
            </a:extLst>
          </p:cNvPr>
          <p:cNvSpPr txBox="1"/>
          <p:nvPr/>
        </p:nvSpPr>
        <p:spPr>
          <a:xfrm>
            <a:off x="710971" y="864198"/>
            <a:ext cx="11217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Среднеквадратичная ошибка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(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MSE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- Mean Squared Error)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A9396-1D59-CF52-352C-00293B717946}"/>
              </a:ext>
            </a:extLst>
          </p:cNvPr>
          <p:cNvSpPr txBox="1"/>
          <p:nvPr/>
        </p:nvSpPr>
        <p:spPr>
          <a:xfrm>
            <a:off x="239688" y="2809376"/>
            <a:ext cx="1052448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Расчет функции 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MSE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</a:p>
          <a:p>
            <a:endParaRPr lang="en-US" sz="2400" b="1" dirty="0">
              <a:latin typeface="Bahnschrift" panose="020B0502040204020203" pitchFamily="34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en-US" sz="2400" dirty="0" err="1">
                <a:solidFill>
                  <a:srgbClr val="00B050"/>
                </a:solidFill>
                <a:latin typeface="Bahnschrift" panose="020B0502040204020203" pitchFamily="34" charset="0"/>
              </a:rPr>
              <a:t>pred_label</a:t>
            </a:r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Bahnschrift" panose="020B0502040204020203" pitchFamily="34" charset="0"/>
              </a:rPr>
              <a:t>предсказанное</a:t>
            </a:r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Bahnschrift" panose="020B0502040204020203" pitchFamily="34" charset="0"/>
              </a:rPr>
              <a:t>значение</a:t>
            </a:r>
            <a:endParaRPr lang="en-US" sz="2400" b="1" dirty="0">
              <a:latin typeface="Bahnschrift" panose="020B0502040204020203" pitchFamily="34" charset="0"/>
            </a:endParaRPr>
          </a:p>
          <a:p>
            <a:pPr marL="342900" indent="-342900">
              <a:buAutoNum type="arabicParenR"/>
            </a:pPr>
            <a:r>
              <a:rPr lang="en-US" sz="2400" dirty="0" err="1">
                <a:latin typeface="Bahnschrift" panose="020B0502040204020203" pitchFamily="34" charset="0"/>
              </a:rPr>
              <a:t>mse</a:t>
            </a:r>
            <a:r>
              <a:rPr lang="en-US" sz="2400" dirty="0">
                <a:latin typeface="Bahnschrift" panose="020B0502040204020203" pitchFamily="34" charset="0"/>
              </a:rPr>
              <a:t>_=sum((</a:t>
            </a:r>
            <a:r>
              <a:rPr lang="en-US" sz="2400" dirty="0" err="1">
                <a:latin typeface="Bahnschrift" panose="020B0502040204020203" pitchFamily="34" charset="0"/>
              </a:rPr>
              <a:t>true_label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pred_label</a:t>
            </a:r>
            <a:r>
              <a:rPr lang="en-US" sz="2400" dirty="0">
                <a:latin typeface="Bahnschrift" panose="020B0502040204020203" pitchFamily="34" charset="0"/>
              </a:rPr>
              <a:t>)**2)/</a:t>
            </a:r>
            <a:r>
              <a:rPr lang="en-US" sz="2400" dirty="0" err="1">
                <a:latin typeface="Bahnschrift" panose="020B0502040204020203" pitchFamily="34" charset="0"/>
              </a:rPr>
              <a:t>len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true_label</a:t>
            </a:r>
            <a:r>
              <a:rPr lang="en-US" sz="2400" dirty="0">
                <a:latin typeface="Bahnschrift" panose="020B0502040204020203" pitchFamily="34" charset="0"/>
              </a:rPr>
              <a:t>)  </a:t>
            </a:r>
          </a:p>
          <a:p>
            <a:pPr marL="342900" indent="-342900">
              <a:buAutoNum type="arabicParenR"/>
            </a:pPr>
            <a:endParaRPr lang="ru-RU" sz="2400" dirty="0">
              <a:latin typeface="Bahnschrift" panose="020B0502040204020203" pitchFamily="34" charset="0"/>
            </a:endParaRPr>
          </a:p>
          <a:p>
            <a:r>
              <a:rPr lang="ru-RU" sz="2400" dirty="0">
                <a:latin typeface="Bahnschrift" panose="020B0502040204020203" pitchFamily="34" charset="0"/>
              </a:rPr>
              <a:t>Или</a:t>
            </a:r>
            <a:endParaRPr lang="en-US" sz="2400" dirty="0">
              <a:latin typeface="Bahnschrift" panose="020B0502040204020203" pitchFamily="34" charset="0"/>
            </a:endParaRPr>
          </a:p>
          <a:p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2) </a:t>
            </a:r>
            <a:r>
              <a:rPr lang="en-US" sz="2400" dirty="0">
                <a:solidFill>
                  <a:srgbClr val="7030A0"/>
                </a:solidFill>
                <a:latin typeface="Bahnschrift" panose="020B0502040204020203" pitchFamily="34" charset="0"/>
              </a:rPr>
              <a:t>from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sklearn.metrics</a:t>
            </a:r>
            <a:r>
              <a:rPr lang="en-US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import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mean_squared_error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mse</a:t>
            </a:r>
            <a:r>
              <a:rPr lang="en-US" sz="2400" dirty="0">
                <a:latin typeface="Bahnschrift" panose="020B0502040204020203" pitchFamily="34" charset="0"/>
              </a:rPr>
              <a:t>_= </a:t>
            </a:r>
            <a:r>
              <a:rPr lang="en-US" sz="2400" dirty="0" err="1">
                <a:latin typeface="Bahnschrift" panose="020B0502040204020203" pitchFamily="34" charset="0"/>
              </a:rPr>
              <a:t>mean_squared_error</a:t>
            </a:r>
            <a:r>
              <a:rPr lang="en-US" sz="2400" b="1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true_label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pred_label</a:t>
            </a:r>
            <a:r>
              <a:rPr lang="en-US" sz="2400" b="1" dirty="0">
                <a:latin typeface="Bahnschrift" panose="020B0502040204020203" pitchFamily="34" charset="0"/>
              </a:rPr>
              <a:t>)</a:t>
            </a:r>
            <a:endParaRPr lang="ru-RU" sz="2000" dirty="0">
              <a:solidFill>
                <a:srgbClr val="00B050"/>
              </a:solidFill>
              <a:latin typeface="Bahnschrift" panose="020B0502040204020203" pitchFamily="34" charset="0"/>
            </a:endParaRPr>
          </a:p>
          <a:p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9189C-0616-D676-2C9A-F63C2936A224}"/>
              </a:ext>
            </a:extLst>
          </p:cNvPr>
          <p:cNvSpPr txBox="1"/>
          <p:nvPr/>
        </p:nvSpPr>
        <p:spPr>
          <a:xfrm>
            <a:off x="611765" y="1666971"/>
            <a:ext cx="10873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MSE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— это среднее значение квадратов разностей между фактическими значениями и предсказанными значениями.</a:t>
            </a:r>
          </a:p>
        </p:txBody>
      </p:sp>
    </p:spTree>
    <p:extLst>
      <p:ext uri="{BB962C8B-B14F-4D97-AF65-F5344CB8AC3E}">
        <p14:creationId xmlns:p14="http://schemas.microsoft.com/office/powerpoint/2010/main" val="2700437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339F8-B91D-AA53-7061-4F661984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80F7C-483A-DEDA-82AA-87529F72D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Среднеквадратичная ошибка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MSE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- Mean Squared Error)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6D6BF-ED29-01F9-8FFC-91C8FB17E14C}"/>
              </a:ext>
            </a:extLst>
          </p:cNvPr>
          <p:cNvSpPr txBox="1"/>
          <p:nvPr/>
        </p:nvSpPr>
        <p:spPr>
          <a:xfrm>
            <a:off x="767408" y="1484784"/>
            <a:ext cx="112176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Достоинства: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Широко используется и легко вычисляется.</a:t>
            </a: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Штрафует большие ошибки сильнее, чем малые.</a:t>
            </a:r>
          </a:p>
          <a:p>
            <a:pPr marL="706438" lvl="0" indent="-3429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Чувствительна к выбросам, так как квадратичная функция 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55600" indent="457200"/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увеличивает влияние больших ошибок.</a:t>
            </a: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Единицы измерения: квадрат единиц измерения целевой переменной.</a:t>
            </a:r>
          </a:p>
          <a:p>
            <a:pPr marL="706438" indent="-3429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06438" indent="-3429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Когда важно учесть как большие, так и малые ошибки. Например, в прогнозировании цен на недвижимость</a:t>
            </a:r>
            <a:r>
              <a:rPr lang="ru-RU" sz="2400" dirty="0">
                <a:latin typeface="Bahnschrift" panose="020B0502040204020203" pitchFamily="34" charset="0"/>
              </a:rPr>
              <a:t>.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37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00FBA-6FCC-F5A7-4894-46071745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A679B0-5DB9-3793-D3FC-0A9C372BE3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409" y="1988644"/>
            <a:ext cx="4858239" cy="14403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5D7A0-FA13-5D13-EA1B-8373E14D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Метрики для Задач Регрессии: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2C9C0-8C7F-67F4-EBA6-0354938495B3}"/>
              </a:ext>
            </a:extLst>
          </p:cNvPr>
          <p:cNvSpPr txBox="1"/>
          <p:nvPr/>
        </p:nvSpPr>
        <p:spPr>
          <a:xfrm>
            <a:off x="548769" y="864198"/>
            <a:ext cx="11379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Средняя абсолютная ошибка в процентах 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(</a:t>
            </a:r>
            <a:r>
              <a:rPr lang="ru-RU" sz="20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MAPE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- </a:t>
            </a:r>
            <a:r>
              <a:rPr lang="ru-RU" sz="20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Mean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Absolute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Percentage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Error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F35CB-4632-65B8-2829-1483B22DF04D}"/>
              </a:ext>
            </a:extLst>
          </p:cNvPr>
          <p:cNvSpPr txBox="1"/>
          <p:nvPr/>
        </p:nvSpPr>
        <p:spPr>
          <a:xfrm>
            <a:off x="111848" y="2204864"/>
            <a:ext cx="1052448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                  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Расчет функции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MAPE </a:t>
            </a:r>
          </a:p>
          <a:p>
            <a:endParaRPr lang="en-US" sz="2400" b="1" dirty="0">
              <a:latin typeface="Bahnschrift" panose="020B0502040204020203" pitchFamily="34" charset="0"/>
            </a:endParaRPr>
          </a:p>
          <a:p>
            <a:r>
              <a:rPr lang="en-US" sz="20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en-US" sz="2000" i="1" dirty="0">
                <a:solidFill>
                  <a:srgbClr val="00B050"/>
                </a:solidFill>
              </a:rPr>
              <a:t> </a:t>
            </a:r>
            <a:r>
              <a:rPr lang="ru-RU" sz="2000" i="1" dirty="0">
                <a:solidFill>
                  <a:srgbClr val="00B050"/>
                </a:solidFill>
              </a:rPr>
              <a:t>Преобразуем в </a:t>
            </a:r>
            <a:r>
              <a:rPr lang="en-US" sz="2000" i="1" dirty="0">
                <a:solidFill>
                  <a:srgbClr val="00B050"/>
                </a:solidFill>
              </a:rPr>
              <a:t>numpy arrays </a:t>
            </a:r>
            <a:r>
              <a:rPr lang="ru-RU" sz="2000" i="1" dirty="0">
                <a:solidFill>
                  <a:srgbClr val="00B050"/>
                </a:solidFill>
              </a:rPr>
              <a:t>для надежности</a:t>
            </a:r>
            <a:r>
              <a:rPr lang="ru-RU" sz="2000" dirty="0"/>
              <a:t> </a:t>
            </a:r>
            <a:endParaRPr lang="en-US" sz="2000" dirty="0"/>
          </a:p>
          <a:p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 = </a:t>
            </a:r>
            <a:r>
              <a:rPr lang="en-US" sz="2400" dirty="0" err="1">
                <a:latin typeface="Bahnschrift" panose="020B0502040204020203" pitchFamily="34" charset="0"/>
              </a:rPr>
              <a:t>np.array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), </a:t>
            </a:r>
            <a:r>
              <a:rPr lang="en-US" sz="2400" dirty="0" err="1">
                <a:latin typeface="Bahnschrift" panose="020B0502040204020203" pitchFamily="34" charset="0"/>
              </a:rPr>
              <a:t>np.array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 </a:t>
            </a:r>
          </a:p>
          <a:p>
            <a:r>
              <a:rPr lang="en-US" sz="2400" dirty="0" err="1">
                <a:latin typeface="Bahnschrift" panose="020B0502040204020203" pitchFamily="34" charset="0"/>
              </a:rPr>
              <a:t>mape</a:t>
            </a:r>
            <a:r>
              <a:rPr lang="en-US" sz="2400" dirty="0">
                <a:latin typeface="Bahnschrift" panose="020B0502040204020203" pitchFamily="34" charset="0"/>
              </a:rPr>
              <a:t>_= </a:t>
            </a:r>
            <a:r>
              <a:rPr lang="en-US" sz="2400" dirty="0" err="1">
                <a:latin typeface="Bahnschrift" panose="020B0502040204020203" pitchFamily="34" charset="0"/>
              </a:rPr>
              <a:t>np.mean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np.abs</a:t>
            </a:r>
            <a:r>
              <a:rPr lang="en-US" sz="2400" dirty="0">
                <a:latin typeface="Bahnschrift" panose="020B0502040204020203" pitchFamily="34" charset="0"/>
              </a:rPr>
              <a:t>((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 - 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 / 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)) * 100 </a:t>
            </a:r>
          </a:p>
          <a:p>
            <a:endParaRPr lang="en-US" sz="2400" dirty="0">
              <a:latin typeface="Bahnschrift" panose="020B0502040204020203" pitchFamily="34" charset="0"/>
            </a:endParaRPr>
          </a:p>
          <a:p>
            <a:r>
              <a:rPr lang="ru-RU" sz="2400" dirty="0">
                <a:latin typeface="Bahnschrift" panose="020B0502040204020203" pitchFamily="34" charset="0"/>
              </a:rPr>
              <a:t>Или</a:t>
            </a:r>
            <a:endParaRPr lang="en-US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подключение библиотеки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2)</a:t>
            </a:r>
            <a:r>
              <a:rPr lang="en-US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from </a:t>
            </a:r>
            <a:r>
              <a:rPr lang="en-US" sz="2400" dirty="0" err="1">
                <a:latin typeface="Bahnschrift" panose="020B0502040204020203" pitchFamily="34" charset="0"/>
              </a:rPr>
              <a:t>sklearn.metrics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Bahnschrift" panose="020B0502040204020203" pitchFamily="34" charset="0"/>
              </a:rPr>
              <a:t>import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mean_absolute_percentage_error</a:t>
            </a:r>
            <a:endParaRPr lang="en-US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mape</a:t>
            </a:r>
            <a:r>
              <a:rPr lang="en-US" sz="2400" dirty="0">
                <a:latin typeface="Bahnschrift" panose="020B0502040204020203" pitchFamily="34" charset="0"/>
              </a:rPr>
              <a:t>_= </a:t>
            </a:r>
            <a:r>
              <a:rPr lang="en-US" sz="2400" dirty="0" err="1">
                <a:latin typeface="Bahnschrift" panose="020B0502040204020203" pitchFamily="34" charset="0"/>
              </a:rPr>
              <a:t>mean_absolute_percentage_error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 * 100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2FCAD-268D-F9A6-93C8-0849D6192FDF}"/>
              </a:ext>
            </a:extLst>
          </p:cNvPr>
          <p:cNvSpPr txBox="1"/>
          <p:nvPr/>
        </p:nvSpPr>
        <p:spPr>
          <a:xfrm>
            <a:off x="548769" y="1462425"/>
            <a:ext cx="10873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MAPE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— это средняя абсолютная ошибка, выраженная в процентах</a:t>
            </a:r>
            <a:r>
              <a:rPr lang="ru-RU" dirty="0"/>
              <a:t>.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9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84BC-4257-D09A-B80F-9F5C5C7A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695B8-CE34-8B7A-22ED-33EB6F5C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Средняя абсолютная ошибка в процентах </a:t>
            </a:r>
            <a:b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MAPE - Mean Absolute Percentage Error)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D540F-4530-0EB2-10C4-27E89B283E85}"/>
              </a:ext>
            </a:extLst>
          </p:cNvPr>
          <p:cNvSpPr txBox="1"/>
          <p:nvPr/>
        </p:nvSpPr>
        <p:spPr>
          <a:xfrm>
            <a:off x="767408" y="1484784"/>
            <a:ext cx="1121767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Достоинства: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Позволяет сравнивать ошибки между разными моделями и наборами данных с разными масштабами.</a:t>
            </a: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Легко интерпретируется как процент ошибки.</a:t>
            </a:r>
          </a:p>
          <a:p>
            <a:pPr marL="706438" lvl="0" indent="-3429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определена, если фактическое значение y равно нулю.</a:t>
            </a: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Чрезмерно штрафует за ошибки, когда фактические значения близки к нулю.</a:t>
            </a:r>
          </a:p>
          <a:p>
            <a:pPr marL="723900" indent="-3683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Когда важно понимать величину ошибки относительно масштаба целевой переменной. Например, в прогнозировании продаж.</a:t>
            </a:r>
          </a:p>
        </p:txBody>
      </p:sp>
    </p:spTree>
    <p:extLst>
      <p:ext uri="{BB962C8B-B14F-4D97-AF65-F5344CB8AC3E}">
        <p14:creationId xmlns:p14="http://schemas.microsoft.com/office/powerpoint/2010/main" val="92968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7EE6-3D68-341E-4E59-4587B2A5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B2261-3B42-B54B-C6C6-B12E97D1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Метрики для Задач Регрессии: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8AC32-6195-7905-40A9-9A952BE55B18}"/>
              </a:ext>
            </a:extLst>
          </p:cNvPr>
          <p:cNvSpPr txBox="1"/>
          <p:nvPr/>
        </p:nvSpPr>
        <p:spPr>
          <a:xfrm>
            <a:off x="548769" y="864198"/>
            <a:ext cx="11379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</a:rPr>
              <a:t>RMSE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</a:rPr>
              <a:t>Root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</a:rPr>
              <a:t>Mean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</a:rPr>
              <a:t>Squared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</a:rPr>
              <a:t>Error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 - Корень из среднеквадратичной ошибки)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0CE4A-7139-C940-5CB5-E3E4A425E572}"/>
              </a:ext>
            </a:extLst>
          </p:cNvPr>
          <p:cNvSpPr txBox="1"/>
          <p:nvPr/>
        </p:nvSpPr>
        <p:spPr>
          <a:xfrm>
            <a:off x="548769" y="2293422"/>
            <a:ext cx="105244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                  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Расчет функции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RMSE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</a:p>
          <a:p>
            <a:endParaRPr lang="en-US" sz="2400" b="1" dirty="0">
              <a:latin typeface="Bahnschrift" panose="020B0502040204020203" pitchFamily="34" charset="0"/>
            </a:endParaRPr>
          </a:p>
          <a:p>
            <a:r>
              <a:rPr lang="en-US" dirty="0"/>
              <a:t>1</a:t>
            </a:r>
            <a:r>
              <a:rPr lang="en-US" sz="2400" dirty="0">
                <a:latin typeface="Bahnschrift" panose="020B0502040204020203" pitchFamily="34" charset="0"/>
              </a:rPr>
              <a:t>) </a:t>
            </a:r>
            <a:r>
              <a:rPr lang="en-US" sz="2400" dirty="0" err="1">
                <a:latin typeface="Bahnschrift" panose="020B0502040204020203" pitchFamily="34" charset="0"/>
              </a:rPr>
              <a:t>mse</a:t>
            </a:r>
            <a:r>
              <a:rPr lang="en-US" sz="2400" dirty="0">
                <a:latin typeface="Bahnschrift" panose="020B0502040204020203" pitchFamily="34" charset="0"/>
              </a:rPr>
              <a:t> = sum((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 -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)**2)/</a:t>
            </a:r>
            <a:r>
              <a:rPr lang="en-US" sz="2400" dirty="0" err="1">
                <a:latin typeface="Bahnschrift" panose="020B0502040204020203" pitchFamily="34" charset="0"/>
              </a:rPr>
              <a:t>len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 )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</a:rPr>
              <a:t>   </a:t>
            </a:r>
            <a:r>
              <a:rPr lang="en-US" sz="2400" dirty="0" err="1">
                <a:latin typeface="Bahnschrift" panose="020B0502040204020203" pitchFamily="34" charset="0"/>
              </a:rPr>
              <a:t>rmse</a:t>
            </a:r>
            <a:r>
              <a:rPr lang="en-US" sz="2400" dirty="0">
                <a:latin typeface="Bahnschrift" panose="020B0502040204020203" pitchFamily="34" charset="0"/>
              </a:rPr>
              <a:t>_= </a:t>
            </a:r>
            <a:r>
              <a:rPr lang="en-US" sz="2400" dirty="0" err="1">
                <a:latin typeface="Bahnschrift" panose="020B0502040204020203" pitchFamily="34" charset="0"/>
              </a:rPr>
              <a:t>np.sqrt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mse</a:t>
            </a:r>
            <a:r>
              <a:rPr lang="en-US" sz="2400" dirty="0">
                <a:latin typeface="Bahnschrift" panose="020B0502040204020203" pitchFamily="34" charset="0"/>
              </a:rPr>
              <a:t>)  </a:t>
            </a:r>
            <a:endParaRPr lang="ru-RU" sz="2400" dirty="0">
              <a:latin typeface="Bahnschrift" panose="020B0502040204020203" pitchFamily="34" charset="0"/>
            </a:endParaRPr>
          </a:p>
          <a:p>
            <a:endParaRPr lang="en-US" sz="2400" dirty="0">
              <a:latin typeface="Bahnschrift" panose="020B0502040204020203" pitchFamily="34" charset="0"/>
            </a:endParaRPr>
          </a:p>
          <a:p>
            <a:r>
              <a:rPr lang="ru-RU" sz="2400" dirty="0">
                <a:latin typeface="Bahnschrift" panose="020B0502040204020203" pitchFamily="34" charset="0"/>
              </a:rPr>
              <a:t>Или</a:t>
            </a:r>
          </a:p>
          <a:p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подключение библиотеки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from </a:t>
            </a:r>
            <a:r>
              <a:rPr lang="en-US" sz="2400" dirty="0" err="1">
                <a:latin typeface="Bahnschrift" panose="020B0502040204020203" pitchFamily="34" charset="0"/>
              </a:rPr>
              <a:t>sklearn.metrics</a:t>
            </a:r>
            <a:r>
              <a:rPr lang="en-US" sz="2400" dirty="0">
                <a:latin typeface="Bahnschrift" panose="020B0502040204020203" pitchFamily="34" charset="0"/>
              </a:rPr>
              <a:t> import </a:t>
            </a:r>
            <a:r>
              <a:rPr lang="en-US" sz="2400" dirty="0" err="1">
                <a:latin typeface="Bahnschrift" panose="020B0502040204020203" pitchFamily="34" charset="0"/>
              </a:rPr>
              <a:t>mean_absolute_error</a:t>
            </a:r>
            <a:r>
              <a:rPr lang="en-US" sz="2400" dirty="0">
                <a:latin typeface="Bahnschrift" panose="020B0502040204020203" pitchFamily="34" charset="0"/>
              </a:rPr>
              <a:t>  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2) </a:t>
            </a:r>
            <a:r>
              <a:rPr lang="en-US" sz="2400" dirty="0" err="1">
                <a:latin typeface="Bahnschrift" panose="020B0502040204020203" pitchFamily="34" charset="0"/>
              </a:rPr>
              <a:t>rmse</a:t>
            </a:r>
            <a:r>
              <a:rPr lang="en-US" sz="2400" dirty="0">
                <a:latin typeface="Bahnschrift" panose="020B0502040204020203" pitchFamily="34" charset="0"/>
              </a:rPr>
              <a:t>_=  </a:t>
            </a:r>
            <a:r>
              <a:rPr lang="en-US" sz="2400" dirty="0" err="1">
                <a:latin typeface="Bahnschrift" panose="020B0502040204020203" pitchFamily="34" charset="0"/>
              </a:rPr>
              <a:t>np.sqrt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mean_squared_error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))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3A32A-C679-269D-5746-B02F117437ED}"/>
              </a:ext>
            </a:extLst>
          </p:cNvPr>
          <p:cNvSpPr txBox="1"/>
          <p:nvPr/>
        </p:nvSpPr>
        <p:spPr>
          <a:xfrm>
            <a:off x="548769" y="1462425"/>
            <a:ext cx="10873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RMSE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—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измеряет среднюю величину ошибок, которые делает модель при предсказании.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3B4F2B-E78B-83B4-1F7D-FC8D9F94660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164622" y="2003659"/>
            <a:ext cx="4902582" cy="125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72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97AD-B44A-72D5-CCB1-5608A98D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BB2E7-CB98-9941-74DF-7AE2DB1E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RMSE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Root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Mean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Squared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Error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– </a:t>
            </a:r>
            <a:b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Корень из среднеквадратичной ошибки)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07CF5-9C2C-2795-AA2D-33F082CEB343}"/>
              </a:ext>
            </a:extLst>
          </p:cNvPr>
          <p:cNvSpPr txBox="1"/>
          <p:nvPr/>
        </p:nvSpPr>
        <p:spPr>
          <a:xfrm>
            <a:off x="767408" y="1052736"/>
            <a:ext cx="1121767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Достоинства: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Легко интерпретировать, так как выражается в тех же единицах, что и целевая переменная. 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Полезно при обнаружении аномалий.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Подходит для непрерывных задач регрессии.</a:t>
            </a:r>
            <a:r>
              <a:rPr lang="ru-RU" dirty="0"/>
              <a:t> </a:t>
            </a: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Позволяет сравнивать различные модели регрессии, обученные на одном и том же наборе данных, для выбора наилучшей.</a:t>
            </a:r>
          </a:p>
          <a:p>
            <a:pPr marL="706438" lvl="0" indent="-3429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Значение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RMSE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зависит от масштаба целевой переменной, что затрудняет сравнение моделей на разных наборах данных с разными диапазонами значений.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Может быть искажен выбросами, что приводит к переоценке ошибки модели</a:t>
            </a:r>
          </a:p>
          <a:p>
            <a:pPr marL="723900" lvl="0" indent="-368300">
              <a:buFont typeface="Calibri" panose="020F0502020204030204" pitchFamily="34" charset="0"/>
              <a:buChar char="⁻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Используется для оценки производительности моделей регрессии, например, для предсказания цен на дома, прогнозирования температуры, предсказания объема продаж и т.д.</a:t>
            </a:r>
          </a:p>
        </p:txBody>
      </p:sp>
    </p:spTree>
    <p:extLst>
      <p:ext uri="{BB962C8B-B14F-4D97-AF65-F5344CB8AC3E}">
        <p14:creationId xmlns:p14="http://schemas.microsoft.com/office/powerpoint/2010/main" val="3786665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7924-DB74-C948-92F8-C457D3E0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053958-EC81-AD07-3281-72EDF389C4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680176" y="2102610"/>
            <a:ext cx="4125621" cy="15362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4DED1-86A6-8149-D4D4-2E4C789F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Метрики для Задач Регрессии: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0EE46-2228-456E-E60C-330CED2C1364}"/>
              </a:ext>
            </a:extLst>
          </p:cNvPr>
          <p:cNvSpPr txBox="1"/>
          <p:nvPr/>
        </p:nvSpPr>
        <p:spPr>
          <a:xfrm>
            <a:off x="548769" y="864198"/>
            <a:ext cx="11379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Коэффициент детерминации (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R-squared)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D8E93-00A6-3FA2-3E13-223EFEFFBA67}"/>
              </a:ext>
            </a:extLst>
          </p:cNvPr>
          <p:cNvSpPr txBox="1"/>
          <p:nvPr/>
        </p:nvSpPr>
        <p:spPr>
          <a:xfrm>
            <a:off x="548769" y="2293422"/>
            <a:ext cx="1052448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                  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Расчет функции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R-squared </a:t>
            </a:r>
          </a:p>
          <a:p>
            <a:endParaRPr lang="ru-RU" sz="2400" b="1" dirty="0">
              <a:latin typeface="Bahnschrift" panose="020B0502040204020203" pitchFamily="34" charset="0"/>
            </a:endParaRPr>
          </a:p>
          <a:p>
            <a:endParaRPr lang="en-US" sz="2400" b="1" dirty="0">
              <a:latin typeface="Bahnschrift" panose="020B0502040204020203" pitchFamily="34" charset="0"/>
            </a:endParaRPr>
          </a:p>
          <a:p>
            <a:pPr marL="342900" indent="-342900">
              <a:buAutoNum type="arabicParenR"/>
            </a:pP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 = </a:t>
            </a:r>
            <a:r>
              <a:rPr lang="en-US" sz="2400" dirty="0" err="1">
                <a:latin typeface="Bahnschrift" panose="020B0502040204020203" pitchFamily="34" charset="0"/>
              </a:rPr>
              <a:t>np.array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), </a:t>
            </a:r>
            <a:r>
              <a:rPr lang="en-US" sz="2400" dirty="0" err="1">
                <a:latin typeface="Bahnschrift" panose="020B0502040204020203" pitchFamily="34" charset="0"/>
              </a:rPr>
              <a:t>np.array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 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 err="1">
                <a:latin typeface="Bahnschrift" panose="020B0502040204020203" pitchFamily="34" charset="0"/>
              </a:rPr>
              <a:t>ss_r</a:t>
            </a:r>
            <a:r>
              <a:rPr lang="en-US" sz="2400" dirty="0">
                <a:latin typeface="Bahnschrift" panose="020B0502040204020203" pitchFamily="34" charset="0"/>
              </a:rPr>
              <a:t> = </a:t>
            </a:r>
            <a:r>
              <a:rPr lang="en-US" sz="2400" dirty="0" err="1">
                <a:latin typeface="Bahnschrift" panose="020B0502040204020203" pitchFamily="34" charset="0"/>
              </a:rPr>
              <a:t>np.sum</a:t>
            </a:r>
            <a:r>
              <a:rPr lang="en-US" sz="2400" dirty="0">
                <a:latin typeface="Bahnschrift" panose="020B0502040204020203" pitchFamily="34" charset="0"/>
              </a:rPr>
              <a:t>((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 - 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)**2) </a:t>
            </a:r>
            <a:r>
              <a:rPr lang="en-US" sz="20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ru-RU" sz="2000" dirty="0">
                <a:solidFill>
                  <a:srgbClr val="00B050"/>
                </a:solidFill>
                <a:latin typeface="Bahnschrift" panose="020B0502040204020203" pitchFamily="34" charset="0"/>
              </a:rPr>
              <a:t>Сумма квадратов остатков </a:t>
            </a:r>
          </a:p>
          <a:p>
            <a:r>
              <a:rPr lang="en-US" sz="2400" dirty="0" err="1">
                <a:latin typeface="Bahnschrift" panose="020B0502040204020203" pitchFamily="34" charset="0"/>
              </a:rPr>
              <a:t>ss_t</a:t>
            </a:r>
            <a:r>
              <a:rPr lang="en-US" sz="2400" dirty="0">
                <a:latin typeface="Bahnschrift" panose="020B0502040204020203" pitchFamily="34" charset="0"/>
              </a:rPr>
              <a:t>= </a:t>
            </a:r>
            <a:r>
              <a:rPr lang="en-US" sz="2400" dirty="0" err="1">
                <a:latin typeface="Bahnschrift" panose="020B0502040204020203" pitchFamily="34" charset="0"/>
              </a:rPr>
              <a:t>np.sum</a:t>
            </a:r>
            <a:r>
              <a:rPr lang="en-US" sz="2400" dirty="0">
                <a:latin typeface="Bahnschrift" panose="020B0502040204020203" pitchFamily="34" charset="0"/>
              </a:rPr>
              <a:t>((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 - </a:t>
            </a:r>
            <a:r>
              <a:rPr lang="en-US" sz="2400" dirty="0" err="1">
                <a:latin typeface="Bahnschrift" panose="020B0502040204020203" pitchFamily="34" charset="0"/>
              </a:rPr>
              <a:t>np.mean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))**2) </a:t>
            </a:r>
            <a:r>
              <a:rPr lang="en-US" sz="20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ru-RU" sz="2000" dirty="0">
                <a:solidFill>
                  <a:srgbClr val="00B050"/>
                </a:solidFill>
                <a:latin typeface="Bahnschrift" panose="020B0502040204020203" pitchFamily="34" charset="0"/>
              </a:rPr>
              <a:t>Общая сумма квадратов</a:t>
            </a:r>
          </a:p>
          <a:p>
            <a:r>
              <a:rPr lang="en-US" sz="2400" dirty="0" err="1">
                <a:latin typeface="Bahnschrift" panose="020B0502040204020203" pitchFamily="34" charset="0"/>
              </a:rPr>
              <a:t>r_squared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</a:rPr>
              <a:t>=</a:t>
            </a:r>
            <a:r>
              <a:rPr lang="en-US" sz="2400" dirty="0">
                <a:latin typeface="Bahnschrift" panose="020B0502040204020203" pitchFamily="34" charset="0"/>
              </a:rPr>
              <a:t>1 - (</a:t>
            </a:r>
            <a:r>
              <a:rPr lang="en-US" sz="2400" dirty="0" err="1">
                <a:latin typeface="Bahnschrift" panose="020B0502040204020203" pitchFamily="34" charset="0"/>
              </a:rPr>
              <a:t>ss_r</a:t>
            </a:r>
            <a:r>
              <a:rPr lang="en-US" sz="2400" dirty="0">
                <a:latin typeface="Bahnschrift" panose="020B0502040204020203" pitchFamily="34" charset="0"/>
              </a:rPr>
              <a:t> / </a:t>
            </a:r>
            <a:r>
              <a:rPr lang="en-US" sz="2400" dirty="0" err="1">
                <a:latin typeface="Bahnschrift" panose="020B0502040204020203" pitchFamily="34" charset="0"/>
              </a:rPr>
              <a:t>ss_t</a:t>
            </a:r>
            <a:r>
              <a:rPr lang="en-US" sz="2400" dirty="0">
                <a:latin typeface="Bahnschrift" panose="020B0502040204020203" pitchFamily="34" charset="0"/>
              </a:rPr>
              <a:t>)</a:t>
            </a:r>
          </a:p>
          <a:p>
            <a:r>
              <a:rPr lang="ru-RU" sz="2400" dirty="0">
                <a:latin typeface="Bahnschrift" panose="020B0502040204020203" pitchFamily="34" charset="0"/>
              </a:rPr>
              <a:t>Или</a:t>
            </a:r>
          </a:p>
          <a:p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подключение библиотеки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from </a:t>
            </a:r>
            <a:r>
              <a:rPr lang="en-US" sz="2400" dirty="0" err="1">
                <a:latin typeface="Bahnschrift" panose="020B0502040204020203" pitchFamily="34" charset="0"/>
              </a:rPr>
              <a:t>sklearn.metrics</a:t>
            </a:r>
            <a:r>
              <a:rPr lang="en-US" sz="2400" dirty="0">
                <a:latin typeface="Bahnschrift" panose="020B0502040204020203" pitchFamily="34" charset="0"/>
              </a:rPr>
              <a:t> import </a:t>
            </a:r>
            <a:r>
              <a:rPr lang="en-US" sz="2400" dirty="0" err="1">
                <a:latin typeface="Bahnschrift" panose="020B0502040204020203" pitchFamily="34" charset="0"/>
              </a:rPr>
              <a:t>mean_absolute_error</a:t>
            </a:r>
            <a:r>
              <a:rPr lang="en-US" sz="2400" dirty="0">
                <a:latin typeface="Bahnschrift" panose="020B0502040204020203" pitchFamily="34" charset="0"/>
              </a:rPr>
              <a:t>  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2) </a:t>
            </a:r>
            <a:r>
              <a:rPr lang="en-US" sz="2400" dirty="0" err="1">
                <a:latin typeface="Bahnschrift" panose="020B0502040204020203" pitchFamily="34" charset="0"/>
              </a:rPr>
              <a:t>r_squared</a:t>
            </a:r>
            <a:r>
              <a:rPr lang="en-US" sz="2400" dirty="0">
                <a:latin typeface="Bahnschrift" panose="020B0502040204020203" pitchFamily="34" charset="0"/>
              </a:rPr>
              <a:t>= </a:t>
            </a:r>
            <a:r>
              <a:rPr lang="en-US" sz="2400" dirty="0" err="1">
                <a:latin typeface="Bahnschrift" panose="020B0502040204020203" pitchFamily="34" charset="0"/>
              </a:rPr>
              <a:t>r2_score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y_true</a:t>
            </a:r>
            <a:r>
              <a:rPr lang="en-US" sz="2400" dirty="0">
                <a:latin typeface="Bahnschrift" panose="020B0502040204020203" pitchFamily="34" charset="0"/>
              </a:rPr>
              <a:t>, </a:t>
            </a:r>
            <a:r>
              <a:rPr lang="en-US" sz="2400" dirty="0" err="1">
                <a:latin typeface="Bahnschrift" panose="020B0502040204020203" pitchFamily="34" charset="0"/>
              </a:rPr>
              <a:t>y_pred</a:t>
            </a:r>
            <a:r>
              <a:rPr lang="en-US" sz="2400" dirty="0">
                <a:latin typeface="Bahnschrift" panose="020B0502040204020203" pitchFamily="34" charset="0"/>
              </a:rPr>
              <a:t>)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F979C-9C9A-C6EB-ACBA-55E2B655DD4B}"/>
              </a:ext>
            </a:extLst>
          </p:cNvPr>
          <p:cNvSpPr txBox="1"/>
          <p:nvPr/>
        </p:nvSpPr>
        <p:spPr>
          <a:xfrm>
            <a:off x="548769" y="1391798"/>
            <a:ext cx="10873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R-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squared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показывает, какую долю дисперсии целевой переменной объясняет модель. То есть, это мера того, насколько </a:t>
            </a:r>
            <a:r>
              <a:rPr lang="ru-RU" sz="2000" i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хорошо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модель описывает разброс данных вокруг среднего значения</a:t>
            </a:r>
            <a:endParaRPr lang="ru-RU" sz="20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918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9B19-0E9B-8839-77D5-E0A73DADC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D8DF-E3B4-B9CD-5073-A5D7D2E7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RMSE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Root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Mean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Squared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Error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– </a:t>
            </a:r>
            <a:b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Корень из среднеквадратичной ошибки)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0BAF7-615A-5AEE-470D-B136B6E630C2}"/>
              </a:ext>
            </a:extLst>
          </p:cNvPr>
          <p:cNvSpPr txBox="1"/>
          <p:nvPr/>
        </p:nvSpPr>
        <p:spPr>
          <a:xfrm>
            <a:off x="1271464" y="1628800"/>
            <a:ext cx="1121767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Достоинства: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Легко интерпретируется.</a:t>
            </a: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Позволяет сравнивать модели на разных наборах данных.</a:t>
            </a:r>
          </a:p>
          <a:p>
            <a:pPr marL="706438" lvl="0" indent="-342900">
              <a:buFont typeface="Calibri" panose="020F0502020204030204" pitchFamily="34" charset="0"/>
              <a:buChar char="⁻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Может быть введено в заблуждение, если модель переобучена.</a:t>
            </a:r>
          </a:p>
          <a:p>
            <a:pPr marL="723900" lvl="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показывает, является ли модель хорошей или плохой, </a:t>
            </a:r>
          </a:p>
          <a:p>
            <a:pPr marL="723900" lvl="0"/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 показывает, насколько хорошо она объясняет дисперсию.</a:t>
            </a:r>
          </a:p>
          <a:p>
            <a:pPr marL="723900" lvl="0" indent="-368300">
              <a:buFont typeface="Calibri" panose="020F0502020204030204" pitchFamily="34" charset="0"/>
              <a:buChar char="⁻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23900" indent="-368300">
              <a:buFont typeface="Calibri" panose="020F0502020204030204" pitchFamily="34" charset="0"/>
              <a:buChar char="⁻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Широко используется для оценки качества моделей регрессии.</a:t>
            </a:r>
          </a:p>
        </p:txBody>
      </p:sp>
    </p:spTree>
    <p:extLst>
      <p:ext uri="{BB962C8B-B14F-4D97-AF65-F5344CB8AC3E}">
        <p14:creationId xmlns:p14="http://schemas.microsoft.com/office/powerpoint/2010/main" val="395776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8B6D-3633-8EB0-15A5-FA8FC3B2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124608-C62F-3A85-4A9C-9A6EFFC74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FD518-8FD7-6D46-84D8-49AFECD76E37}"/>
              </a:ext>
            </a:extLst>
          </p:cNvPr>
          <p:cNvSpPr txBox="1"/>
          <p:nvPr/>
        </p:nvSpPr>
        <p:spPr>
          <a:xfrm>
            <a:off x="1271464" y="1628800"/>
            <a:ext cx="1121767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Большинство алгоритмов ML, таких как 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линейная регрессия,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логистическая регрессия,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метод k-ближайших соседей (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KNN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метод опорных векторов (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SVM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нейронные сети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требуют, чтобы входные данные были представлены в числовом формате. Непосредственное использование категориальных признаков в этих алгоритмах приведет к некорректным результатам или ошибкам.</a:t>
            </a:r>
          </a:p>
        </p:txBody>
      </p:sp>
    </p:spTree>
    <p:extLst>
      <p:ext uri="{BB962C8B-B14F-4D97-AF65-F5344CB8AC3E}">
        <p14:creationId xmlns:p14="http://schemas.microsoft.com/office/powerpoint/2010/main" val="318216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0F20-69E2-4B61-5E2B-E65DE0C9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BE87A-1D38-6554-23A9-33688275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00EB2-D693-3CB8-683A-077A80527197}"/>
              </a:ext>
            </a:extLst>
          </p:cNvPr>
          <p:cNvSpPr txBox="1"/>
          <p:nvPr/>
        </p:nvSpPr>
        <p:spPr>
          <a:xfrm>
            <a:off x="5087888" y="1647406"/>
            <a:ext cx="3472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Label </a:t>
            </a:r>
            <a:r>
              <a:rPr lang="ru-RU" sz="2400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Encoding</a:t>
            </a:r>
            <a:endParaRPr lang="ru-RU" sz="2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45D7B-D3D4-6193-EC14-75128060D9F1}"/>
              </a:ext>
            </a:extLst>
          </p:cNvPr>
          <p:cNvSpPr txBox="1"/>
          <p:nvPr/>
        </p:nvSpPr>
        <p:spPr>
          <a:xfrm>
            <a:off x="1127448" y="1647407"/>
            <a:ext cx="6751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порядковых категории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C2BD8-AE23-8A74-A092-D22A8815A7A9}"/>
              </a:ext>
            </a:extLst>
          </p:cNvPr>
          <p:cNvSpPr txBox="1"/>
          <p:nvPr/>
        </p:nvSpPr>
        <p:spPr>
          <a:xfrm>
            <a:off x="1055440" y="3429000"/>
            <a:ext cx="108732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FF"/>
                </a:solidFill>
                <a:latin typeface="Bahnschrift" panose="020B0502040204020203" pitchFamily="34" charset="0"/>
              </a:rPr>
              <a:t>from </a:t>
            </a:r>
            <a:r>
              <a:rPr lang="en-US" sz="2400" dirty="0" err="1">
                <a:latin typeface="Bahnschrift" panose="020B0502040204020203" pitchFamily="34" charset="0"/>
              </a:rPr>
              <a:t>sklearn.preprocessing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Bahnschrift" panose="020B0502040204020203" pitchFamily="34" charset="0"/>
              </a:rPr>
              <a:t>import </a:t>
            </a:r>
            <a:r>
              <a:rPr lang="en-US" sz="2400" dirty="0" err="1">
                <a:latin typeface="Bahnschrift" panose="020B0502040204020203" pitchFamily="34" charset="0"/>
              </a:rPr>
              <a:t>LabelEncoder</a:t>
            </a:r>
            <a:endParaRPr lang="en-US" sz="2400" dirty="0">
              <a:latin typeface="Bahnschrift" panose="020B0502040204020203" pitchFamily="34" charset="0"/>
            </a:endParaRPr>
          </a:p>
          <a:p>
            <a:endParaRPr lang="en-US" sz="2400" dirty="0">
              <a:latin typeface="Bahnschrift" panose="020B0502040204020203" pitchFamily="34" charset="0"/>
            </a:endParaRPr>
          </a:p>
          <a:p>
            <a:r>
              <a:rPr lang="en-US" sz="2400" dirty="0" err="1">
                <a:latin typeface="Bahnschrift" panose="020B0502040204020203" pitchFamily="34" charset="0"/>
              </a:rPr>
              <a:t>df</a:t>
            </a:r>
            <a:r>
              <a:rPr lang="en-US" sz="2400" dirty="0">
                <a:latin typeface="Bahnschrift" panose="020B0502040204020203" pitchFamily="34" charset="0"/>
              </a:rPr>
              <a:t>[</a:t>
            </a:r>
            <a:r>
              <a:rPr lang="en-US" sz="2400" dirty="0">
                <a:solidFill>
                  <a:srgbClr val="C00000"/>
                </a:solidFill>
                <a:latin typeface="Bahnschrift" panose="020B0502040204020203" pitchFamily="34" charset="0"/>
              </a:rPr>
              <a:t>‘</a:t>
            </a:r>
            <a:r>
              <a:rPr lang="ru-RU" sz="2400" dirty="0" err="1">
                <a:solidFill>
                  <a:srgbClr val="C00000"/>
                </a:solidFill>
                <a:latin typeface="Bahnschrift" panose="020B0502040204020203" pitchFamily="34" charset="0"/>
              </a:rPr>
              <a:t>циф_столбец</a:t>
            </a:r>
            <a:r>
              <a:rPr lang="en-US" sz="2400" dirty="0">
                <a:solidFill>
                  <a:srgbClr val="C00000"/>
                </a:solidFill>
                <a:latin typeface="Bahnschrift" panose="020B0502040204020203" pitchFamily="34" charset="0"/>
              </a:rPr>
              <a:t>’</a:t>
            </a:r>
            <a:r>
              <a:rPr lang="en-US" sz="2400" dirty="0">
                <a:latin typeface="Bahnschrift" panose="020B0502040204020203" pitchFamily="34" charset="0"/>
              </a:rPr>
              <a:t>] =  </a:t>
            </a:r>
            <a:r>
              <a:rPr lang="en-US" sz="2400" dirty="0" err="1">
                <a:latin typeface="Bahnschrift" panose="020B0502040204020203" pitchFamily="34" charset="0"/>
              </a:rPr>
              <a:t>LabelEncoder</a:t>
            </a:r>
            <a:r>
              <a:rPr lang="en-US" sz="2400" dirty="0">
                <a:latin typeface="Bahnschrift" panose="020B0502040204020203" pitchFamily="34" charset="0"/>
              </a:rPr>
              <a:t>().</a:t>
            </a:r>
            <a:r>
              <a:rPr lang="en-US" sz="2400" dirty="0" err="1">
                <a:latin typeface="Bahnschrift" panose="020B0502040204020203" pitchFamily="34" charset="0"/>
              </a:rPr>
              <a:t>fit_transform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df</a:t>
            </a:r>
            <a:r>
              <a:rPr lang="en-US" sz="2400" dirty="0">
                <a:latin typeface="Bahnschrift" panose="020B0502040204020203" pitchFamily="34" charset="0"/>
              </a:rPr>
              <a:t>[</a:t>
            </a:r>
            <a:r>
              <a:rPr lang="en-US" sz="2400" dirty="0">
                <a:solidFill>
                  <a:srgbClr val="C00000"/>
                </a:solidFill>
                <a:latin typeface="Bahnschrift" panose="020B0502040204020203" pitchFamily="34" charset="0"/>
              </a:rPr>
              <a:t>‘</a:t>
            </a:r>
            <a:r>
              <a:rPr lang="ru-RU" sz="2400" dirty="0" err="1">
                <a:solidFill>
                  <a:srgbClr val="C00000"/>
                </a:solidFill>
                <a:latin typeface="Bahnschrift" panose="020B0502040204020203" pitchFamily="34" charset="0"/>
              </a:rPr>
              <a:t>кат_столбец</a:t>
            </a:r>
            <a:r>
              <a:rPr lang="en-US" sz="2400" dirty="0">
                <a:solidFill>
                  <a:srgbClr val="C00000"/>
                </a:solidFill>
                <a:latin typeface="Bahnschrift" panose="020B0502040204020203" pitchFamily="34" charset="0"/>
              </a:rPr>
              <a:t>’</a:t>
            </a:r>
            <a:r>
              <a:rPr lang="en-US" sz="2400" dirty="0">
                <a:latin typeface="Bahnschrift" panose="020B0502040204020203" pitchFamily="34" charset="0"/>
              </a:rPr>
              <a:t>])</a:t>
            </a:r>
            <a:endParaRPr lang="ru-RU" sz="2400" dirty="0">
              <a:latin typeface="Bahnschrift" panose="020B0502040204020203" pitchFamily="34" charset="0"/>
            </a:endParaRPr>
          </a:p>
          <a:p>
            <a:endParaRPr lang="ru-RU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25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46A7-D56A-9B67-49FA-768B228B3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C616D-01D2-000D-AECD-96662178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78490-E3C7-7B20-EAA7-4E6DB9A01D74}"/>
              </a:ext>
            </a:extLst>
          </p:cNvPr>
          <p:cNvSpPr txBox="1"/>
          <p:nvPr/>
        </p:nvSpPr>
        <p:spPr>
          <a:xfrm>
            <a:off x="5879976" y="684715"/>
            <a:ext cx="3976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Label </a:t>
            </a:r>
            <a:r>
              <a:rPr lang="ru-RU" sz="2400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Encoding</a:t>
            </a:r>
            <a:endParaRPr lang="ru-RU" sz="2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3B9A3-CF0D-8FBD-1258-B2449485C586}"/>
              </a:ext>
            </a:extLst>
          </p:cNvPr>
          <p:cNvSpPr txBox="1"/>
          <p:nvPr/>
        </p:nvSpPr>
        <p:spPr>
          <a:xfrm>
            <a:off x="983432" y="658717"/>
            <a:ext cx="4464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порядковых категории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3D328C-5F6B-459B-D40F-61A04602121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023304" y="2204864"/>
            <a:ext cx="6953016" cy="38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03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44268-FE69-F2FF-3A63-CA6D9D84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71C77-3CBD-2BBF-EA04-F7ED7268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D0028-A89E-E649-C801-EC091EAC989F}"/>
              </a:ext>
            </a:extLst>
          </p:cNvPr>
          <p:cNvSpPr txBox="1"/>
          <p:nvPr/>
        </p:nvSpPr>
        <p:spPr>
          <a:xfrm>
            <a:off x="5879976" y="684715"/>
            <a:ext cx="3976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Label </a:t>
            </a:r>
            <a:r>
              <a:rPr lang="ru-RU" sz="2400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Encoding</a:t>
            </a:r>
            <a:endParaRPr lang="ru-RU" sz="2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91591-D2A6-2B12-AEA8-E336EDBA37B4}"/>
              </a:ext>
            </a:extLst>
          </p:cNvPr>
          <p:cNvSpPr txBox="1"/>
          <p:nvPr/>
        </p:nvSpPr>
        <p:spPr>
          <a:xfrm>
            <a:off x="983432" y="658717"/>
            <a:ext cx="4464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порядковых категории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1A665-B9E1-52BC-A839-29FB179ABE25}"/>
              </a:ext>
            </a:extLst>
          </p:cNvPr>
          <p:cNvSpPr txBox="1"/>
          <p:nvPr/>
        </p:nvSpPr>
        <p:spPr>
          <a:xfrm>
            <a:off x="1079456" y="1479591"/>
            <a:ext cx="108491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Преимущества: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Простота реализации.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увеличивает размерность данных.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Вносит искусственный порядок или ранжирование в номинальные признаки, что может быть неверно интерпретировано алгоритмом. 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Может привести к ухудшению производительности модели, особенно если алгоритм чувствителен к расстояниям между признаками (например,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KNN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Порядковые признаки, где порядок категорий имеет значение.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Древовидные алгоритмы (например, деревья решений, случайный лес, градиентный бустинг), которые не чувствительны к искусственному порядку.</a:t>
            </a:r>
          </a:p>
        </p:txBody>
      </p:sp>
    </p:spTree>
    <p:extLst>
      <p:ext uri="{BB962C8B-B14F-4D97-AF65-F5344CB8AC3E}">
        <p14:creationId xmlns:p14="http://schemas.microsoft.com/office/powerpoint/2010/main" val="3357196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48674-5961-9A42-7666-A1D6BC95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1CBF9-43CD-0435-ECD3-6EB3AB64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5138E-0056-16C8-7324-F066093CEF1C}"/>
              </a:ext>
            </a:extLst>
          </p:cNvPr>
          <p:cNvSpPr txBox="1"/>
          <p:nvPr/>
        </p:nvSpPr>
        <p:spPr>
          <a:xfrm>
            <a:off x="5303912" y="721064"/>
            <a:ext cx="4247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One-Hot Encoding</a:t>
            </a:r>
            <a:endParaRPr lang="ru-RU" sz="2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20912-17F8-B873-1305-BE179B549758}"/>
              </a:ext>
            </a:extLst>
          </p:cNvPr>
          <p:cNvSpPr txBox="1"/>
          <p:nvPr/>
        </p:nvSpPr>
        <p:spPr>
          <a:xfrm>
            <a:off x="981552" y="706176"/>
            <a:ext cx="6751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номинальной </a:t>
            </a:r>
            <a:r>
              <a:rPr lang="ru-RU" i="1" dirty="0"/>
              <a:t>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категории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AD7F2B-C666-A211-F3C5-8174FBBC959C}"/>
              </a:ext>
            </a:extLst>
          </p:cNvPr>
          <p:cNvSpPr txBox="1"/>
          <p:nvPr/>
        </p:nvSpPr>
        <p:spPr>
          <a:xfrm>
            <a:off x="725838" y="3382441"/>
            <a:ext cx="119286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C00CC"/>
                </a:solidFill>
                <a:latin typeface="Bahnschrift" panose="020B0502040204020203" pitchFamily="34" charset="0"/>
              </a:rPr>
              <a:t>from </a:t>
            </a:r>
            <a:r>
              <a:rPr lang="en-US" sz="2400" dirty="0" err="1">
                <a:latin typeface="Bahnschrift" panose="020B0502040204020203" pitchFamily="34" charset="0"/>
              </a:rPr>
              <a:t>sklearn.preprocessing</a:t>
            </a:r>
            <a:r>
              <a:rPr lang="en-US" sz="2400" dirty="0">
                <a:latin typeface="Bahnschrift" panose="020B0502040204020203" pitchFamily="34" charset="0"/>
              </a:rPr>
              <a:t> </a:t>
            </a:r>
            <a:r>
              <a:rPr lang="en-US" sz="2400" dirty="0">
                <a:solidFill>
                  <a:srgbClr val="CC00CC"/>
                </a:solidFill>
                <a:latin typeface="Bahnschrift" panose="020B0502040204020203" pitchFamily="34" charset="0"/>
              </a:rPr>
              <a:t>import</a:t>
            </a:r>
            <a:r>
              <a:rPr lang="en-US" sz="2400" dirty="0">
                <a:latin typeface="Bahnschrift" panose="020B0502040204020203" pitchFamily="34" charset="0"/>
              </a:rPr>
              <a:t> </a:t>
            </a:r>
            <a:r>
              <a:rPr lang="en-US" sz="2400" dirty="0" err="1">
                <a:latin typeface="Bahnschrift" panose="020B0502040204020203" pitchFamily="34" charset="0"/>
              </a:rPr>
              <a:t>OneHotEncoder</a:t>
            </a:r>
            <a:endParaRPr lang="ru-RU" sz="2400" dirty="0">
              <a:latin typeface="Bahnschrift" panose="020B0502040204020203" pitchFamily="34" charset="0"/>
            </a:endParaRPr>
          </a:p>
          <a:p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 err="1">
                <a:latin typeface="Bahnschrift" panose="020B0502040204020203" pitchFamily="34" charset="0"/>
              </a:rPr>
              <a:t>ohe</a:t>
            </a:r>
            <a:r>
              <a:rPr lang="en-US" sz="2400" dirty="0">
                <a:latin typeface="Bahnschrift" panose="020B0502040204020203" pitchFamily="34" charset="0"/>
              </a:rPr>
              <a:t> = </a:t>
            </a:r>
            <a:r>
              <a:rPr lang="en-US" sz="2400" dirty="0" err="1">
                <a:latin typeface="Bahnschrift" panose="020B0502040204020203" pitchFamily="34" charset="0"/>
              </a:rPr>
              <a:t>OneHotEncoder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sparse_output</a:t>
            </a:r>
            <a:r>
              <a:rPr lang="en-US" sz="2400" dirty="0">
                <a:latin typeface="Bahnschrift" panose="020B0502040204020203" pitchFamily="34" charset="0"/>
              </a:rPr>
              <a:t>=False, drop='first', </a:t>
            </a:r>
            <a:r>
              <a:rPr lang="en-US" sz="2400" dirty="0" err="1">
                <a:latin typeface="Bahnschrift" panose="020B0502040204020203" pitchFamily="34" charset="0"/>
              </a:rPr>
              <a:t>handle_unknown</a:t>
            </a:r>
            <a:r>
              <a:rPr lang="en-US" sz="2400" dirty="0">
                <a:latin typeface="Bahnschrift" panose="020B0502040204020203" pitchFamily="34" charset="0"/>
              </a:rPr>
              <a:t>='ignore')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ft = </a:t>
            </a:r>
            <a:r>
              <a:rPr lang="en-US" sz="2400" dirty="0" err="1">
                <a:latin typeface="Bahnschrift" panose="020B0502040204020203" pitchFamily="34" charset="0"/>
              </a:rPr>
              <a:t>ohe.fit_transform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latin typeface="Bahnschrift" panose="020B0502040204020203" pitchFamily="34" charset="0"/>
              </a:rPr>
              <a:t>df</a:t>
            </a:r>
            <a:r>
              <a:rPr lang="en-US" sz="2400" dirty="0">
                <a:latin typeface="Bahnschrift" panose="020B0502040204020203" pitchFamily="34" charset="0"/>
              </a:rPr>
              <a:t>[[‘</a:t>
            </a:r>
            <a:r>
              <a:rPr lang="ru-RU" sz="2400" dirty="0" err="1">
                <a:solidFill>
                  <a:srgbClr val="FF0000"/>
                </a:solidFill>
                <a:latin typeface="Bahnschrift" panose="020B0502040204020203" pitchFamily="34" charset="0"/>
              </a:rPr>
              <a:t>кат_столбец</a:t>
            </a:r>
            <a:r>
              <a:rPr lang="en-US" sz="2400" dirty="0">
                <a:latin typeface="Bahnschrift" panose="020B0502040204020203" pitchFamily="34" charset="0"/>
              </a:rPr>
              <a:t>’]])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# </a:t>
            </a:r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новый </a:t>
            </a:r>
            <a:r>
              <a:rPr lang="en-US" sz="2400" dirty="0" err="1">
                <a:solidFill>
                  <a:srgbClr val="00B050"/>
                </a:solidFill>
                <a:latin typeface="Bahnschrift" panose="020B0502040204020203" pitchFamily="34" charset="0"/>
              </a:rPr>
              <a:t>df</a:t>
            </a:r>
            <a:r>
              <a:rPr lang="en-US" sz="24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с названиями столбцов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 err="1">
                <a:latin typeface="Bahnschrift" panose="020B0502040204020203" pitchFamily="34" charset="0"/>
              </a:rPr>
              <a:t>df_ft</a:t>
            </a:r>
            <a:r>
              <a:rPr lang="en-US" sz="2400" dirty="0">
                <a:latin typeface="Bahnschrift" panose="020B0502040204020203" pitchFamily="34" charset="0"/>
              </a:rPr>
              <a:t> = pd.DataFrame(ft, columns=</a:t>
            </a:r>
            <a:r>
              <a:rPr lang="en-US" sz="2400" dirty="0" err="1">
                <a:latin typeface="Bahnschrift" panose="020B0502040204020203" pitchFamily="34" charset="0"/>
              </a:rPr>
              <a:t>ohe.get_feature_names_out</a:t>
            </a:r>
            <a:r>
              <a:rPr lang="en-US" sz="2400" dirty="0">
                <a:latin typeface="Bahnschrift" panose="020B0502040204020203" pitchFamily="34" charset="0"/>
              </a:rPr>
              <a:t>(</a:t>
            </a:r>
            <a:r>
              <a:rPr lang="ru-RU" sz="2400" dirty="0">
                <a:latin typeface="Bahnschrift" panose="020B0502040204020203" pitchFamily="34" charset="0"/>
              </a:rPr>
              <a:t>['</a:t>
            </a:r>
            <a:r>
              <a:rPr lang="ru-RU" sz="2400" dirty="0" err="1">
                <a:solidFill>
                  <a:srgbClr val="FF0000"/>
                </a:solidFill>
                <a:latin typeface="Bahnschrift" panose="020B0502040204020203" pitchFamily="34" charset="0"/>
              </a:rPr>
              <a:t>кат_столбец</a:t>
            </a:r>
            <a:r>
              <a:rPr lang="ru-RU" sz="2400" dirty="0">
                <a:latin typeface="Bahnschrift" panose="020B0502040204020203" pitchFamily="34" charset="0"/>
              </a:rPr>
              <a:t>']</a:t>
            </a:r>
            <a:r>
              <a:rPr lang="en-US" sz="2400" dirty="0">
                <a:latin typeface="Bahnschrift" panose="020B0502040204020203" pitchFamily="34" charset="0"/>
              </a:rPr>
              <a:t>))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 </a:t>
            </a:r>
            <a:endParaRPr lang="ru-RU" sz="2400" dirty="0">
              <a:latin typeface="Bahnschrift" panose="020B0502040204020203" pitchFamily="34" charset="0"/>
            </a:endParaRPr>
          </a:p>
          <a:p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762C0-E9CE-4CEF-2BE0-C0CEF43D8605}"/>
              </a:ext>
            </a:extLst>
          </p:cNvPr>
          <p:cNvSpPr txBox="1"/>
          <p:nvPr/>
        </p:nvSpPr>
        <p:spPr>
          <a:xfrm>
            <a:off x="712126" y="1466977"/>
            <a:ext cx="112885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1325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При One-Hot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Encoding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каждая категория преобразовывается в отдельный столбец/массив. 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indent="441325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Количество новых столбцов будет равно количеству значений категориальной величины. У конкретного объекта будет стоять 1 в том столбце, который соответствует присущей ему категории и нули во всех остальных. Вновь созданные бинарные признаки обычно называют фиктивными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88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FE3C-A3D6-5925-3118-288E3B6F9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4E6305-79AE-7D0F-1DCB-9E9ACBDD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4F4D7-21E8-0373-44BE-48C7FB0EC554}"/>
              </a:ext>
            </a:extLst>
          </p:cNvPr>
          <p:cNvSpPr txBox="1"/>
          <p:nvPr/>
        </p:nvSpPr>
        <p:spPr>
          <a:xfrm>
            <a:off x="6132004" y="679536"/>
            <a:ext cx="3239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One-Hot Encoding</a:t>
            </a:r>
            <a:endParaRPr lang="ru-RU" sz="2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44A9A-6548-AC02-0014-382E243353E0}"/>
              </a:ext>
            </a:extLst>
          </p:cNvPr>
          <p:cNvSpPr txBox="1"/>
          <p:nvPr/>
        </p:nvSpPr>
        <p:spPr>
          <a:xfrm>
            <a:off x="981552" y="706176"/>
            <a:ext cx="6751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номинальной </a:t>
            </a:r>
            <a:r>
              <a:rPr lang="ru-RU" i="1" dirty="0"/>
              <a:t>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категории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48A734-D464-4B31-6FE5-431A8055C1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271464" y="2204864"/>
            <a:ext cx="9388581" cy="342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6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B901-5AA0-0E50-9D31-EC8333F7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AC877-2887-AB08-62B2-BC24CA757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C7C19-C367-F56E-3281-C758B74AAAB8}"/>
              </a:ext>
            </a:extLst>
          </p:cNvPr>
          <p:cNvSpPr txBox="1"/>
          <p:nvPr/>
        </p:nvSpPr>
        <p:spPr>
          <a:xfrm>
            <a:off x="6132004" y="679536"/>
            <a:ext cx="3239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One-Hot Encoding</a:t>
            </a:r>
            <a:endParaRPr lang="ru-RU" sz="2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DBE0B-D9D8-2D79-F88B-7ACB00C055FA}"/>
              </a:ext>
            </a:extLst>
          </p:cNvPr>
          <p:cNvSpPr txBox="1"/>
          <p:nvPr/>
        </p:nvSpPr>
        <p:spPr>
          <a:xfrm>
            <a:off x="981552" y="706176"/>
            <a:ext cx="6751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номинальной </a:t>
            </a:r>
            <a:r>
              <a:rPr lang="ru-RU" i="1" dirty="0"/>
              <a:t>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категории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2C0FA-E825-4D8F-8A3F-D273EB7A0EAB}"/>
              </a:ext>
            </a:extLst>
          </p:cNvPr>
          <p:cNvSpPr txBox="1"/>
          <p:nvPr/>
        </p:nvSpPr>
        <p:spPr>
          <a:xfrm>
            <a:off x="741002" y="1445157"/>
            <a:ext cx="108732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Преимущества: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вносит искусственный порядок или ранжирование в категориальные признаки.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Подходит для номинальных признаков.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Улучшает производительность многих алгоритмов ML.</a:t>
            </a: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Увеличивает размерность данных, особенно если категориальный признак имеет много уникальных категорий (проблема “проклятия размерности”).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Может привести к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мультиколлинеарности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(высокой корреляции) между признаками, что может негативно повлиять на некоторые алгоритмы (например, линейную регрессию).</a:t>
            </a: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Номинальные признаки.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Большинство алгоритмов ML, чувствительных к расстояниям между признаками.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052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22687-DB94-E8FA-71A9-30F8BE24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401D2-503B-752F-CEC6-1B91DD52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26ED9-2DA8-A7F7-E7EA-5C332C301729}"/>
              </a:ext>
            </a:extLst>
          </p:cNvPr>
          <p:cNvSpPr txBox="1"/>
          <p:nvPr/>
        </p:nvSpPr>
        <p:spPr>
          <a:xfrm>
            <a:off x="6132004" y="679536"/>
            <a:ext cx="4572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Dummy Variable Encoding</a:t>
            </a:r>
            <a:endParaRPr lang="ru-RU" sz="2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7E5A5-7E49-3AFA-23C3-94B9023E3BDA}"/>
              </a:ext>
            </a:extLst>
          </p:cNvPr>
          <p:cNvSpPr txBox="1"/>
          <p:nvPr/>
        </p:nvSpPr>
        <p:spPr>
          <a:xfrm>
            <a:off x="981552" y="706176"/>
            <a:ext cx="6751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номинальной </a:t>
            </a:r>
            <a:r>
              <a:rPr lang="ru-RU" i="1" dirty="0"/>
              <a:t>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категории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DC789-1EC7-0F41-374E-B6444E2E794A}"/>
              </a:ext>
            </a:extLst>
          </p:cNvPr>
          <p:cNvSpPr txBox="1"/>
          <p:nvPr/>
        </p:nvSpPr>
        <p:spPr>
          <a:xfrm>
            <a:off x="741002" y="1445157"/>
            <a:ext cx="108732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Dummy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variable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encoding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- это очень похожий на One-Hot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Encoding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метод. </a:t>
            </a:r>
            <a:r>
              <a:rPr lang="ru-RU" alt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Большинство алгоритмов машинного обучения корректно обрабатывают булевы значения как бинарные числовые </a:t>
            </a:r>
            <a:r>
              <a:rPr lang="ru-RU" alt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значения.т.к</a:t>
            </a:r>
            <a:r>
              <a:rPr lang="ru-RU" alt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. </a:t>
            </a:r>
            <a:r>
              <a:rPr lang="ru-RU" alt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False</a:t>
            </a:r>
            <a:r>
              <a:rPr lang="ru-RU" alt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и True уже представляют собой бинарные значения (0 и 1). </a:t>
            </a:r>
            <a:r>
              <a:rPr lang="ru-RU" alt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False</a:t>
            </a:r>
            <a:r>
              <a:rPr lang="ru-RU" alt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эквивалентно 0, а True эквивалентно 1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822A5-9946-E2BB-3D93-E34A08EB96F2}"/>
              </a:ext>
            </a:extLst>
          </p:cNvPr>
          <p:cNvSpPr txBox="1"/>
          <p:nvPr/>
        </p:nvSpPr>
        <p:spPr>
          <a:xfrm>
            <a:off x="1281062" y="3154444"/>
            <a:ext cx="9793088" cy="290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df_dummy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pd.get_dummies(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columns=[</a:t>
            </a:r>
            <a:r>
              <a:rPr lang="en-US" sz="24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</a:t>
            </a:r>
            <a:r>
              <a:rPr lang="ru-RU" sz="24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цвет'</a:t>
            </a:r>
            <a:r>
              <a:rPr lang="ru-RU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]</a:t>
            </a:r>
            <a:r>
              <a:rPr lang="en-US" dirty="0"/>
              <a:t> 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</a:rPr>
              <a:t>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6D76ED3-AC64-C634-8727-152E9FD900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071664" y="3552612"/>
            <a:ext cx="4968552" cy="2848862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A064A1A-E735-B6A2-FD50-C47EC3A5F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DC1044A-AC91-620F-FCB3-7E843CEA5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988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1A4E-57B3-853E-F5F0-D562576D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BCAFE-93ED-19D3-697F-08AEDD1B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Обработка Категориальных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9B089-4558-F399-8EAC-7D5E3BA2C1CF}"/>
              </a:ext>
            </a:extLst>
          </p:cNvPr>
          <p:cNvSpPr txBox="1"/>
          <p:nvPr/>
        </p:nvSpPr>
        <p:spPr>
          <a:xfrm>
            <a:off x="911424" y="1228397"/>
            <a:ext cx="108732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Рекомендации:</a:t>
            </a:r>
          </a:p>
          <a:p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Используйте Label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Encoding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для порядковых признаков, где порядок категорий имеет значение, или для древовидных алгоритмов.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Используйте One-Hot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Encoding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для номинальных признаков и для большинства алгоритмов ML, чувствительных к расстояниям между признаками.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Рассмотрите другие, более сложные методы кодирования (например, Target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Encoding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,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Embedding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), если у вас категориальные признаки с большим количеством уникальных категорий.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Всегда оценивайте производительность модели после применения различных методов кодирования, чтобы выбрать наиболее подходящий для вашей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790919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4C5E221-3A6C-D374-54D2-3E772C4C5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7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См. пример на </a:t>
            </a:r>
            <a:r>
              <a:rPr lang="en-US" dirty="0"/>
              <a:t> </a:t>
            </a:r>
            <a:r>
              <a:rPr lang="ru-RU" dirty="0"/>
              <a:t>кодировка.</a:t>
            </a:r>
            <a:r>
              <a:rPr lang="en-US" dirty="0" err="1"/>
              <a:t>ipynb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3572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C0D8-B56F-D94E-6A7D-3999BD37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60DAB-2E05-B77A-2E67-D1506045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Масштабирование Признаков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975A0-349A-5DEA-BE0A-85D80A65F28D}"/>
              </a:ext>
            </a:extLst>
          </p:cNvPr>
          <p:cNvSpPr txBox="1"/>
          <p:nvPr/>
        </p:nvSpPr>
        <p:spPr>
          <a:xfrm>
            <a:off x="911424" y="1228397"/>
            <a:ext cx="108732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Это этап предварительной обработки данных, который включает в себя преобразование числовых признаков таким образом, чтобы они имели определенный диапазон или распределение. 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Многие алгоритмы ML, особенно те, которые основаны на вычислении расстояний или чувствительны к масштабу признаков, работают лучше, когда признаки находятся в сопоставимом масштабе. Например: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CB178-7DB6-6CFC-9412-A46C77F605E0}"/>
              </a:ext>
            </a:extLst>
          </p:cNvPr>
          <p:cNvSpPr txBox="1"/>
          <p:nvPr/>
        </p:nvSpPr>
        <p:spPr>
          <a:xfrm>
            <a:off x="2267805" y="4077072"/>
            <a:ext cx="97930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•	линейная и логистическая регрессия</a:t>
            </a: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•	ближайшие соседи</a:t>
            </a: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•	нейронные сети</a:t>
            </a: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•	машины опорных векторов с функциями радиального базиса</a:t>
            </a: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•	метод главных компонент</a:t>
            </a: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•	линейный дискриминантный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1852821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FCAA-3221-E719-7451-97B47549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AAF30-DD05-D641-6FA7-3BC2E3E5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Зачем необходимо Масштабирование Признаков?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B33AC-E60C-60F3-7166-4BBE0731B613}"/>
              </a:ext>
            </a:extLst>
          </p:cNvPr>
          <p:cNvSpPr txBox="1"/>
          <p:nvPr/>
        </p:nvSpPr>
        <p:spPr>
          <a:xfrm>
            <a:off x="640531" y="864198"/>
            <a:ext cx="1107415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Алгоритмы, чувствительные к масштабу: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Если признаки имеют разные масштабы, то признаки с большим диапазоном значений будут доминировать в процессе обучения и оценки модели, что приведет к несбалансированности и ухудшению производительности.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Улучшение сходимости градиентного спуска: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Масштабирование признаков может помочь ускорить сходимость градиентного спуска, так как позволяет более эффективно исследовать пространство параметров.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Предотвращение проблем с регуляризацией: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Регуляризация, такая как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L1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или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L2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, чувствительна к масштабу признаков. Масштабирование помогает правильно применить регуляризацию к разным признакам.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Улучшение интерпретации: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Масштабирование признаков может упростить интерпретацию результатов модели, позволяя сравнивать вклад разных признаков в предсказания.</a:t>
            </a:r>
          </a:p>
        </p:txBody>
      </p:sp>
    </p:spTree>
    <p:extLst>
      <p:ext uri="{BB962C8B-B14F-4D97-AF65-F5344CB8AC3E}">
        <p14:creationId xmlns:p14="http://schemas.microsoft.com/office/powerpoint/2010/main" val="2719575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1102-F9CC-8165-C619-89ECB456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F05D4-B87E-40B1-6BEF-1995561C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StandardScaler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Стандартизация)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FBFFA-906F-E1D9-D6A4-DFF780ADBE76}"/>
              </a:ext>
            </a:extLst>
          </p:cNvPr>
          <p:cNvSpPr txBox="1"/>
          <p:nvPr/>
        </p:nvSpPr>
        <p:spPr>
          <a:xfrm>
            <a:off x="911424" y="1228397"/>
            <a:ext cx="108732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StandardScaler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преобразует признаки таким образом, чтобы они имели среднее значение (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mean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 равное 0 и стандартное отклонение (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standard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deviation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 равное 1. Другими словами, данные центрируются относительно среднего значения и масштабируются относительно стандартного отклонения.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FF494-3474-B93B-D3B3-C8656F11EC44}"/>
              </a:ext>
            </a:extLst>
          </p:cNvPr>
          <p:cNvSpPr txBox="1"/>
          <p:nvPr/>
        </p:nvSpPr>
        <p:spPr>
          <a:xfrm>
            <a:off x="1271464" y="2916036"/>
            <a:ext cx="9217024" cy="3162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2400" b="1" dirty="0">
                <a:solidFill>
                  <a:srgbClr val="CC00CC"/>
                </a:solidFill>
                <a:latin typeface="Bahnschrift" panose="020B0502040204020203" pitchFamily="34" charset="0"/>
              </a:rPr>
              <a:t>from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sklearn.preprocessing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b="1" dirty="0">
                <a:solidFill>
                  <a:srgbClr val="CC00CC"/>
                </a:solidFill>
                <a:latin typeface="Bahnschrift" panose="020B0502040204020203" pitchFamily="34" charset="0"/>
              </a:rPr>
              <a:t>import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StandardScaler</a:t>
            </a:r>
            <a:endParaRPr lang="en-US" sz="2400" dirty="0"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</a:pPr>
            <a:endParaRPr lang="ru-RU" sz="2400" dirty="0"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dirty="0">
              <a:solidFill>
                <a:srgbClr val="008000"/>
              </a:solidFill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Создадим экземпляр </a:t>
            </a:r>
            <a:r>
              <a:rPr lang="en-US" sz="200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StandardScaler</a:t>
            </a:r>
            <a:endParaRPr lang="ru-RU" sz="200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scaler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StandardScaler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()</a:t>
            </a:r>
            <a:endParaRPr lang="ru-RU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Обучим </a:t>
            </a:r>
            <a:r>
              <a:rPr lang="en-US" sz="200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StandardScaler</a:t>
            </a:r>
            <a:r>
              <a:rPr lang="en-US" sz="200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на данных и преобразуем их</a:t>
            </a:r>
          </a:p>
          <a:p>
            <a:pPr>
              <a:lnSpc>
                <a:spcPts val="1425"/>
              </a:lnSpc>
              <a:buNone/>
            </a:pPr>
            <a:endParaRPr lang="ru-RU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scaler.fit_transform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  <a:endParaRPr lang="ru-RU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Преобразуем в </a:t>
            </a:r>
            <a:r>
              <a:rPr lang="en-US" sz="200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DataFrame</a:t>
            </a:r>
            <a:endParaRPr lang="ru-RU" sz="200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pd.DataFrame(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columns=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df.columns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7378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4EB8-7441-54D9-AF7A-5E4166FC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EDEB8-366E-1388-5CF1-D876C40E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StandardScaler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Стандартизация)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EC4D9C-7588-B9B9-FD24-A989479255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199456" y="864198"/>
            <a:ext cx="8526593" cy="23269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495045-5225-5AD7-CEED-C494EBD23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70" y="3699776"/>
            <a:ext cx="8686445" cy="27145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2323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858F-AD75-E7B1-7EF2-2AC9623A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E1572-B9C3-2701-AC4B-25E6A885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StandardScaler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Стандартизация)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2DC30-FF33-D3BD-9EAD-DD041DA1E3CF}"/>
              </a:ext>
            </a:extLst>
          </p:cNvPr>
          <p:cNvSpPr txBox="1"/>
          <p:nvPr/>
        </p:nvSpPr>
        <p:spPr>
          <a:xfrm>
            <a:off x="983432" y="920621"/>
            <a:ext cx="1087320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Преимущества: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Подходит для данных, которые имеют нормальное или близкое к нормальному распределение.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так чувствителен к выбросам, как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MinMaxScaler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Сохраняет информацию о распределении данных.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гарантирует, что все значения будут находиться в определенном диапазоне.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Чувствителен к выбросам, которые могут исказить среднее значение и стандартное отклонение.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Алгоритмы, чувствительные к расстояниям (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KNN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,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SVM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Линейные модели (линейная регрессия, логистическая регрессия).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Методы оптимизации на основе градиентного спуска.</a:t>
            </a:r>
          </a:p>
          <a:p>
            <a:pPr marL="800100" lvl="0" indent="-44132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Алгоритмы, требующие нормализованных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70312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A466F-74C1-F18C-219C-A31FB73C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8D5F1-4146-BFAB-C9E2-18C52057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MinMaxScaler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D233C-02F4-8ADC-6E61-6B408B5D8CBF}"/>
              </a:ext>
            </a:extLst>
          </p:cNvPr>
          <p:cNvSpPr txBox="1"/>
          <p:nvPr/>
        </p:nvSpPr>
        <p:spPr>
          <a:xfrm>
            <a:off x="911424" y="1228397"/>
            <a:ext cx="10873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MinMaxScaler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преобразует признаки таким образом, чтобы они находились в заданном диапазоне, обычно от 0 до 1. Он масштабирует данные, используя минимальное и максимальное значения признака.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00EFB-FD92-405F-9929-FE82BBA243A7}"/>
              </a:ext>
            </a:extLst>
          </p:cNvPr>
          <p:cNvSpPr txBox="1"/>
          <p:nvPr/>
        </p:nvSpPr>
        <p:spPr>
          <a:xfrm>
            <a:off x="1569094" y="2633249"/>
            <a:ext cx="9217024" cy="317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CC00CC"/>
                </a:solidFill>
                <a:latin typeface="Bahnschrift" panose="020B0502040204020203" pitchFamily="34" charset="0"/>
              </a:rPr>
              <a:t>from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sklearn.preprocessing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b="1" dirty="0">
                <a:solidFill>
                  <a:srgbClr val="CC00CC"/>
                </a:solidFill>
                <a:latin typeface="Bahnschrift" panose="020B0502040204020203" pitchFamily="34" charset="0"/>
              </a:rPr>
              <a:t>import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MinMaxScaler</a:t>
            </a:r>
            <a:endParaRPr lang="en-US" sz="2400" dirty="0"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dirty="0">
              <a:solidFill>
                <a:srgbClr val="008000"/>
              </a:solidFill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Создадим экземпляр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MinMaxScaler</a:t>
            </a:r>
            <a:endParaRPr lang="ru-RU" sz="2000" b="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scaler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MinMaxScaler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()</a:t>
            </a:r>
            <a:endParaRPr lang="ru-RU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Обучим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MinMaxScaler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на данных и преобразуем их</a:t>
            </a:r>
          </a:p>
          <a:p>
            <a:pPr>
              <a:lnSpc>
                <a:spcPts val="1425"/>
              </a:lnSpc>
              <a:buNone/>
            </a:pPr>
            <a:endParaRPr lang="ru-RU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scaler.fit_transform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  <a:endParaRPr lang="ru-RU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Преобразуем в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DataFrame</a:t>
            </a:r>
            <a:endParaRPr lang="ru-RU" sz="2000" b="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pd.DataFrame(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columns=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df.columns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8617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37EA-424F-D95A-4996-C93E2EAD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13231-31EA-01A0-D4D6-25AF59E4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MinMaxScaler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446511-B5E2-6573-00A1-0212D05C02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415480" y="1052736"/>
            <a:ext cx="8140468" cy="25145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49E36F-5411-EC1F-820B-B0BD985BF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3755774"/>
            <a:ext cx="89725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28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C711-AD2D-02B9-7D51-D3108AA5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109F6-606F-BC33-321B-44B8BB19C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MinMaxScaler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49C11A-4A07-C4B4-44B0-DED09042EA41}"/>
              </a:ext>
            </a:extLst>
          </p:cNvPr>
          <p:cNvSpPr txBox="1"/>
          <p:nvPr/>
        </p:nvSpPr>
        <p:spPr>
          <a:xfrm>
            <a:off x="1271464" y="1052736"/>
            <a:ext cx="100715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Преимущества: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620713" lvl="0" indent="-35877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Преобразует данные в определенный диапазон (например, [0, 1]).</a:t>
            </a:r>
          </a:p>
          <a:p>
            <a:pPr marL="620713" lvl="0" indent="-35877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Полезен для алгоритмов, чувствительных к масштабу (например, нейронных сетей, которые ожидают входные данные в определенном диапазоне).</a:t>
            </a:r>
          </a:p>
          <a:p>
            <a:pPr marL="620713" lvl="0" indent="-358775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Недостатки: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620713" lvl="0" indent="-35877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Чувствителен к выбросам, которые могут существенно изменить диапазон данных и, следовательно, повлиять на масштабирование.</a:t>
            </a:r>
          </a:p>
          <a:p>
            <a:pPr marL="620713" lvl="0" indent="-35877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сохраняет информацию о распределении данных.</a:t>
            </a:r>
          </a:p>
          <a:p>
            <a:pPr marL="620713" lvl="0" indent="-358775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Области применения: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620713" lvl="0" indent="-35877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Алгоритмы, требующие, чтобы данные находились в определенном диапазоне (например, нейронные сети).</a:t>
            </a:r>
          </a:p>
          <a:p>
            <a:pPr marL="620713" lvl="0" indent="-35877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Алгоритмы, где важно сохранить относительные различия между признаками.</a:t>
            </a:r>
          </a:p>
          <a:p>
            <a:pPr marL="620713" lvl="0" indent="-358775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Когда данные не распределены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575759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C7DB-3309-143F-AC85-2FE36978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6F77C-8380-BC01-7032-9BC5E875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RobustScaler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3E79C-90F7-93DC-99FC-8FB30CD92B9F}"/>
              </a:ext>
            </a:extLst>
          </p:cNvPr>
          <p:cNvSpPr txBox="1"/>
          <p:nvPr/>
        </p:nvSpPr>
        <p:spPr>
          <a:xfrm>
            <a:off x="911424" y="1228397"/>
            <a:ext cx="10873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RobustScaler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вычисляет медиану и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межквартильный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размах (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IQR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 для каждого признака в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DataFrameи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масштабирует данные, используя вычисленные медианы и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IQR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AB6A28-0F77-807E-1F05-9E85219BB696}"/>
              </a:ext>
            </a:extLst>
          </p:cNvPr>
          <p:cNvSpPr txBox="1"/>
          <p:nvPr/>
        </p:nvSpPr>
        <p:spPr>
          <a:xfrm>
            <a:off x="1569094" y="2545714"/>
            <a:ext cx="9217024" cy="4110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C00CC"/>
                </a:solidFill>
                <a:latin typeface="Bahnschrift" panose="020B0502040204020203" pitchFamily="34" charset="0"/>
              </a:rPr>
              <a:t>from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sklearn.preprocessing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b="1" dirty="0">
                <a:solidFill>
                  <a:srgbClr val="CC00CC"/>
                </a:solidFill>
                <a:latin typeface="Bahnschrift" panose="020B0502040204020203" pitchFamily="34" charset="0"/>
              </a:rPr>
              <a:t>import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RobustScaler</a:t>
            </a:r>
            <a:endParaRPr lang="en-US" sz="2400" dirty="0"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dirty="0">
              <a:solidFill>
                <a:srgbClr val="008000"/>
              </a:solidFill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008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Создадим экземпляр</a:t>
            </a: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scaler = </a:t>
            </a:r>
            <a:r>
              <a:rPr lang="en-US" sz="2400" dirty="0" err="1">
                <a:solidFill>
                  <a:srgbClr val="000000"/>
                </a:solidFill>
                <a:latin typeface="Bahnschrift" panose="020B0502040204020203" pitchFamily="34" charset="0"/>
              </a:rPr>
              <a:t>RobustScaler</a:t>
            </a:r>
            <a:r>
              <a:rPr lang="en-US" sz="2400" dirty="0">
                <a:solidFill>
                  <a:srgbClr val="000000"/>
                </a:solidFill>
                <a:latin typeface="Bahnschrift" panose="020B0502040204020203" pitchFamily="34" charset="0"/>
              </a:rPr>
              <a:t>()</a:t>
            </a:r>
          </a:p>
          <a:p>
            <a:r>
              <a:rPr lang="ru-RU" sz="2000" dirty="0">
                <a:solidFill>
                  <a:srgbClr val="008000"/>
                </a:solidFill>
                <a:latin typeface="Bahnschrift" panose="020B0502040204020203" pitchFamily="34" charset="0"/>
              </a:rPr>
              <a:t>#  Обучение </a:t>
            </a:r>
            <a:r>
              <a:rPr lang="en-US" sz="2000" dirty="0">
                <a:solidFill>
                  <a:srgbClr val="008000"/>
                </a:solidFill>
                <a:latin typeface="Bahnschrift" panose="020B0502040204020203" pitchFamily="34" charset="0"/>
              </a:rPr>
              <a:t>scaler </a:t>
            </a:r>
            <a:r>
              <a:rPr lang="ru-RU" sz="2000" dirty="0">
                <a:solidFill>
                  <a:srgbClr val="008000"/>
                </a:solidFill>
                <a:latin typeface="Bahnschrift" panose="020B0502040204020203" pitchFamily="34" charset="0"/>
              </a:rPr>
              <a:t>на данных (вычисление медианы и </a:t>
            </a:r>
            <a:r>
              <a:rPr lang="en-US" sz="2000" dirty="0" err="1">
                <a:solidFill>
                  <a:srgbClr val="008000"/>
                </a:solidFill>
                <a:latin typeface="Bahnschrift" panose="020B0502040204020203" pitchFamily="34" charset="0"/>
              </a:rPr>
              <a:t>IQR</a:t>
            </a:r>
            <a:r>
              <a:rPr lang="en-US" sz="2000" dirty="0">
                <a:solidFill>
                  <a:srgbClr val="008000"/>
                </a:solidFill>
                <a:latin typeface="Bahnschrift" panose="020B0502040204020203" pitchFamily="34" charset="0"/>
              </a:rPr>
              <a:t>)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Bahnschrift" panose="020B0502040204020203" pitchFamily="34" charset="0"/>
              </a:rPr>
              <a:t>robust_scaler.fit</a:t>
            </a:r>
            <a:r>
              <a:rPr lang="en-US" sz="2400" dirty="0">
                <a:solidFill>
                  <a:srgbClr val="000000"/>
                </a:solidFill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Bahnschrift" panose="020B0502040204020203" pitchFamily="34" charset="0"/>
              </a:rPr>
              <a:t>df</a:t>
            </a:r>
            <a:r>
              <a:rPr lang="en-US" sz="2400" dirty="0">
                <a:solidFill>
                  <a:srgbClr val="000000"/>
                </a:solidFill>
                <a:latin typeface="Bahnschrift" panose="020B0502040204020203" pitchFamily="34" charset="0"/>
              </a:rPr>
              <a:t>)</a:t>
            </a:r>
          </a:p>
          <a:p>
            <a:br>
              <a:rPr lang="en-US" dirty="0"/>
            </a:br>
            <a:r>
              <a:rPr lang="en-US" sz="2000" dirty="0">
                <a:solidFill>
                  <a:srgbClr val="008000"/>
                </a:solidFill>
                <a:latin typeface="Bahnschrift" panose="020B0502040204020203" pitchFamily="34" charset="0"/>
              </a:rPr>
              <a:t># </a:t>
            </a:r>
            <a:r>
              <a:rPr lang="ru-RU" sz="2000" dirty="0">
                <a:solidFill>
                  <a:srgbClr val="008000"/>
                </a:solidFill>
                <a:latin typeface="Bahnschrift" panose="020B0502040204020203" pitchFamily="34" charset="0"/>
              </a:rPr>
              <a:t>Преобразование данных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Bahnschrift" panose="020B0502040204020203" pitchFamily="34" charset="0"/>
              </a:rPr>
              <a:t>df_scaled</a:t>
            </a:r>
            <a:r>
              <a:rPr lang="en-US" sz="2400" dirty="0">
                <a:solidFill>
                  <a:srgbClr val="000000"/>
                </a:solidFill>
                <a:latin typeface="Bahnschrift" panose="020B0502040204020203" pitchFamily="34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Bahnschrift" panose="020B0502040204020203" pitchFamily="34" charset="0"/>
              </a:rPr>
              <a:t>robust_scaler.transform</a:t>
            </a:r>
            <a:r>
              <a:rPr lang="en-US" sz="2400" dirty="0">
                <a:solidFill>
                  <a:srgbClr val="000000"/>
                </a:solidFill>
                <a:latin typeface="Bahnschrift" panose="020B0502040204020203" pitchFamily="34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Bahnschrift" panose="020B0502040204020203" pitchFamily="34" charset="0"/>
              </a:rPr>
              <a:t>df</a:t>
            </a:r>
            <a:r>
              <a:rPr lang="en-US" sz="2400" dirty="0">
                <a:solidFill>
                  <a:srgbClr val="000000"/>
                </a:solidFill>
                <a:latin typeface="Bahnschrif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Преобразуем в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DataFrame</a:t>
            </a:r>
            <a:endParaRPr lang="ru-RU" sz="2000" dirty="0">
              <a:solidFill>
                <a:srgbClr val="008000"/>
              </a:solidFill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pd.DataFrame(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df_scaled</a:t>
            </a:r>
            <a:r>
              <a:rPr lang="en-US" sz="24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columns=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df.columns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5313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CB0A0-3A5E-791E-E5D5-478DC3DD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3C27C-E398-28EA-131C-A2F11076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RobustScaler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ABC725-8F86-B930-B56A-7183DD1D64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434953" y="876937"/>
            <a:ext cx="8971694" cy="256334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283519-F0C0-B21E-6707-EF9FE6D47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652" y="3789040"/>
            <a:ext cx="8494295" cy="258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89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575FB-035B-57EA-1ED8-9F3266B5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E76C4-099A-E49D-9390-17BF21CB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Масштабирование Признаков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085EB-1521-77A4-D5A1-C1F9F87B5DD0}"/>
              </a:ext>
            </a:extLst>
          </p:cNvPr>
          <p:cNvSpPr txBox="1"/>
          <p:nvPr/>
        </p:nvSpPr>
        <p:spPr>
          <a:xfrm>
            <a:off x="1271464" y="1052736"/>
            <a:ext cx="100715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Важно: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Утечка данных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: </a:t>
            </a:r>
          </a:p>
          <a:p>
            <a:pPr lvl="0" indent="441325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Никогда не масштабируйте всю совокупность данных (обучающую + тестовую), прежде чем разделять ее на обучающую и тестовую выборки. Это приведет к утечке данных, и оценка производительности модели будет завышенной. Масштабирование должно производиться только на обучающих данных, а параметры масштабирования (среднее, стандартное отклонение или минимальное и максимальное значения) должны быть сохранены и применены к тестовым данным.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Последовательность шагов: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 indent="358775"/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Масштабирование признаков следует выполнять </a:t>
            </a:r>
            <a:r>
              <a:rPr lang="ru-RU" sz="2000" i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после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обработки пропущенных значений (например, заполнением средним, медианой или другим методом) и обработки категориальных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2904262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9A569BC-8E73-4408-C8DA-63130F619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См. </a:t>
            </a:r>
            <a:r>
              <a:rPr lang="ru-RU" dirty="0" err="1"/>
              <a:t>маштабирование</a:t>
            </a:r>
            <a:r>
              <a:rPr lang="ru-RU" dirty="0"/>
              <a:t> </a:t>
            </a:r>
            <a:r>
              <a:rPr lang="en-US" dirty="0"/>
              <a:t>.</a:t>
            </a:r>
            <a:r>
              <a:rPr lang="en-US" dirty="0" err="1"/>
              <a:t>ipynb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2135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A017-6CB9-AD9B-95E6-15A8B32F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45D60-D280-423C-23E6-FCB9BA15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Создание Новых Признаков на Основе Существующих </a:t>
            </a:r>
            <a:b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Feature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Engineering)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C9571C-B352-DF61-3642-F5347F6E2A1E}"/>
              </a:ext>
            </a:extLst>
          </p:cNvPr>
          <p:cNvSpPr txBox="1"/>
          <p:nvPr/>
        </p:nvSpPr>
        <p:spPr>
          <a:xfrm>
            <a:off x="623392" y="1052736"/>
            <a:ext cx="11161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Важным этапом подготовки данных является 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новых признаков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feature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engineering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— процесса трансформации существующих признаков и создания новых, которые могут более эффективно захватывать закономерности в данных и улучшать производительность модели.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F0C9B-E8B3-E5CE-9770-CF915ADBD05A}"/>
              </a:ext>
            </a:extLst>
          </p:cNvPr>
          <p:cNvSpPr txBox="1"/>
          <p:nvPr/>
        </p:nvSpPr>
        <p:spPr>
          <a:xfrm>
            <a:off x="2351584" y="2948072"/>
            <a:ext cx="6984776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Новые признаки создаются для:</a:t>
            </a:r>
          </a:p>
          <a:p>
            <a:pPr marL="342900" indent="-342900">
              <a:spcBef>
                <a:spcPts val="200"/>
              </a:spcBef>
              <a:buFont typeface="Wingdings" panose="05000000000000000000" pitchFamily="2" charset="2"/>
              <a:buChar char="ü"/>
            </a:pPr>
            <a:endParaRPr lang="ru-RU" sz="240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01675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719138" algn="l"/>
              </a:tabLst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Улучшение производительности модели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40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01675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719138" algn="l"/>
              </a:tabLst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Упрощение модели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01675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719138" algn="l"/>
              </a:tabLst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Улавливание нелинейных зависимостей</a:t>
            </a:r>
          </a:p>
          <a:p>
            <a:pPr marL="701675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719138" algn="l"/>
              </a:tabLst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Учет предметных знаний</a:t>
            </a:r>
          </a:p>
          <a:p>
            <a:pPr marL="701675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719138" algn="l"/>
              </a:tabLst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Обработка специфических типов данных</a:t>
            </a:r>
            <a:endParaRPr lang="ru-RU" sz="240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546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7A66-226A-03CB-4DCF-4DBE21B7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5D3D9-A675-53F6-35F3-E74E2769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Основные Техники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Feature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397E4-831E-E196-1EC1-299101BB545E}"/>
              </a:ext>
            </a:extLst>
          </p:cNvPr>
          <p:cNvSpPr txBox="1"/>
          <p:nvPr/>
        </p:nvSpPr>
        <p:spPr>
          <a:xfrm>
            <a:off x="1487488" y="1413063"/>
            <a:ext cx="94330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Полиномиальных Признаков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Polynomial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Features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</a:p>
          <a:p>
            <a:pPr marL="342900" indent="-342900">
              <a:buAutoNum type="arabicPeriod"/>
            </a:pP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AutoNum type="arabicPeriod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Комбинаций Признаков</a:t>
            </a:r>
          </a:p>
          <a:p>
            <a:pPr marL="342900" indent="-342900">
              <a:buAutoNum type="arabicPeriod"/>
            </a:pP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AutoNum type="arabicPeriod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Признаков из Текстовых Данных</a:t>
            </a:r>
          </a:p>
          <a:p>
            <a:pPr marL="342900" indent="-342900">
              <a:buAutoNum type="arabicPeriod"/>
            </a:pP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Признаков из Категориальных Данных</a:t>
            </a:r>
          </a:p>
          <a:p>
            <a:pPr marL="342900" indent="-342900">
              <a:buFontTx/>
              <a:buAutoNum type="arabicPeriod"/>
            </a:pP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Признаков из Дат и Времени</a:t>
            </a:r>
          </a:p>
          <a:p>
            <a:pPr marL="342900" indent="-342900">
              <a:buFontTx/>
              <a:buAutoNum type="arabicPeriod"/>
            </a:pP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Бинарных Признаков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Indicator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Features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AutoNum type="arabicPeriod"/>
            </a:pPr>
            <a:endParaRPr lang="ru-RU" sz="2400" b="1" dirty="0"/>
          </a:p>
          <a:p>
            <a:pPr marL="342900" indent="-342900"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11380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A897B-D6EA-42E2-B682-EA8FA6DAC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BBC5B-7DB8-D21C-AEE0-CCF9C8B9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Процесс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Feature Engineering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F77DA-2DC4-7038-8879-BA158BCB10FC}"/>
              </a:ext>
            </a:extLst>
          </p:cNvPr>
          <p:cNvSpPr txBox="1"/>
          <p:nvPr/>
        </p:nvSpPr>
        <p:spPr>
          <a:xfrm>
            <a:off x="875420" y="864198"/>
            <a:ext cx="1060437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Исследование данных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(EDA - Exploratory Data Analysis):</a:t>
            </a:r>
            <a:endParaRPr lang="ru-RU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1"/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Визуализация распределений признаков.</a:t>
            </a:r>
          </a:p>
          <a:p>
            <a:pPr lvl="1"/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Анализ корреляций между признаками и целевой переменной.</a:t>
            </a:r>
          </a:p>
          <a:p>
            <a:pPr lvl="1"/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Поиск закономерностей, которые можно использовать для создания новых признаков.</a:t>
            </a:r>
          </a:p>
          <a:p>
            <a:pPr lvl="1"/>
            <a:endParaRPr lang="ru-RU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Генерация гипотез: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На основе </a:t>
            </a:r>
            <a:r>
              <a:rPr lang="ru-RU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EDA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и предметных знаний формулируются гипотезы о том, какие новые признаки могут быть полезны.</a:t>
            </a:r>
          </a:p>
          <a:p>
            <a:pPr lvl="0"/>
            <a:endParaRPr lang="ru-RU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Создание признаков: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Реализация гипотез с помощью соответствующих техник.</a:t>
            </a:r>
          </a:p>
          <a:p>
            <a:pPr lvl="0"/>
            <a:endParaRPr lang="ru-RU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Оценка признаков:</a:t>
            </a:r>
            <a:endParaRPr lang="ru-RU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1"/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Оценка важности признаков (</a:t>
            </a:r>
            <a:r>
              <a:rPr lang="ru-RU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feature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importance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 с помощью моделей (например, деревья решений, линейные модели).</a:t>
            </a:r>
          </a:p>
          <a:p>
            <a:pPr lvl="1"/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Использование методов отбора признаков (</a:t>
            </a:r>
            <a:r>
              <a:rPr lang="ru-RU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feature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selection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 для удаления менее важных или избыточных признаков.</a:t>
            </a:r>
          </a:p>
          <a:p>
            <a:pPr lvl="1"/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Проведение кросс-валидации с новым набором признаков для оценки улучшения производительности.</a:t>
            </a:r>
          </a:p>
          <a:p>
            <a:pPr lvl="1"/>
            <a:endParaRPr lang="ru-RU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Итерация: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r>
              <a:rPr lang="ru-RU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Feature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engineering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— это итеративный процесс. Повторяйте шаги 1-4, пока не достигнете желаемого качества модели.</a:t>
            </a:r>
          </a:p>
          <a:p>
            <a:pPr marL="342900" indent="-342900">
              <a:buAutoNum type="arabicPeriod"/>
            </a:pPr>
            <a:endParaRPr lang="ru-RU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620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704F-66C6-C2EC-E5E4-1FC906703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3C136-F55F-6965-0FCC-6B546113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Процесс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Feature Engineering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6C717-B37B-E85A-BA6B-90397B4ECE6D}"/>
              </a:ext>
            </a:extLst>
          </p:cNvPr>
          <p:cNvSpPr txBox="1"/>
          <p:nvPr/>
        </p:nvSpPr>
        <p:spPr>
          <a:xfrm>
            <a:off x="875420" y="864198"/>
            <a:ext cx="1060437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Важные Принципы </a:t>
            </a:r>
            <a:r>
              <a:rPr lang="ru-RU" sz="20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Feature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Engineering:</a:t>
            </a:r>
          </a:p>
          <a:p>
            <a:endParaRPr lang="ru-RU" sz="20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19138" lvl="0" indent="-360363">
              <a:buFont typeface="Wingdings" panose="05000000000000000000" pitchFamily="2" charset="2"/>
              <a:buChar char="Ø"/>
            </a:pP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 создавайте признаки, которые приведут к утечке данных: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Например, использование информации из будущего или информации, недоступной во время реального предсказания.</a:t>
            </a:r>
          </a:p>
          <a:p>
            <a:pPr marL="719138" lvl="0" indent="-360363">
              <a:buFont typeface="Wingdings" panose="05000000000000000000" pitchFamily="2" charset="2"/>
              <a:buChar char="Ø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19138" lvl="0" indent="-360363">
              <a:buFont typeface="Wingdings" panose="05000000000000000000" pitchFamily="2" charset="2"/>
              <a:buChar char="Ø"/>
            </a:pP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Используйте предметные знания: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Экспертные знания в предметной области — один из самых мощных инструментов для создания эффективных признаков.</a:t>
            </a:r>
          </a:p>
          <a:p>
            <a:pPr marL="719138" lvl="0" indent="-360363">
              <a:buFont typeface="Wingdings" panose="05000000000000000000" pitchFamily="2" charset="2"/>
              <a:buChar char="Ø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19138" lvl="0" indent="-360363">
              <a:buFont typeface="Wingdings" panose="05000000000000000000" pitchFamily="2" charset="2"/>
              <a:buChar char="Ø"/>
            </a:pP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Проверяйте влияние новых признаков: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Всегда оценивайте, действительно ли новый признак улучшает производительность модели.</a:t>
            </a:r>
          </a:p>
          <a:p>
            <a:pPr marL="719138" lvl="0" indent="-360363">
              <a:buFont typeface="Wingdings" panose="05000000000000000000" pitchFamily="2" charset="2"/>
              <a:buChar char="Ø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19138" lvl="0" indent="-360363">
              <a:buFont typeface="Wingdings" panose="05000000000000000000" pitchFamily="2" charset="2"/>
              <a:buChar char="Ø"/>
            </a:pP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Используйте кросс-валидацию: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Оценивайте производительность модели с новыми признаками с помощью кросс-валидации, чтобы получить надежную оценку.</a:t>
            </a:r>
          </a:p>
          <a:p>
            <a:pPr marL="719138" lvl="0" indent="-360363">
              <a:buFont typeface="Wingdings" panose="05000000000000000000" pitchFamily="2" charset="2"/>
              <a:buChar char="Ø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719138" lvl="0" indent="-360363">
              <a:buFont typeface="Wingdings" panose="05000000000000000000" pitchFamily="2" charset="2"/>
              <a:buChar char="Ø"/>
            </a:pP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Избегайте избыточности: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Удаляйте коррелированные или неинформативные признаки.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0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AutoNum type="arabicPeriod"/>
            </a:pPr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477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3402-8DFF-D5F4-15B5-F1664C76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2BCD0-62F1-994B-30E4-3F333BAF9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Какие фичи выбирать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66C58-7D22-0779-8E40-CD94CB8FD068}"/>
              </a:ext>
            </a:extLst>
          </p:cNvPr>
          <p:cNvSpPr txBox="1"/>
          <p:nvPr/>
        </p:nvSpPr>
        <p:spPr>
          <a:xfrm>
            <a:off x="875420" y="864198"/>
            <a:ext cx="10604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При выборе фичей  смотрим на графики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график точки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(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таргет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и фича), если видим направленность  (например линия ) то есть взаимосвязь , если разбросаны по всему равномерно – нет связи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1BEEDE-B7B1-19FE-67EC-FBB43965C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1464" y="2931042"/>
            <a:ext cx="9300689" cy="392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21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EBE0-799B-1F6D-874B-875C9652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8EE8D-04EA-26D1-41EA-89CBD0DE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Какие фичи выбирать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D894B-34C1-B928-064A-399CCDA534A9}"/>
              </a:ext>
            </a:extLst>
          </p:cNvPr>
          <p:cNvSpPr txBox="1"/>
          <p:nvPr/>
        </p:nvSpPr>
        <p:spPr>
          <a:xfrm>
            <a:off x="875420" y="864198"/>
            <a:ext cx="10604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При выборе фичей  смотрим на графики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график бар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 - если все на одном уровне  например влияние должности на зарплату  то никого влияние нет, если разнятся столбики то это есть взаимосвязь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6C2DC6-939C-2EEF-AD8D-74C298EAE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2804813"/>
            <a:ext cx="8759983" cy="3536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378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BDB7-57B7-6AD5-0DB2-6AF6F00A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333A7-36F2-FB2D-82C3-16BA7016D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Какие фичи выбирать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D86FE1-F6E3-3C8F-5BA2-CCBAFBD38970}"/>
              </a:ext>
            </a:extLst>
          </p:cNvPr>
          <p:cNvSpPr txBox="1"/>
          <p:nvPr/>
        </p:nvSpPr>
        <p:spPr>
          <a:xfrm>
            <a:off x="875420" y="864198"/>
            <a:ext cx="106043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При выборе фичей  смотрим на графики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линии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- если все на одном уровне,    то никого влияние нет, если разница то это есть взаимосвязь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8EABE9-8286-9CCB-7279-4CE09ACBC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04" y="2437915"/>
            <a:ext cx="9624404" cy="39919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81169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1F9E-FC3D-001B-CF19-228D525E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35F21-B37C-6310-7628-238F1123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Какие фичи выбирать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67F22-CDB7-7C2D-D67D-8AD3882EF9DB}"/>
              </a:ext>
            </a:extLst>
          </p:cNvPr>
          <p:cNvSpPr txBox="1"/>
          <p:nvPr/>
        </p:nvSpPr>
        <p:spPr>
          <a:xfrm>
            <a:off x="875420" y="864198"/>
            <a:ext cx="10604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При выборе фичей  смотрим на графики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Ящик с усами 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–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усы ставятся в 1,5 от самой коробочки .  смотрим также на размер самой коробочки если они разные то имеет значения .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EA1EAC-2899-1006-F623-D9449F20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5596" y="2689629"/>
            <a:ext cx="10604372" cy="346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689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77E7-384F-B65B-BA9A-33840AFE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B035C2-4849-EDEC-C597-6F0889D2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Какие фичи выбирать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5BD99-E705-D567-0119-28C9F275A45C}"/>
              </a:ext>
            </a:extLst>
          </p:cNvPr>
          <p:cNvSpPr txBox="1"/>
          <p:nvPr/>
        </p:nvSpPr>
        <p:spPr>
          <a:xfrm>
            <a:off x="875420" y="864198"/>
            <a:ext cx="10604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Корреляция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– если между фичами большой показатель то есть какую то из них фичу надо удалить . Если нет корреляции с таргетом то возможно нужно взять модель другую, а не линейную.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BE92B-7D5B-932A-4C55-59A0148646DC}"/>
              </a:ext>
            </a:extLst>
          </p:cNvPr>
          <p:cNvSpPr txBox="1"/>
          <p:nvPr/>
        </p:nvSpPr>
        <p:spPr>
          <a:xfrm>
            <a:off x="1991544" y="2204864"/>
            <a:ext cx="88847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9723B4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matplotlib.pyplot </a:t>
            </a:r>
            <a:r>
              <a:rPr lang="en-US" sz="2400" dirty="0">
                <a:solidFill>
                  <a:srgbClr val="9723B4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9723B4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seaborn </a:t>
            </a:r>
            <a:r>
              <a:rPr lang="en-US" sz="2400" dirty="0">
                <a:solidFill>
                  <a:srgbClr val="9723B4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8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ru-RU" sz="2400" dirty="0">
                <a:solidFill>
                  <a:srgbClr val="008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Матрица корреляции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correlation_matrix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df.corr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8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ru-RU" sz="2400" dirty="0">
                <a:solidFill>
                  <a:srgbClr val="008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 матрицы корреляции</a:t>
            </a:r>
            <a:r>
              <a:rPr lang="en-US" sz="2400" dirty="0">
                <a:solidFill>
                  <a:srgbClr val="008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(heatmap)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sz="2400" dirty="0">
                <a:solidFill>
                  <a:srgbClr val="116644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116644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correlation_matrix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US" sz="2400" dirty="0">
                <a:solidFill>
                  <a:srgbClr val="A31515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linewidths=</a:t>
            </a:r>
            <a:r>
              <a:rPr lang="en-US" sz="2400" dirty="0">
                <a:solidFill>
                  <a:srgbClr val="116644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.5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Матрица корреляции</a:t>
            </a:r>
            <a:r>
              <a:rPr lang="en-US" sz="2400" dirty="0">
                <a:solidFill>
                  <a:srgbClr val="A31515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ru-RU" sz="2400" dirty="0">
              <a:solidFill>
                <a:srgbClr val="000000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6627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5D9C-29D8-9525-5B75-C6036146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7EB34-1CD2-676E-17A7-6BA06FC0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Какие фичи выбирать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A4610-FDFA-1526-730D-2C83289661E6}"/>
              </a:ext>
            </a:extLst>
          </p:cNvPr>
          <p:cNvSpPr txBox="1"/>
          <p:nvPr/>
        </p:nvSpPr>
        <p:spPr>
          <a:xfrm>
            <a:off x="875487" y="692696"/>
            <a:ext cx="10604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Определяем есть ли у нас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квазиконстантные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колонки (колонки в которых данные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почти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не изменяются и почти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констатные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,а значит они бесполезны ) желательно признаки перед этим нормировать .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Анализ на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мультиколлинеарность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(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VIF - Variance Inflation Factor)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2922E-14C7-1D28-5158-05596E625458}"/>
              </a:ext>
            </a:extLst>
          </p:cNvPr>
          <p:cNvSpPr txBox="1"/>
          <p:nvPr/>
        </p:nvSpPr>
        <p:spPr>
          <a:xfrm>
            <a:off x="1708717" y="2631688"/>
            <a:ext cx="97762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000" b="1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Интерпретация </a:t>
            </a:r>
            <a:r>
              <a:rPr lang="ru-RU" sz="2000" b="1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VIF</a:t>
            </a:r>
            <a:endParaRPr lang="ru-RU" sz="2000" b="1" i="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algn="l">
              <a:buNone/>
            </a:pPr>
            <a:endParaRPr lang="ru-RU" sz="2000" b="1" i="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701675" indent="-342900" algn="l">
              <a:buFont typeface="Wingdings" panose="05000000000000000000" pitchFamily="2" charset="2"/>
              <a:buChar char="v"/>
            </a:pP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VIF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 = 1: Нет </a:t>
            </a: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мультиколлинеарности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.</a:t>
            </a:r>
          </a:p>
          <a:p>
            <a:pPr marL="701675" indent="-342900" algn="l">
              <a:buFont typeface="Wingdings" panose="05000000000000000000" pitchFamily="2" charset="2"/>
              <a:buChar char="v"/>
            </a:pPr>
            <a:endParaRPr lang="ru-RU" sz="2000" b="0" i="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701675" indent="-342900" algn="l">
              <a:buFont typeface="Wingdings" panose="05000000000000000000" pitchFamily="2" charset="2"/>
              <a:buChar char="v"/>
            </a:pP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1 &lt; </a:t>
            </a: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VIF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 &lt; 5: Умеренная </a:t>
            </a: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мультиколлинеарность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. Возможно, стоит обратить внимание.</a:t>
            </a:r>
          </a:p>
          <a:p>
            <a:pPr marL="701675" indent="-342900" algn="l">
              <a:buFont typeface="Wingdings" panose="05000000000000000000" pitchFamily="2" charset="2"/>
              <a:buChar char="v"/>
            </a:pPr>
            <a:endParaRPr lang="ru-RU" sz="2000" b="0" i="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701675" indent="-342900" algn="l">
              <a:buFont typeface="Wingdings" panose="05000000000000000000" pitchFamily="2" charset="2"/>
              <a:buChar char="v"/>
            </a:pP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VIF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 &gt;= 5: Высокая </a:t>
            </a: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мультиколлинеарность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. Стоит рассмотреть удаление одного из сильно коррелирующих признаков.</a:t>
            </a:r>
          </a:p>
          <a:p>
            <a:pPr marL="701675" indent="-342900" algn="l">
              <a:buFont typeface="Wingdings" panose="05000000000000000000" pitchFamily="2" charset="2"/>
              <a:buChar char="v"/>
            </a:pPr>
            <a:endParaRPr lang="ru-RU" sz="2000" b="0" i="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701675" indent="-342900" algn="l">
              <a:buFont typeface="Wingdings" panose="05000000000000000000" pitchFamily="2" charset="2"/>
              <a:buChar char="v"/>
            </a:pP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VIF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 &gt;= 10: Очень высокая </a:t>
            </a:r>
            <a:r>
              <a:rPr lang="ru-RU" sz="2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мультиколлинеарность</a:t>
            </a:r>
            <a:r>
              <a:rPr lang="ru-RU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. Проблема, требующая немедленного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2015419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FC22-555B-6F30-EF8A-2278649F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85B58-7CBF-55DC-5E6B-D4CD4BD0B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Какие фичи выбирать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EFE06-388B-FA0D-15AA-4697144B5A55}"/>
              </a:ext>
            </a:extLst>
          </p:cNvPr>
          <p:cNvSpPr txBox="1"/>
          <p:nvPr/>
        </p:nvSpPr>
        <p:spPr>
          <a:xfrm>
            <a:off x="875487" y="692696"/>
            <a:ext cx="10604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Анализ на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мультиколлинеарность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(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VIF - Variance Inflation Factor)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C9263-43C8-85EB-27C7-2AB53339AC79}"/>
              </a:ext>
            </a:extLst>
          </p:cNvPr>
          <p:cNvSpPr txBox="1"/>
          <p:nvPr/>
        </p:nvSpPr>
        <p:spPr>
          <a:xfrm>
            <a:off x="1207860" y="1640771"/>
            <a:ext cx="97762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9723B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statsmodels.stats.outliers_influence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9723B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variance_inflation_factor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24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Вычисляем </a:t>
            </a:r>
            <a:r>
              <a:rPr lang="ru-RU" sz="2400" dirty="0" err="1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VIF</a:t>
            </a:r>
            <a:r>
              <a:rPr lang="ru-RU" sz="24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каждого признака (кроме целевой переменной)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=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df.drop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'цена'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axis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ru-RU" sz="2400" dirty="0">
                <a:solidFill>
                  <a:srgbClr val="1166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vif_data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pd.DataFrame()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vif_data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"feature"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=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X.columns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vif_data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"VIF"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= [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variance_inflation_factor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X.values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                         </a:t>
            </a:r>
            <a:r>
              <a:rPr lang="en-US" sz="2400" dirty="0">
                <a:solidFill>
                  <a:srgbClr val="9723B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A52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6A52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X.columns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))]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6A52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"\</a:t>
            </a:r>
            <a:r>
              <a:rPr lang="en-US" sz="2400" dirty="0" err="1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nVariance</a:t>
            </a:r>
            <a:r>
              <a:rPr lang="en-US" sz="2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Inflation Factor (VIF):\n"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vif_data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2904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C8A8-3F15-FCF1-F054-5F5E562A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77B7F-AB87-6505-54CB-D2219883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Линейная регрессия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C50B3-2BAA-32B9-4440-B9BC228F0333}"/>
              </a:ext>
            </a:extLst>
          </p:cNvPr>
          <p:cNvSpPr txBox="1"/>
          <p:nvPr/>
        </p:nvSpPr>
        <p:spPr>
          <a:xfrm>
            <a:off x="1199456" y="1340768"/>
            <a:ext cx="1027914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Линейная регрессия – это один из самых простых и широко используемых алгоритмов машинного обучения, относящийся к классу задач регрессии. Он используется для моделирования линейной связи между независимой переменной (или переменными) и зависимой переменной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ru-RU" sz="20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Регрессия – это задача машинного обучения, целью которой является предсказание непрерывной числовой переменной (целевой переменной) на основе одного или нескольких признаков (независимых переменных). </a:t>
            </a:r>
          </a:p>
          <a:p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Уравнение: y =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b0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+ 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b1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 * x</a:t>
            </a:r>
          </a:p>
          <a:p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endParaRPr lang="ru-RU" sz="200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3254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F401-0DA0-8BD1-139D-81765A67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02E0A-3B76-27A7-0BD4-4B9C5224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Линейная регрессия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3D0A8-E38D-AC70-E5E7-8E3DF034BD8B}"/>
              </a:ext>
            </a:extLst>
          </p:cNvPr>
          <p:cNvSpPr txBox="1"/>
          <p:nvPr/>
        </p:nvSpPr>
        <p:spPr>
          <a:xfrm>
            <a:off x="1199456" y="614450"/>
            <a:ext cx="102791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Цель линейной регрессии – найти такие значения коэффициентов (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b0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,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b1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,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b2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, …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bn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), чтобы линия (или гиперплоскость в случае множественной регрессии) наилучшим образом соответствовала данным. “Наилучшим образом” определяется с помощью функции потерь.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E4C04A-13AF-E2C6-437E-D54E612645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76225" y="2222137"/>
            <a:ext cx="10439549" cy="45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2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F0946-DC50-BD49-FB35-6342067F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DC7FD-2E2C-0FC9-9CAE-0BB1D315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Предположения Линейной Регрессии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9AFF9-4DC4-1BA3-1E39-CE9FD477D76A}"/>
              </a:ext>
            </a:extLst>
          </p:cNvPr>
          <p:cNvSpPr txBox="1"/>
          <p:nvPr/>
        </p:nvSpPr>
        <p:spPr>
          <a:xfrm>
            <a:off x="1289466" y="1124744"/>
            <a:ext cx="102791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Чтобы линейная регрессия давала надежные результаты, необходимо соблюдать некоторые предположения: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Линейность: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Существует линейная зависимость между независимыми и зависимой переменными.</a:t>
            </a: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Независимость ошибок: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Ошибки (разности между предсказанными и фактическими значениями) должны быть независимы друг от друга.</a:t>
            </a: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Гомоскедастичность: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Дисперсия ошибок должна быть постоянной для всех уровней независимых переменных.</a:t>
            </a: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lvl="0"/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Нормальность ошибок: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Ошибки должны быть нормально распределены.</a:t>
            </a:r>
          </a:p>
          <a:p>
            <a:pPr lvl="0"/>
            <a:endParaRPr lang="ru-RU" sz="20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Отсутствие </a:t>
            </a:r>
            <a:r>
              <a:rPr lang="ru-RU" sz="20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мультиколлинеарности</a:t>
            </a:r>
            <a:r>
              <a:rPr lang="ru-RU" sz="20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: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Независимые переменные не должны быть сильно коррелированы друг с другом</a:t>
            </a:r>
            <a:endParaRPr lang="ru-RU" sz="200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17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97BE-2B00-F49D-FD62-63119B2E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525CC1-C194-873A-DA31-88F495C1A949}"/>
              </a:ext>
            </a:extLst>
          </p:cNvPr>
          <p:cNvSpPr txBox="1"/>
          <p:nvPr/>
        </p:nvSpPr>
        <p:spPr>
          <a:xfrm>
            <a:off x="839416" y="476672"/>
            <a:ext cx="107111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Чтобы построенная модель была корректной. Необходимо чтобы остатки были </a:t>
            </a:r>
            <a:r>
              <a:rPr lang="ru-RU" sz="2000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гомоскедастичны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.</a:t>
            </a: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Гомоскедастичность – свойство обозначающее постоянство дисперсии некоторой последовательности случайных величин.</a:t>
            </a:r>
          </a:p>
          <a:p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Дисперсия отклонение  точек относительно прямой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2BDCCD-4436-7162-4898-1527887665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220618" y="2827273"/>
            <a:ext cx="9123854" cy="338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829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88A51-887B-6210-2CC7-F7578C80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50509-387A-B1AA-435D-C1D2BA2B6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Оценка Модели Линейной Регрессии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15A35-70AC-6CA1-B0F7-3000CD0066CB}"/>
              </a:ext>
            </a:extLst>
          </p:cNvPr>
          <p:cNvSpPr txBox="1"/>
          <p:nvPr/>
        </p:nvSpPr>
        <p:spPr>
          <a:xfrm>
            <a:off x="1289466" y="1124744"/>
            <a:ext cx="102791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Для оценки качества модели линейной регрессии используются различные метрики: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Среднеквадратичная ошибка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MSE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Корень из среднеквадратичной ошибки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RMSE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ru-RU" sz="24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Средняя абсолютная ошибка (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MAE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ru-RU" sz="2400" b="1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Коэффициент детерминации (R-</a:t>
            </a:r>
            <a:r>
              <a:rPr lang="ru-RU" sz="2400" b="1" dirty="0" err="1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squared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):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 </a:t>
            </a:r>
            <a:endParaRPr lang="ru-RU" sz="240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3101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F1CD-F07F-C1B4-FE95-B0B15ADC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53ADF-CCB5-1A33-FAB6-D6E14DE5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01417"/>
            <a:ext cx="11828508" cy="662781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Выбор фичей Линейной Регрессии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95C8C-69F1-6669-27DF-5BBA803951D2}"/>
              </a:ext>
            </a:extLst>
          </p:cNvPr>
          <p:cNvSpPr txBox="1"/>
          <p:nvPr/>
        </p:nvSpPr>
        <p:spPr>
          <a:xfrm>
            <a:off x="1272100" y="764704"/>
            <a:ext cx="10279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Эффективный отбор признаков дает наибольший прирост качеству. Эта та задача которую решает дата инженер перед каждой моделью. Но само решение будет всегда разным т.к. данные всегда разные</a:t>
            </a:r>
            <a:endParaRPr lang="ru-RU" sz="2400" dirty="0">
              <a:solidFill>
                <a:schemeClr val="accent2">
                  <a:lumMod val="50000"/>
                </a:schemeClr>
              </a:solidFill>
              <a:effectLst/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962CFF-76A1-EACE-7242-9DE9E147F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53" y="2128146"/>
            <a:ext cx="10720214" cy="451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618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EBDCB17-778D-539D-AF17-AF90A0B1A897}"/>
              </a:ext>
            </a:extLst>
          </p:cNvPr>
          <p:cNvSpPr txBox="1"/>
          <p:nvPr/>
        </p:nvSpPr>
        <p:spPr>
          <a:xfrm>
            <a:off x="1091444" y="1099693"/>
            <a:ext cx="10009112" cy="549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передаем столбцы в переменную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var = [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YearsExperience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'Floor'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'Type'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]</a:t>
            </a:r>
          </a:p>
          <a:p>
            <a:pPr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обучить модель линейной регрессии циклом для каждой отдельной переменной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Bahnschrift" panose="020B0502040204020203" pitchFamily="34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Bahnschrift" panose="020B0502040204020203" pitchFamily="34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var:                          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для каждой переменной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i</a:t>
            </a:r>
            <a:endParaRPr lang="en-US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>
                <a:solidFill>
                  <a:srgbClr val="6A5221"/>
                </a:solidFill>
                <a:effectLst/>
                <a:latin typeface="Bahnschrift" panose="020B0502040204020203" pitchFamily="34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'-'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*</a:t>
            </a:r>
            <a:r>
              <a:rPr lang="en-US" sz="2000" b="0" dirty="0">
                <a:solidFill>
                  <a:srgbClr val="116644"/>
                </a:solidFill>
                <a:effectLst/>
                <a:latin typeface="Bahnschrift" panose="020B0502040204020203" pitchFamily="34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'-'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*</a:t>
            </a:r>
            <a:r>
              <a:rPr lang="en-US" sz="2000" b="0" dirty="0">
                <a:solidFill>
                  <a:srgbClr val="116644"/>
                </a:solidFill>
                <a:effectLst/>
                <a:latin typeface="Bahnschrift" panose="020B0502040204020203" pitchFamily="34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      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печатаем название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i</a:t>
            </a:r>
            <a:endParaRPr lang="en-US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train_X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[[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]]                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 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делаем  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i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  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признаком Х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train_y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[[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'Salary'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]]      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делаем 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salary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целевой переменной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ru-RU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model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LinearRegression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()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модель линейной регрессии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model.fit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train_X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train_y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  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передаем признаки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y_predict_train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model.predict(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train_X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получаем предсказание обучающей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train_mse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mean_squared_error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train_y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y_predict_train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 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получаем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MSE</a:t>
            </a:r>
            <a:r>
              <a:rPr lang="en-US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ru-RU" sz="2000" b="0" dirty="0">
                <a:solidFill>
                  <a:srgbClr val="008000"/>
                </a:solidFill>
                <a:effectLst/>
                <a:latin typeface="Bahnschrift" panose="020B0502040204020203" pitchFamily="34" charset="0"/>
              </a:rPr>
              <a:t>для обучающей</a:t>
            </a:r>
            <a:endParaRPr lang="ru-RU" sz="2000" b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>
                <a:solidFill>
                  <a:srgbClr val="6A5221"/>
                </a:solidFill>
                <a:effectLst/>
                <a:latin typeface="Bahnschrift" panose="020B0502040204020203" pitchFamily="34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"Train 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MSE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: {}"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.</a:t>
            </a:r>
            <a:r>
              <a:rPr lang="en-US" sz="2000" b="0" dirty="0">
                <a:solidFill>
                  <a:srgbClr val="6A5221"/>
                </a:solidFill>
                <a:effectLst/>
                <a:latin typeface="Bahnschrift" panose="020B0502040204020203" pitchFamily="34" charset="0"/>
              </a:rPr>
              <a:t>format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train_mse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1AD2F-3909-CBAF-6BED-123D15ED902A}"/>
              </a:ext>
            </a:extLst>
          </p:cNvPr>
          <p:cNvSpPr txBox="1"/>
          <p:nvPr/>
        </p:nvSpPr>
        <p:spPr>
          <a:xfrm>
            <a:off x="623392" y="260648"/>
            <a:ext cx="11449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обучить модель линейной регрессии циклом добавления</a:t>
            </a:r>
          </a:p>
        </p:txBody>
      </p:sp>
    </p:spTree>
    <p:extLst>
      <p:ext uri="{BB962C8B-B14F-4D97-AF65-F5344CB8AC3E}">
        <p14:creationId xmlns:p14="http://schemas.microsoft.com/office/powerpoint/2010/main" val="1590219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F06E-1049-1AD5-A4C7-8DAEF76C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ACAA243-5B7C-D306-E9AD-707E8A345C87}"/>
              </a:ext>
            </a:extLst>
          </p:cNvPr>
          <p:cNvSpPr txBox="1"/>
          <p:nvPr/>
        </p:nvSpPr>
        <p:spPr>
          <a:xfrm>
            <a:off x="623392" y="260648"/>
            <a:ext cx="11449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обучить модель линейной регрессии циклом при исключении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53B86-E699-F861-B915-EE4A1A592ED2}"/>
              </a:ext>
            </a:extLst>
          </p:cNvPr>
          <p:cNvSpPr txBox="1"/>
          <p:nvPr/>
        </p:nvSpPr>
        <p:spPr>
          <a:xfrm>
            <a:off x="1525633" y="935183"/>
            <a:ext cx="914073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Bahnschrift" panose="020B0502040204020203" pitchFamily="34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Bahnschrift" panose="020B0502040204020203" pitchFamily="34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var: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var_new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var.copy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()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var_new.remove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</a:p>
          <a:p>
            <a:pPr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>
                <a:solidFill>
                  <a:srgbClr val="6A5221"/>
                </a:solidFill>
                <a:effectLst/>
                <a:latin typeface="Bahnschrift" panose="020B0502040204020203" pitchFamily="34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'-'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*</a:t>
            </a:r>
            <a:r>
              <a:rPr lang="en-US" sz="2000" b="0" dirty="0">
                <a:solidFill>
                  <a:srgbClr val="116644"/>
                </a:solidFill>
                <a:effectLst/>
                <a:latin typeface="Bahnschrift" panose="020B0502040204020203" pitchFamily="34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 + 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.join(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var_new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), 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'-'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*</a:t>
            </a:r>
            <a:r>
              <a:rPr lang="en-US" sz="2000" b="0" dirty="0">
                <a:solidFill>
                  <a:srgbClr val="116644"/>
                </a:solidFill>
                <a:effectLst/>
                <a:latin typeface="Bahnschrift" panose="020B0502040204020203" pitchFamily="34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train_X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var_new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]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train_y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df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[[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'Salary'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]]</a:t>
            </a:r>
          </a:p>
          <a:p>
            <a:pPr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model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LinearRegression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() 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model.fit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train_X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train_y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</a:p>
          <a:p>
            <a:pPr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y_predict_train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model.predict(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train_X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</a:p>
          <a:p>
            <a:pPr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train_mse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mean_squared_error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train_y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y_predict_train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  </a:t>
            </a:r>
            <a:r>
              <a:rPr lang="en-US" sz="2000" b="0" dirty="0">
                <a:solidFill>
                  <a:srgbClr val="6A5221"/>
                </a:solidFill>
                <a:effectLst/>
                <a:latin typeface="Bahnschrift" panose="020B0502040204020203" pitchFamily="34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"Train 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MSE</a:t>
            </a:r>
            <a:r>
              <a:rPr lang="en-US" sz="2000" b="0" dirty="0">
                <a:solidFill>
                  <a:srgbClr val="A31515"/>
                </a:solidFill>
                <a:effectLst/>
                <a:latin typeface="Bahnschrift" panose="020B0502040204020203" pitchFamily="34" charset="0"/>
              </a:rPr>
              <a:t>: {}"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.</a:t>
            </a:r>
            <a:r>
              <a:rPr lang="en-US" sz="2000" b="0" dirty="0">
                <a:solidFill>
                  <a:srgbClr val="6A5221"/>
                </a:solidFill>
                <a:effectLst/>
                <a:latin typeface="Bahnschrift" panose="020B0502040204020203" pitchFamily="34" charset="0"/>
              </a:rPr>
              <a:t>format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train_mse</a:t>
            </a:r>
            <a:r>
              <a:rPr lang="en-US" sz="2000" b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6994610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2170</TotalTime>
  <Words>3839</Words>
  <Application>Microsoft Office PowerPoint</Application>
  <PresentationFormat>Широкоэкранный</PresentationFormat>
  <Paragraphs>485</Paragraphs>
  <Slides>53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62" baseType="lpstr">
      <vt:lpstr>Arial</vt:lpstr>
      <vt:lpstr>Arial Black</vt:lpstr>
      <vt:lpstr>Bahnschrift</vt:lpstr>
      <vt:lpstr>Calibri</vt:lpstr>
      <vt:lpstr>Calibri Light</vt:lpstr>
      <vt:lpstr>Courier New</vt:lpstr>
      <vt:lpstr>Times New Roman</vt:lpstr>
      <vt:lpstr>Wingdings</vt:lpstr>
      <vt:lpstr>Тема Office</vt:lpstr>
      <vt:lpstr>Лекция 2 по Машинному обучению  </vt:lpstr>
      <vt:lpstr>Метрики для Задач Регрессии</vt:lpstr>
      <vt:lpstr>Метрики для Задач Регрессии:</vt:lpstr>
      <vt:lpstr>Средняя абсолютная ошибка (MAE - Mean Absolute Error)</vt:lpstr>
      <vt:lpstr>Метрики для Задач Регрессии:</vt:lpstr>
      <vt:lpstr>Среднеквадратичная ошибка (MSE - Mean Squared Error)</vt:lpstr>
      <vt:lpstr>Метрики для Задач Регрессии:</vt:lpstr>
      <vt:lpstr>Средняя абсолютная ошибка в процентах  (MAPE - Mean Absolute Percentage Error)</vt:lpstr>
      <vt:lpstr>Метрики для Задач Регрессии:</vt:lpstr>
      <vt:lpstr>RMSE (Root Mean Squared Error –  Корень из среднеквадратичной ошибки)</vt:lpstr>
      <vt:lpstr>Метрики для Задач Регрессии:</vt:lpstr>
      <vt:lpstr>RMSE (Root Mean Squared Error –  Корень из среднеквадратичной ошибки)</vt:lpstr>
      <vt:lpstr>Обработка Категориальных Признаков  </vt:lpstr>
      <vt:lpstr>Обработка Категориальных Признаков  </vt:lpstr>
      <vt:lpstr>Обработка Категориальных Признаков  </vt:lpstr>
      <vt:lpstr>Обработка Категориальных Признаков  </vt:lpstr>
      <vt:lpstr>Обработка Категориальных Признаков  </vt:lpstr>
      <vt:lpstr>Обработка Категориальных Признаков  </vt:lpstr>
      <vt:lpstr>Обработка Категориальных Признаков  </vt:lpstr>
      <vt:lpstr>Обработка Категориальных Признаков  </vt:lpstr>
      <vt:lpstr>Обработка Категориальных Признаков  </vt:lpstr>
      <vt:lpstr>Презентация PowerPoint</vt:lpstr>
      <vt:lpstr>Масштабирование Признаков  </vt:lpstr>
      <vt:lpstr> Зачем необходимо Масштабирование Признаков? </vt:lpstr>
      <vt:lpstr>StandardScaler (Стандартизация)</vt:lpstr>
      <vt:lpstr>StandardScaler (Стандартизация)</vt:lpstr>
      <vt:lpstr>StandardScaler (Стандартизация)</vt:lpstr>
      <vt:lpstr>MinMaxScaler</vt:lpstr>
      <vt:lpstr>MinMaxScaler</vt:lpstr>
      <vt:lpstr>MinMaxScaler</vt:lpstr>
      <vt:lpstr>RobustScaler</vt:lpstr>
      <vt:lpstr>RobustScaler</vt:lpstr>
      <vt:lpstr>Масштабирование Признаков</vt:lpstr>
      <vt:lpstr>Презентация PowerPoint</vt:lpstr>
      <vt:lpstr>Создание Новых Признаков на Основе Существующих  (Feature Engineering)</vt:lpstr>
      <vt:lpstr>Основные Техники Feature Engineering</vt:lpstr>
      <vt:lpstr>Процесс Feature Engineering</vt:lpstr>
      <vt:lpstr>Процесс Feature Engineering</vt:lpstr>
      <vt:lpstr>Какие фичи выбирать</vt:lpstr>
      <vt:lpstr>Какие фичи выбирать</vt:lpstr>
      <vt:lpstr>Какие фичи выбирать</vt:lpstr>
      <vt:lpstr>Какие фичи выбирать</vt:lpstr>
      <vt:lpstr>Какие фичи выбирать</vt:lpstr>
      <vt:lpstr>Какие фичи выбирать</vt:lpstr>
      <vt:lpstr>Какие фичи выбирать</vt:lpstr>
      <vt:lpstr>Линейная регрессия</vt:lpstr>
      <vt:lpstr>Линейная регрессия</vt:lpstr>
      <vt:lpstr>Предположения Линейной Регрессии</vt:lpstr>
      <vt:lpstr>Презентация PowerPoint</vt:lpstr>
      <vt:lpstr>Оценка Модели Линейной Регрессии</vt:lpstr>
      <vt:lpstr>Выбор фичей Линейной Регрессии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Людмила Герськина</dc:creator>
  <cp:lastModifiedBy>Людмила Герськина</cp:lastModifiedBy>
  <cp:revision>39</cp:revision>
  <dcterms:created xsi:type="dcterms:W3CDTF">2025-07-23T17:56:42Z</dcterms:created>
  <dcterms:modified xsi:type="dcterms:W3CDTF">2025-08-08T20:47:25Z</dcterms:modified>
</cp:coreProperties>
</file>