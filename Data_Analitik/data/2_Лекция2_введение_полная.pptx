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02"/>
  </p:notesMasterIdLst>
  <p:handoutMasterIdLst>
    <p:handoutMasterId r:id="rId103"/>
  </p:handoutMasterIdLst>
  <p:sldIdLst>
    <p:sldId id="257" r:id="rId2"/>
    <p:sldId id="355" r:id="rId3"/>
    <p:sldId id="365" r:id="rId4"/>
    <p:sldId id="356" r:id="rId5"/>
    <p:sldId id="357" r:id="rId6"/>
    <p:sldId id="358" r:id="rId7"/>
    <p:sldId id="359" r:id="rId8"/>
    <p:sldId id="360" r:id="rId9"/>
    <p:sldId id="283" r:id="rId10"/>
    <p:sldId id="285" r:id="rId11"/>
    <p:sldId id="284" r:id="rId12"/>
    <p:sldId id="273" r:id="rId13"/>
    <p:sldId id="274" r:id="rId14"/>
    <p:sldId id="320" r:id="rId15"/>
    <p:sldId id="275" r:id="rId16"/>
    <p:sldId id="290" r:id="rId17"/>
    <p:sldId id="276" r:id="rId18"/>
    <p:sldId id="291" r:id="rId19"/>
    <p:sldId id="278" r:id="rId20"/>
    <p:sldId id="292" r:id="rId21"/>
    <p:sldId id="293" r:id="rId22"/>
    <p:sldId id="295" r:id="rId23"/>
    <p:sldId id="296" r:id="rId24"/>
    <p:sldId id="298" r:id="rId25"/>
    <p:sldId id="299" r:id="rId26"/>
    <p:sldId id="300" r:id="rId27"/>
    <p:sldId id="301" r:id="rId28"/>
    <p:sldId id="297" r:id="rId29"/>
    <p:sldId id="258" r:id="rId30"/>
    <p:sldId id="259" r:id="rId31"/>
    <p:sldId id="260" r:id="rId32"/>
    <p:sldId id="261" r:id="rId33"/>
    <p:sldId id="262" r:id="rId34"/>
    <p:sldId id="264" r:id="rId35"/>
    <p:sldId id="265" r:id="rId36"/>
    <p:sldId id="266" r:id="rId37"/>
    <p:sldId id="267" r:id="rId38"/>
    <p:sldId id="268" r:id="rId39"/>
    <p:sldId id="269" r:id="rId40"/>
    <p:sldId id="271" r:id="rId41"/>
    <p:sldId id="272" r:id="rId42"/>
    <p:sldId id="302" r:id="rId43"/>
    <p:sldId id="303" r:id="rId44"/>
    <p:sldId id="304" r:id="rId45"/>
    <p:sldId id="305" r:id="rId46"/>
    <p:sldId id="277" r:id="rId47"/>
    <p:sldId id="270" r:id="rId48"/>
    <p:sldId id="306" r:id="rId49"/>
    <p:sldId id="279" r:id="rId50"/>
    <p:sldId id="280" r:id="rId51"/>
    <p:sldId id="281" r:id="rId52"/>
    <p:sldId id="307" r:id="rId53"/>
    <p:sldId id="308" r:id="rId54"/>
    <p:sldId id="309" r:id="rId55"/>
    <p:sldId id="286" r:id="rId56"/>
    <p:sldId id="287" r:id="rId57"/>
    <p:sldId id="288" r:id="rId58"/>
    <p:sldId id="289" r:id="rId59"/>
    <p:sldId id="310" r:id="rId60"/>
    <p:sldId id="311" r:id="rId61"/>
    <p:sldId id="312" r:id="rId62"/>
    <p:sldId id="313" r:id="rId63"/>
    <p:sldId id="294" r:id="rId64"/>
    <p:sldId id="314" r:id="rId65"/>
    <p:sldId id="322" r:id="rId66"/>
    <p:sldId id="345" r:id="rId67"/>
    <p:sldId id="346" r:id="rId68"/>
    <p:sldId id="347" r:id="rId69"/>
    <p:sldId id="348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61" r:id="rId83"/>
    <p:sldId id="362" r:id="rId84"/>
    <p:sldId id="335" r:id="rId85"/>
    <p:sldId id="336" r:id="rId86"/>
    <p:sldId id="363" r:id="rId87"/>
    <p:sldId id="337" r:id="rId88"/>
    <p:sldId id="338" r:id="rId89"/>
    <p:sldId id="364" r:id="rId90"/>
    <p:sldId id="339" r:id="rId91"/>
    <p:sldId id="340" r:id="rId92"/>
    <p:sldId id="341" r:id="rId93"/>
    <p:sldId id="342" r:id="rId94"/>
    <p:sldId id="343" r:id="rId95"/>
    <p:sldId id="344" r:id="rId96"/>
    <p:sldId id="353" r:id="rId97"/>
    <p:sldId id="349" r:id="rId98"/>
    <p:sldId id="350" r:id="rId99"/>
    <p:sldId id="351" r:id="rId100"/>
    <p:sldId id="352" r:id="rId10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E89B564-4A6E-4709-BDC0-CB77DB2CFC36}">
          <p14:sldIdLst>
            <p14:sldId id="257"/>
            <p14:sldId id="355"/>
            <p14:sldId id="365"/>
            <p14:sldId id="356"/>
            <p14:sldId id="357"/>
            <p14:sldId id="358"/>
            <p14:sldId id="359"/>
            <p14:sldId id="360"/>
          </p14:sldIdLst>
        </p14:section>
        <p14:section name="Этапы обработки данных" id="{47E956A9-43EC-432A-A98D-94ACBA096529}">
          <p14:sldIdLst>
            <p14:sldId id="283"/>
            <p14:sldId id="285"/>
            <p14:sldId id="284"/>
          </p14:sldIdLst>
        </p14:section>
        <p14:section name="Бизнес аналитик и Дата аналитик" id="{CB23C1D8-FC87-43D6-8927-DEB59AE4BDD6}">
          <p14:sldIdLst>
            <p14:sldId id="273"/>
            <p14:sldId id="274"/>
            <p14:sldId id="320"/>
            <p14:sldId id="275"/>
            <p14:sldId id="290"/>
            <p14:sldId id="276"/>
            <p14:sldId id="291"/>
          </p14:sldIdLst>
        </p14:section>
        <p14:section name="1.Инициация и определение проблемы" id="{63B36C74-A52A-43B9-A873-F159C342F435}">
          <p14:sldIdLst>
            <p14:sldId id="278"/>
            <p14:sldId id="292"/>
            <p14:sldId id="293"/>
            <p14:sldId id="295"/>
            <p14:sldId id="296"/>
            <p14:sldId id="298"/>
            <p14:sldId id="299"/>
            <p14:sldId id="300"/>
            <p14:sldId id="301"/>
          </p14:sldIdLst>
        </p14:section>
        <p14:section name="Заинтересованные стороны" id="{76CB3DAC-B2B2-4F01-AD24-0E56B954E717}">
          <p14:sldIdLst>
            <p14:sldId id="297"/>
            <p14:sldId id="258"/>
            <p14:sldId id="259"/>
            <p14:sldId id="260"/>
            <p14:sldId id="261"/>
            <p14:sldId id="262"/>
            <p14:sldId id="264"/>
            <p14:sldId id="265"/>
          </p14:sldIdLst>
        </p14:section>
        <p14:section name="Анализ степени участия" id="{BA842572-A425-4462-82E6-6EF189E26B2D}">
          <p14:sldIdLst>
            <p14:sldId id="266"/>
            <p14:sldId id="267"/>
            <p14:sldId id="268"/>
            <p14:sldId id="269"/>
            <p14:sldId id="271"/>
            <p14:sldId id="272"/>
            <p14:sldId id="302"/>
            <p14:sldId id="303"/>
            <p14:sldId id="304"/>
            <p14:sldId id="305"/>
            <p14:sldId id="277"/>
            <p14:sldId id="270"/>
            <p14:sldId id="306"/>
            <p14:sldId id="279"/>
            <p14:sldId id="280"/>
            <p14:sldId id="281"/>
            <p14:sldId id="307"/>
            <p14:sldId id="308"/>
            <p14:sldId id="309"/>
            <p14:sldId id="286"/>
            <p14:sldId id="287"/>
            <p14:sldId id="288"/>
            <p14:sldId id="289"/>
          </p14:sldIdLst>
        </p14:section>
        <p14:section name="Оценка готовности организации" id="{873A8B03-BE62-4870-B072-83A8D09EE34B}">
          <p14:sldIdLst>
            <p14:sldId id="310"/>
            <p14:sldId id="311"/>
            <p14:sldId id="312"/>
            <p14:sldId id="313"/>
            <p14:sldId id="294"/>
          </p14:sldIdLst>
        </p14:section>
        <p14:section name="Оформление" id="{3E13C178-37FA-46EB-9381-DC9DBA853591}">
          <p14:sldIdLst>
            <p14:sldId id="314"/>
            <p14:sldId id="322"/>
            <p14:sldId id="345"/>
            <p14:sldId id="346"/>
            <p14:sldId id="347"/>
            <p14:sldId id="348"/>
          </p14:sldIdLst>
        </p14:section>
        <p14:section name="Анализ отчётов и документов компании" id="{84BB5F84-5670-40D4-8269-B56A9A23E1BF}">
          <p14:sldIdLst>
            <p14:sldId id="323"/>
            <p14:sldId id="324"/>
            <p14:sldId id="325"/>
            <p14:sldId id="326"/>
            <p14:sldId id="327"/>
            <p14:sldId id="328"/>
          </p14:sldIdLst>
        </p14:section>
        <p14:section name="Разработка Решения и Поддержка Реализации" id="{93D19C18-F8C2-4A59-911B-339C44D46A32}">
          <p14:sldIdLst>
            <p14:sldId id="329"/>
            <p14:sldId id="330"/>
            <p14:sldId id="331"/>
            <p14:sldId id="332"/>
            <p14:sldId id="333"/>
            <p14:sldId id="334"/>
            <p14:sldId id="361"/>
            <p14:sldId id="362"/>
            <p14:sldId id="335"/>
            <p14:sldId id="336"/>
            <p14:sldId id="363"/>
            <p14:sldId id="337"/>
            <p14:sldId id="338"/>
            <p14:sldId id="364"/>
            <p14:sldId id="339"/>
            <p14:sldId id="340"/>
            <p14:sldId id="341"/>
            <p14:sldId id="342"/>
            <p14:sldId id="343"/>
            <p14:sldId id="344"/>
            <p14:sldId id="353"/>
            <p14:sldId id="349"/>
            <p14:sldId id="350"/>
            <p14:sldId id="351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411" userDrawn="1">
          <p15:clr>
            <a:srgbClr val="A4A3A4"/>
          </p15:clr>
        </p15:guide>
        <p15:guide id="3" pos="5246" userDrawn="1">
          <p15:clr>
            <a:srgbClr val="A4A3A4"/>
          </p15:clr>
        </p15:guide>
        <p15:guide id="4" orient="horz" pos="1275" userDrawn="1">
          <p15:clr>
            <a:srgbClr val="A4A3A4"/>
          </p15:clr>
        </p15:guide>
        <p15:guide id="5" orient="horz" pos="30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юдмила Герськина" initials="ЛГ" lastIdx="3" clrIdx="0">
    <p:extLst>
      <p:ext uri="{19B8F6BF-5375-455C-9EA6-DF929625EA0E}">
        <p15:presenceInfo xmlns:p15="http://schemas.microsoft.com/office/powerpoint/2012/main" userId="672169d4d383a46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46" autoAdjust="0"/>
    <p:restoredTop sz="94660"/>
  </p:normalViewPr>
  <p:slideViewPr>
    <p:cSldViewPr snapToGrid="0">
      <p:cViewPr>
        <p:scale>
          <a:sx n="90" d="100"/>
          <a:sy n="90" d="100"/>
        </p:scale>
        <p:origin x="-60" y="96"/>
      </p:cViewPr>
      <p:guideLst>
        <p:guide orient="horz" pos="2183"/>
        <p:guide pos="2411"/>
        <p:guide pos="5246"/>
        <p:guide orient="horz" pos="1275"/>
        <p:guide orient="horz" pos="306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handoutMaster" Target="handoutMasters/handoutMaster1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E51D080-0FA4-452C-BE9C-57B885F95115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8A2903-BD5A-4833-B0CA-AB5B8165171B}" type="datetime1">
              <a:rPr lang="ru-RU" smtClean="0"/>
              <a:t>12.09.2025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  <a:cs typeface="FreesiaUPC" panose="020B0502040204020203" pitchFamily="34" charset="-34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4DAEB3-2211-4CA3-9D23-0143FCF3926F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289488-0C23-4DC8-A9FA-240659547385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EFA117-2261-4A1D-8BE7-0B7E6A1366C0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9279E9-B6DA-4AB3-A7CE-B748E56BEA69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CF7452-61A3-4CDC-ACAB-74E5B4A7EF57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Номер слайда 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D00952-BE77-47A2-BE29-2226E2D6BB12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D5EF43-AECB-4459-AE90-3AFB54138C76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FD0FAC8F-653F-479B-B209-9F30C9091843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6FD9FC9-5FD1-4E3B-B719-212F55599717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2E9B35-0826-45CC-9C2C-707B22DFAA83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C0063D-EDF2-4190-A726-B9B651F864E7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 dirty="0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ru" dirty="0"/>
              <a:t>Щелкните, чтобы изменить стили текста образца слайда</a:t>
            </a:r>
          </a:p>
          <a:p>
            <a:pPr lvl="1" rtl="0"/>
            <a:r>
              <a:rPr lang="ru" dirty="0"/>
              <a:t>Второй уровень</a:t>
            </a:r>
          </a:p>
          <a:p>
            <a:pPr lvl="2" rtl="0"/>
            <a:r>
              <a:rPr lang="ru" dirty="0"/>
              <a:t>Третий уровень</a:t>
            </a:r>
          </a:p>
          <a:p>
            <a:pPr lvl="3" rtl="0"/>
            <a:r>
              <a:rPr lang="ru" dirty="0"/>
              <a:t>Четвертый уровень</a:t>
            </a:r>
          </a:p>
          <a:p>
            <a:pPr lvl="4" rtl="0"/>
            <a:r>
              <a:rPr lang="ru" dirty="0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428A7F57-8526-4A03-89D8-FFB0245E6649}" type="datetime1">
              <a:rPr lang="ru-RU" smtClean="0"/>
              <a:t>12.09.2025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1715" y="671413"/>
            <a:ext cx="6253317" cy="3686015"/>
          </a:xfrm>
        </p:spPr>
        <p:txBody>
          <a:bodyPr rtlCol="0">
            <a:normAutofit fontScale="90000"/>
          </a:bodyPr>
          <a:lstStyle/>
          <a:p>
            <a:pPr algn="ctr"/>
            <a:r>
              <a:rPr lang="ru" sz="7200" dirty="0">
                <a:solidFill>
                  <a:srgbClr val="002060"/>
                </a:solidFill>
              </a:rPr>
              <a:t>Сбор, анализ и визуализация данных</a:t>
            </a:r>
            <a:br>
              <a:rPr lang="ru" sz="7200" dirty="0">
                <a:solidFill>
                  <a:srgbClr val="002060"/>
                </a:solidFill>
              </a:rPr>
            </a:br>
            <a:r>
              <a:rPr lang="ru" sz="3600" dirty="0">
                <a:solidFill>
                  <a:srgbClr val="002060"/>
                </a:solidFill>
              </a:rPr>
              <a:t>часть2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 lnSpcReduction="10000"/>
          </a:bodyPr>
          <a:lstStyle/>
          <a:p>
            <a:pPr algn="ctr" rtl="0"/>
            <a:r>
              <a:rPr lang="ru-RU" sz="2400" dirty="0">
                <a:solidFill>
                  <a:srgbClr val="002060"/>
                </a:solidFill>
              </a:rPr>
              <a:t>Г</a:t>
            </a:r>
            <a:r>
              <a:rPr lang="ru" sz="2400" dirty="0">
                <a:solidFill>
                  <a:srgbClr val="002060"/>
                </a:solidFill>
              </a:rPr>
              <a:t>ераськина Л.А. </a:t>
            </a:r>
          </a:p>
          <a:p>
            <a:pPr algn="ctr" rtl="0"/>
            <a:r>
              <a:rPr lang="ru" sz="2400" dirty="0">
                <a:solidFill>
                  <a:srgbClr val="002060"/>
                </a:solidFill>
              </a:rPr>
              <a:t>2025</a:t>
            </a:r>
          </a:p>
        </p:txBody>
      </p:sp>
      <p:pic>
        <p:nvPicPr>
          <p:cNvPr id="5" name="Рисунок 4" descr="Изображение здания, места для сидения, скамейки, вид сбоку&#10;&#10;Автоматически созданное описание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84" y="0"/>
            <a:ext cx="4187744" cy="3718703"/>
          </a:xfrm>
          <a:prstGeom prst="rect">
            <a:avLst/>
          </a:prstGeom>
          <a:solidFill>
            <a:srgbClr val="00B0F0"/>
          </a:solidFill>
        </p:spPr>
      </p:pic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74FD572-9B98-BD0B-977D-96F674DEE0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0806" y="2514421"/>
            <a:ext cx="5362083" cy="368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AEA63-6388-7534-AAF4-12BCCAA9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E5D8F-1FFB-97A9-EACE-D17B07125C3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704" y="122182"/>
            <a:ext cx="11621728" cy="549275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  <a:latin typeface="-apple-system"/>
              </a:rPr>
              <a:t> 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D8533C3-C9E5-5578-5C6D-2477F9A436A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9391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37C5D1-9CC0-FFD3-B979-A52E1DA5B50F}"/>
              </a:ext>
            </a:extLst>
          </p:cNvPr>
          <p:cNvSpPr txBox="1"/>
          <p:nvPr/>
        </p:nvSpPr>
        <p:spPr>
          <a:xfrm>
            <a:off x="1517904" y="463188"/>
            <a:ext cx="3480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BZD • </a:t>
            </a:r>
            <a:r>
              <a:rPr lang="ru-RU" dirty="0"/>
              <a:t>Книги для программистов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1A74EB-DE65-E240-3300-C84F36368BE7}"/>
              </a:ext>
            </a:extLst>
          </p:cNvPr>
          <p:cNvSpPr txBox="1"/>
          <p:nvPr/>
        </p:nvSpPr>
        <p:spPr>
          <a:xfrm>
            <a:off x="5440177" y="463188"/>
            <a:ext cx="2432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t.me</a:t>
            </a:r>
            <a:r>
              <a:rPr lang="en-US" dirty="0"/>
              <a:t>/</a:t>
            </a:r>
            <a:r>
              <a:rPr lang="en-US" dirty="0" err="1"/>
              <a:t>bzd_channel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0521399-3F90-C6DE-F5E6-651D14EB0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24" y="369661"/>
            <a:ext cx="721895" cy="57751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D7915B6-B7AD-8F08-EFAD-4019A3266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32" y="1112371"/>
            <a:ext cx="830179" cy="8061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A711F15-F002-BA9E-B475-9F30B9219CD1}"/>
              </a:ext>
            </a:extLst>
          </p:cNvPr>
          <p:cNvSpPr txBox="1"/>
          <p:nvPr/>
        </p:nvSpPr>
        <p:spPr>
          <a:xfrm>
            <a:off x="5427985" y="1146097"/>
            <a:ext cx="2749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t.me</a:t>
            </a:r>
            <a:r>
              <a:rPr lang="en-US" dirty="0"/>
              <a:t>/</a:t>
            </a:r>
            <a:r>
              <a:rPr lang="en-US" dirty="0" err="1"/>
              <a:t>knijnoe_xranilishe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4E7203-36AD-B3D1-FAAD-4914376BF50B}"/>
              </a:ext>
            </a:extLst>
          </p:cNvPr>
          <p:cNvSpPr txBox="1"/>
          <p:nvPr/>
        </p:nvSpPr>
        <p:spPr>
          <a:xfrm>
            <a:off x="1652016" y="1247359"/>
            <a:ext cx="2432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Книжное хранилище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DD6DDEC-D8FC-13C4-3236-6E4FDAB43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36" y="1964651"/>
            <a:ext cx="890337" cy="8301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511A4B7-BB20-FABF-CC07-F7C5A903AABB}"/>
              </a:ext>
            </a:extLst>
          </p:cNvPr>
          <p:cNvSpPr txBox="1"/>
          <p:nvPr/>
        </p:nvSpPr>
        <p:spPr>
          <a:xfrm>
            <a:off x="1712976" y="2137092"/>
            <a:ext cx="2810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Python </a:t>
            </a:r>
            <a:r>
              <a:rPr lang="ru-RU" dirty="0"/>
              <a:t>книги на русском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15513B-2CF2-7092-3818-5D29CF9F3BA7}"/>
              </a:ext>
            </a:extLst>
          </p:cNvPr>
          <p:cNvSpPr txBox="1"/>
          <p:nvPr/>
        </p:nvSpPr>
        <p:spPr>
          <a:xfrm>
            <a:off x="5427985" y="2137092"/>
            <a:ext cx="2288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t.me</a:t>
            </a:r>
            <a:r>
              <a:rPr lang="en-US" dirty="0"/>
              <a:t>/</a:t>
            </a:r>
            <a:r>
              <a:rPr lang="en-US" dirty="0" err="1"/>
              <a:t>pythonknigiru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D6CD4F1-BD8E-F8AD-C877-F471A7859D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79" y="2984620"/>
            <a:ext cx="637674" cy="73392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CD81985-0129-44EA-B056-68FD9308940C}"/>
              </a:ext>
            </a:extLst>
          </p:cNvPr>
          <p:cNvSpPr txBox="1"/>
          <p:nvPr/>
        </p:nvSpPr>
        <p:spPr>
          <a:xfrm>
            <a:off x="1673352" y="3108848"/>
            <a:ext cx="316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Книги по программированию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066C6E-78CB-5D07-DD2E-FCFDA75E0F6A}"/>
              </a:ext>
            </a:extLst>
          </p:cNvPr>
          <p:cNvSpPr txBox="1"/>
          <p:nvPr/>
        </p:nvSpPr>
        <p:spPr>
          <a:xfrm>
            <a:off x="5306065" y="3018509"/>
            <a:ext cx="2924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t.me</a:t>
            </a:r>
            <a:r>
              <a:rPr lang="en-US" dirty="0"/>
              <a:t>/</a:t>
            </a:r>
            <a:r>
              <a:rPr lang="en-US" dirty="0" err="1"/>
              <a:t>python_books_archive</a:t>
            </a:r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8D656C-B463-79F7-39CB-A906745165E5}"/>
              </a:ext>
            </a:extLst>
          </p:cNvPr>
          <p:cNvSpPr txBox="1"/>
          <p:nvPr/>
        </p:nvSpPr>
        <p:spPr>
          <a:xfrm>
            <a:off x="1712975" y="3998581"/>
            <a:ext cx="4240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Pythonist.ru</a:t>
            </a:r>
            <a:r>
              <a:rPr lang="ru-RU" dirty="0"/>
              <a:t> - образование по питону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C593D2-70F5-CC11-EFA8-050CEA05324B}"/>
              </a:ext>
            </a:extLst>
          </p:cNvPr>
          <p:cNvSpPr txBox="1"/>
          <p:nvPr/>
        </p:nvSpPr>
        <p:spPr>
          <a:xfrm>
            <a:off x="6238568" y="3952414"/>
            <a:ext cx="2164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t.me</a:t>
            </a:r>
            <a:r>
              <a:rPr lang="en-US" dirty="0"/>
              <a:t>/</a:t>
            </a:r>
            <a:r>
              <a:rPr lang="en-US" dirty="0" err="1"/>
              <a:t>pythonist_ru</a:t>
            </a:r>
            <a:endParaRPr lang="ru-RU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67982AC-ED80-2CD1-BBDC-7494E7377B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885" y="3894852"/>
            <a:ext cx="637674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6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FB4AB-7213-B9EE-C057-D5AEFA97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3FB7C42F-5788-2BDF-BBCB-17B369FF3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D586B0-66CF-B3F7-2F24-03AA0D1D09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704" y="122182"/>
            <a:ext cx="11621728" cy="549275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  <a:latin typeface="-apple-system"/>
              </a:rPr>
              <a:t> Основные типы преобразований данных 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A0E50E4-BFD1-5D89-0D82-2942B6F715E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8A7B98-CA19-1D5A-A071-78B207E117D7}"/>
              </a:ext>
            </a:extLst>
          </p:cNvPr>
          <p:cNvSpPr txBox="1"/>
          <p:nvPr/>
        </p:nvSpPr>
        <p:spPr>
          <a:xfrm>
            <a:off x="312429" y="871092"/>
            <a:ext cx="47610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b="1" dirty="0">
                <a:solidFill>
                  <a:srgbClr val="C00000"/>
                </a:solidFill>
              </a:rPr>
              <a:t>Очистка данных </a:t>
            </a:r>
            <a:endParaRPr lang="ru-RU" dirty="0">
              <a:solidFill>
                <a:srgbClr val="C0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ru-RU" dirty="0"/>
              <a:t>Обработка пропущенных значений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ru-RU" dirty="0"/>
              <a:t>Удаление дубликатов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ru-RU" dirty="0"/>
              <a:t>Исправление ошибок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ru-RU" dirty="0"/>
              <a:t>Обработка выбросов 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75AF90-9855-0DD9-F211-45E3D9623AD0}"/>
              </a:ext>
            </a:extLst>
          </p:cNvPr>
          <p:cNvSpPr txBox="1"/>
          <p:nvPr/>
        </p:nvSpPr>
        <p:spPr>
          <a:xfrm>
            <a:off x="3528553" y="2206429"/>
            <a:ext cx="39636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Структурные преобразования:</a:t>
            </a:r>
          </a:p>
          <a:p>
            <a:pPr marL="530225" indent="-265113">
              <a:buFont typeface="Wingdings" panose="05000000000000000000" pitchFamily="2" charset="2"/>
              <a:buChar char="ü"/>
            </a:pPr>
            <a:r>
              <a:rPr lang="ru-RU" dirty="0"/>
              <a:t>Изменение формата</a:t>
            </a:r>
          </a:p>
          <a:p>
            <a:pPr marL="530225" indent="-265113">
              <a:buFont typeface="Wingdings" panose="05000000000000000000" pitchFamily="2" charset="2"/>
              <a:buChar char="ü"/>
            </a:pPr>
            <a:r>
              <a:rPr lang="ru-RU" dirty="0"/>
              <a:t>Слияние/соединение данных.</a:t>
            </a:r>
          </a:p>
          <a:p>
            <a:pPr marL="530225" indent="-265113">
              <a:buFont typeface="Wingdings" panose="05000000000000000000" pitchFamily="2" charset="2"/>
              <a:buChar char="ü"/>
            </a:pPr>
            <a:r>
              <a:rPr lang="ru-RU" dirty="0"/>
              <a:t>Разделение данных </a:t>
            </a:r>
          </a:p>
          <a:p>
            <a:pPr marL="530225" indent="-265113">
              <a:buFont typeface="Wingdings" panose="05000000000000000000" pitchFamily="2" charset="2"/>
              <a:buChar char="ü"/>
            </a:pPr>
            <a:r>
              <a:rPr lang="ru-RU" dirty="0"/>
              <a:t>Изменение формы данных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171F72-23E5-21F8-0972-705FB1D6F86D}"/>
              </a:ext>
            </a:extLst>
          </p:cNvPr>
          <p:cNvSpPr txBox="1"/>
          <p:nvPr/>
        </p:nvSpPr>
        <p:spPr>
          <a:xfrm>
            <a:off x="6858112" y="3731687"/>
            <a:ext cx="5191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Изменение значений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ru-RU" dirty="0"/>
              <a:t>Агрегация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ru-RU" dirty="0"/>
              <a:t>Нормализация и стандартизация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ru-RU" dirty="0"/>
              <a:t>Кодирование категориальных признаков </a:t>
            </a:r>
          </a:p>
          <a:p>
            <a:pPr marL="722313" indent="-279400">
              <a:buFont typeface="Wingdings" panose="05000000000000000000" pitchFamily="2" charset="2"/>
              <a:buChar char="ü"/>
            </a:pPr>
            <a:r>
              <a:rPr lang="ru-RU" dirty="0"/>
              <a:t>Применение функций</a:t>
            </a:r>
          </a:p>
        </p:txBody>
      </p:sp>
    </p:spTree>
    <p:extLst>
      <p:ext uri="{BB962C8B-B14F-4D97-AF65-F5344CB8AC3E}">
        <p14:creationId xmlns:p14="http://schemas.microsoft.com/office/powerpoint/2010/main" val="3999865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71E5A-A148-4D49-6E99-959E207C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179AA774-303A-2F9A-3D47-FE8BC1F3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51E14-2050-1AE1-3A26-8CA810A7044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704" y="122182"/>
            <a:ext cx="11621728" cy="549275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  <a:latin typeface="-apple-system"/>
              </a:rPr>
              <a:t> Процедуры отображения 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8F91275-DC15-8175-EA55-20C585DC1F0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CC19F4-14C2-139B-2434-02F759CF1734}"/>
              </a:ext>
            </a:extLst>
          </p:cNvPr>
          <p:cNvSpPr txBox="1"/>
          <p:nvPr/>
        </p:nvSpPr>
        <p:spPr>
          <a:xfrm>
            <a:off x="142570" y="702212"/>
            <a:ext cx="681137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800"/>
              </a:spcBef>
            </a:pPr>
            <a:r>
              <a:rPr lang="ru-RU" b="1" dirty="0">
                <a:solidFill>
                  <a:srgbClr val="C00000"/>
                </a:solidFill>
              </a:rPr>
              <a:t>Текстовое отображение</a:t>
            </a:r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Текстовые редакторы</a:t>
            </a:r>
            <a:r>
              <a:rPr lang="en-US" sz="1600" dirty="0"/>
              <a:t> (Microsoft Word, Google Docs, Notepad).</a:t>
            </a:r>
            <a:endParaRPr lang="ru-RU" sz="1600" dirty="0"/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Веб-браузеры (отображение </a:t>
            </a:r>
            <a:r>
              <a:rPr lang="ru-RU" sz="1600" dirty="0" err="1"/>
              <a:t>HTML</a:t>
            </a:r>
            <a:r>
              <a:rPr lang="ru-RU" sz="1600" dirty="0"/>
              <a:t>-контента).</a:t>
            </a:r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Консоль/Терминал (вывод результатов работы программ).</a:t>
            </a:r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Отчеты в текстовом формате (</a:t>
            </a:r>
            <a:r>
              <a:rPr lang="ru-RU" sz="1600" dirty="0" err="1"/>
              <a:t>TXT</a:t>
            </a:r>
            <a:r>
              <a:rPr lang="ru-RU" sz="1600" dirty="0"/>
              <a:t>, PDF).</a:t>
            </a:r>
            <a:endParaRPr lang="ru-RU" sz="1600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272B7-187E-65DE-B639-2FC67AAF1592}"/>
              </a:ext>
            </a:extLst>
          </p:cNvPr>
          <p:cNvSpPr txBox="1"/>
          <p:nvPr/>
        </p:nvSpPr>
        <p:spPr>
          <a:xfrm>
            <a:off x="2144032" y="2010290"/>
            <a:ext cx="7366819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Графическое отображение</a:t>
            </a:r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 err="1"/>
              <a:t>BI</a:t>
            </a:r>
            <a:r>
              <a:rPr lang="ru-RU" sz="1600" dirty="0"/>
              <a:t>-инструменты (</a:t>
            </a:r>
            <a:r>
              <a:rPr lang="ru-RU" sz="1600" dirty="0" err="1"/>
              <a:t>Tableau</a:t>
            </a:r>
            <a:r>
              <a:rPr lang="ru-RU" sz="1600" dirty="0"/>
              <a:t>, Power </a:t>
            </a:r>
            <a:r>
              <a:rPr lang="ru-RU" sz="1600" dirty="0" err="1"/>
              <a:t>BI</a:t>
            </a:r>
            <a:r>
              <a:rPr lang="ru-RU" sz="1600" dirty="0"/>
              <a:t>, </a:t>
            </a:r>
            <a:r>
              <a:rPr lang="ru-RU" sz="1600" dirty="0" err="1"/>
              <a:t>Qlik</a:t>
            </a:r>
            <a:r>
              <a:rPr lang="ru-RU" sz="1600" dirty="0"/>
              <a:t> </a:t>
            </a:r>
            <a:r>
              <a:rPr lang="ru-RU" sz="1600" dirty="0" err="1"/>
              <a:t>Sense</a:t>
            </a:r>
            <a:r>
              <a:rPr lang="ru-RU" sz="1600" dirty="0"/>
              <a:t>)</a:t>
            </a:r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Библиотеки для визуализации (</a:t>
            </a:r>
            <a:r>
              <a:rPr lang="ru-RU" sz="1600" dirty="0" err="1"/>
              <a:t>Matplotlib</a:t>
            </a:r>
            <a:r>
              <a:rPr lang="ru-RU" sz="1600" dirty="0"/>
              <a:t>, </a:t>
            </a:r>
            <a:r>
              <a:rPr lang="ru-RU" sz="1600" dirty="0" err="1"/>
              <a:t>Seaborn</a:t>
            </a:r>
            <a:r>
              <a:rPr lang="ru-RU" sz="1600" dirty="0"/>
              <a:t>, </a:t>
            </a:r>
            <a:r>
              <a:rPr lang="ru-RU" sz="1600" dirty="0" err="1"/>
              <a:t>Plotly</a:t>
            </a:r>
            <a:r>
              <a:rPr lang="ru-RU" sz="1600" dirty="0"/>
              <a:t> в Python).</a:t>
            </a:r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Графические редакторы</a:t>
            </a:r>
            <a:r>
              <a:rPr lang="en-US" sz="1600" dirty="0"/>
              <a:t> (Adobe Photoshop, Illustrator, GIMP).</a:t>
            </a:r>
            <a:endParaRPr lang="ru-RU" sz="1600" dirty="0"/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Инструменты для создания схем (</a:t>
            </a:r>
            <a:r>
              <a:rPr lang="ru-RU" sz="1600" dirty="0" err="1"/>
              <a:t>Visio</a:t>
            </a:r>
            <a:r>
              <a:rPr lang="ru-RU" sz="1600" dirty="0"/>
              <a:t>, </a:t>
            </a:r>
            <a:r>
              <a:rPr lang="ru-RU" sz="1600" dirty="0" err="1"/>
              <a:t>Lucidchart</a:t>
            </a:r>
            <a:r>
              <a:rPr lang="ru-RU" sz="1600" dirty="0"/>
              <a:t>).</a:t>
            </a:r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Веб-технологии: </a:t>
            </a:r>
            <a:r>
              <a:rPr lang="ru-RU" sz="1600" dirty="0" err="1"/>
              <a:t>HTML5</a:t>
            </a:r>
            <a:r>
              <a:rPr lang="ru-RU" sz="1600" dirty="0"/>
              <a:t> </a:t>
            </a:r>
            <a:r>
              <a:rPr lang="ru-RU" sz="1600" dirty="0" err="1"/>
              <a:t>Canvas</a:t>
            </a:r>
            <a:r>
              <a:rPr lang="ru-RU" sz="1600" dirty="0"/>
              <a:t>, </a:t>
            </a:r>
            <a:r>
              <a:rPr lang="ru-RU" sz="1600" dirty="0" err="1"/>
              <a:t>SVG</a:t>
            </a:r>
            <a:r>
              <a:rPr lang="ru-RU" sz="1600" dirty="0"/>
              <a:t>.</a:t>
            </a:r>
          </a:p>
          <a:p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10BC97-74EF-A6E6-8338-302D40C3B054}"/>
              </a:ext>
            </a:extLst>
          </p:cNvPr>
          <p:cNvSpPr txBox="1"/>
          <p:nvPr/>
        </p:nvSpPr>
        <p:spPr>
          <a:xfrm>
            <a:off x="5416343" y="3509498"/>
            <a:ext cx="7517991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 Аудио- и Видео- отображение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Аудиоплееры</a:t>
            </a:r>
            <a:r>
              <a:rPr lang="en-US" sz="1600" dirty="0"/>
              <a:t> (VLC, Windows Media Player, iTunes).</a:t>
            </a:r>
            <a:endParaRPr lang="ru-RU" sz="1600" dirty="0"/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Видеопроигрыватели 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Технологии веб-стриминга.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Программы для редактирования аудио/видео (Adobe Premiere Pro).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Технологии для видеоконференций (Zoom, Skype).</a:t>
            </a:r>
          </a:p>
          <a:p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449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A3E4-6EF2-7397-BA53-E49B682BC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145ECD16-D1ED-C72C-BD4D-D4EA286DE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3CE5DE-5706-F0DF-2DA0-918986FE6B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704" y="122182"/>
            <a:ext cx="11621728" cy="549275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>
                <a:solidFill>
                  <a:srgbClr val="002060"/>
                </a:solidFill>
                <a:latin typeface="-apple-system"/>
              </a:rPr>
              <a:t> Работа с графическими данными.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85FCA06-62A2-E6F0-CD61-EFFC1929305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ED447856-EE59-4717-1663-43E84D61FD5E}"/>
              </a:ext>
            </a:extLst>
          </p:cNvPr>
          <p:cNvGraphicFramePr>
            <a:graphicFrameLocks noGrp="1"/>
          </p:cNvGraphicFramePr>
          <p:nvPr/>
        </p:nvGraphicFramePr>
        <p:xfrm>
          <a:off x="427704" y="873499"/>
          <a:ext cx="11429436" cy="5061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>
                  <a:extLst>
                    <a:ext uri="{9D8B030D-6E8A-4147-A177-3AD203B41FA5}">
                      <a16:colId xmlns:a16="http://schemas.microsoft.com/office/drawing/2014/main" val="211178209"/>
                    </a:ext>
                  </a:extLst>
                </a:gridCol>
                <a:gridCol w="5191432">
                  <a:extLst>
                    <a:ext uri="{9D8B030D-6E8A-4147-A177-3AD203B41FA5}">
                      <a16:colId xmlns:a16="http://schemas.microsoft.com/office/drawing/2014/main" val="1711955599"/>
                    </a:ext>
                  </a:extLst>
                </a:gridCol>
                <a:gridCol w="4586185">
                  <a:extLst>
                    <a:ext uri="{9D8B030D-6E8A-4147-A177-3AD203B41FA5}">
                      <a16:colId xmlns:a16="http://schemas.microsoft.com/office/drawing/2014/main" val="4100163952"/>
                    </a:ext>
                  </a:extLst>
                </a:gridCol>
              </a:tblGrid>
              <a:tr h="343132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Векторный метод отображения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Растровый метод отображения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16292"/>
                  </a:ext>
                </a:extLst>
              </a:tr>
              <a:tr h="1297723">
                <a:tc>
                  <a:txBody>
                    <a:bodyPr/>
                    <a:lstStyle/>
                    <a:p>
                      <a:r>
                        <a:rPr lang="ru-RU" sz="1600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описывает изображения с помощью математических объектов — </a:t>
                      </a: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векторов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Изображение состоит из точек, линий, кривых, многоугольников, которые определяются своими геометрическими свойствами: положением, длиной, углом, цветом заливки и обводки.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графика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представляет изображение как сетку </a:t>
                      </a:r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пикселей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(точек). Каждый пиксель имеет свой цвет и положение на этой сетке.</a:t>
                      </a:r>
                    </a:p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985222"/>
                  </a:ext>
                </a:extLst>
              </a:tr>
              <a:tr h="1000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Преимущества</a:t>
                      </a:r>
                      <a:endParaRPr lang="ru-RU" sz="1600" b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600" b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Масштабируемость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600" b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Малый размер файла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600" b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Легкость редактирования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600" b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Четкие края </a:t>
                      </a:r>
                      <a:endParaRPr lang="ru-RU" sz="1600" b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600" b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Фотореалистичность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600" b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Широкая поддержка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600" b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Большой выбор инструментов</a:t>
                      </a:r>
                      <a:endParaRPr lang="ru-RU" sz="1600" b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931523"/>
                  </a:ext>
                </a:extLst>
              </a:tr>
              <a:tr h="1253766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6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Недостатки</a:t>
                      </a:r>
                      <a:endParaRPr lang="ru-RU" sz="1600" b="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подходит для фотореалистичных изображений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Требует специальных программ</a:t>
                      </a:r>
                      <a:endParaRPr lang="ru-RU" sz="1600" b="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Плохая масштабируемость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Большой размер файла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Сложность редактирования отдельных элементов</a:t>
                      </a:r>
                      <a:endParaRPr lang="ru-RU" sz="1600" b="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719498"/>
                  </a:ext>
                </a:extLst>
              </a:tr>
              <a:tr h="820716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Форматы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SVG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CDR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EPS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PDF </a:t>
                      </a:r>
                      <a:endParaRPr lang="ru-RU" sz="1600" b="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Tx/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JPEG, PNG, GIF, BMP, TIFF, PSD </a:t>
                      </a:r>
                      <a:endParaRPr lang="ru-RU" sz="1600" b="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51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589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282EA-5939-6786-E829-B2B5E674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D9ECA2D2-C9F2-E847-5A9F-2D4442CEE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C6FC614-BD3C-F957-21FE-D2D06E397B1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4472CE-8B52-AE19-204B-243072421514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Выбор хранимых данных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8EA8B-2CDA-CA0A-F2A0-F560D981AAF8}"/>
              </a:ext>
            </a:extLst>
          </p:cNvPr>
          <p:cNvSpPr txBox="1"/>
          <p:nvPr/>
        </p:nvSpPr>
        <p:spPr>
          <a:xfrm>
            <a:off x="560439" y="621942"/>
            <a:ext cx="11297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Это процесс определения того, какая информация является ценной, нужной и актуальной для хранения и дальнейшего использования в организации, и в каком виде эту информацию следует фиксировать.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F7781B-4565-5398-0E88-E34562D86724}"/>
              </a:ext>
            </a:extLst>
          </p:cNvPr>
          <p:cNvSpPr txBox="1"/>
          <p:nvPr/>
        </p:nvSpPr>
        <p:spPr>
          <a:xfrm>
            <a:off x="7149363" y="1602721"/>
            <a:ext cx="36539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Важно: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Эффективность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Актуальность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Целенаправленность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Соответствие законодательству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B5E33E-5DA6-0442-0C06-446A710C9291}"/>
              </a:ext>
            </a:extLst>
          </p:cNvPr>
          <p:cNvSpPr txBox="1"/>
          <p:nvPr/>
        </p:nvSpPr>
        <p:spPr>
          <a:xfrm>
            <a:off x="1488375" y="1602721"/>
            <a:ext cx="47206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Критерии выбора: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Релевантность бизнес-целям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Необходимость для принятия решений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Требования к анализу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Правовые и нормативные требования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Потенциальная ценность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Стоимость хранения и поддержки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Качество данных: 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782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2CCE-7E0E-DE51-E950-D6A01081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B5945EEC-4B5B-5D21-DA10-FAAE9FAD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8A00F85-D3AC-8464-1F57-3408C156075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4539E2-687F-27D7-E13D-9444CABC9CC4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Этапы обработки данных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2CFABD-CCF2-4B6B-F0AD-278C40F1C8EC}"/>
              </a:ext>
            </a:extLst>
          </p:cNvPr>
          <p:cNvSpPr txBox="1"/>
          <p:nvPr/>
        </p:nvSpPr>
        <p:spPr>
          <a:xfrm>
            <a:off x="191730" y="856952"/>
            <a:ext cx="4720696" cy="369331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Входные данные :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lvl="1"/>
            <a:r>
              <a:rPr lang="ru-RU" dirty="0"/>
              <a:t>Это сырые данные, которые поступают в систему или на вход определенной процедуры/алгоритма.</a:t>
            </a:r>
          </a:p>
          <a:p>
            <a:pPr lvl="1"/>
            <a:endParaRPr lang="ru-RU" dirty="0"/>
          </a:p>
          <a:p>
            <a:pPr lvl="1"/>
            <a:r>
              <a:rPr lang="ru-RU" dirty="0"/>
              <a:t>Они могут быть в любой форме — от пользовательского ввода до файлов, получаемых от других систем.</a:t>
            </a:r>
          </a:p>
          <a:p>
            <a:pPr lvl="1"/>
            <a:endParaRPr lang="ru-RU" dirty="0"/>
          </a:p>
          <a:p>
            <a:pPr lvl="1"/>
            <a:r>
              <a:rPr lang="ru-RU" b="1" dirty="0"/>
              <a:t>Примеры: </a:t>
            </a:r>
            <a:r>
              <a:rPr lang="ru-RU" dirty="0"/>
              <a:t>введенные пользователем данные в форму, загруженный файл, показания сенсора.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6816C-73A4-B0A7-3D13-78B847DE1DD3}"/>
              </a:ext>
            </a:extLst>
          </p:cNvPr>
          <p:cNvSpPr txBox="1"/>
          <p:nvPr/>
        </p:nvSpPr>
        <p:spPr>
          <a:xfrm>
            <a:off x="5751871" y="856952"/>
            <a:ext cx="62794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Промежуточные данные :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lvl="1"/>
            <a:r>
              <a:rPr lang="ru-RU" dirty="0"/>
              <a:t>Это данные, которые генерируются и используются в процессе обработки, но не являются конечным результатом.</a:t>
            </a:r>
          </a:p>
          <a:p>
            <a:pPr lvl="1"/>
            <a:endParaRPr lang="ru-RU" dirty="0"/>
          </a:p>
          <a:p>
            <a:pPr lvl="1"/>
            <a:r>
              <a:rPr lang="ru-RU" dirty="0"/>
              <a:t>Они могут быть результатом одного шага обработки и служить входными данными для следующего.</a:t>
            </a:r>
          </a:p>
          <a:p>
            <a:pPr lvl="1"/>
            <a:endParaRPr lang="ru-RU" dirty="0"/>
          </a:p>
          <a:p>
            <a:pPr lvl="1"/>
            <a:r>
              <a:rPr lang="ru-RU" dirty="0"/>
              <a:t>Эти данные часто хранятся временно и могут не сохраняться после завершения процесса.</a:t>
            </a:r>
          </a:p>
          <a:p>
            <a:pPr lvl="1"/>
            <a:endParaRPr lang="ru-RU" dirty="0"/>
          </a:p>
          <a:p>
            <a:pPr lvl="1"/>
            <a:r>
              <a:rPr lang="ru-RU" b="1" dirty="0"/>
              <a:t>Примеры: </a:t>
            </a:r>
            <a:r>
              <a:rPr lang="ru-RU" dirty="0"/>
              <a:t>результаты сортировки перед выборкой, временные таблицы в SQL-запросе, отфильтрованные данные перед агрегацией, промежуточные результаты вычислений.</a:t>
            </a:r>
          </a:p>
        </p:txBody>
      </p:sp>
      <p:sp>
        <p:nvSpPr>
          <p:cNvPr id="2" name="Стрелка: вправо 1">
            <a:extLst>
              <a:ext uri="{FF2B5EF4-FFF2-40B4-BE49-F238E27FC236}">
                <a16:creationId xmlns:a16="http://schemas.microsoft.com/office/drawing/2014/main" id="{65D27590-6491-9807-AEB3-B7895655E2C0}"/>
              </a:ext>
            </a:extLst>
          </p:cNvPr>
          <p:cNvSpPr/>
          <p:nvPr/>
        </p:nvSpPr>
        <p:spPr>
          <a:xfrm>
            <a:off x="4912426" y="2703611"/>
            <a:ext cx="1311393" cy="939241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convex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9611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E27EA-F39E-379E-B35F-1D52B605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88864ED8-73E6-9D73-B1AD-5AEBD307C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1FA18E3-C52C-9197-D744-49D0223742B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241C66-FFC8-5613-938F-4A9C5B032D81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Цикл жизни данных в системе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43BBF-6562-8F20-B699-6BB9E621E70C}"/>
              </a:ext>
            </a:extLst>
          </p:cNvPr>
          <p:cNvSpPr txBox="1"/>
          <p:nvPr/>
        </p:nvSpPr>
        <p:spPr>
          <a:xfrm>
            <a:off x="560439" y="621942"/>
            <a:ext cx="11297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Это процесс определения того, какая информация является ценной, нужной и актуальной для хранения и дальнейшего использования в организации, и в каком виде эту информацию следует фиксировать.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5574D-462A-584A-FFB9-CD000EB6E5FD}"/>
              </a:ext>
            </a:extLst>
          </p:cNvPr>
          <p:cNvSpPr txBox="1"/>
          <p:nvPr/>
        </p:nvSpPr>
        <p:spPr>
          <a:xfrm>
            <a:off x="3827463" y="2499994"/>
            <a:ext cx="36539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Процесс Хранения 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Выбор структуры хранения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Размещение данных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Индексация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Резервное копирование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Архивирование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15AC8-CBF2-0361-0594-11B54400B95A}"/>
              </a:ext>
            </a:extLst>
          </p:cNvPr>
          <p:cNvSpPr txBox="1"/>
          <p:nvPr/>
        </p:nvSpPr>
        <p:spPr>
          <a:xfrm>
            <a:off x="560439" y="3429000"/>
            <a:ext cx="47206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Процесс Создания 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Сбор данных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Преобразование данных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Формирование </a:t>
            </a:r>
          </a:p>
          <a:p>
            <a:pPr marL="265113" lvl="0"/>
            <a:r>
              <a:rPr lang="ru-RU" dirty="0"/>
              <a:t>элементов данных.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Ввод в систему: 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CA977E-14CB-E9AD-A4B5-1F3AFE520F3E}"/>
              </a:ext>
            </a:extLst>
          </p:cNvPr>
          <p:cNvSpPr txBox="1"/>
          <p:nvPr/>
        </p:nvSpPr>
        <p:spPr>
          <a:xfrm>
            <a:off x="7241817" y="1414769"/>
            <a:ext cx="39931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Процесс Поддержания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Обновление данных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Удаление данных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Добавление новых данных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Обеспечение целостности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dirty="0"/>
              <a:t>Оптимизация производительности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Аудит и мониторинг</a:t>
            </a:r>
            <a:r>
              <a:rPr lang="ru-RU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FEFF2D0-94EB-2416-AEA0-E653419D3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87" y="1477752"/>
            <a:ext cx="13008077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67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CD362-633D-CDD6-7E5B-4C03363BA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Овал 29">
            <a:extLst>
              <a:ext uri="{FF2B5EF4-FFF2-40B4-BE49-F238E27FC236}">
                <a16:creationId xmlns:a16="http://schemas.microsoft.com/office/drawing/2014/main" id="{0B41F9AA-2B7B-379E-E4E1-2F7B67FF6C3E}"/>
              </a:ext>
            </a:extLst>
          </p:cNvPr>
          <p:cNvSpPr/>
          <p:nvPr/>
        </p:nvSpPr>
        <p:spPr>
          <a:xfrm>
            <a:off x="3827463" y="1337495"/>
            <a:ext cx="2986868" cy="30587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Данные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708388-378C-7818-B81E-E1505336E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F2B40CD-0CDB-00FC-CF29-F45D0ACDC11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6482E-FC2F-6A7F-D064-7A43D02688E8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Этапы обработки данных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6F5375-499F-FDF4-26AB-DB3C511A0CA4}"/>
              </a:ext>
            </a:extLst>
          </p:cNvPr>
          <p:cNvSpPr txBox="1"/>
          <p:nvPr/>
        </p:nvSpPr>
        <p:spPr>
          <a:xfrm>
            <a:off x="5029854" y="825519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1. Сбор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BB44CA-E627-3579-0A7A-DCF94C509DAE}"/>
              </a:ext>
            </a:extLst>
          </p:cNvPr>
          <p:cNvSpPr txBox="1"/>
          <p:nvPr/>
        </p:nvSpPr>
        <p:spPr>
          <a:xfrm>
            <a:off x="6417301" y="1383127"/>
            <a:ext cx="1240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2. </a:t>
            </a:r>
            <a:r>
              <a:rPr lang="ru-RU" b="1" dirty="0">
                <a:solidFill>
                  <a:srgbClr val="002060"/>
                </a:solidFill>
              </a:rPr>
              <a:t>Очистка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31AB3F-1B71-3A1E-D642-1D14D7CE3CDF}"/>
              </a:ext>
            </a:extLst>
          </p:cNvPr>
          <p:cNvSpPr txBox="1"/>
          <p:nvPr/>
        </p:nvSpPr>
        <p:spPr>
          <a:xfrm>
            <a:off x="6851129" y="3453826"/>
            <a:ext cx="1652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4. Интеграция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1139A9-6B4B-5CC6-351A-604037F4FA1A}"/>
              </a:ext>
            </a:extLst>
          </p:cNvPr>
          <p:cNvSpPr txBox="1"/>
          <p:nvPr/>
        </p:nvSpPr>
        <p:spPr>
          <a:xfrm>
            <a:off x="6973488" y="2332018"/>
            <a:ext cx="219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3. Преобразование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54243D-D940-4AF1-F4BD-B28FFC997820}"/>
              </a:ext>
            </a:extLst>
          </p:cNvPr>
          <p:cNvSpPr txBox="1"/>
          <p:nvPr/>
        </p:nvSpPr>
        <p:spPr>
          <a:xfrm>
            <a:off x="5980211" y="4291811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5. Хранение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E935FC-6456-67CB-5A51-71CE655E4F9D}"/>
              </a:ext>
            </a:extLst>
          </p:cNvPr>
          <p:cNvSpPr txBox="1"/>
          <p:nvPr/>
        </p:nvSpPr>
        <p:spPr>
          <a:xfrm>
            <a:off x="2193751" y="3552290"/>
            <a:ext cx="1853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7. Визуализация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C990D5-7965-C93E-9BEA-7980D3C80D9F}"/>
              </a:ext>
            </a:extLst>
          </p:cNvPr>
          <p:cNvSpPr txBox="1"/>
          <p:nvPr/>
        </p:nvSpPr>
        <p:spPr>
          <a:xfrm>
            <a:off x="4502011" y="4461427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6. Анализ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D195EC-1F77-F1F2-8E95-1345847657FC}"/>
              </a:ext>
            </a:extLst>
          </p:cNvPr>
          <p:cNvSpPr txBox="1"/>
          <p:nvPr/>
        </p:nvSpPr>
        <p:spPr>
          <a:xfrm>
            <a:off x="3005817" y="891509"/>
            <a:ext cx="1701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9. </a:t>
            </a:r>
            <a:r>
              <a:rPr lang="ru-RU" b="1" dirty="0">
                <a:solidFill>
                  <a:srgbClr val="002060"/>
                </a:solidFill>
              </a:rPr>
              <a:t>Мониторинг </a:t>
            </a:r>
          </a:p>
          <a:p>
            <a:r>
              <a:rPr lang="ru-RU" b="1" dirty="0">
                <a:solidFill>
                  <a:srgbClr val="002060"/>
                </a:solidFill>
              </a:rPr>
              <a:t>и поддержка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E33EFF-9719-03E7-1443-AA82F24CB31B}"/>
              </a:ext>
            </a:extLst>
          </p:cNvPr>
          <p:cNvSpPr txBox="1"/>
          <p:nvPr/>
        </p:nvSpPr>
        <p:spPr>
          <a:xfrm>
            <a:off x="1607160" y="2016405"/>
            <a:ext cx="2324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8. Интерпретация</a:t>
            </a:r>
          </a:p>
          <a:p>
            <a:r>
              <a:rPr lang="ru-RU" b="1" dirty="0">
                <a:solidFill>
                  <a:srgbClr val="002060"/>
                </a:solidFill>
              </a:rPr>
              <a:t>и принятие решений </a:t>
            </a:r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6710B93E-2D09-7D71-B4C9-77660CE52A1D}"/>
              </a:ext>
            </a:extLst>
          </p:cNvPr>
          <p:cNvSpPr/>
          <p:nvPr/>
        </p:nvSpPr>
        <p:spPr>
          <a:xfrm rot="1603262">
            <a:off x="5581903" y="1379173"/>
            <a:ext cx="797150" cy="2373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: вправо 20">
            <a:extLst>
              <a:ext uri="{FF2B5EF4-FFF2-40B4-BE49-F238E27FC236}">
                <a16:creationId xmlns:a16="http://schemas.microsoft.com/office/drawing/2014/main" id="{4A3A190A-D769-26F7-010A-538ED7C933FB}"/>
              </a:ext>
            </a:extLst>
          </p:cNvPr>
          <p:cNvSpPr/>
          <p:nvPr/>
        </p:nvSpPr>
        <p:spPr>
          <a:xfrm rot="3799831">
            <a:off x="6281116" y="2083330"/>
            <a:ext cx="797150" cy="2373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: вправо 21">
            <a:extLst>
              <a:ext uri="{FF2B5EF4-FFF2-40B4-BE49-F238E27FC236}">
                <a16:creationId xmlns:a16="http://schemas.microsoft.com/office/drawing/2014/main" id="{48044BDD-FBC2-0B68-8576-6548634FAB18}"/>
              </a:ext>
            </a:extLst>
          </p:cNvPr>
          <p:cNvSpPr/>
          <p:nvPr/>
        </p:nvSpPr>
        <p:spPr>
          <a:xfrm rot="5962889">
            <a:off x="6407843" y="2995947"/>
            <a:ext cx="797150" cy="2373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: вправо 22">
            <a:extLst>
              <a:ext uri="{FF2B5EF4-FFF2-40B4-BE49-F238E27FC236}">
                <a16:creationId xmlns:a16="http://schemas.microsoft.com/office/drawing/2014/main" id="{7AAB3D89-6AEA-14E9-8CD9-B8F05AF0091D}"/>
              </a:ext>
            </a:extLst>
          </p:cNvPr>
          <p:cNvSpPr/>
          <p:nvPr/>
        </p:nvSpPr>
        <p:spPr>
          <a:xfrm rot="7868597">
            <a:off x="6018726" y="3810731"/>
            <a:ext cx="797150" cy="2438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: вправо 23">
            <a:extLst>
              <a:ext uri="{FF2B5EF4-FFF2-40B4-BE49-F238E27FC236}">
                <a16:creationId xmlns:a16="http://schemas.microsoft.com/office/drawing/2014/main" id="{1EE8C75A-BF21-0905-1B18-4EFA47BC42BE}"/>
              </a:ext>
            </a:extLst>
          </p:cNvPr>
          <p:cNvSpPr/>
          <p:nvPr/>
        </p:nvSpPr>
        <p:spPr>
          <a:xfrm rot="10362253">
            <a:off x="5132172" y="4265882"/>
            <a:ext cx="797150" cy="2373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: вправо 24">
            <a:extLst>
              <a:ext uri="{FF2B5EF4-FFF2-40B4-BE49-F238E27FC236}">
                <a16:creationId xmlns:a16="http://schemas.microsoft.com/office/drawing/2014/main" id="{384259B5-EB7D-60BF-790F-52D5336EAE0D}"/>
              </a:ext>
            </a:extLst>
          </p:cNvPr>
          <p:cNvSpPr/>
          <p:nvPr/>
        </p:nvSpPr>
        <p:spPr>
          <a:xfrm rot="13199426">
            <a:off x="4073414" y="3953081"/>
            <a:ext cx="797150" cy="2373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Стрелка: вправо 26">
            <a:extLst>
              <a:ext uri="{FF2B5EF4-FFF2-40B4-BE49-F238E27FC236}">
                <a16:creationId xmlns:a16="http://schemas.microsoft.com/office/drawing/2014/main" id="{8B1B5BEB-455A-ACE1-62F9-9A9FB41CCA75}"/>
              </a:ext>
            </a:extLst>
          </p:cNvPr>
          <p:cNvSpPr/>
          <p:nvPr/>
        </p:nvSpPr>
        <p:spPr>
          <a:xfrm rot="15850396">
            <a:off x="3533260" y="3007672"/>
            <a:ext cx="797150" cy="2373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: вправо 27">
            <a:extLst>
              <a:ext uri="{FF2B5EF4-FFF2-40B4-BE49-F238E27FC236}">
                <a16:creationId xmlns:a16="http://schemas.microsoft.com/office/drawing/2014/main" id="{686763E9-D4ED-5715-1986-DF1E13F93713}"/>
              </a:ext>
            </a:extLst>
          </p:cNvPr>
          <p:cNvSpPr/>
          <p:nvPr/>
        </p:nvSpPr>
        <p:spPr>
          <a:xfrm rot="18473984">
            <a:off x="3819989" y="1861801"/>
            <a:ext cx="797150" cy="2373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елка: вправо 28">
            <a:extLst>
              <a:ext uri="{FF2B5EF4-FFF2-40B4-BE49-F238E27FC236}">
                <a16:creationId xmlns:a16="http://schemas.microsoft.com/office/drawing/2014/main" id="{79AFE3A1-FBBD-561B-0A1F-C38AB0424858}"/>
              </a:ext>
            </a:extLst>
          </p:cNvPr>
          <p:cNvSpPr/>
          <p:nvPr/>
        </p:nvSpPr>
        <p:spPr>
          <a:xfrm rot="20856128">
            <a:off x="4631279" y="1340091"/>
            <a:ext cx="797150" cy="2373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545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C07B8-05FF-50A4-C590-8D9CF6F3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B4117028-F68A-6755-9444-67437EB4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65758E3-586C-C29B-5AEF-590837119F4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75DF34-319A-29F3-C07D-CAF32153102D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Этапы обработки данных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06AED2-112C-3ECC-35AD-826B67D87E56}"/>
              </a:ext>
            </a:extLst>
          </p:cNvPr>
          <p:cNvSpPr txBox="1"/>
          <p:nvPr/>
        </p:nvSpPr>
        <p:spPr>
          <a:xfrm>
            <a:off x="190495" y="569257"/>
            <a:ext cx="3635733" cy="236988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solidFill>
                  <a:srgbClr val="C00000"/>
                </a:solidFill>
              </a:rPr>
              <a:t>Сбор данных </a:t>
            </a:r>
          </a:p>
          <a:p>
            <a:pPr marL="342900" indent="-342900">
              <a:buAutoNum type="arabicPeriod"/>
            </a:pPr>
            <a:endParaRPr lang="ru-RU" b="1" dirty="0">
              <a:solidFill>
                <a:srgbClr val="C00000"/>
              </a:solidFill>
            </a:endParaRPr>
          </a:p>
          <a:p>
            <a:pPr marL="354013" lvl="1" indent="-177800">
              <a:buFont typeface="Wingdings" panose="05000000000000000000" pitchFamily="2" charset="2"/>
              <a:buChar char="ü"/>
            </a:pPr>
            <a:r>
              <a:rPr lang="ru-RU" sz="1600" dirty="0"/>
              <a:t>Определение необходимых данных.</a:t>
            </a:r>
          </a:p>
          <a:p>
            <a:pPr marL="354013" lvl="1" indent="-177800">
              <a:buFont typeface="Wingdings" panose="05000000000000000000" pitchFamily="2" charset="2"/>
              <a:buChar char="ü"/>
            </a:pPr>
            <a:r>
              <a:rPr lang="ru-RU" sz="1600" dirty="0"/>
              <a:t>Выбор методов сбора </a:t>
            </a:r>
          </a:p>
          <a:p>
            <a:pPr marL="176213" lvl="1"/>
            <a:r>
              <a:rPr lang="ru-RU" sz="1600" dirty="0"/>
              <a:t>(автоматический, ручной, парсинг).</a:t>
            </a:r>
          </a:p>
          <a:p>
            <a:pPr marL="354013" lvl="1" indent="-177800">
              <a:buFont typeface="Wingdings" panose="05000000000000000000" pitchFamily="2" charset="2"/>
              <a:buChar char="ü"/>
            </a:pPr>
            <a:r>
              <a:rPr lang="ru-RU" sz="1600" dirty="0"/>
              <a:t>Обеспечение полноты и релевантности собираемой информации.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FD000-EAD1-007C-029E-824FA3A80BC4}"/>
              </a:ext>
            </a:extLst>
          </p:cNvPr>
          <p:cNvSpPr txBox="1"/>
          <p:nvPr/>
        </p:nvSpPr>
        <p:spPr>
          <a:xfrm>
            <a:off x="3569110" y="651122"/>
            <a:ext cx="401894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2. </a:t>
            </a:r>
            <a:r>
              <a:rPr lang="ru-RU" b="1" dirty="0">
                <a:solidFill>
                  <a:srgbClr val="C00000"/>
                </a:solidFill>
              </a:rPr>
              <a:t>Очистка: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Обработка пропущенных значений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Удаление дубликатов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Коррекция ошибок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Обработка выбросов (аномалий)</a:t>
            </a:r>
          </a:p>
          <a:p>
            <a:pPr marL="442913" indent="-266700">
              <a:buFont typeface="Wingdings" panose="05000000000000000000" pitchFamily="2" charset="2"/>
              <a:buChar char="ü"/>
            </a:pPr>
            <a:r>
              <a:rPr lang="ru-RU" sz="1600" dirty="0"/>
              <a:t>Стандартизация форматов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FDABA-13A1-552D-BEBE-3A3642B74E26}"/>
              </a:ext>
            </a:extLst>
          </p:cNvPr>
          <p:cNvSpPr txBox="1"/>
          <p:nvPr/>
        </p:nvSpPr>
        <p:spPr>
          <a:xfrm>
            <a:off x="7734169" y="563594"/>
            <a:ext cx="4266101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3. Преобразование</a:t>
            </a:r>
          </a:p>
          <a:p>
            <a:endParaRPr lang="ru-RU" sz="1800" b="1" dirty="0">
              <a:solidFill>
                <a:srgbClr val="C00000"/>
              </a:solidFill>
              <a:effectLst/>
              <a:ea typeface="Calibri" panose="020F0502020204030204" pitchFamily="34" charset="0"/>
            </a:endParaRP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Нормализация/Стандартизация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Агрегация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Детализация/Развертывание 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Объединение/Слияние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Создание новых признаков 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Кодирование категориальных признаков</a:t>
            </a:r>
          </a:p>
          <a:p>
            <a:pPr marL="442913" lvl="1" indent="-266700">
              <a:buFont typeface="Wingdings" panose="05000000000000000000" pitchFamily="2" charset="2"/>
              <a:buChar char="ü"/>
            </a:pPr>
            <a:r>
              <a:rPr lang="ru-RU" sz="1600" dirty="0"/>
              <a:t>Изменение формы данных </a:t>
            </a:r>
            <a:r>
              <a:rPr lang="ru-RU" sz="16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endParaRPr lang="ru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D4C43E-36CB-EBAC-D664-0E2EC715A025}"/>
              </a:ext>
            </a:extLst>
          </p:cNvPr>
          <p:cNvSpPr txBox="1"/>
          <p:nvPr/>
        </p:nvSpPr>
        <p:spPr>
          <a:xfrm>
            <a:off x="3111910" y="3044271"/>
            <a:ext cx="447614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5. Хранение 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530225" indent="-265113">
              <a:buFont typeface="Wingdings" panose="05000000000000000000" pitchFamily="2" charset="2"/>
              <a:buChar char="ü"/>
            </a:pPr>
            <a:r>
              <a:rPr lang="ru-RU" sz="1600" dirty="0"/>
              <a:t>Выбор подходящей структуры хранения.</a:t>
            </a:r>
          </a:p>
          <a:p>
            <a:pPr marL="530225" indent="-265113">
              <a:buFont typeface="Wingdings" panose="05000000000000000000" pitchFamily="2" charset="2"/>
              <a:buChar char="ü"/>
            </a:pPr>
            <a:r>
              <a:rPr lang="ru-RU" sz="1600" dirty="0"/>
              <a:t>Обеспечение надежности и доступности.</a:t>
            </a:r>
          </a:p>
          <a:p>
            <a:pPr marL="530225" indent="-265113">
              <a:buFont typeface="Wingdings" panose="05000000000000000000" pitchFamily="2" charset="2"/>
              <a:buChar char="ü"/>
            </a:pPr>
            <a:r>
              <a:rPr lang="ru-RU" sz="1600" dirty="0"/>
              <a:t>Создание индексов для ускорения доступа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E3083-925A-EF3A-B47C-04C6AF503B49}"/>
              </a:ext>
            </a:extLst>
          </p:cNvPr>
          <p:cNvSpPr txBox="1"/>
          <p:nvPr/>
        </p:nvSpPr>
        <p:spPr>
          <a:xfrm>
            <a:off x="7884579" y="3108919"/>
            <a:ext cx="27773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6. Анализ 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ru-RU" sz="1600" dirty="0"/>
              <a:t>Описательный анализ</a:t>
            </a: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ru-RU" sz="1600" dirty="0"/>
              <a:t>Диагностический анализ</a:t>
            </a: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ru-RU" sz="1600" dirty="0"/>
              <a:t>Предиктивный анализ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/>
              <a:t>Предписывающий анализ</a:t>
            </a:r>
            <a:endParaRPr lang="ru-RU" sz="1600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6A7E33-8DFA-0BD9-824A-34F680E93552}"/>
              </a:ext>
            </a:extLst>
          </p:cNvPr>
          <p:cNvSpPr txBox="1"/>
          <p:nvPr/>
        </p:nvSpPr>
        <p:spPr>
          <a:xfrm>
            <a:off x="190495" y="3033845"/>
            <a:ext cx="224336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4. Интеграция </a:t>
            </a:r>
          </a:p>
          <a:p>
            <a:endParaRPr lang="ru-RU" sz="1600" b="1" dirty="0">
              <a:solidFill>
                <a:srgbClr val="C00000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ru-RU" sz="1600" dirty="0"/>
              <a:t>Соединение </a:t>
            </a: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ru-RU" sz="1600" dirty="0"/>
              <a:t>Консолидация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/>
              <a:t>Устранение расхождений</a:t>
            </a:r>
            <a:endParaRPr lang="ru-RU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642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B125-E807-9515-4BBB-606DF11B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3B1BCBF0-E379-A6D3-3096-76B02670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423782E-F3BA-E290-7F0C-1097B2378B2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F9E26D-4A71-F44C-235C-D5D605F4140E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Этапы обработки данных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171B6-1482-B99C-5D0B-1D9B2E40CCC3}"/>
              </a:ext>
            </a:extLst>
          </p:cNvPr>
          <p:cNvSpPr txBox="1"/>
          <p:nvPr/>
        </p:nvSpPr>
        <p:spPr>
          <a:xfrm>
            <a:off x="4728805" y="1416029"/>
            <a:ext cx="3635733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8. Интерпретация и принятие решений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ru-RU" sz="1600" dirty="0"/>
              <a:t>Формулирование выводов.</a:t>
            </a: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ru-RU" sz="1600" dirty="0"/>
              <a:t>Разработка рекомендаций.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/>
              <a:t>Планирование дальнейших действий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A5C9E4-151C-96B7-D2C4-86CC61B32B17}"/>
              </a:ext>
            </a:extLst>
          </p:cNvPr>
          <p:cNvSpPr txBox="1"/>
          <p:nvPr/>
        </p:nvSpPr>
        <p:spPr>
          <a:xfrm>
            <a:off x="8364539" y="1416029"/>
            <a:ext cx="349311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9. </a:t>
            </a:r>
            <a:r>
              <a:rPr lang="ru-RU" b="1" dirty="0">
                <a:solidFill>
                  <a:srgbClr val="C00000"/>
                </a:solidFill>
              </a:rPr>
              <a:t>Мониторинг и поддержка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Отслеживание обновлений данных.</a:t>
            </a:r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Контроль качества данных.</a:t>
            </a:r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Оптимизация производительности систем.</a:t>
            </a:r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Обновление моделей анализа.</a:t>
            </a:r>
          </a:p>
          <a:p>
            <a:pPr marL="3540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Регулярное резервное копирование.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255091-D571-38A3-4798-55E134B92573}"/>
              </a:ext>
            </a:extLst>
          </p:cNvPr>
          <p:cNvSpPr txBox="1"/>
          <p:nvPr/>
        </p:nvSpPr>
        <p:spPr>
          <a:xfrm>
            <a:off x="730381" y="1416029"/>
            <a:ext cx="399842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7. Визуализация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1600" b="1" dirty="0">
              <a:solidFill>
                <a:srgbClr val="C00000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ru-RU" sz="1600" dirty="0"/>
              <a:t>Выбор наиболее подходящих типов визуализации.</a:t>
            </a: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ru-RU" sz="1600" dirty="0"/>
              <a:t>Создание понятных и информативных графиков.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/>
              <a:t>Разработка интерактивных дашбордов</a:t>
            </a:r>
            <a:r>
              <a:rPr lang="ru-RU" sz="1600" b="1" dirty="0">
                <a:solidFill>
                  <a:srgbClr val="C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08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C2D1D-4482-74B2-551E-8C0024E7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2253DA67-421F-D6E1-78F9-53F876A4C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A606285-DA28-75D4-72E4-B7E3664A925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230E67-729B-802B-CA52-16254FA0B098}"/>
              </a:ext>
            </a:extLst>
          </p:cNvPr>
          <p:cNvSpPr txBox="1"/>
          <p:nvPr/>
        </p:nvSpPr>
        <p:spPr>
          <a:xfrm>
            <a:off x="191730" y="46037"/>
            <a:ext cx="120002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Взаимосвязь бизнес аналитика и дата аналитика и как они взаимодействуют со сбором, анализом и визуализацией данных</a:t>
            </a:r>
          </a:p>
        </p:txBody>
      </p:sp>
      <p:sp>
        <p:nvSpPr>
          <p:cNvPr id="2" name="Стрелка: изогнутая влево 1">
            <a:extLst>
              <a:ext uri="{FF2B5EF4-FFF2-40B4-BE49-F238E27FC236}">
                <a16:creationId xmlns:a16="http://schemas.microsoft.com/office/drawing/2014/main" id="{416A0206-6D43-F7F6-45B5-3190A99F66AC}"/>
              </a:ext>
            </a:extLst>
          </p:cNvPr>
          <p:cNvSpPr/>
          <p:nvPr/>
        </p:nvSpPr>
        <p:spPr>
          <a:xfrm>
            <a:off x="10545097" y="2389239"/>
            <a:ext cx="1489587" cy="1769806"/>
          </a:xfrm>
          <a:prstGeom prst="curvedLef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Стрелка: изогнутая влево 2">
            <a:extLst>
              <a:ext uri="{FF2B5EF4-FFF2-40B4-BE49-F238E27FC236}">
                <a16:creationId xmlns:a16="http://schemas.microsoft.com/office/drawing/2014/main" id="{4EA1F818-DF34-7770-8459-9E180B12AF1C}"/>
              </a:ext>
            </a:extLst>
          </p:cNvPr>
          <p:cNvSpPr/>
          <p:nvPr/>
        </p:nvSpPr>
        <p:spPr>
          <a:xfrm flipH="1">
            <a:off x="742338" y="2389239"/>
            <a:ext cx="1489586" cy="1769806"/>
          </a:xfrm>
          <a:prstGeom prst="curvedLef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486DCE22-AF42-71AF-5862-56D48176E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169437"/>
              </p:ext>
            </p:extLst>
          </p:nvPr>
        </p:nvGraphicFramePr>
        <p:xfrm>
          <a:off x="2324510" y="1268361"/>
          <a:ext cx="8128000" cy="3847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04693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52074901"/>
                    </a:ext>
                  </a:extLst>
                </a:gridCol>
              </a:tblGrid>
              <a:tr h="690223"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Бизнес-аналитик 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Дата-аналитик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21438"/>
                  </a:ext>
                </a:extLst>
              </a:tr>
              <a:tr h="3157026">
                <a:tc>
                  <a:txBody>
                    <a:bodyPr/>
                    <a:lstStyle/>
                    <a:p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5725" indent="0" algn="l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Сосредоточен на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бизнес-процессах, требованиях, проблемах и возможностях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организации. Он понимает, какие вопросы нужно задать, чтобы улучшить бизнес, и как эти вопросы связаны с данными.</a:t>
                      </a:r>
                    </a:p>
                    <a:p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18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определяет, ЧТО нужно проанализировать</a:t>
                      </a:r>
                      <a:endParaRPr lang="ru-RU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5725" indent="0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Сосредоточен на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данных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Он ищет закономерности, тренды, аномалии в данных, чтобы ответить на поставленные вопросы и предоставить инсайты.</a:t>
                      </a:r>
                    </a:p>
                    <a:p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18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КАК это проанализировать и ЧТО означают результаты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8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659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0487-4CB9-CD17-E538-F72DB832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B5FB7FCC-A9F2-659C-F6C8-5E33743A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78F79CF-0189-3DEC-60FC-505C71A89AD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8907F3-C025-7CD5-B4C4-0860A703B16A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Как они взаимодействуют на этапах</a:t>
            </a:r>
          </a:p>
        </p:txBody>
      </p:sp>
      <p:sp>
        <p:nvSpPr>
          <p:cNvPr id="2" name="Стрелка: изогнутая влево 1">
            <a:extLst>
              <a:ext uri="{FF2B5EF4-FFF2-40B4-BE49-F238E27FC236}">
                <a16:creationId xmlns:a16="http://schemas.microsoft.com/office/drawing/2014/main" id="{814AA97D-F10D-6D36-F1D9-9FD9B1FE0586}"/>
              </a:ext>
            </a:extLst>
          </p:cNvPr>
          <p:cNvSpPr/>
          <p:nvPr/>
        </p:nvSpPr>
        <p:spPr>
          <a:xfrm>
            <a:off x="10545097" y="2389239"/>
            <a:ext cx="1489587" cy="1769806"/>
          </a:xfrm>
          <a:prstGeom prst="curvedLef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Стрелка: изогнутая влево 2">
            <a:extLst>
              <a:ext uri="{FF2B5EF4-FFF2-40B4-BE49-F238E27FC236}">
                <a16:creationId xmlns:a16="http://schemas.microsoft.com/office/drawing/2014/main" id="{0F3384EF-0087-E9D6-0CD3-8E71587792A1}"/>
              </a:ext>
            </a:extLst>
          </p:cNvPr>
          <p:cNvSpPr/>
          <p:nvPr/>
        </p:nvSpPr>
        <p:spPr>
          <a:xfrm flipH="1">
            <a:off x="742338" y="2389239"/>
            <a:ext cx="1489586" cy="1769806"/>
          </a:xfrm>
          <a:prstGeom prst="curvedLef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1E3D753-ED98-5803-D52B-E5C353CEC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78327"/>
              </p:ext>
            </p:extLst>
          </p:nvPr>
        </p:nvGraphicFramePr>
        <p:xfrm>
          <a:off x="2328604" y="1751845"/>
          <a:ext cx="8128000" cy="240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04693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52074901"/>
                    </a:ext>
                  </a:extLst>
                </a:gridCol>
              </a:tblGrid>
              <a:tr h="431868"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Бизнес-аналитик 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Дата-аналитик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21438"/>
                  </a:ext>
                </a:extLst>
              </a:tr>
              <a:tr h="1975332">
                <a:tc>
                  <a:txBody>
                    <a:bodyPr/>
                    <a:lstStyle/>
                    <a:p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71475" indent="-285750" algn="l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Определяет потребность в данных</a:t>
                      </a:r>
                    </a:p>
                    <a:p>
                      <a:pPr marL="371475" indent="-285750" algn="l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Идентифицирует источники данных</a:t>
                      </a:r>
                    </a:p>
                    <a:p>
                      <a:pPr marL="371475" indent="-285750" algn="l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Формулирует гипотезы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Техническая реализация сбора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Проверка качества данных</a:t>
                      </a:r>
                      <a:endParaRPr lang="ru-RU" b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89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B967E1F-B04F-0D0C-8594-232DAD349B36}"/>
              </a:ext>
            </a:extLst>
          </p:cNvPr>
          <p:cNvSpPr txBox="1"/>
          <p:nvPr/>
        </p:nvSpPr>
        <p:spPr>
          <a:xfrm>
            <a:off x="4999088" y="879083"/>
            <a:ext cx="2994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1. Сбор данных</a:t>
            </a:r>
          </a:p>
        </p:txBody>
      </p:sp>
    </p:spTree>
    <p:extLst>
      <p:ext uri="{BB962C8B-B14F-4D97-AF65-F5344CB8AC3E}">
        <p14:creationId xmlns:p14="http://schemas.microsoft.com/office/powerpoint/2010/main" val="4284323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994F8-4A47-2150-EC70-6FAA8283C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3E1B7963-4954-FA75-E334-9F87FD7E4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51D883B-D42A-A52A-12AC-76C1A8DF5D7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5F092B-4564-CC67-205B-B891EFCA83B1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Как они взаимодействуют на этапах</a:t>
            </a:r>
          </a:p>
        </p:txBody>
      </p:sp>
      <p:sp>
        <p:nvSpPr>
          <p:cNvPr id="2" name="Стрелка: изогнутая влево 1">
            <a:extLst>
              <a:ext uri="{FF2B5EF4-FFF2-40B4-BE49-F238E27FC236}">
                <a16:creationId xmlns:a16="http://schemas.microsoft.com/office/drawing/2014/main" id="{28C979E1-B08E-87AA-EE7B-0C513A552EC1}"/>
              </a:ext>
            </a:extLst>
          </p:cNvPr>
          <p:cNvSpPr/>
          <p:nvPr/>
        </p:nvSpPr>
        <p:spPr>
          <a:xfrm>
            <a:off x="10545097" y="2389239"/>
            <a:ext cx="1489587" cy="1769806"/>
          </a:xfrm>
          <a:prstGeom prst="curvedLef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Стрелка: изогнутая влево 2">
            <a:extLst>
              <a:ext uri="{FF2B5EF4-FFF2-40B4-BE49-F238E27FC236}">
                <a16:creationId xmlns:a16="http://schemas.microsoft.com/office/drawing/2014/main" id="{17A68FD1-B5BF-C1DA-3459-58B4CBE6DA46}"/>
              </a:ext>
            </a:extLst>
          </p:cNvPr>
          <p:cNvSpPr/>
          <p:nvPr/>
        </p:nvSpPr>
        <p:spPr>
          <a:xfrm flipH="1">
            <a:off x="742338" y="2389239"/>
            <a:ext cx="1489586" cy="1769806"/>
          </a:xfrm>
          <a:prstGeom prst="curvedLef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4223537A-1E3A-AD79-A5C1-9B85A87F6CD9}"/>
              </a:ext>
            </a:extLst>
          </p:cNvPr>
          <p:cNvGraphicFramePr>
            <a:graphicFrameLocks noGrp="1"/>
          </p:cNvGraphicFramePr>
          <p:nvPr/>
        </p:nvGraphicFramePr>
        <p:xfrm>
          <a:off x="2328604" y="1751845"/>
          <a:ext cx="8128000" cy="240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04693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52074901"/>
                    </a:ext>
                  </a:extLst>
                </a:gridCol>
              </a:tblGrid>
              <a:tr h="431868"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Бизнес-аналитик 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Дата-аналитик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21438"/>
                  </a:ext>
                </a:extLst>
              </a:tr>
              <a:tr h="197533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Интерпретирует результаты с бизнес-точки зрения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Формулирует дальнейшие вопросы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Согласовывает выводы</a:t>
                      </a:r>
                    </a:p>
                    <a:p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Применяет статистические методы и алгоритмы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Предоставляет количественные результаты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Идентифицирует аномалии и тренды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89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3B54805-7950-6301-B8E2-F0F1952B2AB8}"/>
              </a:ext>
            </a:extLst>
          </p:cNvPr>
          <p:cNvSpPr txBox="1"/>
          <p:nvPr/>
        </p:nvSpPr>
        <p:spPr>
          <a:xfrm>
            <a:off x="4940095" y="879083"/>
            <a:ext cx="2994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2. Анализ данных</a:t>
            </a:r>
          </a:p>
        </p:txBody>
      </p:sp>
    </p:spTree>
    <p:extLst>
      <p:ext uri="{BB962C8B-B14F-4D97-AF65-F5344CB8AC3E}">
        <p14:creationId xmlns:p14="http://schemas.microsoft.com/office/powerpoint/2010/main" val="1753451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96FE2-252B-C508-698F-DCA3FE8DC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F1C6562-AF10-C703-2525-692F6573B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3694BB1-4D2A-2EEF-A4C9-274A22A1EAC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68FC65-CD33-75C9-B992-F629EE5144F6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Как они взаимодействуют на этапах</a:t>
            </a:r>
          </a:p>
        </p:txBody>
      </p:sp>
      <p:sp>
        <p:nvSpPr>
          <p:cNvPr id="2" name="Стрелка: изогнутая влево 1">
            <a:extLst>
              <a:ext uri="{FF2B5EF4-FFF2-40B4-BE49-F238E27FC236}">
                <a16:creationId xmlns:a16="http://schemas.microsoft.com/office/drawing/2014/main" id="{E2F09FAA-94C9-ECDD-0BD8-A6FD2EFDAEBA}"/>
              </a:ext>
            </a:extLst>
          </p:cNvPr>
          <p:cNvSpPr/>
          <p:nvPr/>
        </p:nvSpPr>
        <p:spPr>
          <a:xfrm>
            <a:off x="10545097" y="2389239"/>
            <a:ext cx="1489587" cy="1769806"/>
          </a:xfrm>
          <a:prstGeom prst="curvedLef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Стрелка: изогнутая влево 2">
            <a:extLst>
              <a:ext uri="{FF2B5EF4-FFF2-40B4-BE49-F238E27FC236}">
                <a16:creationId xmlns:a16="http://schemas.microsoft.com/office/drawing/2014/main" id="{60557A1F-8034-0139-5C1A-90074C3EF00F}"/>
              </a:ext>
            </a:extLst>
          </p:cNvPr>
          <p:cNvSpPr/>
          <p:nvPr/>
        </p:nvSpPr>
        <p:spPr>
          <a:xfrm flipH="1">
            <a:off x="742338" y="2389239"/>
            <a:ext cx="1489586" cy="1769806"/>
          </a:xfrm>
          <a:prstGeom prst="curvedLef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74281943-B613-15C2-0A97-3CDE93BC6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252380"/>
              </p:ext>
            </p:extLst>
          </p:nvPr>
        </p:nvGraphicFramePr>
        <p:xfrm>
          <a:off x="2328604" y="1751845"/>
          <a:ext cx="8128000" cy="240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04693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52074901"/>
                    </a:ext>
                  </a:extLst>
                </a:gridCol>
              </a:tblGrid>
              <a:tr h="431868"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Бизнес-аналитик 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Дата-аналитик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21438"/>
                  </a:ext>
                </a:extLst>
              </a:tr>
              <a:tr h="197533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Определяет, что нужно визуализировать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Проверяет понятность и релевантность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Задает требования к дашбордам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Выбирает подходящие типы визуализаций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Создает визуализации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Делает акценты</a:t>
                      </a:r>
                      <a:endParaRPr lang="ru-RU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5389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C9ED60D-32E0-843D-CA74-C2973FF5B3F0}"/>
              </a:ext>
            </a:extLst>
          </p:cNvPr>
          <p:cNvSpPr txBox="1"/>
          <p:nvPr/>
        </p:nvSpPr>
        <p:spPr>
          <a:xfrm>
            <a:off x="4940094" y="879083"/>
            <a:ext cx="4223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3. Визуализация данных:</a:t>
            </a:r>
          </a:p>
        </p:txBody>
      </p:sp>
    </p:spTree>
    <p:extLst>
      <p:ext uri="{BB962C8B-B14F-4D97-AF65-F5344CB8AC3E}">
        <p14:creationId xmlns:p14="http://schemas.microsoft.com/office/powerpoint/2010/main" val="206210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63E29-50D9-8B39-6851-9C20C7873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14D75F9-8AA7-9A34-32F5-FF26309D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9BD799F-5BB3-DD04-C2D2-C81691226B7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A2EC45-5B0B-B114-4E83-AB8A01C6A00B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План действий Бизнес-Аналитика над задачей</a:t>
            </a:r>
          </a:p>
        </p:txBody>
      </p:sp>
      <p:sp>
        <p:nvSpPr>
          <p:cNvPr id="2" name="Стрелка: изогнутая влево 1">
            <a:extLst>
              <a:ext uri="{FF2B5EF4-FFF2-40B4-BE49-F238E27FC236}">
                <a16:creationId xmlns:a16="http://schemas.microsoft.com/office/drawing/2014/main" id="{2F7BF181-D564-DD87-AC82-AE598383284D}"/>
              </a:ext>
            </a:extLst>
          </p:cNvPr>
          <p:cNvSpPr/>
          <p:nvPr/>
        </p:nvSpPr>
        <p:spPr>
          <a:xfrm>
            <a:off x="9511481" y="1378595"/>
            <a:ext cx="1048364" cy="1200329"/>
          </a:xfrm>
          <a:prstGeom prst="curvedLef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412990-C2B7-7A91-4B15-DE2B2727BA2C}"/>
              </a:ext>
            </a:extLst>
          </p:cNvPr>
          <p:cNvSpPr txBox="1"/>
          <p:nvPr/>
        </p:nvSpPr>
        <p:spPr>
          <a:xfrm>
            <a:off x="252565" y="911911"/>
            <a:ext cx="35912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solidFill>
                  <a:srgbClr val="C00000"/>
                </a:solidFill>
              </a:rPr>
              <a:t>Инициация и Определение </a:t>
            </a:r>
          </a:p>
          <a:p>
            <a:r>
              <a:rPr lang="ru-RU" b="1" dirty="0">
                <a:solidFill>
                  <a:srgbClr val="C00000"/>
                </a:solidFill>
              </a:rPr>
              <a:t>Проблемы/Возможности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r>
              <a:rPr lang="ru-RU" dirty="0"/>
              <a:t>1.1. Понимание бизнес-контекста</a:t>
            </a:r>
          </a:p>
          <a:p>
            <a:r>
              <a:rPr lang="ru-RU" dirty="0"/>
              <a:t>1.2. Определение проблемы/возможности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0F8EF1-2268-61DA-91BF-3C477550A505}"/>
              </a:ext>
            </a:extLst>
          </p:cNvPr>
          <p:cNvSpPr txBox="1"/>
          <p:nvPr/>
        </p:nvSpPr>
        <p:spPr>
          <a:xfrm>
            <a:off x="4269658" y="809119"/>
            <a:ext cx="46678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2. Анализ Требований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r>
              <a:rPr lang="ru-RU" dirty="0"/>
              <a:t>2.1. Выявление заинтересованных сторон</a:t>
            </a:r>
            <a:endParaRPr lang="en-US" dirty="0"/>
          </a:p>
          <a:p>
            <a:r>
              <a:rPr lang="en-US" dirty="0"/>
              <a:t>2.2. </a:t>
            </a:r>
            <a:r>
              <a:rPr lang="ru-RU" dirty="0"/>
              <a:t>Сбор требований </a:t>
            </a:r>
          </a:p>
          <a:p>
            <a:r>
              <a:rPr lang="en-US" dirty="0"/>
              <a:t>2.3. </a:t>
            </a:r>
            <a:r>
              <a:rPr lang="ru-RU" dirty="0"/>
              <a:t>Анализ и документирование требований</a:t>
            </a:r>
            <a:endParaRPr lang="en-US" dirty="0"/>
          </a:p>
          <a:p>
            <a:r>
              <a:rPr lang="en-US" dirty="0"/>
              <a:t>2.4. </a:t>
            </a:r>
            <a:r>
              <a:rPr lang="ru-RU" dirty="0"/>
              <a:t>Валидация требований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24CBC6-1023-53C6-A25B-A26C7EE51B47}"/>
              </a:ext>
            </a:extLst>
          </p:cNvPr>
          <p:cNvSpPr txBox="1"/>
          <p:nvPr/>
        </p:nvSpPr>
        <p:spPr>
          <a:xfrm>
            <a:off x="252565" y="3092694"/>
            <a:ext cx="38308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3. Разработка Решения </a:t>
            </a:r>
          </a:p>
          <a:p>
            <a:r>
              <a:rPr lang="ru-RU" b="1" dirty="0">
                <a:solidFill>
                  <a:srgbClr val="C00000"/>
                </a:solidFill>
              </a:rPr>
              <a:t>и Поддержка Реализации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r>
              <a:rPr lang="ru-RU" dirty="0"/>
              <a:t>3.1. Проектирование решения</a:t>
            </a:r>
          </a:p>
          <a:p>
            <a:r>
              <a:rPr lang="ru-RU" dirty="0"/>
              <a:t>3.2. Коммуникация и Согласование</a:t>
            </a:r>
          </a:p>
          <a:p>
            <a:r>
              <a:rPr lang="ru-RU" dirty="0"/>
              <a:t>3.3. Управление требованиями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DA8211-11AF-AE1D-AC2E-DE29686A887A}"/>
              </a:ext>
            </a:extLst>
          </p:cNvPr>
          <p:cNvSpPr txBox="1"/>
          <p:nvPr/>
        </p:nvSpPr>
        <p:spPr>
          <a:xfrm>
            <a:off x="4269658" y="3102975"/>
            <a:ext cx="3218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4. Тестирование и Внедрение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r>
              <a:rPr lang="ru-RU" dirty="0"/>
              <a:t>4.1. Поддержка тестирования </a:t>
            </a:r>
          </a:p>
          <a:p>
            <a:r>
              <a:rPr lang="ru-RU" dirty="0"/>
              <a:t>4.2. Поддержка внедрения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B269D7-9E97-9E74-4063-E45AE6DC1121}"/>
              </a:ext>
            </a:extLst>
          </p:cNvPr>
          <p:cNvSpPr txBox="1"/>
          <p:nvPr/>
        </p:nvSpPr>
        <p:spPr>
          <a:xfrm>
            <a:off x="8573115" y="3092694"/>
            <a:ext cx="3366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5. Пост-проектная деятельность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r>
              <a:rPr lang="ru-RU" dirty="0"/>
              <a:t>5.1. Оценка результатов</a:t>
            </a:r>
          </a:p>
          <a:p>
            <a:r>
              <a:rPr lang="ru-RU" dirty="0"/>
              <a:t>5.2. Поддержка и развитие</a:t>
            </a:r>
          </a:p>
        </p:txBody>
      </p:sp>
    </p:spTree>
    <p:extLst>
      <p:ext uri="{BB962C8B-B14F-4D97-AF65-F5344CB8AC3E}">
        <p14:creationId xmlns:p14="http://schemas.microsoft.com/office/powerpoint/2010/main" val="2997725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5689F-AAD4-366D-966E-D1E630191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81A3CAE3-47F8-CC71-676E-016E5C2D5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A5CB731-7F94-4846-14E0-49ECCBEFDA0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1702D5-1FBE-3052-4288-E7C262FB5557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План действий Дата-Аналитика над задачей</a:t>
            </a:r>
          </a:p>
        </p:txBody>
      </p:sp>
      <p:sp>
        <p:nvSpPr>
          <p:cNvPr id="2" name="Стрелка: изогнутая влево 1">
            <a:extLst>
              <a:ext uri="{FF2B5EF4-FFF2-40B4-BE49-F238E27FC236}">
                <a16:creationId xmlns:a16="http://schemas.microsoft.com/office/drawing/2014/main" id="{660BDA05-ED90-FE50-3E6D-52053C52EDE1}"/>
              </a:ext>
            </a:extLst>
          </p:cNvPr>
          <p:cNvSpPr/>
          <p:nvPr/>
        </p:nvSpPr>
        <p:spPr>
          <a:xfrm>
            <a:off x="9511481" y="1378595"/>
            <a:ext cx="1048364" cy="1200329"/>
          </a:xfrm>
          <a:prstGeom prst="curvedLef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F96C5B-B406-3B34-6003-BB87DAE8EBB4}"/>
              </a:ext>
            </a:extLst>
          </p:cNvPr>
          <p:cNvSpPr txBox="1"/>
          <p:nvPr/>
        </p:nvSpPr>
        <p:spPr>
          <a:xfrm>
            <a:off x="191730" y="599266"/>
            <a:ext cx="3591233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solidFill>
                  <a:srgbClr val="C00000"/>
                </a:solidFill>
              </a:rPr>
              <a:t>Понимание задачи и постановка целей</a:t>
            </a:r>
          </a:p>
          <a:p>
            <a:pPr marL="342900" indent="-342900">
              <a:buAutoNum type="arabicPeriod"/>
            </a:pPr>
            <a:endParaRPr lang="ru-RU" b="1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/>
              <a:t>Уточнение ожиданий от результата.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/>
              <a:t>Определение ключевых вопросов, на которые нужно ответить.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/>
              <a:t>Обсуждение с заказчиком/стейкхолдерами</a:t>
            </a:r>
            <a:endParaRPr lang="ru-RU" sz="1600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850346-EE8D-7B0B-8AFD-D4795D0FB664}"/>
              </a:ext>
            </a:extLst>
          </p:cNvPr>
          <p:cNvSpPr txBox="1"/>
          <p:nvPr/>
        </p:nvSpPr>
        <p:spPr>
          <a:xfrm>
            <a:off x="3827462" y="577513"/>
            <a:ext cx="4248283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2. Сбор и понимание данных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Идентификация источников данных.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Получение доступа к данным.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Ознакомление со структурой данных, схемами.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Первичный анализ распределений, диапазонов значений.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Определение релевантных данных для задачи.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A6A1E0-E4A1-DF13-C64E-019CB760289D}"/>
              </a:ext>
            </a:extLst>
          </p:cNvPr>
          <p:cNvSpPr txBox="1"/>
          <p:nvPr/>
        </p:nvSpPr>
        <p:spPr>
          <a:xfrm>
            <a:off x="8218426" y="565277"/>
            <a:ext cx="383089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3. Очистка и предобработка данных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Обработка пропущенных значений.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Обработка выбросов.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Исправление несоответствий форматов (даты, числа, строки).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Удаление дубликатов.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Нормализация/стандартизация признаков (при необходимости).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/>
              <a:t>Создание новых признаков </a:t>
            </a:r>
            <a:endParaRPr lang="ru-RU" sz="16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51F08A-4B8E-1CB0-AC26-B4EA4F38CE15}"/>
              </a:ext>
            </a:extLst>
          </p:cNvPr>
          <p:cNvSpPr txBox="1"/>
          <p:nvPr/>
        </p:nvSpPr>
        <p:spPr>
          <a:xfrm>
            <a:off x="191730" y="2887425"/>
            <a:ext cx="3218836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4. Исследовательский анализ данных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Визуализация распределений данных.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Анализ взаимосвязей между признаками.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Выявление трендов и сезонности.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Сегментация данных.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Формулирование гипотез</a:t>
            </a:r>
            <a:r>
              <a:rPr lang="ru-RU" dirty="0"/>
              <a:t>.</a:t>
            </a:r>
          </a:p>
          <a:p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C6F944-5D77-3D1C-B8C7-8BD131348426}"/>
              </a:ext>
            </a:extLst>
          </p:cNvPr>
          <p:cNvSpPr txBox="1"/>
          <p:nvPr/>
        </p:nvSpPr>
        <p:spPr>
          <a:xfrm>
            <a:off x="3553247" y="3174901"/>
            <a:ext cx="452249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5. Моделирование и анализ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Выбор подходящих статистических методов или моделей ML.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Разделение данных на обучающую и тестовую выборки (для ML).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Обучение моделей.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Оценка качества моделей (метрики).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Интерпретация результатов моделей.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1600" dirty="0"/>
              <a:t>Проверка гипотез</a:t>
            </a:r>
            <a:endParaRPr lang="ru-RU" sz="1600" b="1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17F870-DBE8-3698-01CB-1240C04A0B00}"/>
              </a:ext>
            </a:extLst>
          </p:cNvPr>
          <p:cNvSpPr txBox="1"/>
          <p:nvPr/>
        </p:nvSpPr>
        <p:spPr>
          <a:xfrm>
            <a:off x="7911521" y="3160476"/>
            <a:ext cx="4248283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6. Интерпретация результатов и выводы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Объяснение значений метрик и параметров моделей.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Связывание результатов с бизнес-целями.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Выявление причинно-следственных связей.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Формулирование рекомендаций</a:t>
            </a:r>
            <a:r>
              <a:rPr lang="ru-RU" dirty="0"/>
              <a:t>.</a:t>
            </a:r>
          </a:p>
          <a:p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780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3FCFB-C50D-BA91-D8CF-4C6B258B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FA941163-75AB-3F60-0BDE-C3EB6BBC1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11D4799-2122-8F88-6E7E-FA299DA12CF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837827-E24C-C07C-AB39-93D44F8E5D32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План действий Дата-Аналитика над задачей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11A582-2128-8487-CC83-48C9773364A0}"/>
              </a:ext>
            </a:extLst>
          </p:cNvPr>
          <p:cNvSpPr txBox="1"/>
          <p:nvPr/>
        </p:nvSpPr>
        <p:spPr>
          <a:xfrm>
            <a:off x="8607527" y="1012113"/>
            <a:ext cx="310330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9. Документирование </a:t>
            </a:r>
          </a:p>
          <a:p>
            <a:r>
              <a:rPr lang="ru-RU" b="1" dirty="0">
                <a:solidFill>
                  <a:srgbClr val="C00000"/>
                </a:solidFill>
              </a:rPr>
              <a:t>и ретроспектива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651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Ведение проектной документации.</a:t>
            </a:r>
          </a:p>
          <a:p>
            <a:pPr marL="2651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Архивация кода и данных.</a:t>
            </a:r>
          </a:p>
          <a:p>
            <a:pPr marL="2651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Обсуждение полученного опыта (ретроспектива).</a:t>
            </a:r>
          </a:p>
          <a:p>
            <a:pPr marL="265113" lvl="1" indent="-265113">
              <a:buFont typeface="Wingdings" panose="05000000000000000000" pitchFamily="2" charset="2"/>
              <a:buChar char="ü"/>
            </a:pPr>
            <a:r>
              <a:rPr lang="ru-RU" sz="1600" dirty="0"/>
              <a:t>Выявление уроков на будущее</a:t>
            </a:r>
            <a:r>
              <a:rPr lang="ru-RU" dirty="0"/>
              <a:t>.</a:t>
            </a:r>
            <a:endParaRPr lang="ru-RU" sz="2800" dirty="0"/>
          </a:p>
          <a:p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1F84F7-6892-A49B-83A2-64DC8F19B7DA}"/>
              </a:ext>
            </a:extLst>
          </p:cNvPr>
          <p:cNvSpPr txBox="1"/>
          <p:nvPr/>
        </p:nvSpPr>
        <p:spPr>
          <a:xfrm>
            <a:off x="288820" y="1029625"/>
            <a:ext cx="31033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7. Визуализация и </a:t>
            </a:r>
          </a:p>
          <a:p>
            <a:r>
              <a:rPr lang="ru-RU" b="1" dirty="0">
                <a:solidFill>
                  <a:srgbClr val="C00000"/>
                </a:solidFill>
              </a:rPr>
              <a:t>представление результатов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Создание дашбордов.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Подготовка презентаций.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Написание отчетов.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Акцентирование на ключевых инсайтах и рекомендациях.</a:t>
            </a:r>
          </a:p>
          <a:p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DAC61D-1084-B74B-58A8-47B797E76577}"/>
              </a:ext>
            </a:extLst>
          </p:cNvPr>
          <p:cNvSpPr txBox="1"/>
          <p:nvPr/>
        </p:nvSpPr>
        <p:spPr>
          <a:xfrm>
            <a:off x="4084381" y="1029624"/>
            <a:ext cx="38308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8. Реализация рекомендаций и </a:t>
            </a:r>
          </a:p>
          <a:p>
            <a:r>
              <a:rPr lang="ru-RU" b="1" dirty="0">
                <a:solidFill>
                  <a:srgbClr val="C00000"/>
                </a:solidFill>
              </a:rPr>
              <a:t>мониторинг (при необходимости)</a:t>
            </a:r>
          </a:p>
          <a:p>
            <a:endParaRPr lang="ru-RU" b="1" dirty="0">
              <a:solidFill>
                <a:srgbClr val="C00000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Консультирование разработчиков/маркетологов.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Создание систем мониторинга ключевых показателей.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Анализ результатов внедрения.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ru-RU" sz="1600" dirty="0"/>
              <a:t>Итеративное улучшение.</a:t>
            </a:r>
          </a:p>
          <a:p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784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0F7D7-E028-0ECE-CAEA-A66EE664D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83A00211-5EC7-985E-2B4C-2A089DFB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D1FB21B-438B-1BF8-4774-38E1757287D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07468D-A501-651D-64ED-45C99B4408B2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1. Инициация и определение проблемы/возможности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05463-1F7F-060C-9A8B-59AE0B105809}"/>
              </a:ext>
            </a:extLst>
          </p:cNvPr>
          <p:cNvSpPr txBox="1"/>
          <p:nvPr/>
        </p:nvSpPr>
        <p:spPr>
          <a:xfrm>
            <a:off x="769398" y="728066"/>
            <a:ext cx="110660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Оптимизация бизнес-процессов </a:t>
            </a:r>
            <a:r>
              <a:rPr lang="ru-RU" dirty="0"/>
              <a:t>– это непрерывный процесс, направленный на повышение их результативности, снижение затрат и повышение эффективности.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E3600-CCDF-F875-598C-83C3B7B4F770}"/>
              </a:ext>
            </a:extLst>
          </p:cNvPr>
          <p:cNvSpPr txBox="1"/>
          <p:nvPr/>
        </p:nvSpPr>
        <p:spPr>
          <a:xfrm>
            <a:off x="1929770" y="1599893"/>
            <a:ext cx="7749068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0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Этапы анализа целей:</a:t>
            </a:r>
          </a:p>
          <a:p>
            <a:pPr>
              <a:spcBef>
                <a:spcPts val="200"/>
              </a:spcBef>
              <a:buNone/>
            </a:pPr>
            <a:endParaRPr lang="ru-RU" sz="2000" b="1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Определение стратегических целей организаци</a:t>
            </a: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Выявление проблемных зон и неэффективных процессов</a:t>
            </a:r>
          </a:p>
          <a:p>
            <a:pPr marL="342900" lvl="0" indent="-342900">
              <a:spcBef>
                <a:spcPts val="1200"/>
              </a:spcBef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Формулировка целей оптимизации</a:t>
            </a:r>
          </a:p>
          <a:p>
            <a:pPr marL="342900" lvl="0" indent="-342900">
              <a:spcBef>
                <a:spcPts val="1200"/>
              </a:spcBef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метрики для идентификации прогресса</a:t>
            </a:r>
          </a:p>
          <a:p>
            <a:pPr marL="342900" lvl="0" indent="-342900">
              <a:spcBef>
                <a:spcPts val="1200"/>
              </a:spcBef>
              <a:buFont typeface="Symbol" panose="05050102010706020507" pitchFamily="18" charset="2"/>
              <a:buChar char=""/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Оценка изменений в других процессах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748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5B741-8405-334E-EB1D-5CB9709F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5EBCA737-3F6D-C74E-C2B6-AD780E48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B047D14-FFAB-605F-250E-FD0008633B6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2F432D-4AD7-B72A-487D-FBB59B85F8CF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1. Инициация и определение проблемы/возможности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54C01-19D1-61AC-A577-06A38ABE096F}"/>
              </a:ext>
            </a:extLst>
          </p:cNvPr>
          <p:cNvSpPr txBox="1"/>
          <p:nvPr/>
        </p:nvSpPr>
        <p:spPr>
          <a:xfrm>
            <a:off x="3607623" y="1920895"/>
            <a:ext cx="491960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2000" dirty="0"/>
              <a:t>Увеличение эффективности.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2000" dirty="0"/>
              <a:t>Снижение затрат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2000" dirty="0"/>
              <a:t>Улучшение качества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2000" dirty="0"/>
              <a:t>Повышение гибкости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2000" dirty="0"/>
              <a:t>Повышение прозрачности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sz="2000" dirty="0"/>
              <a:t>Соответствие регуляторным требованиям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DD163-A08E-4A1B-0958-D061BD5C0AE3}"/>
              </a:ext>
            </a:extLst>
          </p:cNvPr>
          <p:cNvSpPr txBox="1"/>
          <p:nvPr/>
        </p:nvSpPr>
        <p:spPr>
          <a:xfrm>
            <a:off x="714645" y="1139457"/>
            <a:ext cx="31128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Категории цели оптимизации </a:t>
            </a:r>
          </a:p>
        </p:txBody>
      </p:sp>
    </p:spTree>
    <p:extLst>
      <p:ext uri="{BB962C8B-B14F-4D97-AF65-F5344CB8AC3E}">
        <p14:creationId xmlns:p14="http://schemas.microsoft.com/office/powerpoint/2010/main" val="369696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EF69-67C2-7DAC-6FCA-A5AD36E1A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B73A3BAF-201D-0B95-6E5F-25676D40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354D771-470C-2BE1-4FF1-0D536B2B2FE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B86015-9BD9-7EDD-3FA4-6C4DDC2CF79A}"/>
              </a:ext>
            </a:extLst>
          </p:cNvPr>
          <p:cNvSpPr txBox="1"/>
          <p:nvPr/>
        </p:nvSpPr>
        <p:spPr>
          <a:xfrm>
            <a:off x="191730" y="7553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1. Инициация и определение проблемы/возможности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8869C2-6E81-8F83-4768-AD9295DF4427}"/>
              </a:ext>
            </a:extLst>
          </p:cNvPr>
          <p:cNvSpPr txBox="1"/>
          <p:nvPr/>
        </p:nvSpPr>
        <p:spPr>
          <a:xfrm>
            <a:off x="191730" y="1139457"/>
            <a:ext cx="3635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Подготовительный этап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B43B3-6CE6-14F7-EC00-D0D9D90AFE1F}"/>
              </a:ext>
            </a:extLst>
          </p:cNvPr>
          <p:cNvSpPr txBox="1"/>
          <p:nvPr/>
        </p:nvSpPr>
        <p:spPr>
          <a:xfrm>
            <a:off x="3591115" y="1020862"/>
            <a:ext cx="9242015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Определение проблемы 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Формулировка цели </a:t>
            </a: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Определение задачи исследования  </a:t>
            </a: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Обзор литературы (Обзор литературы) </a:t>
            </a: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Формулировка гипотезы </a:t>
            </a: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Выбор методологии исследования </a:t>
            </a:r>
          </a:p>
          <a:p>
            <a:pPr marL="742950" lvl="1" indent="-285750">
              <a:buFont typeface="Wingdings" panose="05000000000000000000" pitchFamily="2" charset="2"/>
              <a:buChar char=""/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Количественные методы</a:t>
            </a:r>
          </a:p>
          <a:p>
            <a:pPr marL="742950" lvl="1" indent="-285750">
              <a:buFont typeface="Wingdings" panose="05000000000000000000" pitchFamily="2" charset="2"/>
              <a:buChar char=""/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Качественные методы</a:t>
            </a:r>
            <a:endParaRPr lang="ru-RU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Определение выборки (отбор выборки).</a:t>
            </a:r>
            <a:endParaRPr lang="ru-RU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инструментов </a:t>
            </a: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Пилотное исследование </a:t>
            </a: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Планирование </a:t>
            </a:r>
          </a:p>
          <a:p>
            <a:pPr marL="342900" lvl="0" indent="-342900">
              <a:spcBef>
                <a:spcPts val="3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Times New Roman" panose="02020603050405020304" pitchFamily="18" charset="0"/>
              </a:rPr>
              <a:t>Получение разрешений (этические соображения):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0750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FC046-C178-A651-CB7B-4243D79F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553A9E03-FBC4-C920-3422-D9F0B1C7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0FB2878-20F1-BDEF-0790-77E4E6562F8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43A7ED-DA91-55FA-1E0C-83FC31A748DD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1. Инициация и определение проблемы/возможности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224D6-28B6-38E5-0AB3-4D790371CEA9}"/>
              </a:ext>
            </a:extLst>
          </p:cNvPr>
          <p:cNvSpPr txBox="1"/>
          <p:nvPr/>
        </p:nvSpPr>
        <p:spPr>
          <a:xfrm>
            <a:off x="191730" y="1139457"/>
            <a:ext cx="36357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Типичные ошибки на этапе сборки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597AF7-DD8E-A6E8-8774-A546E122B73B}"/>
              </a:ext>
            </a:extLst>
          </p:cNvPr>
          <p:cNvSpPr txBox="1"/>
          <p:nvPr/>
        </p:nvSpPr>
        <p:spPr>
          <a:xfrm>
            <a:off x="3744311" y="1470839"/>
            <a:ext cx="611176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Нечеткая формулировка проблемы и цели исследования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Недостаточный обзор литературы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Неправильная методология выборочного исследования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Некорректное определение выборки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Некачественная разработка инструментария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Отсутствие пилотного исследования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</a:rPr>
              <a:t>Недостаточное планирование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262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91662-0D28-AD7F-6402-F87755A3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0D533053-28E1-EC8E-0840-7B6DE2FE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1931815-65DD-D14F-8F1C-C147E4DDBAF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13B07E-75E2-52E7-F63A-B13E2CCC7C84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2. Анализ требований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4B40E-EB87-40B5-9EFB-E747D29DDAC2}"/>
              </a:ext>
            </a:extLst>
          </p:cNvPr>
          <p:cNvSpPr txBox="1"/>
          <p:nvPr/>
        </p:nvSpPr>
        <p:spPr>
          <a:xfrm>
            <a:off x="283790" y="1651703"/>
            <a:ext cx="36357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Роль интервью в жизненном цикле проекта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7333F-3A92-D254-C412-08D3C49CCB89}"/>
              </a:ext>
            </a:extLst>
          </p:cNvPr>
          <p:cNvSpPr txBox="1"/>
          <p:nvPr/>
        </p:nvSpPr>
        <p:spPr>
          <a:xfrm>
            <a:off x="283790" y="569257"/>
            <a:ext cx="115672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Интервью с заказчиком и лицами, принимающими решения самое важное для получения дохода от проекта, будь то разработка программного обеспечения, внедрение нового бизнес-процесса или стратегического планирования. Эти интервью позволяют нам глубоко понять ожидания и ограничения клиента, необходимые для выработки эффективных и ценных решений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063CAE-1499-2A21-7F82-0E4BB19C7450}"/>
              </a:ext>
            </a:extLst>
          </p:cNvPr>
          <p:cNvSpPr txBox="1"/>
          <p:nvPr/>
        </p:nvSpPr>
        <p:spPr>
          <a:xfrm>
            <a:off x="2923867" y="1920895"/>
            <a:ext cx="8742107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Начальный этап -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Понимание проблем, целей и задач проекта. Определение границ проекта.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Этап сбора требований -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Выявление и документирование необходимых и нефункциональных требований. Уточнение ожиданий заказчика.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Этап разработки и тестирования- 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Уточнение деталей реализации, получение обратной связи по прототипам и промежуточные результаты.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Этап обеспечения (Реализация):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Обеспечение плавного перехода к новой системе или процессу. Получение обратной связи после восстановления.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Этап поддержки и развития (поддержание и улучшение):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сбор информации о проблемах и потребностях в их усовершенствовании.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666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F852-83B7-452D-F4BD-898AAA8F3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AF380D76-62EE-14F2-9331-34EC2FBDF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C429559-3FD5-8637-3397-C9D3192422A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DCE035-76D4-44CE-7561-92D6CEE15612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2. Анализ требований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AE7849-64DD-2796-6394-320E6B2522A3}"/>
              </a:ext>
            </a:extLst>
          </p:cNvPr>
          <p:cNvSpPr txBox="1"/>
          <p:nvPr/>
        </p:nvSpPr>
        <p:spPr>
          <a:xfrm>
            <a:off x="777132" y="988849"/>
            <a:ext cx="36357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Подготовка </a:t>
            </a:r>
          </a:p>
          <a:p>
            <a:r>
              <a:rPr lang="ru-RU" sz="2400" b="1" dirty="0">
                <a:solidFill>
                  <a:srgbClr val="C00000"/>
                </a:solidFill>
              </a:rPr>
              <a:t>к интервью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71EE8B-5F5C-8BE0-FE54-FEE5546901BE}"/>
              </a:ext>
            </a:extLst>
          </p:cNvPr>
          <p:cNvSpPr txBox="1"/>
          <p:nvPr/>
        </p:nvSpPr>
        <p:spPr>
          <a:xfrm>
            <a:off x="3827463" y="1448252"/>
            <a:ext cx="5133157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0225" lvl="0" indent="-530225">
              <a:spcBef>
                <a:spcPts val="1200"/>
              </a:spcBef>
              <a:buSzPct val="100000"/>
              <a:buFont typeface="Wingdings" panose="05000000000000000000" pitchFamily="2" charset="2"/>
              <a:buChar char="v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Определение целей интервью</a:t>
            </a:r>
          </a:p>
          <a:p>
            <a:pPr marL="530225" lvl="0" indent="-530225">
              <a:spcBef>
                <a:spcPts val="1200"/>
              </a:spcBef>
              <a:buSzPct val="100000"/>
              <a:buFont typeface="Wingdings" panose="05000000000000000000" pitchFamily="2" charset="2"/>
              <a:buChar char="v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Исследование предметной области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0225" lvl="0" indent="-530225">
              <a:spcBef>
                <a:spcPts val="1200"/>
              </a:spcBef>
              <a:buSzPct val="100000"/>
              <a:buFont typeface="Wingdings" panose="05000000000000000000" pitchFamily="2" charset="2"/>
              <a:buChar char="v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Идентификация участников интервью</a:t>
            </a:r>
          </a:p>
          <a:p>
            <a:pPr marL="530225" lvl="0" indent="-530225">
              <a:spcBef>
                <a:spcPts val="1200"/>
              </a:spcBef>
              <a:buSzPct val="100000"/>
              <a:buFont typeface="Wingdings" panose="05000000000000000000" pitchFamily="2" charset="2"/>
              <a:buChar char="v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структуры интервью </a:t>
            </a:r>
          </a:p>
          <a:p>
            <a:pPr marL="530225" lvl="0" indent="-530225">
              <a:spcBef>
                <a:spcPts val="1200"/>
              </a:spcBef>
              <a:buSzPct val="100000"/>
              <a:buFont typeface="Wingdings" panose="05000000000000000000" pitchFamily="2" charset="2"/>
              <a:buChar char="v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Подготовка дополнительных материалов</a:t>
            </a:r>
          </a:p>
          <a:p>
            <a:pPr marL="530225" lvl="0" indent="-530225">
              <a:spcBef>
                <a:spcPts val="1200"/>
              </a:spcBef>
              <a:buSzPct val="100000"/>
              <a:buFont typeface="Wingdings" panose="05000000000000000000" pitchFamily="2" charset="2"/>
              <a:buChar char="v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Логистика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0225" lvl="0" indent="-530225">
              <a:spcBef>
                <a:spcPts val="1200"/>
              </a:spcBef>
              <a:buSzPct val="100000"/>
              <a:buFont typeface="Wingdings" panose="05000000000000000000" pitchFamily="2" charset="2"/>
              <a:buChar char="v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Установление контакта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419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D4227-2EB4-D571-8B27-8A1AE50B6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AA1B5EAF-1359-9507-001A-57E28E879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DAA4E90-B10B-E4D8-EEEC-6B85540E49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8B2BD1-021A-AF2F-B88F-AD84951D44AC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2. Анализ требований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88BF-174A-D16A-1996-B4930995EEEB}"/>
              </a:ext>
            </a:extLst>
          </p:cNvPr>
          <p:cNvSpPr txBox="1"/>
          <p:nvPr/>
        </p:nvSpPr>
        <p:spPr>
          <a:xfrm>
            <a:off x="777132" y="988849"/>
            <a:ext cx="36357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Проведение </a:t>
            </a:r>
          </a:p>
          <a:p>
            <a:r>
              <a:rPr lang="ru-RU" sz="2400" b="1" dirty="0">
                <a:solidFill>
                  <a:srgbClr val="C00000"/>
                </a:solidFill>
              </a:rPr>
              <a:t>интервью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B9FB87-4ADB-B394-6639-889D4D3FBAD2}"/>
              </a:ext>
            </a:extLst>
          </p:cNvPr>
          <p:cNvSpPr txBox="1"/>
          <p:nvPr/>
        </p:nvSpPr>
        <p:spPr>
          <a:xfrm>
            <a:off x="3827463" y="1111734"/>
            <a:ext cx="611320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3413" lvl="0" indent="-633413">
              <a:spcBef>
                <a:spcPts val="1200"/>
              </a:spcBef>
              <a:buSzPct val="12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Приветствие и представление</a:t>
            </a:r>
          </a:p>
          <a:p>
            <a:pPr marL="633413" lvl="0" indent="-633413">
              <a:spcBef>
                <a:spcPts val="1200"/>
              </a:spcBef>
              <a:buSzPct val="12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Создание комфортной атмосферы</a:t>
            </a:r>
          </a:p>
          <a:p>
            <a:pPr marL="633413" lvl="0" indent="-633413">
              <a:spcBef>
                <a:spcPts val="1200"/>
              </a:spcBef>
              <a:buSzPct val="12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Задайте открытые вопросы</a:t>
            </a:r>
          </a:p>
          <a:p>
            <a:pPr marL="633413" lvl="0" indent="-633413">
              <a:spcBef>
                <a:spcPts val="1200"/>
              </a:spcBef>
              <a:buSzPct val="12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Активное слушание</a:t>
            </a:r>
          </a:p>
          <a:p>
            <a:pPr marL="633413" lvl="0" indent="-633413">
              <a:spcBef>
                <a:spcPts val="1200"/>
              </a:spcBef>
              <a:buSzPct val="12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Не перебивайте</a:t>
            </a:r>
            <a:endParaRPr lang="ru-RU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3413" lvl="0" indent="-633413">
              <a:spcBef>
                <a:spcPts val="1200"/>
              </a:spcBef>
              <a:buSzPct val="12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Делайте заметки</a:t>
            </a:r>
          </a:p>
          <a:p>
            <a:pPr marL="633413" lvl="0" indent="-633413">
              <a:spcBef>
                <a:spcPts val="1200"/>
              </a:spcBef>
              <a:buSzPct val="12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Уточняйте и подтверждайте</a:t>
            </a:r>
          </a:p>
          <a:p>
            <a:pPr marL="633413" lvl="0" indent="-633413">
              <a:spcBef>
                <a:spcPts val="1200"/>
              </a:spcBef>
              <a:buSzPct val="12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Будьте нейтральны и объективны</a:t>
            </a:r>
          </a:p>
          <a:p>
            <a:pPr marL="633413" indent="-633413">
              <a:spcBef>
                <a:spcPts val="1200"/>
              </a:spcBef>
              <a:buSzPct val="120000"/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</a:rPr>
              <a:t>Завершение интервью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079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72422-2006-3D62-134F-0850D03C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464E620B-320E-E2CA-18B7-B15090E2E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FAC37F4-F81C-419B-4C42-4DE1458C4A7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D838AE-FD33-C61F-2149-A7981EEEF512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2. Анализ требований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19A5B-C17F-4015-B3BA-33A94B2430AA}"/>
              </a:ext>
            </a:extLst>
          </p:cNvPr>
          <p:cNvSpPr txBox="1"/>
          <p:nvPr/>
        </p:nvSpPr>
        <p:spPr>
          <a:xfrm>
            <a:off x="777132" y="988849"/>
            <a:ext cx="3635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После интервью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84B216-D846-00CD-7DC9-7F2979440AC0}"/>
              </a:ext>
            </a:extLst>
          </p:cNvPr>
          <p:cNvSpPr txBox="1"/>
          <p:nvPr/>
        </p:nvSpPr>
        <p:spPr>
          <a:xfrm>
            <a:off x="3397644" y="1261029"/>
            <a:ext cx="740563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Документирование результатов: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обработайте заметки и составьте отчет об интервью.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Проанализируйте информацию: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Проанализируйте полученную информацию, выявите необходимые требования заказчика.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Уточнение: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При необходимости свяжитесь с участниками интервью для уточнения отдельных моментов.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Результаты согласования: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Предоставьте отчет об интервью заказчику для согласования и подтверждения правильности собранной информации.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330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72C23-37CF-097E-9D27-4B1080C2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8381B4B8-AD30-79BE-0ABB-B3816473B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E361B72-0388-02F1-3BC9-41A89234C15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3B103E-086D-2A50-01A6-349F64F94A07}"/>
              </a:ext>
            </a:extLst>
          </p:cNvPr>
          <p:cNvSpPr txBox="1"/>
          <p:nvPr/>
        </p:nvSpPr>
        <p:spPr>
          <a:xfrm>
            <a:off x="191730" y="46037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2. Анализ требований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84DC2-B9AE-C249-A788-6247F60E7839}"/>
              </a:ext>
            </a:extLst>
          </p:cNvPr>
          <p:cNvSpPr txBox="1"/>
          <p:nvPr/>
        </p:nvSpPr>
        <p:spPr>
          <a:xfrm>
            <a:off x="777132" y="988849"/>
            <a:ext cx="36357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Типы вопросов для интервью: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29A1F-5A4F-4B5B-014A-5959DB65CBD5}"/>
              </a:ext>
            </a:extLst>
          </p:cNvPr>
          <p:cNvSpPr txBox="1"/>
          <p:nvPr/>
        </p:nvSpPr>
        <p:spPr>
          <a:xfrm>
            <a:off x="3204087" y="1589366"/>
            <a:ext cx="777617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Общие вопросы:</a:t>
            </a: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О коммерческом клиенте, его продуктах и услугах.</a:t>
            </a:r>
            <a:endParaRPr lang="ru-RU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Проблемные вопросы:</a:t>
            </a: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О существующих проблемах и вызовах.</a:t>
            </a:r>
            <a:endParaRPr lang="ru-RU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Функциональные вопросы:</a:t>
            </a: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О требованиях к системе или процессу.</a:t>
            </a:r>
            <a:endParaRPr lang="ru-RU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Нефункциональные вопросы:</a:t>
            </a: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О требованиях к производительности, безопасности, надежности и т.д.</a:t>
            </a:r>
            <a:endParaRPr lang="ru-RU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Вопросы о приоритетах:</a:t>
            </a: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О важности различных требований и возможностей.</a:t>
            </a:r>
            <a:endParaRPr lang="ru-RU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SzPts val="10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Вопросы о рисках:</a:t>
            </a: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О рисках и проблемах, которые могут возникнуть в ходе выполнения проекта.</a:t>
            </a:r>
            <a:endParaRPr lang="ru-RU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12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D81FA07-1EF9-2F48-F989-0BF88A311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611" y="2174138"/>
            <a:ext cx="10161656" cy="3450613"/>
          </a:xfrm>
        </p:spPr>
        <p:txBody>
          <a:bodyPr>
            <a:normAutofit/>
          </a:bodyPr>
          <a:lstStyle/>
          <a:p>
            <a:pPr lvl="0"/>
            <a:r>
              <a:rPr lang="ru-RU" b="1" dirty="0">
                <a:solidFill>
                  <a:srgbClr val="002060"/>
                </a:solidFill>
              </a:rPr>
              <a:t>Внутренние:</a:t>
            </a:r>
            <a:endParaRPr lang="ru-RU" dirty="0">
              <a:solidFill>
                <a:srgbClr val="002060"/>
              </a:solidFill>
            </a:endParaRPr>
          </a:p>
          <a:p>
            <a:pPr lvl="1"/>
            <a:r>
              <a:rPr lang="ru-RU" b="1" dirty="0"/>
              <a:t>Заказчики:</a:t>
            </a:r>
            <a:r>
              <a:rPr lang="ru-RU" dirty="0"/>
              <a:t> Руководители, которые инициировали проект, определяют цели и бюджет.</a:t>
            </a:r>
          </a:p>
          <a:p>
            <a:pPr lvl="1"/>
            <a:r>
              <a:rPr lang="ru-RU" b="1" dirty="0"/>
              <a:t>Коллеги:</a:t>
            </a:r>
            <a:r>
              <a:rPr lang="ru-RU" dirty="0"/>
              <a:t> Члены вашей команды или смежных команд, разработчики, бизнес-аналитики.</a:t>
            </a:r>
          </a:p>
          <a:p>
            <a:pPr lvl="1"/>
            <a:r>
              <a:rPr lang="ru-RU" b="1" dirty="0"/>
              <a:t>Конечные пользователи:</a:t>
            </a:r>
            <a:r>
              <a:rPr lang="ru-RU" dirty="0"/>
              <a:t> Сотрудники, которые будут использовать ваши отчеты и инструменты.</a:t>
            </a:r>
          </a:p>
          <a:p>
            <a:pPr lvl="0"/>
            <a:r>
              <a:rPr lang="ru-RU" b="1" dirty="0">
                <a:solidFill>
                  <a:srgbClr val="002060"/>
                </a:solidFill>
              </a:rPr>
              <a:t>Внешние:</a:t>
            </a:r>
            <a:endParaRPr lang="ru-RU" dirty="0">
              <a:solidFill>
                <a:srgbClr val="002060"/>
              </a:solidFill>
            </a:endParaRPr>
          </a:p>
          <a:p>
            <a:pPr lvl="1"/>
            <a:r>
              <a:rPr lang="ru-RU" b="1" dirty="0"/>
              <a:t>Клиенты:</a:t>
            </a:r>
            <a:r>
              <a:rPr lang="ru-RU" dirty="0"/>
              <a:t> Которые будут пользоваться предлагаемыми решениями.</a:t>
            </a:r>
          </a:p>
          <a:p>
            <a:pPr lvl="1"/>
            <a:r>
              <a:rPr lang="ru-RU" b="1" dirty="0"/>
              <a:t>Поставщики:</a:t>
            </a:r>
            <a:r>
              <a:rPr lang="ru-RU" dirty="0"/>
              <a:t> Которые предоставляют данные.</a:t>
            </a:r>
          </a:p>
          <a:p>
            <a:pPr lvl="1"/>
            <a:r>
              <a:rPr lang="ru-RU" b="1" dirty="0"/>
              <a:t>Регуляторы:</a:t>
            </a:r>
            <a:r>
              <a:rPr lang="ru-RU" dirty="0"/>
              <a:t> Которые устанавливают требования к данным.</a:t>
            </a:r>
          </a:p>
          <a:p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B0380068-DB1E-6606-CEDD-3066C9399C36}"/>
              </a:ext>
            </a:extLst>
          </p:cNvPr>
          <p:cNvSpPr txBox="1">
            <a:spLocks/>
          </p:cNvSpPr>
          <p:nvPr/>
        </p:nvSpPr>
        <p:spPr>
          <a:xfrm>
            <a:off x="1229886" y="983590"/>
            <a:ext cx="10161657" cy="9575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Заинтересованные стороны(Стейкхолдеры) </a:t>
            </a:r>
            <a:r>
              <a:rPr lang="ru-RU" dirty="0"/>
              <a:t>- это люди, группы или организации, которые имеют интерес в вашем проекте и на которых влияет его результаты. </a:t>
            </a:r>
          </a:p>
          <a:p>
            <a:endParaRPr lang="ru-RU" dirty="0"/>
          </a:p>
        </p:txBody>
      </p:sp>
      <p:pic>
        <p:nvPicPr>
          <p:cNvPr id="5" name="Объект 5">
            <a:extLst>
              <a:ext uri="{FF2B5EF4-FFF2-40B4-BE49-F238E27FC236}">
                <a16:creationId xmlns:a16="http://schemas.microsoft.com/office/drawing/2014/main" id="{34037386-ED8B-68C3-0F7A-4595A0C68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8CF1FE-3EE0-F08B-A832-00EC25A74ED2}"/>
              </a:ext>
            </a:extLst>
          </p:cNvPr>
          <p:cNvSpPr txBox="1"/>
          <p:nvPr/>
        </p:nvSpPr>
        <p:spPr>
          <a:xfrm>
            <a:off x="2006836" y="-41774"/>
            <a:ext cx="10730070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800" b="1" dirty="0">
                <a:solidFill>
                  <a:srgbClr val="002060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стратегий вовлечения и подготовка </a:t>
            </a:r>
          </a:p>
          <a:p>
            <a:pPr>
              <a:spcBef>
                <a:spcPts val="200"/>
              </a:spcBef>
              <a:buNone/>
            </a:pPr>
            <a:r>
              <a:rPr lang="ru-RU" sz="2800" b="1" dirty="0">
                <a:solidFill>
                  <a:srgbClr val="002060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взаимодействия с заинтересованными сторонами</a:t>
            </a:r>
            <a:endParaRPr lang="ru-RU" sz="2800" dirty="0">
              <a:solidFill>
                <a:srgbClr val="002060"/>
              </a:solidFill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454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974A2-7A0D-0595-9852-6BFEF0945F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0"/>
            <a:ext cx="10273448" cy="545690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Почему важно вовлекать заинтересованные стороны?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72F8E7-CAC7-040E-A002-39F5A147DF8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47855" y="707622"/>
            <a:ext cx="10161395" cy="874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Взаимодействие с заинтересованными сторонами - это не просто вежливое общение. Это ключевой фактор успеха вашего проекта. Вот несколько причин, почему это так важно:</a:t>
            </a:r>
          </a:p>
          <a:p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75423F28-FBDE-6BCC-4148-2E1E77086A9A}"/>
              </a:ext>
            </a:extLst>
          </p:cNvPr>
          <p:cNvSpPr txBox="1">
            <a:spLocks/>
          </p:cNvSpPr>
          <p:nvPr/>
        </p:nvSpPr>
        <p:spPr>
          <a:xfrm>
            <a:off x="2534027" y="1744260"/>
            <a:ext cx="3704541" cy="38642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dirty="0"/>
              <a:t>Понимание потребностей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dirty="0"/>
              <a:t>Определение целей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dirty="0"/>
              <a:t>Получение данных: 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dirty="0"/>
              <a:t>Снижение рисков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dirty="0"/>
              <a:t>Принятие решений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dirty="0"/>
              <a:t>Успешное внедрение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dirty="0"/>
              <a:t>Обратная связь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D9352F6-4725-0C4A-0D49-B61CE57C0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1B262BA-B2B3-A3A1-FB37-F42AA51AAEC3}"/>
              </a:ext>
            </a:extLst>
          </p:cNvPr>
          <p:cNvSpPr/>
          <p:nvPr/>
        </p:nvSpPr>
        <p:spPr>
          <a:xfrm flipV="1">
            <a:off x="1025092" y="1522787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693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0256-1D6E-ADAD-25C3-DFC80510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D7FB5-CC33-4EAC-DBE9-92CE4AFC01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9918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Стратегии вовлечения заинтересованных сторон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1EACC5-6198-1544-AEF0-E4EC4288281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42500" y="658767"/>
            <a:ext cx="10161395" cy="874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Разработка стратегии вовлечения - это планирование, которое учитывает особенности каждой заинтересованной стороны. Она включает в себя:</a:t>
            </a:r>
          </a:p>
          <a:p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3E87DB-189B-4811-EE2A-DFF9EC5CFC9C}"/>
              </a:ext>
            </a:extLst>
          </p:cNvPr>
          <p:cNvSpPr/>
          <p:nvPr/>
        </p:nvSpPr>
        <p:spPr>
          <a:xfrm flipV="1">
            <a:off x="1025092" y="1522787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A56DE60-CCAD-2658-BCAE-E9258C1D1E56}"/>
              </a:ext>
            </a:extLst>
          </p:cNvPr>
          <p:cNvSpPr txBox="1">
            <a:spLocks/>
          </p:cNvSpPr>
          <p:nvPr/>
        </p:nvSpPr>
        <p:spPr>
          <a:xfrm>
            <a:off x="1025092" y="1663664"/>
            <a:ext cx="10084157" cy="38642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b="1" dirty="0"/>
              <a:t>Идентификация заинтересованных сторон:</a:t>
            </a:r>
            <a:endParaRPr lang="ru-RU" sz="18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Составьте список всех заинтересованных сторон (внутренних и внешних).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Определите их роли, ответственность и интересы в проекте.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b="1" dirty="0"/>
              <a:t>Оценка потребностей:</a:t>
            </a:r>
            <a:endParaRPr lang="ru-RU" sz="18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Проведите интервью, встречи, опросы, чтобы понять их ожидания, цели, проблемы и ограничения.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Определите их уровень осведомленности о данных и аналитике.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Установите их предпочтения в способах коммуникации (отчеты, презентации, дашборды, еженедельные встречи и т.д.).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ru-RU" sz="1800" b="1" dirty="0"/>
              <a:t>Определение приоритетов:</a:t>
            </a:r>
            <a:endParaRPr lang="ru-RU" sz="18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Ранжируйте заинтересованные стороны по их влиянию на проект и степени вовлеченности.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Сосредоточьте свои усилия на ключевых заинтересованных сторонах.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ru-RU" sz="18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C2F4AA1-DA8E-EF3C-8566-851D56A77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60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79A02-F172-CF08-ACF2-439CCA1D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ECEFA-A699-F71B-9174-2760E56691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1239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Стратегии вовлечения заинтересованных сторон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61329C-295D-FE24-96F8-DA091BCE5DE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49176" y="695629"/>
            <a:ext cx="10161395" cy="874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Разработка стратегии вовлечения - это планирование, которое учитывает особенности каждой заинтересованной стороны. Она включает в себя: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ED11F04-D26C-297F-7237-3AEE75950730}"/>
              </a:ext>
            </a:extLst>
          </p:cNvPr>
          <p:cNvSpPr/>
          <p:nvPr/>
        </p:nvSpPr>
        <p:spPr>
          <a:xfrm flipV="1">
            <a:off x="1030711" y="1567394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004916C-6CCD-5A93-2FCB-B5530AFF7633}"/>
              </a:ext>
            </a:extLst>
          </p:cNvPr>
          <p:cNvSpPr txBox="1">
            <a:spLocks/>
          </p:cNvSpPr>
          <p:nvPr/>
        </p:nvSpPr>
        <p:spPr>
          <a:xfrm>
            <a:off x="947855" y="1690389"/>
            <a:ext cx="10084157" cy="386429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Разработка плана коммуникаций:</a:t>
            </a:r>
            <a:endParaRPr lang="ru-RU" dirty="0">
              <a:solidFill>
                <a:srgbClr val="C00000"/>
              </a:solidFill>
            </a:endParaRPr>
          </a:p>
          <a:p>
            <a:pPr marL="900113" lvl="1" indent="-442913">
              <a:buClr>
                <a:schemeClr val="tx1"/>
              </a:buClr>
              <a:buSzPct val="120000"/>
              <a:buFont typeface="Wingdings" panose="05000000000000000000" pitchFamily="2" charset="2"/>
              <a:buChar char="ü"/>
            </a:pPr>
            <a:r>
              <a:rPr lang="ru-RU" b="1" dirty="0"/>
              <a:t>Определите частоту и формат коммуникации:</a:t>
            </a:r>
            <a:r>
              <a:rPr lang="ru-RU" dirty="0"/>
              <a:t> Какие отчеты, презентации, встречи и каналы коммуникации будут использоваться? Согласуйте это с каждой заинтересованной стороной.</a:t>
            </a:r>
          </a:p>
          <a:p>
            <a:pPr marL="900113" lvl="1" indent="-442913">
              <a:buClr>
                <a:schemeClr val="tx1"/>
              </a:buClr>
              <a:buSzPct val="120000"/>
              <a:buFont typeface="Wingdings" panose="05000000000000000000" pitchFamily="2" charset="2"/>
              <a:buChar char="ü"/>
            </a:pPr>
            <a:r>
              <a:rPr lang="ru-RU" b="1" dirty="0"/>
              <a:t>Подготовьте материалы:</a:t>
            </a:r>
            <a:r>
              <a:rPr lang="ru-RU" dirty="0"/>
              <a:t> Создайте четкие, понятные и адаптированные под конкретную аудиторию отчеты, презентации, дашборды, которые будут отражать ключевые результаты. Используйте визуализацию данных.</a:t>
            </a:r>
          </a:p>
          <a:p>
            <a:pPr marL="900113" lvl="1" indent="-442913">
              <a:buClr>
                <a:schemeClr val="tx1"/>
              </a:buClr>
              <a:buSzPct val="120000"/>
              <a:buFont typeface="Wingdings" panose="05000000000000000000" pitchFamily="2" charset="2"/>
              <a:buChar char="ü"/>
            </a:pPr>
            <a:r>
              <a:rPr lang="ru-RU" b="1" dirty="0"/>
              <a:t>Разработайте график встреч:</a:t>
            </a:r>
            <a:r>
              <a:rPr lang="ru-RU" dirty="0"/>
              <a:t> Регулярные встречи, статусные отчеты и обновления помогут держать всех в курсе прогресса.</a:t>
            </a:r>
          </a:p>
          <a:p>
            <a:pPr>
              <a:buFont typeface="Wingdings" panose="05000000000000000000" pitchFamily="2" charset="2"/>
              <a:buChar char="ü"/>
            </a:pP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CC621F5-A63F-3C9C-E976-97AE259CD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60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870FA-3848-6E17-112B-02EE0B9EE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225EF9-E475-FEEF-B5EE-7C2D8F73C5C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35192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Стратегии вовлечения заинтересованных сторон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C3DF67-3489-C1FB-49DC-7B55DD1BC53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9908" y="728184"/>
            <a:ext cx="10161395" cy="6130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Разработка стратегии вовлечения - это планирование, которое учитывает особенности каждой заинтересованной стороны. Она включает в себя:</a:t>
            </a:r>
          </a:p>
          <a:p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59A0B47-A6AF-A4D7-F24B-CF43D1BB3DA7}"/>
              </a:ext>
            </a:extLst>
          </p:cNvPr>
          <p:cNvSpPr/>
          <p:nvPr/>
        </p:nvSpPr>
        <p:spPr>
          <a:xfrm flipV="1">
            <a:off x="1053921" y="1435267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DCB6179-7F81-8162-A321-B13047457A55}"/>
              </a:ext>
            </a:extLst>
          </p:cNvPr>
          <p:cNvSpPr txBox="1">
            <a:spLocks/>
          </p:cNvSpPr>
          <p:nvPr/>
        </p:nvSpPr>
        <p:spPr>
          <a:xfrm>
            <a:off x="1137146" y="1558435"/>
            <a:ext cx="10084157" cy="386429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chemeClr val="tx1"/>
              </a:buClr>
            </a:pPr>
            <a:r>
              <a:rPr lang="ru-RU" b="1" dirty="0"/>
              <a:t>Управление ожиданиями:</a:t>
            </a:r>
            <a:endParaRPr lang="ru-RU" dirty="0"/>
          </a:p>
          <a:p>
            <a:pPr lvl="1">
              <a:buClr>
                <a:schemeClr val="tx1"/>
              </a:buClr>
            </a:pPr>
            <a:r>
              <a:rPr lang="ru-RU" dirty="0"/>
              <a:t>Будьте реалистичны в своих обещаниях. Не переоценивайте возможности.</a:t>
            </a:r>
          </a:p>
          <a:p>
            <a:pPr lvl="1">
              <a:buClr>
                <a:schemeClr val="tx1"/>
              </a:buClr>
            </a:pPr>
            <a:r>
              <a:rPr lang="ru-RU" dirty="0"/>
              <a:t>Четко объясняйте ограничения данных и аналитических методов.</a:t>
            </a:r>
          </a:p>
          <a:p>
            <a:pPr lvl="1">
              <a:buClr>
                <a:schemeClr val="tx1"/>
              </a:buClr>
            </a:pPr>
            <a:r>
              <a:rPr lang="ru-RU" dirty="0"/>
              <a:t>Регулярно обновляйте информацию о ходе работы, прогрессе и возможных изменениях.</a:t>
            </a:r>
          </a:p>
          <a:p>
            <a:pPr lvl="0">
              <a:buClr>
                <a:schemeClr val="tx1"/>
              </a:buClr>
            </a:pPr>
            <a:r>
              <a:rPr lang="ru-RU" b="1" dirty="0"/>
              <a:t>Получение обратной связи:</a:t>
            </a:r>
            <a:endParaRPr lang="ru-RU" dirty="0"/>
          </a:p>
          <a:p>
            <a:pPr lvl="1">
              <a:buClr>
                <a:schemeClr val="tx1"/>
              </a:buClr>
            </a:pPr>
            <a:r>
              <a:rPr lang="ru-RU" dirty="0"/>
              <a:t>Регулярно запрашивайте обратную связь о вашей работе.</a:t>
            </a:r>
          </a:p>
          <a:p>
            <a:pPr lvl="1">
              <a:buClr>
                <a:schemeClr val="tx1"/>
              </a:buClr>
            </a:pPr>
            <a:r>
              <a:rPr lang="ru-RU" dirty="0"/>
              <a:t>Будьте открыты к критике и предложениям.</a:t>
            </a:r>
          </a:p>
          <a:p>
            <a:pPr lvl="1">
              <a:buClr>
                <a:schemeClr val="tx1"/>
              </a:buClr>
            </a:pPr>
            <a:r>
              <a:rPr lang="ru-RU" dirty="0"/>
              <a:t>Вносите изменения в соответствии с полученной обратной связью.</a:t>
            </a:r>
          </a:p>
          <a:p>
            <a:pPr lvl="0">
              <a:buClr>
                <a:schemeClr val="tx1"/>
              </a:buClr>
            </a:pPr>
            <a:r>
              <a:rPr lang="ru-RU" b="1" dirty="0"/>
              <a:t>Мониторинг и оценка:</a:t>
            </a:r>
            <a:endParaRPr lang="ru-RU" dirty="0"/>
          </a:p>
          <a:p>
            <a:pPr lvl="1">
              <a:buClr>
                <a:schemeClr val="tx1"/>
              </a:buClr>
            </a:pPr>
            <a:r>
              <a:rPr lang="ru-RU" dirty="0"/>
              <a:t>Регулярно оценивайте эффективность вашего взаимодействия с заинтересованными сторонами.</a:t>
            </a:r>
          </a:p>
          <a:p>
            <a:pPr lvl="1">
              <a:buClr>
                <a:schemeClr val="tx1"/>
              </a:buClr>
            </a:pPr>
            <a:r>
              <a:rPr lang="ru-RU" dirty="0"/>
              <a:t>Адаптируйте свою стратегию по мере необходимости.</a:t>
            </a:r>
          </a:p>
          <a:p>
            <a:pPr>
              <a:buClr>
                <a:schemeClr val="tx1"/>
              </a:buClr>
            </a:pP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825A222-7F26-CA52-075B-356E4799C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5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53E2B-6DC5-5E44-85F9-3E781C17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DE451-57D3-2137-2C54-BC6C259CCA1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27139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Подготовка к взаимодействию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1915D1-F281-9FBB-D184-5F1A740D5B8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34428" y="813613"/>
            <a:ext cx="10161395" cy="874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Чтобы взаимодействие было эффективным, необходимо к нему тщательно подготовиться:</a:t>
            </a:r>
          </a:p>
          <a:p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6DC17EE-2C52-9DFB-8271-6FA32D3B07BF}"/>
              </a:ext>
            </a:extLst>
          </p:cNvPr>
          <p:cNvSpPr txBox="1">
            <a:spLocks/>
          </p:cNvSpPr>
          <p:nvPr/>
        </p:nvSpPr>
        <p:spPr>
          <a:xfrm>
            <a:off x="1207764" y="1688319"/>
            <a:ext cx="4696324" cy="19761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42913" lvl="0" indent="-44291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Изучите бизнес</a:t>
            </a:r>
          </a:p>
          <a:p>
            <a:pPr marL="442913" lvl="0" indent="-44291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Определите цели встречи/презентации</a:t>
            </a:r>
          </a:p>
          <a:p>
            <a:pPr marL="442913" lvl="0" indent="-44291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Подготовьте материалы</a:t>
            </a:r>
          </a:p>
          <a:p>
            <a:pPr marL="442913" lvl="0" indent="-44291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Практикуйтесь</a:t>
            </a:r>
          </a:p>
          <a:p>
            <a:pPr marL="442913" lvl="0" indent="-442913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ru-RU" sz="18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F074BD8-0B77-7A43-A660-7DB140EE5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59B5EA9A-5DDE-E473-ED7E-AF319A513F60}"/>
              </a:ext>
            </a:extLst>
          </p:cNvPr>
          <p:cNvSpPr txBox="1">
            <a:spLocks/>
          </p:cNvSpPr>
          <p:nvPr/>
        </p:nvSpPr>
        <p:spPr>
          <a:xfrm>
            <a:off x="6359837" y="1688318"/>
            <a:ext cx="4380236" cy="19761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42913" lvl="0" indent="-44291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Будьте готовы к вопросам</a:t>
            </a:r>
            <a:r>
              <a:rPr lang="ru-RU" sz="1800" dirty="0"/>
              <a:t>.</a:t>
            </a:r>
          </a:p>
          <a:p>
            <a:pPr marL="442913" lvl="0" indent="-44291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Планируйте время</a:t>
            </a:r>
          </a:p>
          <a:p>
            <a:pPr marL="442913" lvl="0" indent="-44291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Определите каналы коммуникации</a:t>
            </a:r>
            <a:endParaRPr lang="ru-RU" sz="1800" dirty="0"/>
          </a:p>
          <a:p>
            <a:pPr marL="442913" lvl="0" indent="-44291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Слушайте активно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9291815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77AC0-D6A9-B38A-EDD1-1353AF6F9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032D43-84BF-67B5-2208-80F4BF7FFC5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382894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Инструменты и техники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0F2C42-4543-215A-5953-DD84E34B9A5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82750" y="679219"/>
            <a:ext cx="10161395" cy="874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Для успешного взаимодействия можно использовать следующие инструменты и техники: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06639F9-A5E8-8525-740A-8599A39692DC}"/>
              </a:ext>
            </a:extLst>
          </p:cNvPr>
          <p:cNvSpPr txBox="1">
            <a:spLocks/>
          </p:cNvSpPr>
          <p:nvPr/>
        </p:nvSpPr>
        <p:spPr>
          <a:xfrm>
            <a:off x="1442645" y="1336030"/>
            <a:ext cx="10084157" cy="425896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>
              <a:buClrTx/>
              <a:buFont typeface="Wingdings" panose="05000000000000000000" pitchFamily="2" charset="2"/>
              <a:buChar char="v"/>
            </a:pPr>
            <a:r>
              <a:rPr lang="ru-RU" b="1" dirty="0" err="1"/>
              <a:t>SWOT</a:t>
            </a:r>
            <a:r>
              <a:rPr lang="ru-RU" b="1" dirty="0"/>
              <a:t>-анализ (сильных сторон, слабых сторон, возможностей и угроз):</a:t>
            </a:r>
            <a:r>
              <a:rPr lang="ru-RU" dirty="0"/>
              <a:t> Помогает выявить сильные и слабые стороны, возможности и угрозы, связанные с проектом.</a:t>
            </a:r>
          </a:p>
          <a:p>
            <a:pPr lvl="0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Матрица заинтересованных сторон:</a:t>
            </a:r>
            <a:r>
              <a:rPr lang="ru-RU" dirty="0"/>
              <a:t> Позволяет классифицировать заинтересованные стороны по их влиянию и заинтересованности.</a:t>
            </a:r>
          </a:p>
          <a:p>
            <a:pPr lvl="0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Опросы:</a:t>
            </a:r>
            <a:r>
              <a:rPr lang="ru-RU" dirty="0"/>
              <a:t> Помогают получить информацию о потребностях и ожиданиях заинтересованных сторон.</a:t>
            </a:r>
          </a:p>
          <a:p>
            <a:pPr lvl="0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Визуализация данных:</a:t>
            </a:r>
            <a:r>
              <a:rPr lang="ru-RU" dirty="0"/>
              <a:t> Эффективный способ представить сложные данные в понятной форме.</a:t>
            </a:r>
          </a:p>
          <a:p>
            <a:pPr lvl="0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Сторителлинг:</a:t>
            </a:r>
            <a:r>
              <a:rPr lang="ru-RU" dirty="0"/>
              <a:t> Использование историй для передачи информации и убеждения.</a:t>
            </a:r>
          </a:p>
          <a:p>
            <a:pPr lvl="0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Коммуникационные платформы:</a:t>
            </a:r>
            <a:r>
              <a:rPr lang="ru-RU" dirty="0"/>
              <a:t> </a:t>
            </a:r>
            <a:r>
              <a:rPr lang="ru-RU" dirty="0" err="1"/>
              <a:t>Slack</a:t>
            </a:r>
            <a:r>
              <a:rPr lang="ru-RU" dirty="0"/>
              <a:t>, Microsoft </a:t>
            </a:r>
            <a:r>
              <a:rPr lang="ru-RU" dirty="0" err="1"/>
              <a:t>Teams</a:t>
            </a:r>
            <a:r>
              <a:rPr lang="ru-RU" dirty="0"/>
              <a:t>, Zoom для организации встреч и обмена информацией.</a:t>
            </a:r>
          </a:p>
          <a:p>
            <a:pPr lvl="0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Инструменты визуализации данных:</a:t>
            </a:r>
            <a:r>
              <a:rPr lang="ru-RU" dirty="0"/>
              <a:t> </a:t>
            </a:r>
            <a:r>
              <a:rPr lang="ru-RU" dirty="0" err="1"/>
              <a:t>Tableau</a:t>
            </a:r>
            <a:r>
              <a:rPr lang="ru-RU" dirty="0"/>
              <a:t>, Power </a:t>
            </a:r>
            <a:r>
              <a:rPr lang="ru-RU" dirty="0" err="1"/>
              <a:t>BI</a:t>
            </a:r>
            <a:r>
              <a:rPr lang="ru-RU" dirty="0"/>
              <a:t>, Google Data Studio.</a:t>
            </a:r>
          </a:p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FA8221B-82F5-04C8-862D-CCC337850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762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4588B-B99F-F26F-1626-9193D79E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232DC0-7395-5E6E-A56E-15E571577F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41888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Типичные ошибки и как их избежать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6442E3F-43FD-3A56-07BC-9C1011D86D9F}"/>
              </a:ext>
            </a:extLst>
          </p:cNvPr>
          <p:cNvSpPr txBox="1">
            <a:spLocks/>
          </p:cNvSpPr>
          <p:nvPr/>
        </p:nvSpPr>
        <p:spPr>
          <a:xfrm>
            <a:off x="1053921" y="1078291"/>
            <a:ext cx="10084157" cy="42589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Недостаточное понимание потребностей:</a:t>
            </a:r>
            <a:r>
              <a:rPr lang="ru-RU" sz="1800" dirty="0"/>
              <a:t> Не тратьте время на создание отчетов, которые никому не нужны. Решение: регулярно общайтесь с заинтересованными сторонами, задавайте вопросы, слушайте их.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Сложный язык:</a:t>
            </a:r>
            <a:r>
              <a:rPr lang="ru-RU" sz="1800" dirty="0"/>
              <a:t> Избегайте жаргона и технических терминов. Решение: Адаптируйте язык к уровню аудитории.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Недостаточная визуализация:</a:t>
            </a:r>
            <a:r>
              <a:rPr lang="ru-RU" sz="1800" dirty="0"/>
              <a:t> Не используйте скучные таблицы. Решение: Применяйте визуализацию данных, чтобы сделать информацию более понятной.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Ожидания:</a:t>
            </a:r>
            <a:r>
              <a:rPr lang="ru-RU" sz="1800" dirty="0"/>
              <a:t> Не давайте обещаний, которые не можете выполнить. Решение: Четко определяйте цели и ограничения.</a:t>
            </a:r>
          </a:p>
          <a:p>
            <a:pPr lvl="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Отсутствие обратной связи:</a:t>
            </a:r>
            <a:r>
              <a:rPr lang="ru-RU" sz="1800" dirty="0"/>
              <a:t> Не бойтесь критики. Решение: Регулярно запрашивайте обратную связь и вносите изменения.</a:t>
            </a:r>
          </a:p>
          <a:p>
            <a:endParaRPr lang="ru-RU" sz="1800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FF9CD9FC-54FA-6A17-3ADE-71894F555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315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A47A9-BDFF-70BE-2D8D-5C1989914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98763-A79B-E922-EFE5-0A1FE13F96E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394890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Анализ степени участия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3089F56-9A74-F4D5-5C92-B9F0A3DAC0B8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091757F-7F1E-8AA2-3BFC-5BE6DC3E97ED}"/>
              </a:ext>
            </a:extLst>
          </p:cNvPr>
          <p:cNvSpPr txBox="1">
            <a:spLocks/>
          </p:cNvSpPr>
          <p:nvPr/>
        </p:nvSpPr>
        <p:spPr>
          <a:xfrm>
            <a:off x="932987" y="2330605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34CDD66-A4F3-20B8-0D39-E2294C1B5579}"/>
              </a:ext>
            </a:extLst>
          </p:cNvPr>
          <p:cNvSpPr txBox="1">
            <a:spLocks/>
          </p:cNvSpPr>
          <p:nvPr/>
        </p:nvSpPr>
        <p:spPr>
          <a:xfrm>
            <a:off x="1082488" y="726090"/>
            <a:ext cx="10161657" cy="478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Зачем анализировать степень участия?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709D388E-CD87-AB37-ABD5-39AB558D11CA}"/>
              </a:ext>
            </a:extLst>
          </p:cNvPr>
          <p:cNvSpPr txBox="1">
            <a:spLocks/>
          </p:cNvSpPr>
          <p:nvPr/>
        </p:nvSpPr>
        <p:spPr>
          <a:xfrm>
            <a:off x="847772" y="1477247"/>
            <a:ext cx="10473613" cy="408123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Оценить текущий уровень вовлеченности:</a:t>
            </a:r>
            <a:r>
              <a:rPr lang="ru-RU" dirty="0"/>
              <a:t> Определить, насколько активно заинтересованные стороны участвуют в различных этапах проекта.</a:t>
            </a:r>
          </a:p>
          <a:p>
            <a:r>
              <a:rPr lang="ru-RU" b="1" dirty="0"/>
              <a:t>Выявить слабые места:</a:t>
            </a:r>
            <a:r>
              <a:rPr lang="ru-RU" dirty="0"/>
              <a:t> Обнаружить области, где участие недостаточное или, наоборот, избыточное, что может приводить к проблемам.</a:t>
            </a:r>
          </a:p>
          <a:p>
            <a:r>
              <a:rPr lang="ru-RU" b="1" dirty="0"/>
              <a:t>Оптимизировать коммуникации:</a:t>
            </a:r>
            <a:r>
              <a:rPr lang="ru-RU" dirty="0"/>
              <a:t> Адаптировать каналы и частоту коммуникаций для повышения эффективности.</a:t>
            </a:r>
          </a:p>
          <a:p>
            <a:r>
              <a:rPr lang="ru-RU" b="1" dirty="0"/>
              <a:t>Обеспечить соответствие ожиданиям:</a:t>
            </a:r>
            <a:r>
              <a:rPr lang="ru-RU" dirty="0"/>
              <a:t> Убедиться, что все заинтересованные стороны находятся на одной волне и понимают свои роли.</a:t>
            </a:r>
          </a:p>
          <a:p>
            <a:r>
              <a:rPr lang="ru-RU" b="1" dirty="0"/>
              <a:t>Снизить риски:</a:t>
            </a:r>
            <a:r>
              <a:rPr lang="ru-RU" dirty="0"/>
              <a:t> Предотвратить возникновение проблем, связанных с недостаточным участием или конфликтами интересов.</a:t>
            </a:r>
          </a:p>
          <a:p>
            <a:r>
              <a:rPr lang="ru-RU" b="1" dirty="0"/>
              <a:t>Повысить шансы на успех:</a:t>
            </a:r>
            <a:r>
              <a:rPr lang="ru-RU" dirty="0"/>
              <a:t> Сделать проект более управляемым и повысить вероятность достижения поставленных целей.</a:t>
            </a:r>
          </a:p>
          <a:p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A48181C9-0BD3-5803-3DEE-FD80897FC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645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4A837-2504-209D-2454-3A8850A49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27FD2-59A7-2AB0-1EF2-C776146FB2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398114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Анализ степени участия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FB2F87-EC36-59B0-7F98-283931D4D0C0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B140D20-C587-08CD-D0E5-3AF5AFB99C02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F6256056-C4EF-195A-4F64-72135E8F78E5}"/>
              </a:ext>
            </a:extLst>
          </p:cNvPr>
          <p:cNvSpPr txBox="1">
            <a:spLocks/>
          </p:cNvSpPr>
          <p:nvPr/>
        </p:nvSpPr>
        <p:spPr>
          <a:xfrm>
            <a:off x="1082488" y="726091"/>
            <a:ext cx="10161657" cy="4330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 Методы анализа степени участия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0A9F4BD-A267-8927-E404-6CC198506864}"/>
              </a:ext>
            </a:extLst>
          </p:cNvPr>
          <p:cNvSpPr txBox="1">
            <a:spLocks/>
          </p:cNvSpPr>
          <p:nvPr/>
        </p:nvSpPr>
        <p:spPr>
          <a:xfrm>
            <a:off x="2314779" y="2126950"/>
            <a:ext cx="6386770" cy="246918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42913" indent="-442913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Матрица вовлеченности (</a:t>
            </a:r>
            <a:r>
              <a:rPr lang="ru-RU" b="1" dirty="0" err="1"/>
              <a:t>RACI</a:t>
            </a:r>
            <a:r>
              <a:rPr lang="ru-RU" b="1" dirty="0"/>
              <a:t>-матрица):</a:t>
            </a:r>
            <a:endParaRPr lang="ru-RU" dirty="0"/>
          </a:p>
          <a:p>
            <a:pPr marL="442913" indent="-442913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Анализ заинтересованных сторон</a:t>
            </a:r>
          </a:p>
          <a:p>
            <a:pPr marL="442913" indent="-442913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Анализ коммуникаций</a:t>
            </a:r>
          </a:p>
          <a:p>
            <a:pPr marL="442913" indent="-442913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Диаграммы сетевого анализа</a:t>
            </a:r>
            <a:endParaRPr lang="ru-RU" dirty="0"/>
          </a:p>
          <a:p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55B71CF3-DDCB-3A44-78FC-AFA446545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03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AB76-0DB6-4A71-4C79-0AFD3C2B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7C4C7-BCAB-44D0-9249-16F97FA8E5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398114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Анализ степени участия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C1F5DD1-E1F3-0626-7E5C-61A17FB0A757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77D78A9-B773-2989-D91F-5403D1C457A2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20796FF-5D15-6DEC-D5A7-5C580DE4C945}"/>
              </a:ext>
            </a:extLst>
          </p:cNvPr>
          <p:cNvSpPr txBox="1">
            <a:spLocks/>
          </p:cNvSpPr>
          <p:nvPr/>
        </p:nvSpPr>
        <p:spPr>
          <a:xfrm>
            <a:off x="1082488" y="726090"/>
            <a:ext cx="10161657" cy="478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Матрица вовлеченности (</a:t>
            </a:r>
            <a:r>
              <a:rPr lang="ru-RU" b="1" dirty="0" err="1">
                <a:solidFill>
                  <a:srgbClr val="C00000"/>
                </a:solidFill>
              </a:rPr>
              <a:t>RACI</a:t>
            </a:r>
            <a:r>
              <a:rPr lang="ru-RU" b="1" dirty="0">
                <a:solidFill>
                  <a:srgbClr val="C00000"/>
                </a:solidFill>
              </a:rPr>
              <a:t>-матрица):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4917A29-E931-1039-7E19-36789813862C}"/>
              </a:ext>
            </a:extLst>
          </p:cNvPr>
          <p:cNvSpPr txBox="1">
            <a:spLocks/>
          </p:cNvSpPr>
          <p:nvPr/>
        </p:nvSpPr>
        <p:spPr>
          <a:xfrm>
            <a:off x="825190" y="1683620"/>
            <a:ext cx="11028555" cy="44482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Clr>
                <a:schemeClr val="tx1"/>
              </a:buClr>
              <a:buNone/>
            </a:pPr>
            <a:r>
              <a:rPr lang="ru-RU" b="1" dirty="0" err="1"/>
              <a:t>RACI</a:t>
            </a:r>
            <a:r>
              <a:rPr lang="ru-RU" b="1" dirty="0"/>
              <a:t> расшифровывается как:</a:t>
            </a:r>
          </a:p>
          <a:p>
            <a:pPr marL="457200" lvl="1" indent="0">
              <a:buClr>
                <a:schemeClr val="tx1"/>
              </a:buClr>
              <a:buNone/>
            </a:pPr>
            <a:endParaRPr lang="ru-RU" b="1" dirty="0"/>
          </a:p>
          <a:p>
            <a:pPr marL="1887538" lvl="2" indent="-63341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R (</a:t>
            </a:r>
            <a:r>
              <a:rPr lang="ru-RU" sz="1800" b="1" dirty="0" err="1"/>
              <a:t>Responsible</a:t>
            </a:r>
            <a:r>
              <a:rPr lang="ru-RU" sz="1800" b="1" dirty="0"/>
              <a:t> – Ответственный):</a:t>
            </a:r>
            <a:r>
              <a:rPr lang="ru-RU" sz="1800" dirty="0"/>
              <a:t> Кто выполняет задачу?</a:t>
            </a:r>
          </a:p>
          <a:p>
            <a:pPr marL="1887538" lvl="2" indent="-63341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A (</a:t>
            </a:r>
            <a:r>
              <a:rPr lang="ru-RU" sz="1800" b="1" dirty="0" err="1"/>
              <a:t>Accountable</a:t>
            </a:r>
            <a:r>
              <a:rPr lang="ru-RU" sz="1800" b="1" dirty="0"/>
              <a:t> – Подотчетный):</a:t>
            </a:r>
            <a:r>
              <a:rPr lang="ru-RU" sz="1800" dirty="0"/>
              <a:t> Кто несет конечную ответственность за правильность выполнения задачи? Как правило, только один человек.</a:t>
            </a:r>
          </a:p>
          <a:p>
            <a:pPr marL="1887538" lvl="2" indent="-63341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C (</a:t>
            </a:r>
            <a:r>
              <a:rPr lang="ru-RU" sz="1800" b="1" dirty="0" err="1"/>
              <a:t>Consulted</a:t>
            </a:r>
            <a:r>
              <a:rPr lang="ru-RU" sz="1800" b="1" dirty="0"/>
              <a:t> – Консультируемый):</a:t>
            </a:r>
            <a:r>
              <a:rPr lang="ru-RU" sz="1800" dirty="0"/>
              <a:t> Кого консультируют перед принятием решения? Кто предоставляет информацию?</a:t>
            </a:r>
          </a:p>
          <a:p>
            <a:pPr marL="1887538" lvl="2" indent="-633413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sz="1800" b="1" dirty="0"/>
              <a:t>I (</a:t>
            </a:r>
            <a:r>
              <a:rPr lang="ru-RU" sz="1800" b="1" dirty="0" err="1"/>
              <a:t>Informed</a:t>
            </a:r>
            <a:r>
              <a:rPr lang="ru-RU" sz="1800" b="1" dirty="0"/>
              <a:t> – Информируемый):</a:t>
            </a:r>
            <a:r>
              <a:rPr lang="ru-RU" sz="1800" dirty="0"/>
              <a:t> Кто должен быть просто в курсе происходящего?</a:t>
            </a:r>
          </a:p>
          <a:p>
            <a:endParaRPr lang="ru-RU" sz="1800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9C86D903-C070-AE87-EF54-922BD2112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107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14393-5155-C54D-3A2D-E302316B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092EC-14FB-F6B0-E761-46C8D6BC27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9"/>
            <a:ext cx="10273448" cy="416720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Анализ степени участия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3D24DA-4FDE-E222-D983-AFAE2F506A5A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286FC65-382D-0876-F337-434A171968E1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6477FD13-6878-CB35-32A9-13D53EEC4482}"/>
              </a:ext>
            </a:extLst>
          </p:cNvPr>
          <p:cNvSpPr txBox="1">
            <a:spLocks/>
          </p:cNvSpPr>
          <p:nvPr/>
        </p:nvSpPr>
        <p:spPr>
          <a:xfrm>
            <a:off x="1082488" y="726090"/>
            <a:ext cx="10161657" cy="478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Матрица вовлеченности (</a:t>
            </a:r>
            <a:r>
              <a:rPr lang="ru-RU" b="1" dirty="0" err="1">
                <a:solidFill>
                  <a:srgbClr val="C00000"/>
                </a:solidFill>
              </a:rPr>
              <a:t>RACI</a:t>
            </a:r>
            <a:r>
              <a:rPr lang="ru-RU" b="1" dirty="0">
                <a:solidFill>
                  <a:srgbClr val="C00000"/>
                </a:solidFill>
              </a:rPr>
              <a:t>-матрица):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838D171-915B-EF9B-FD1B-0DDB0CB8C833}"/>
              </a:ext>
            </a:extLst>
          </p:cNvPr>
          <p:cNvSpPr txBox="1">
            <a:spLocks/>
          </p:cNvSpPr>
          <p:nvPr/>
        </p:nvSpPr>
        <p:spPr>
          <a:xfrm>
            <a:off x="825190" y="1683620"/>
            <a:ext cx="11028555" cy="44482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  <a:p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D436983-D5EC-6FB1-2063-F59F3257D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569811"/>
              </p:ext>
            </p:extLst>
          </p:nvPr>
        </p:nvGraphicFramePr>
        <p:xfrm>
          <a:off x="1053922" y="1323405"/>
          <a:ext cx="10084156" cy="37980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4840">
                  <a:extLst>
                    <a:ext uri="{9D8B030D-6E8A-4147-A177-3AD203B41FA5}">
                      <a16:colId xmlns:a16="http://schemas.microsoft.com/office/drawing/2014/main" val="3673878521"/>
                    </a:ext>
                  </a:extLst>
                </a:gridCol>
                <a:gridCol w="1849829">
                  <a:extLst>
                    <a:ext uri="{9D8B030D-6E8A-4147-A177-3AD203B41FA5}">
                      <a16:colId xmlns:a16="http://schemas.microsoft.com/office/drawing/2014/main" val="3571291784"/>
                    </a:ext>
                  </a:extLst>
                </a:gridCol>
                <a:gridCol w="1849829">
                  <a:extLst>
                    <a:ext uri="{9D8B030D-6E8A-4147-A177-3AD203B41FA5}">
                      <a16:colId xmlns:a16="http://schemas.microsoft.com/office/drawing/2014/main" val="657643767"/>
                    </a:ext>
                  </a:extLst>
                </a:gridCol>
                <a:gridCol w="1849829">
                  <a:extLst>
                    <a:ext uri="{9D8B030D-6E8A-4147-A177-3AD203B41FA5}">
                      <a16:colId xmlns:a16="http://schemas.microsoft.com/office/drawing/2014/main" val="1269119143"/>
                    </a:ext>
                  </a:extLst>
                </a:gridCol>
                <a:gridCol w="1849829">
                  <a:extLst>
                    <a:ext uri="{9D8B030D-6E8A-4147-A177-3AD203B41FA5}">
                      <a16:colId xmlns:a16="http://schemas.microsoft.com/office/drawing/2014/main" val="797033243"/>
                    </a:ext>
                  </a:extLst>
                </a:gridCol>
              </a:tblGrid>
              <a:tr h="1017283"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Задача</a:t>
                      </a:r>
                      <a:endParaRPr lang="ru-RU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Разработчик</a:t>
                      </a:r>
                      <a:endParaRPr lang="ru-RU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Бизнес-аналитик</a:t>
                      </a:r>
                      <a:endParaRPr lang="ru-RU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Руководитель отдела</a:t>
                      </a:r>
                      <a:endParaRPr lang="ru-RU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Конечный пользователь</a:t>
                      </a:r>
                      <a:endParaRPr lang="ru-RU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980243"/>
                  </a:ext>
                </a:extLst>
              </a:tr>
              <a:tr h="629747">
                <a:tc>
                  <a:txBody>
                    <a:bodyPr/>
                    <a:lstStyle/>
                    <a:p>
                      <a:pPr algn="l">
                        <a:spcAft>
                          <a:spcPts val="1125"/>
                        </a:spcAft>
                        <a:buNone/>
                      </a:pPr>
                      <a:r>
                        <a:rPr lang="ru-RU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Сбор данных</a:t>
                      </a:r>
                      <a:endParaRPr lang="ru-RU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R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C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I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I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0685"/>
                  </a:ext>
                </a:extLst>
              </a:tr>
              <a:tr h="657668">
                <a:tc>
                  <a:txBody>
                    <a:bodyPr/>
                    <a:lstStyle/>
                    <a:p>
                      <a:pPr algn="l">
                        <a:spcAft>
                          <a:spcPts val="1125"/>
                        </a:spcAft>
                        <a:buNone/>
                      </a:pPr>
                      <a:r>
                        <a:rPr lang="ru-RU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Анализ данных</a:t>
                      </a:r>
                      <a:endParaRPr lang="ru-RU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C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R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A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>
                          <a:effectLst/>
                        </a:rPr>
                        <a:t>I</a:t>
                      </a:r>
                      <a:endParaRPr lang="ru-RU" sz="2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1513626"/>
                  </a:ext>
                </a:extLst>
              </a:tr>
              <a:tr h="301523">
                <a:tc>
                  <a:txBody>
                    <a:bodyPr/>
                    <a:lstStyle/>
                    <a:p>
                      <a:pPr algn="l">
                        <a:spcAft>
                          <a:spcPts val="1125"/>
                        </a:spcAft>
                        <a:buNone/>
                      </a:pPr>
                      <a:r>
                        <a:rPr lang="ru-RU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Визуализация данных</a:t>
                      </a: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R</a:t>
                      </a:r>
                    </a:p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C</a:t>
                      </a:r>
                    </a:p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A</a:t>
                      </a:r>
                    </a:p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C</a:t>
                      </a:r>
                    </a:p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53391"/>
                  </a:ext>
                </a:extLst>
              </a:tr>
              <a:tr h="629747">
                <a:tc>
                  <a:txBody>
                    <a:bodyPr/>
                    <a:lstStyle/>
                    <a:p>
                      <a:pPr algn="l">
                        <a:spcAft>
                          <a:spcPts val="1125"/>
                        </a:spcAft>
                        <a:buNone/>
                      </a:pPr>
                      <a:r>
                        <a:rPr lang="ru-RU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Внедрение решения</a:t>
                      </a:r>
                      <a:endParaRPr lang="ru-RU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>
                          <a:effectLst/>
                        </a:rPr>
                        <a:t>C</a:t>
                      </a:r>
                      <a:endParaRPr lang="ru-RU" sz="2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>
                          <a:effectLst/>
                        </a:rPr>
                        <a:t>R</a:t>
                      </a:r>
                      <a:endParaRPr lang="ru-RU" sz="20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A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125"/>
                        </a:spcAft>
                        <a:buNone/>
                      </a:pPr>
                      <a:r>
                        <a:rPr lang="ru-RU" sz="2000" b="1" dirty="0">
                          <a:effectLst/>
                        </a:rPr>
                        <a:t>R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785870361"/>
                  </a:ext>
                </a:extLst>
              </a:tr>
            </a:tbl>
          </a:graphicData>
        </a:graphic>
      </p:graphicFrame>
      <p:pic>
        <p:nvPicPr>
          <p:cNvPr id="8" name="Объект 5">
            <a:extLst>
              <a:ext uri="{FF2B5EF4-FFF2-40B4-BE49-F238E27FC236}">
                <a16:creationId xmlns:a16="http://schemas.microsoft.com/office/drawing/2014/main" id="{565D477C-53AF-20C1-5E25-8CB50AB7E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165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D381-E854-2B2A-8432-9592531A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5">
            <a:extLst>
              <a:ext uri="{FF2B5EF4-FFF2-40B4-BE49-F238E27FC236}">
                <a16:creationId xmlns:a16="http://schemas.microsoft.com/office/drawing/2014/main" id="{3435ACC2-B1BB-2541-74C0-DEDAC8180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3094E-0886-3E71-55A9-73F2A3D251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345220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Анализ степени участия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5BF0B72-AA63-FFB1-DC41-4DD1CB8FDC7D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7E7AFB36-827D-DC7D-30BD-183161A04CC4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C1E1C3B-35F2-587A-F213-DD290E19DC9C}"/>
              </a:ext>
            </a:extLst>
          </p:cNvPr>
          <p:cNvSpPr txBox="1">
            <a:spLocks/>
          </p:cNvSpPr>
          <p:nvPr/>
        </p:nvSpPr>
        <p:spPr>
          <a:xfrm>
            <a:off x="1082488" y="726090"/>
            <a:ext cx="10161657" cy="478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Анализ заинтересованных сторон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0D80F69F-0E43-C17B-6567-FB41278BA70A}"/>
              </a:ext>
            </a:extLst>
          </p:cNvPr>
          <p:cNvSpPr txBox="1">
            <a:spLocks/>
          </p:cNvSpPr>
          <p:nvPr/>
        </p:nvSpPr>
        <p:spPr>
          <a:xfrm>
            <a:off x="1616928" y="2162132"/>
            <a:ext cx="9712711" cy="36142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Высокое влияние, высокая заинтересованность </a:t>
            </a:r>
            <a:r>
              <a:rPr lang="ru-RU" dirty="0"/>
              <a:t>(Управляйте внимательно): Ключевые заинтересованные стороны. Требуют постоянного внимания и активного вовлечения.</a:t>
            </a:r>
          </a:p>
          <a:p>
            <a:r>
              <a:rPr lang="ru-RU" b="1" dirty="0"/>
              <a:t>Высокое влияние, низкая заинтересованность </a:t>
            </a:r>
            <a:r>
              <a:rPr lang="ru-RU" dirty="0"/>
              <a:t>(Удовлетворяйте): Могут оказать большое влияние на проект, но не очень заинтересованы. Необходимо поддерживать их интерес и информировать.</a:t>
            </a:r>
          </a:p>
          <a:p>
            <a:r>
              <a:rPr lang="ru-RU" b="1" dirty="0"/>
              <a:t>Низкое влияние, высокая заинтересованность </a:t>
            </a:r>
            <a:r>
              <a:rPr lang="ru-RU" dirty="0"/>
              <a:t>(Информируйте): Заинтересованы в проекте, но не могут существенно повлиять на него. Необходимо держать их в курсе.</a:t>
            </a:r>
          </a:p>
          <a:p>
            <a:r>
              <a:rPr lang="ru-RU" b="1" dirty="0"/>
              <a:t>Низкое влияние, низкая заинтересованность </a:t>
            </a:r>
            <a:r>
              <a:rPr lang="ru-RU" dirty="0"/>
              <a:t>(Мониторьте): Минимальное внимание. Просто отслеживайте их участие.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DCFEFE-B33B-CB2E-5E45-3D0404290AA0}"/>
              </a:ext>
            </a:extLst>
          </p:cNvPr>
          <p:cNvSpPr txBox="1"/>
          <p:nvPr/>
        </p:nvSpPr>
        <p:spPr>
          <a:xfrm>
            <a:off x="862361" y="1394906"/>
            <a:ext cx="6113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002060"/>
                </a:solidFill>
              </a:rPr>
              <a:t>Матрица “</a:t>
            </a:r>
            <a:r>
              <a:rPr lang="ru-RU" sz="1600" b="1" dirty="0">
                <a:solidFill>
                  <a:srgbClr val="002060"/>
                </a:solidFill>
              </a:rPr>
              <a:t>Влияние-Заинтересованность</a:t>
            </a:r>
            <a:r>
              <a:rPr lang="ru-RU" sz="1800" b="1" dirty="0">
                <a:solidFill>
                  <a:srgbClr val="002060"/>
                </a:solidFill>
              </a:rPr>
              <a:t>”:</a:t>
            </a:r>
            <a:r>
              <a:rPr lang="ru-RU" sz="1800" dirty="0">
                <a:solidFill>
                  <a:srgbClr val="002060"/>
                </a:solidFill>
              </a:rPr>
              <a:t> </a:t>
            </a:r>
            <a:br>
              <a:rPr lang="ru-RU" sz="1800" dirty="0"/>
            </a:br>
            <a:r>
              <a:rPr lang="ru-RU" sz="1800" dirty="0"/>
              <a:t>Делит заинтересованные стороны на 4 квадранта:</a:t>
            </a:r>
            <a:br>
              <a:rPr lang="ru-RU" sz="1800" dirty="0"/>
            </a:b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09337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975CB-2021-57E3-AB50-56AEF6D97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F4EF8-E3BE-A0AB-50EB-2C354849537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369332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Анализ степени участия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62C26B5-C97B-77AB-BB53-638C5B786F0D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3908B17-0B3E-452B-F8E4-258A491592E2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F228FB29-5DF0-79FE-D55A-E967930A06A7}"/>
              </a:ext>
            </a:extLst>
          </p:cNvPr>
          <p:cNvSpPr txBox="1">
            <a:spLocks/>
          </p:cNvSpPr>
          <p:nvPr/>
        </p:nvSpPr>
        <p:spPr>
          <a:xfrm>
            <a:off x="1082488" y="726090"/>
            <a:ext cx="10161657" cy="478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Анализ заинтересованных сторон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1A8F8591-A042-F813-01D4-362B77C4EA08}"/>
              </a:ext>
            </a:extLst>
          </p:cNvPr>
          <p:cNvSpPr txBox="1">
            <a:spLocks/>
          </p:cNvSpPr>
          <p:nvPr/>
        </p:nvSpPr>
        <p:spPr>
          <a:xfrm>
            <a:off x="1616928" y="2162132"/>
            <a:ext cx="9712711" cy="3614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08C3157-C0F3-C5CE-8009-6E7F08325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641419"/>
              </p:ext>
            </p:extLst>
          </p:nvPr>
        </p:nvGraphicFramePr>
        <p:xfrm>
          <a:off x="982599" y="1886601"/>
          <a:ext cx="10169652" cy="33658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9749">
                  <a:extLst>
                    <a:ext uri="{9D8B030D-6E8A-4147-A177-3AD203B41FA5}">
                      <a16:colId xmlns:a16="http://schemas.microsoft.com/office/drawing/2014/main" val="1769282268"/>
                    </a:ext>
                  </a:extLst>
                </a:gridCol>
                <a:gridCol w="4090019">
                  <a:extLst>
                    <a:ext uri="{9D8B030D-6E8A-4147-A177-3AD203B41FA5}">
                      <a16:colId xmlns:a16="http://schemas.microsoft.com/office/drawing/2014/main" val="1556793839"/>
                    </a:ext>
                  </a:extLst>
                </a:gridCol>
                <a:gridCol w="3389884">
                  <a:extLst>
                    <a:ext uri="{9D8B030D-6E8A-4147-A177-3AD203B41FA5}">
                      <a16:colId xmlns:a16="http://schemas.microsoft.com/office/drawing/2014/main" val="776713867"/>
                    </a:ext>
                  </a:extLst>
                </a:gridCol>
              </a:tblGrid>
              <a:tr h="829038">
                <a:tc>
                  <a:txBody>
                    <a:bodyPr/>
                    <a:lstStyle/>
                    <a:p>
                      <a:endParaRPr lang="ru-RU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125"/>
                        </a:spcAft>
                        <a:buNone/>
                      </a:pPr>
                      <a:r>
                        <a:rPr lang="ru-RU" sz="1800" dirty="0">
                          <a:solidFill>
                            <a:srgbClr val="002060"/>
                          </a:solidFill>
                          <a:effectLst/>
                        </a:rPr>
                        <a:t>Высокая Заинтересованность</a:t>
                      </a:r>
                      <a:endParaRPr lang="ru-RU" sz="18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125"/>
                        </a:spcAft>
                        <a:buNone/>
                      </a:pPr>
                      <a:r>
                        <a:rPr lang="ru-RU" sz="1800" dirty="0">
                          <a:solidFill>
                            <a:srgbClr val="002060"/>
                          </a:solidFill>
                          <a:effectLst/>
                        </a:rPr>
                        <a:t>Низкая Заинтересованность</a:t>
                      </a:r>
                      <a:endParaRPr lang="ru-RU" sz="18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233409"/>
                  </a:ext>
                </a:extLst>
              </a:tr>
              <a:tr h="1268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>
                          <a:solidFill>
                            <a:srgbClr val="002060"/>
                          </a:solidFill>
                          <a:effectLst/>
                        </a:rPr>
                        <a:t>Высокое Влияние</a:t>
                      </a:r>
                      <a:endParaRPr lang="ru-RU" sz="18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dirty="0">
                          <a:effectLst/>
                        </a:rPr>
                        <a:t>Управляйте внимательно (Руководство)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dirty="0">
                          <a:effectLst/>
                        </a:rPr>
                        <a:t>Удовлетворяйте (Акционеры)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532476"/>
                  </a:ext>
                </a:extLst>
              </a:tr>
              <a:tr h="1268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>
                          <a:solidFill>
                            <a:srgbClr val="002060"/>
                          </a:solidFill>
                          <a:effectLst/>
                        </a:rPr>
                        <a:t>Низкое Влияние</a:t>
                      </a:r>
                      <a:endParaRPr lang="ru-RU" sz="18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dirty="0">
                          <a:effectLst/>
                        </a:rPr>
                        <a:t>Информируйте (Конечные пользователи)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dirty="0">
                          <a:effectLst/>
                        </a:rPr>
                        <a:t>Мониторьте (Поставщики данных)</a:t>
                      </a:r>
                      <a:endParaRPr lang="ru-RU" sz="18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143942893"/>
                  </a:ext>
                </a:extLst>
              </a:tr>
            </a:tbl>
          </a:graphicData>
        </a:graphic>
      </p:graphicFrame>
      <p:pic>
        <p:nvPicPr>
          <p:cNvPr id="6" name="Объект 5">
            <a:extLst>
              <a:ext uri="{FF2B5EF4-FFF2-40B4-BE49-F238E27FC236}">
                <a16:creationId xmlns:a16="http://schemas.microsoft.com/office/drawing/2014/main" id="{14DB2077-5D79-8113-9F5D-89A435901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0C867E-98E0-267A-405C-AEACDE92084B}"/>
              </a:ext>
            </a:extLst>
          </p:cNvPr>
          <p:cNvSpPr txBox="1"/>
          <p:nvPr/>
        </p:nvSpPr>
        <p:spPr>
          <a:xfrm>
            <a:off x="1053921" y="1453236"/>
            <a:ext cx="6113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Пример матрицы “Влияние-Заинтересованность”: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84054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AC36-B030-0E1C-3E1A-1E1E6E120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0619D-A53B-F385-6E17-267D8AE252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Анализ степени участия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1E8FCD-7E61-3485-862E-F9BBE8B9B90E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6ACFE6D-C49D-6680-4148-8180D70C1B53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4DDBB25E-5E2F-23ED-3F25-4D8DE9FAB7AC}"/>
              </a:ext>
            </a:extLst>
          </p:cNvPr>
          <p:cNvSpPr txBox="1">
            <a:spLocks/>
          </p:cNvSpPr>
          <p:nvPr/>
        </p:nvSpPr>
        <p:spPr>
          <a:xfrm>
            <a:off x="1059646" y="1394906"/>
            <a:ext cx="10161657" cy="3909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b="1" dirty="0"/>
              <a:t>Методы:</a:t>
            </a:r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5D02CE5-3CFF-0D89-F6EC-C4693BB1E7EA}"/>
              </a:ext>
            </a:extLst>
          </p:cNvPr>
          <p:cNvSpPr txBox="1">
            <a:spLocks/>
          </p:cNvSpPr>
          <p:nvPr/>
        </p:nvSpPr>
        <p:spPr>
          <a:xfrm>
            <a:off x="1425367" y="2038944"/>
            <a:ext cx="8922965" cy="36142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Анализ журналов встреч</a:t>
            </a:r>
            <a:r>
              <a:rPr lang="ru-RU" dirty="0"/>
              <a:t>:  Оценка содержания встреч, принимаемых решений и участия различных сторон.</a:t>
            </a:r>
          </a:p>
          <a:p>
            <a:r>
              <a:rPr lang="ru-RU" b="1" dirty="0"/>
              <a:t>Опросы обратной связи</a:t>
            </a:r>
            <a:r>
              <a:rPr lang="ru-RU" dirty="0"/>
              <a:t>:  Сбор информации о удовлетворенности коммуникацией, её частоте и содержании.</a:t>
            </a:r>
          </a:p>
          <a:p>
            <a:r>
              <a:rPr lang="ru-RU" b="1" dirty="0"/>
              <a:t>Анализ электронной переписки</a:t>
            </a:r>
            <a:r>
              <a:rPr lang="ru-RU" dirty="0"/>
              <a:t>:  Оценка количества и характера обмена информацией.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6A095A-E817-8A40-7DEF-1A5528CCBC93}"/>
              </a:ext>
            </a:extLst>
          </p:cNvPr>
          <p:cNvSpPr txBox="1">
            <a:spLocks/>
          </p:cNvSpPr>
          <p:nvPr/>
        </p:nvSpPr>
        <p:spPr>
          <a:xfrm>
            <a:off x="1082488" y="726090"/>
            <a:ext cx="10161657" cy="478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Анализ коммуникаций -</a:t>
            </a:r>
            <a:r>
              <a:rPr lang="ru-RU" dirty="0">
                <a:solidFill>
                  <a:srgbClr val="C00000"/>
                </a:solidFill>
              </a:rPr>
              <a:t> Оценить эффективность каналов и частоты коммуникаций.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A7C4CFB-9724-55B4-9BE8-174CF5442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979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00F1-E41D-11D8-3563-6D5E01BEC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A0C65-795D-063C-2263-FB8D72FFF4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Анализ степени участия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0F103F9-9AC2-FD74-224E-B67AED54E7A3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153D69-F4C9-C980-EA49-99BCE5B987A9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E85A08C-EC2A-1DFA-7DDD-56259D54DE89}"/>
              </a:ext>
            </a:extLst>
          </p:cNvPr>
          <p:cNvSpPr txBox="1">
            <a:spLocks/>
          </p:cNvSpPr>
          <p:nvPr/>
        </p:nvSpPr>
        <p:spPr>
          <a:xfrm>
            <a:off x="1059646" y="1394906"/>
            <a:ext cx="10161657" cy="3909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A0400DC7-AABD-D0E5-194B-F99076E2AD4F}"/>
              </a:ext>
            </a:extLst>
          </p:cNvPr>
          <p:cNvSpPr txBox="1">
            <a:spLocks/>
          </p:cNvSpPr>
          <p:nvPr/>
        </p:nvSpPr>
        <p:spPr>
          <a:xfrm>
            <a:off x="1403065" y="1729339"/>
            <a:ext cx="8265043" cy="49417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Цель</a:t>
            </a:r>
            <a:r>
              <a:rPr lang="ru-RU" dirty="0"/>
              <a:t>: Визуализировать взаимосвязи между заинтересованными сторонами и оценить интенсивность коммуникаций.</a:t>
            </a:r>
          </a:p>
          <a:p>
            <a:endParaRPr lang="ru-RU" dirty="0"/>
          </a:p>
          <a:p>
            <a:r>
              <a:rPr lang="ru-RU" b="1" dirty="0"/>
              <a:t>Инструменты</a:t>
            </a:r>
            <a:r>
              <a:rPr lang="ru-RU" dirty="0"/>
              <a:t>: Программное обеспечение для сетевого анализа.</a:t>
            </a:r>
          </a:p>
          <a:p>
            <a:endParaRPr lang="ru-RU" dirty="0"/>
          </a:p>
          <a:p>
            <a:r>
              <a:rPr lang="ru-RU" b="1" dirty="0"/>
              <a:t>Применение</a:t>
            </a:r>
            <a:r>
              <a:rPr lang="ru-RU" dirty="0"/>
              <a:t>: Позволяет выявить ключевых игроков и определить каналы коммуникации.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AE5333-A3E1-FA9B-369C-E604B9FBB30E}"/>
              </a:ext>
            </a:extLst>
          </p:cNvPr>
          <p:cNvSpPr txBox="1">
            <a:spLocks/>
          </p:cNvSpPr>
          <p:nvPr/>
        </p:nvSpPr>
        <p:spPr>
          <a:xfrm>
            <a:off x="1082488" y="726090"/>
            <a:ext cx="10161657" cy="478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Диаграммы сетевого анализа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21FB5E0-D71D-684F-89D2-32526B67B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050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91CB9-67BE-EBEC-AA86-B0F25F44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F1A0A-6D16-E385-E776-E6D4010941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Анализ степени участия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79C0481-243A-F415-EA48-65F9B323D28D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2915F63F-C66D-27AB-820B-27FDF11A453C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683E6268-67F3-D7A7-757D-EBFB05CA2FFD}"/>
              </a:ext>
            </a:extLst>
          </p:cNvPr>
          <p:cNvSpPr txBox="1">
            <a:spLocks/>
          </p:cNvSpPr>
          <p:nvPr/>
        </p:nvSpPr>
        <p:spPr>
          <a:xfrm>
            <a:off x="1059646" y="1394906"/>
            <a:ext cx="10161657" cy="3909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b="1" dirty="0"/>
              <a:t>Примеры:</a:t>
            </a:r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7431E2A-5AEC-9288-CFAD-328E69933A3E}"/>
              </a:ext>
            </a:extLst>
          </p:cNvPr>
          <p:cNvSpPr txBox="1">
            <a:spLocks/>
          </p:cNvSpPr>
          <p:nvPr/>
        </p:nvSpPr>
        <p:spPr>
          <a:xfrm>
            <a:off x="1425367" y="2038944"/>
            <a:ext cx="8922965" cy="36142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CAA53F-BF60-7B89-5BC7-D1616B4B4380}"/>
              </a:ext>
            </a:extLst>
          </p:cNvPr>
          <p:cNvSpPr txBox="1">
            <a:spLocks/>
          </p:cNvSpPr>
          <p:nvPr/>
        </p:nvSpPr>
        <p:spPr>
          <a:xfrm>
            <a:off x="1082488" y="726090"/>
            <a:ext cx="10161657" cy="478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Диаграммы сетевого анализа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5C72951-ECCF-A73A-4CDD-88E3C987D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16" y="1975896"/>
            <a:ext cx="4128070" cy="35923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263E79-1A51-6B62-6D4A-E370B6B94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083" y="2130039"/>
            <a:ext cx="6558180" cy="314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Объект 5">
            <a:extLst>
              <a:ext uri="{FF2B5EF4-FFF2-40B4-BE49-F238E27FC236}">
                <a16:creationId xmlns:a16="http://schemas.microsoft.com/office/drawing/2014/main" id="{FDEE8FEB-AAAE-CE4E-F58B-919316CAE3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173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6B4D1-6AF2-1374-EFF9-81B155D92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84BC9-130E-DA97-3F52-EFB3E54D39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Анализ степени участия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91ADACD-088A-010A-9ED5-D816966F5A28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637BB13-43D4-BC5E-5E5C-D98B5899AB68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C8F512A7-5C2B-1AD9-B20C-A889B46C1D3B}"/>
              </a:ext>
            </a:extLst>
          </p:cNvPr>
          <p:cNvSpPr txBox="1">
            <a:spLocks/>
          </p:cNvSpPr>
          <p:nvPr/>
        </p:nvSpPr>
        <p:spPr>
          <a:xfrm>
            <a:off x="947855" y="1352799"/>
            <a:ext cx="10296290" cy="430034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b="1" dirty="0"/>
              <a:t>Определение целей:</a:t>
            </a:r>
            <a:r>
              <a:rPr lang="ru-RU" dirty="0"/>
              <a:t> Четко сформулируйте, что вы хотите достичь с помощью анализа (например, улучшить коммуникации, повысить эффективность работы).</a:t>
            </a:r>
          </a:p>
          <a:p>
            <a:pPr lvl="0"/>
            <a:r>
              <a:rPr lang="ru-RU" b="1" dirty="0"/>
              <a:t>Сбор данных:</a:t>
            </a:r>
            <a:r>
              <a:rPr lang="ru-RU" dirty="0"/>
              <a:t> Соберите информацию о участии заинтересованных сторон (используйте методы, описанные выше).</a:t>
            </a:r>
          </a:p>
          <a:p>
            <a:pPr lvl="0"/>
            <a:r>
              <a:rPr lang="ru-RU" b="1" dirty="0"/>
              <a:t>Анализ данных:</a:t>
            </a:r>
            <a:r>
              <a:rPr lang="ru-RU" dirty="0"/>
              <a:t> Проанализируйте собранные данные, используя выбранные методы (</a:t>
            </a:r>
            <a:r>
              <a:rPr lang="ru-RU" dirty="0" err="1"/>
              <a:t>RACI</a:t>
            </a:r>
            <a:r>
              <a:rPr lang="ru-RU" dirty="0"/>
              <a:t>-матрица, матрица “Влияние-Заинтересованность” и т.д.).</a:t>
            </a:r>
          </a:p>
          <a:p>
            <a:pPr lvl="0"/>
            <a:r>
              <a:rPr lang="ru-RU" b="1" dirty="0"/>
              <a:t>Выявление проблем:</a:t>
            </a:r>
            <a:r>
              <a:rPr lang="ru-RU" dirty="0"/>
              <a:t> Определите области, где степень участия недостаточна, избыточна или вызывает проблемы.</a:t>
            </a:r>
          </a:p>
          <a:p>
            <a:pPr lvl="0"/>
            <a:r>
              <a:rPr lang="ru-RU" b="1" dirty="0"/>
              <a:t>Разработка рекомендаций:</a:t>
            </a:r>
            <a:r>
              <a:rPr lang="ru-RU" dirty="0"/>
              <a:t> Предложите конкретные шаги для улучшения вовлеченности (изменить частоту встреч, скорректировать роли и ответственность, улучшить каналы коммуникации и т.д.).</a:t>
            </a:r>
          </a:p>
          <a:p>
            <a:pPr lvl="0"/>
            <a:r>
              <a:rPr lang="ru-RU" b="1" dirty="0"/>
              <a:t>Внедрение изменений:</a:t>
            </a:r>
            <a:r>
              <a:rPr lang="ru-RU" dirty="0"/>
              <a:t> Внесите изменения в соответствии с рекомендациями.</a:t>
            </a:r>
          </a:p>
          <a:p>
            <a:pPr lvl="0"/>
            <a:r>
              <a:rPr lang="ru-RU" b="1" dirty="0"/>
              <a:t>Мониторинг и оценка:</a:t>
            </a:r>
            <a:r>
              <a:rPr lang="ru-RU" dirty="0"/>
              <a:t> Регулярно оценивайте эффективность внедренных изменений и при необходимости корректируйте их.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BBA2A0-81C9-64AD-4B12-C2BA0F5DFD5D}"/>
              </a:ext>
            </a:extLst>
          </p:cNvPr>
          <p:cNvSpPr txBox="1">
            <a:spLocks/>
          </p:cNvSpPr>
          <p:nvPr/>
        </p:nvSpPr>
        <p:spPr>
          <a:xfrm>
            <a:off x="1082488" y="726090"/>
            <a:ext cx="10161657" cy="478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Этапы анализа степени участия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E43BD11-0FCD-32B2-DBAB-34B1FBD86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85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C3750-A004-65C3-9AF6-C6176D77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4CE11-2B6D-AB05-BDB7-66380F68EB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Анализ степени участия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0FFF41-2CFD-D971-AF44-5FFE5BA1105C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7D243249-1C47-A0DC-46B9-E77442A4D694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BCA25C8B-F8DB-17B3-111B-A18366648FB6}"/>
              </a:ext>
            </a:extLst>
          </p:cNvPr>
          <p:cNvSpPr txBox="1">
            <a:spLocks/>
          </p:cNvSpPr>
          <p:nvPr/>
        </p:nvSpPr>
        <p:spPr>
          <a:xfrm>
            <a:off x="947855" y="1352799"/>
            <a:ext cx="10296290" cy="43003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B529B2-F81E-D169-2495-D9A1A2A9E6FA}"/>
              </a:ext>
            </a:extLst>
          </p:cNvPr>
          <p:cNvSpPr txBox="1">
            <a:spLocks/>
          </p:cNvSpPr>
          <p:nvPr/>
        </p:nvSpPr>
        <p:spPr>
          <a:xfrm>
            <a:off x="1082488" y="726090"/>
            <a:ext cx="10161657" cy="478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rgbClr val="C00000"/>
                </a:solidFill>
              </a:rPr>
              <a:t>Примеры проблем и решений</a:t>
            </a:r>
            <a:endParaRPr lang="ru-RU" dirty="0">
              <a:solidFill>
                <a:srgbClr val="C00000"/>
              </a:solidFill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22CAE1E-1D52-51B8-9251-D561F12E7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802599"/>
              </p:ext>
            </p:extLst>
          </p:nvPr>
        </p:nvGraphicFramePr>
        <p:xfrm>
          <a:off x="236677" y="1274252"/>
          <a:ext cx="11661495" cy="4457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88404">
                  <a:extLst>
                    <a:ext uri="{9D8B030D-6E8A-4147-A177-3AD203B41FA5}">
                      <a16:colId xmlns:a16="http://schemas.microsoft.com/office/drawing/2014/main" val="2767788775"/>
                    </a:ext>
                  </a:extLst>
                </a:gridCol>
                <a:gridCol w="3731342">
                  <a:extLst>
                    <a:ext uri="{9D8B030D-6E8A-4147-A177-3AD203B41FA5}">
                      <a16:colId xmlns:a16="http://schemas.microsoft.com/office/drawing/2014/main" val="513364238"/>
                    </a:ext>
                  </a:extLst>
                </a:gridCol>
                <a:gridCol w="4641749">
                  <a:extLst>
                    <a:ext uri="{9D8B030D-6E8A-4147-A177-3AD203B41FA5}">
                      <a16:colId xmlns:a16="http://schemas.microsoft.com/office/drawing/2014/main" val="2712410112"/>
                    </a:ext>
                  </a:extLst>
                </a:gridCol>
              </a:tblGrid>
              <a:tr h="5973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Проблема</a:t>
                      </a:r>
                      <a:endParaRPr lang="ru-RU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Возможная причина</a:t>
                      </a:r>
                      <a:endParaRPr lang="ru-RU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Решение</a:t>
                      </a:r>
                      <a:endParaRPr lang="ru-RU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889886"/>
                  </a:ext>
                </a:extLst>
              </a:tr>
              <a:tr h="9650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Недостаточная вовлеченность конечных пользователей</a:t>
                      </a:r>
                      <a:endParaRPr lang="ru-RU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effectLst/>
                        </a:rPr>
                        <a:t>Недостаточно информации, сложности в понимании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effectLst/>
                        </a:rPr>
                        <a:t>Проводить регулярные встречи, предоставлять понятные отчеты, обучать.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079018"/>
                  </a:ext>
                </a:extLst>
              </a:tr>
              <a:tr h="9650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Конфликты между заинтересованными сторонами</a:t>
                      </a:r>
                      <a:endParaRPr lang="ru-RU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effectLst/>
                        </a:rPr>
                        <a:t>Несогласованность ролей, разные цели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effectLst/>
                        </a:rPr>
                        <a:t>Четкое определение ролей (</a:t>
                      </a:r>
                      <a:r>
                        <a:rPr lang="ru-RU" sz="1800" dirty="0" err="1">
                          <a:effectLst/>
                        </a:rPr>
                        <a:t>RACI</a:t>
                      </a:r>
                      <a:r>
                        <a:rPr lang="ru-RU" sz="1800" dirty="0">
                          <a:effectLst/>
                        </a:rPr>
                        <a:t>-матрица), согласование целей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20166266"/>
                  </a:ext>
                </a:extLst>
              </a:tr>
              <a:tr h="9650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Задержки в принятии решений</a:t>
                      </a:r>
                      <a:endParaRPr lang="ru-RU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effectLst/>
                        </a:rPr>
                        <a:t>Недостаточная коммуникация, отсутствие информации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effectLst/>
                        </a:rPr>
                        <a:t>Улучшить каналы коммуникации, проводить регулярные встречи, предоставлять отчеты.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10269"/>
                  </a:ext>
                </a:extLst>
              </a:tr>
              <a:tr h="9650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Недостаточная обратная связь</a:t>
                      </a:r>
                      <a:endParaRPr lang="ru-RU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>
                          <a:effectLst/>
                        </a:rPr>
                        <a:t>Отсутствие механизмов получения обратной связи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dirty="0">
                          <a:effectLst/>
                        </a:rPr>
                        <a:t>Внедрить опросы, организовать сессии обратной связи, открытость к критике.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66690277"/>
                  </a:ext>
                </a:extLst>
              </a:tr>
            </a:tbl>
          </a:graphicData>
        </a:graphic>
      </p:graphicFrame>
      <p:pic>
        <p:nvPicPr>
          <p:cNvPr id="7" name="Объект 5">
            <a:extLst>
              <a:ext uri="{FF2B5EF4-FFF2-40B4-BE49-F238E27FC236}">
                <a16:creationId xmlns:a16="http://schemas.microsoft.com/office/drawing/2014/main" id="{9815DC92-5430-D361-2D02-E94430477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277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B4FC29-92A8-FD2B-9462-F11E46E3C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82" y="275296"/>
            <a:ext cx="5886450" cy="302895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C8D6F2-234E-59A0-E2DD-A95D8D9ED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156" y="1606913"/>
            <a:ext cx="7062439" cy="4148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Объект 5">
            <a:extLst>
              <a:ext uri="{FF2B5EF4-FFF2-40B4-BE49-F238E27FC236}">
                <a16:creationId xmlns:a16="http://schemas.microsoft.com/office/drawing/2014/main" id="{F456CAD5-64BF-1912-B295-46C15E339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069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7F1C-EAF5-FC73-0F41-D7E84EAF7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D70B728-6D98-B98D-76D2-AFDCC812A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041" y="223326"/>
            <a:ext cx="5576570" cy="5385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Объект 5">
            <a:extLst>
              <a:ext uri="{FF2B5EF4-FFF2-40B4-BE49-F238E27FC236}">
                <a16:creationId xmlns:a16="http://schemas.microsoft.com/office/drawing/2014/main" id="{5E070245-78AE-4AEC-0508-3BBC9625C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3555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6126-63A2-3F8D-C3EB-573789007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ADB26-C90C-8AA3-2A4B-C44A9E1B9C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59275" y="486004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Связи и зависимости между элементами информации для системного анализа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A64471-AE86-24C5-C7A3-26CE2AF58333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66EB9BC-E4CC-6FAE-053C-0B6A08D46CE9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297A448-7CCE-08C1-06D5-6832637E9138}"/>
              </a:ext>
            </a:extLst>
          </p:cNvPr>
          <p:cNvSpPr txBox="1">
            <a:spLocks/>
          </p:cNvSpPr>
          <p:nvPr/>
        </p:nvSpPr>
        <p:spPr>
          <a:xfrm>
            <a:off x="1059646" y="1394907"/>
            <a:ext cx="10161657" cy="65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ru-RU" b="1" dirty="0"/>
              <a:t>Системный анализ </a:t>
            </a:r>
            <a:r>
              <a:rPr lang="ru-RU" dirty="0"/>
              <a:t>– это процесс исследования сложной системы с целью выявления ее компонентов, взаимосвязей между ними и влияния этих связей на поведение системы в целом.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BEFDFBF-FD5A-1639-D199-1065D7184F47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16A6D2-C2E8-FB1D-0FCF-E5779F91539F}"/>
              </a:ext>
            </a:extLst>
          </p:cNvPr>
          <p:cNvSpPr txBox="1">
            <a:spLocks/>
          </p:cNvSpPr>
          <p:nvPr/>
        </p:nvSpPr>
        <p:spPr>
          <a:xfrm>
            <a:off x="976421" y="2045167"/>
            <a:ext cx="10161657" cy="41103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  <a:p>
            <a:pPr lvl="1"/>
            <a:r>
              <a:rPr lang="ru-RU" b="1" dirty="0"/>
              <a:t>Контекст:</a:t>
            </a:r>
            <a:r>
              <a:rPr lang="ru-RU" dirty="0"/>
              <a:t> Понимать контекст данных и бизнес-процессов, стоящих за ними. Данные никогда не существуют в вакууме.</a:t>
            </a:r>
          </a:p>
          <a:p>
            <a:pPr lvl="1"/>
            <a:r>
              <a:rPr lang="ru-RU" b="1" dirty="0"/>
              <a:t>Полнота картины:</a:t>
            </a:r>
            <a:r>
              <a:rPr lang="ru-RU" dirty="0"/>
              <a:t> Получать более полную картину происходящего, не ограничиваясь поверхностным анализом.</a:t>
            </a:r>
          </a:p>
          <a:p>
            <a:pPr lvl="1"/>
            <a:r>
              <a:rPr lang="ru-RU" b="1" dirty="0"/>
              <a:t>Причинно-следственные связи:</a:t>
            </a:r>
            <a:r>
              <a:rPr lang="ru-RU" dirty="0"/>
              <a:t> Выявлять причинно-следственные связи между факторами, а не просто констатировать корреляции.</a:t>
            </a:r>
          </a:p>
          <a:p>
            <a:pPr lvl="1"/>
            <a:r>
              <a:rPr lang="ru-RU" b="1" dirty="0"/>
              <a:t>Прогнозирование:</a:t>
            </a:r>
            <a:r>
              <a:rPr lang="ru-RU" dirty="0"/>
              <a:t> Прогнозировать последствия изменений в одной части системы на другие части.</a:t>
            </a:r>
          </a:p>
          <a:p>
            <a:pPr lvl="1"/>
            <a:r>
              <a:rPr lang="ru-RU" b="1" dirty="0"/>
              <a:t>Оптимизация:</a:t>
            </a:r>
            <a:r>
              <a:rPr lang="ru-RU" dirty="0"/>
              <a:t> Оптимизировать бизнес-процессы, выявляя узкие места и точки влияния.</a:t>
            </a:r>
          </a:p>
          <a:p>
            <a:pPr lvl="1"/>
            <a:r>
              <a:rPr lang="ru-RU" b="1" dirty="0"/>
              <a:t>Принятие решений:</a:t>
            </a:r>
            <a:r>
              <a:rPr lang="ru-RU" dirty="0"/>
              <a:t> Предоставлять обоснованные рекомендации, основанные на системном понимании проблемы.</a:t>
            </a:r>
          </a:p>
          <a:p>
            <a:pPr lvl="1"/>
            <a:r>
              <a:rPr lang="ru-RU" b="1" dirty="0"/>
              <a:t>Эффективная коммуникация:</a:t>
            </a:r>
            <a:r>
              <a:rPr lang="ru-RU" dirty="0"/>
              <a:t> Четко и понятно объяснять сложные взаимосвязи заинтересованным сторонам.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C8835260-856B-89D2-62A2-D40C158C8E42}"/>
              </a:ext>
            </a:extLst>
          </p:cNvPr>
          <p:cNvSpPr txBox="1">
            <a:spLocks/>
          </p:cNvSpPr>
          <p:nvPr/>
        </p:nvSpPr>
        <p:spPr>
          <a:xfrm>
            <a:off x="1159988" y="1999408"/>
            <a:ext cx="10161657" cy="65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ru-RU" b="1" dirty="0"/>
              <a:t>Важно для аналитика:</a:t>
            </a:r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B00C932C-ED56-20A9-DA54-A6C4DD6B3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480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6F1D8-44EF-1E65-4597-928E95E28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7C736-CB6B-D881-3943-E2ABF58BA93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 Элементы информации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00516F3-5240-8467-A837-7C2E7369470B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DAFA566-BF0F-C6ED-1DD5-B4E7272B0BAF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E4DCFBC-BD73-3E85-9B18-EFA5F4CB9F13}"/>
              </a:ext>
            </a:extLst>
          </p:cNvPr>
          <p:cNvSpPr txBox="1">
            <a:spLocks/>
          </p:cNvSpPr>
          <p:nvPr/>
        </p:nvSpPr>
        <p:spPr>
          <a:xfrm>
            <a:off x="1059646" y="1394907"/>
            <a:ext cx="10161657" cy="65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ru-RU" dirty="0"/>
              <a:t>Это отдельные единицы данных, которые характеризуют систему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5AB5474-5323-9159-F36C-2DAA932DCC2D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B86B9F30-940D-73DC-5BE3-DB2B449AA0F3}"/>
              </a:ext>
            </a:extLst>
          </p:cNvPr>
          <p:cNvSpPr txBox="1">
            <a:spLocks/>
          </p:cNvSpPr>
          <p:nvPr/>
        </p:nvSpPr>
        <p:spPr>
          <a:xfrm>
            <a:off x="1758718" y="2045167"/>
            <a:ext cx="10273448" cy="2381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u-RU" dirty="0"/>
              <a:t>Объем продаж</a:t>
            </a:r>
          </a:p>
          <a:p>
            <a:pPr lvl="1"/>
            <a:r>
              <a:rPr lang="ru-RU" dirty="0"/>
              <a:t>Стоимость рекламы</a:t>
            </a:r>
          </a:p>
          <a:p>
            <a:pPr lvl="1"/>
            <a:r>
              <a:rPr lang="ru-RU" dirty="0"/>
              <a:t>Уровень удовлетворенности клиентов</a:t>
            </a:r>
          </a:p>
          <a:p>
            <a:pPr lvl="1"/>
            <a:r>
              <a:rPr lang="ru-RU" dirty="0"/>
              <a:t>Посещаемость сайта</a:t>
            </a:r>
          </a:p>
          <a:p>
            <a:pPr lvl="1"/>
            <a:r>
              <a:rPr lang="ru-RU" dirty="0"/>
              <a:t>Количество обращений в службу поддержки</a:t>
            </a:r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31455C76-9CCB-E5DC-C39E-C5A345B9C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883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30BBE-957F-453D-AC1F-55861E2F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3A792D-5789-609E-30DD-3C3F093B4B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Типы связей между элементами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A38180C-45C6-67F7-97DC-43F2E94E10C3}"/>
              </a:ext>
            </a:extLst>
          </p:cNvPr>
          <p:cNvSpPr/>
          <p:nvPr/>
        </p:nvSpPr>
        <p:spPr>
          <a:xfrm>
            <a:off x="1053921" y="120485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F129B92-27E2-E9A3-1C85-16B0129B6A05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C4C1EDE7-334D-EF84-4F77-2425380FA325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89C9E367-A04A-5DF7-86A6-2D9439B20CC8}"/>
              </a:ext>
            </a:extLst>
          </p:cNvPr>
          <p:cNvSpPr txBox="1">
            <a:spLocks/>
          </p:cNvSpPr>
          <p:nvPr/>
        </p:nvSpPr>
        <p:spPr>
          <a:xfrm>
            <a:off x="866704" y="1040138"/>
            <a:ext cx="9823467" cy="188209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Wingdings" panose="05000000000000000000" pitchFamily="2" charset="2"/>
              <a:buChar char="Ø"/>
            </a:pPr>
            <a:endParaRPr lang="ru-RU" dirty="0"/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Прямые причинно-следственные связи-</a:t>
            </a:r>
            <a:r>
              <a:rPr lang="ru-RU" dirty="0"/>
              <a:t>Один элемент непосредственно влияет на другой. </a:t>
            </a: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Корреляционные связи - </a:t>
            </a:r>
            <a:r>
              <a:rPr lang="ru-RU" dirty="0"/>
              <a:t>Два элемента изменяются вместе, но не обязательно один вызывает другой. </a:t>
            </a: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Косвенные связи - </a:t>
            </a:r>
            <a:r>
              <a:rPr lang="ru-RU" dirty="0"/>
              <a:t>Один элемент влияет на другой через посредника. </a:t>
            </a:r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3583D6D1-6CFF-1729-658C-ABC62DED6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7242222D-6DCA-1258-F4D1-C5CC84A87ABC}"/>
              </a:ext>
            </a:extLst>
          </p:cNvPr>
          <p:cNvSpPr txBox="1">
            <a:spLocks/>
          </p:cNvSpPr>
          <p:nvPr/>
        </p:nvSpPr>
        <p:spPr>
          <a:xfrm>
            <a:off x="866704" y="2586611"/>
            <a:ext cx="9661843" cy="26983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ru-RU" dirty="0"/>
          </a:p>
          <a:p>
            <a:pPr lvl="1">
              <a:lnSpc>
                <a:spcPct val="110000"/>
              </a:lnSpc>
              <a:spcBef>
                <a:spcPts val="1200"/>
              </a:spcBef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Взаимные связи -</a:t>
            </a:r>
            <a:r>
              <a:rPr lang="ru-RU" dirty="0"/>
              <a:t>Два элемента влияют друг на друга.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Модерация -</a:t>
            </a:r>
            <a:r>
              <a:rPr lang="ru-RU" dirty="0"/>
              <a:t>Влияние одной переменной на другую зависит от значения третьей переменной (модератора).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Медиация -</a:t>
            </a:r>
            <a:r>
              <a:rPr lang="ru-RU" dirty="0"/>
              <a:t>Одна переменная влияет на другую через третью переменную (медиатор).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Конфликтующие связи -</a:t>
            </a:r>
            <a:r>
              <a:rPr lang="ru-RU" dirty="0"/>
              <a:t>Один элемент оказывает положительное влияние, а другой – отрицательное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33500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93C26-1A9F-6301-DC3F-EB2AB009E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9ECF2-C6F0-2F74-BCAF-1E9C7850023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Методы выявления связей и зависимостей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27577A-A1D4-4DF8-354F-985B282B4DE5}"/>
              </a:ext>
            </a:extLst>
          </p:cNvPr>
          <p:cNvSpPr/>
          <p:nvPr/>
        </p:nvSpPr>
        <p:spPr>
          <a:xfrm>
            <a:off x="1042500" y="836774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B26EB07-B190-CD74-4E7D-F2152F4B3B2E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070E7B5-2FA0-A7D7-3408-F84E54BC9B7C}"/>
              </a:ext>
            </a:extLst>
          </p:cNvPr>
          <p:cNvSpPr txBox="1">
            <a:spLocks/>
          </p:cNvSpPr>
          <p:nvPr/>
        </p:nvSpPr>
        <p:spPr>
          <a:xfrm>
            <a:off x="2292067" y="1115840"/>
            <a:ext cx="7395731" cy="46263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Визуализация данных :</a:t>
            </a:r>
            <a:r>
              <a:rPr lang="ru-RU" dirty="0"/>
              <a:t> Графики, диаграммы рассеяния, тепловые карты, сетевые графики</a:t>
            </a:r>
          </a:p>
          <a:p>
            <a:pPr lvl="0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Статистический анализ </a:t>
            </a:r>
            <a:endParaRPr lang="ru-RU" dirty="0"/>
          </a:p>
          <a:p>
            <a:pPr lvl="0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Машинное обучение </a:t>
            </a:r>
          </a:p>
          <a:p>
            <a:pPr lvl="0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Экспертные знания:</a:t>
            </a:r>
            <a:r>
              <a:rPr lang="ru-RU" dirty="0"/>
              <a:t> Знание предметной области позволяет правильно интерпретировать результаты анализа и выявлять причинно-следственные связи.</a:t>
            </a:r>
          </a:p>
          <a:p>
            <a:pPr lvl="0">
              <a:buClrTx/>
              <a:buFont typeface="Wingdings" panose="05000000000000000000" pitchFamily="2" charset="2"/>
              <a:buChar char="v"/>
            </a:pPr>
            <a:r>
              <a:rPr lang="ru-RU" b="1" dirty="0"/>
              <a:t>Причинно-следственный вывод :</a:t>
            </a:r>
            <a:r>
              <a:rPr lang="ru-RU" dirty="0"/>
              <a:t> Методы для установления причинно-следственных связей, а не просто корреляций. </a:t>
            </a:r>
          </a:p>
          <a:p>
            <a:pPr lvl="0"/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30B8EFF5-B1E5-AD6E-F0C7-8A836892E809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DAB0C134-E79F-639C-84FA-A954DF0FF95F}"/>
              </a:ext>
            </a:extLst>
          </p:cNvPr>
          <p:cNvSpPr txBox="1">
            <a:spLocks/>
          </p:cNvSpPr>
          <p:nvPr/>
        </p:nvSpPr>
        <p:spPr>
          <a:xfrm>
            <a:off x="976421" y="2045167"/>
            <a:ext cx="10161657" cy="41103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6723494E-A3FE-D917-DA44-F89837EFC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582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8A138-0223-CD23-1D4E-F8C32D63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490BB-15C6-E5BC-7833-5FEFAE3F96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 Этапы системного анализа данных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4DF3D1-5926-5978-944A-D9453ECE780C}"/>
              </a:ext>
            </a:extLst>
          </p:cNvPr>
          <p:cNvSpPr/>
          <p:nvPr/>
        </p:nvSpPr>
        <p:spPr>
          <a:xfrm>
            <a:off x="1042500" y="836774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25EED145-7198-393D-E66B-F9889E1F01C3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9B1F8C8E-D06E-F359-587C-F17946A65B20}"/>
              </a:ext>
            </a:extLst>
          </p:cNvPr>
          <p:cNvSpPr txBox="1">
            <a:spLocks/>
          </p:cNvSpPr>
          <p:nvPr/>
        </p:nvSpPr>
        <p:spPr>
          <a:xfrm>
            <a:off x="1059646" y="1049684"/>
            <a:ext cx="10273448" cy="49715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Определение проблемы :</a:t>
            </a:r>
            <a:r>
              <a:rPr lang="ru-RU" dirty="0"/>
              <a:t> Четко сформулируйте проблему, которую необходимо решить. Определите цели анализа.</a:t>
            </a:r>
          </a:p>
          <a:p>
            <a:pPr lvl="0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Сбор данных:</a:t>
            </a:r>
            <a:r>
              <a:rPr lang="ru-RU" dirty="0"/>
              <a:t> Соберите все необходимые данные из различных источников. Убедитесь в качестве и полноте данных.</a:t>
            </a:r>
          </a:p>
          <a:p>
            <a:pPr lvl="0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Предварительная обработка данных:</a:t>
            </a:r>
            <a:r>
              <a:rPr lang="ru-RU" dirty="0"/>
              <a:t> Очистите данные от ошибок, пропущенных значений и выбросов. Приведите данные к нужному формату.</a:t>
            </a:r>
          </a:p>
          <a:p>
            <a:pPr lvl="0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Анализ данных:</a:t>
            </a:r>
            <a:r>
              <a:rPr lang="ru-RU" dirty="0"/>
              <a:t> Примените методы выявления связей и зависимостей (визуализация, статистика, машинное обучение).</a:t>
            </a:r>
          </a:p>
          <a:p>
            <a:pPr lvl="0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Интерпретация результатов:</a:t>
            </a:r>
            <a:r>
              <a:rPr lang="ru-RU" dirty="0"/>
              <a:t> Интерпретируйте результаты анализа с учетом контекста и экспертных знаний. Выявите причинно-следственные связи и ключевые факторы влияния.</a:t>
            </a:r>
          </a:p>
          <a:p>
            <a:pPr lvl="0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Разработка рекомендаций:</a:t>
            </a:r>
            <a:r>
              <a:rPr lang="ru-RU" dirty="0"/>
              <a:t> Разработайте конкретные рекомендации, основанные на результатах анализа.</a:t>
            </a:r>
          </a:p>
          <a:p>
            <a:pPr lvl="0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Внедрение и мониторинг:</a:t>
            </a:r>
            <a:r>
              <a:rPr lang="ru-RU" dirty="0"/>
              <a:t> Внедрите рекомендации и отслеживайте их эффективность. Вносите коррективы по мере необходимости.</a:t>
            </a:r>
          </a:p>
          <a:p>
            <a:pPr lvl="0">
              <a:buClrTx/>
              <a:buFont typeface="Wingdings" panose="05000000000000000000" pitchFamily="2" charset="2"/>
              <a:buChar char="Ø"/>
            </a:pPr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92E9CDBA-A551-636F-4437-6A671A8F1FF8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FA8BF87-CF7B-083F-FCFB-8270A7DDA9C2}"/>
              </a:ext>
            </a:extLst>
          </p:cNvPr>
          <p:cNvSpPr txBox="1">
            <a:spLocks/>
          </p:cNvSpPr>
          <p:nvPr/>
        </p:nvSpPr>
        <p:spPr>
          <a:xfrm>
            <a:off x="976421" y="2045167"/>
            <a:ext cx="10161657" cy="41103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B2587ACF-D1DE-9D94-F794-A08CC60F0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8938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3DF1-CB17-E110-41DD-1EFFFE802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F4E40-9A4A-0CE0-99F8-9BA1EFACFA4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 Типичные ошибки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59B141-C893-1DDB-9167-A9062FE2BB84}"/>
              </a:ext>
            </a:extLst>
          </p:cNvPr>
          <p:cNvSpPr/>
          <p:nvPr/>
        </p:nvSpPr>
        <p:spPr>
          <a:xfrm>
            <a:off x="1042500" y="836774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C15C655-D9E2-32C4-0013-A288216691AC}"/>
              </a:ext>
            </a:extLst>
          </p:cNvPr>
          <p:cNvSpPr txBox="1">
            <a:spLocks/>
          </p:cNvSpPr>
          <p:nvPr/>
        </p:nvSpPr>
        <p:spPr>
          <a:xfrm>
            <a:off x="844770" y="1244358"/>
            <a:ext cx="10084157" cy="43201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Фокус на корреляции вместо причинно-следственной связи:</a:t>
            </a:r>
            <a:r>
              <a:rPr lang="ru-RU" dirty="0"/>
              <a:t> “Корреляция - это не причинность”.</a:t>
            </a:r>
          </a:p>
          <a:p>
            <a:pPr lvl="0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Пропуск важных переменных:</a:t>
            </a:r>
            <a:r>
              <a:rPr lang="ru-RU" dirty="0"/>
              <a:t> Не учитывать все факторы, которые могут влиять на систему.</a:t>
            </a:r>
          </a:p>
          <a:p>
            <a:pPr lvl="0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Неправильная интерпретация результатов:</a:t>
            </a:r>
            <a:r>
              <a:rPr lang="ru-RU" dirty="0"/>
              <a:t> Не учитывать контекст и экспертные знания.</a:t>
            </a:r>
          </a:p>
          <a:p>
            <a:pPr lvl="0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Переоценка точности моделей:</a:t>
            </a:r>
            <a:r>
              <a:rPr lang="ru-RU" dirty="0"/>
              <a:t> Помнить, что модели – это упрощение реальности, а не ее точное отражение.</a:t>
            </a:r>
          </a:p>
          <a:p>
            <a:pPr lvl="0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Игнорирование этических аспектов:</a:t>
            </a:r>
            <a:r>
              <a:rPr lang="ru-RU" dirty="0"/>
              <a:t> Учитывать возможные негативные последствия использования результатов анализа.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3F25E43D-5CCE-7283-D11A-941D1F40CF11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A153BE4-8124-BEA5-3236-597A4756AAD1}"/>
              </a:ext>
            </a:extLst>
          </p:cNvPr>
          <p:cNvSpPr txBox="1">
            <a:spLocks/>
          </p:cNvSpPr>
          <p:nvPr/>
        </p:nvSpPr>
        <p:spPr>
          <a:xfrm>
            <a:off x="976421" y="2045167"/>
            <a:ext cx="10161657" cy="41103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CFAFAACC-ECCF-9504-D6A3-F5438AA31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855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52BEC-362F-6C0C-AD0C-A8C796CBE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E8264-F72B-C6F9-13AF-D73C6F78EE1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1256852"/>
            <a:ext cx="10273448" cy="433046"/>
          </a:xfrm>
        </p:spPr>
        <p:txBody>
          <a:bodyPr>
            <a:norm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Почему важно разъяснять необходимость работ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66CE68-9475-944E-7970-55EF67E595C4}"/>
              </a:ext>
            </a:extLst>
          </p:cNvPr>
          <p:cNvSpPr/>
          <p:nvPr/>
        </p:nvSpPr>
        <p:spPr>
          <a:xfrm>
            <a:off x="947855" y="1087970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79EB40D-3088-6AC3-09B0-DF969E40B2A2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C65A140B-0C8A-36F8-A7C7-39AA2472CB07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E280526-677D-4B3E-3C55-4621B8222605}"/>
              </a:ext>
            </a:extLst>
          </p:cNvPr>
          <p:cNvSpPr txBox="1">
            <a:spLocks/>
          </p:cNvSpPr>
          <p:nvPr/>
        </p:nvSpPr>
        <p:spPr>
          <a:xfrm>
            <a:off x="1843668" y="1759895"/>
            <a:ext cx="10161657" cy="48716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b="1" dirty="0"/>
              <a:t>Получение поддержки и финансирования</a:t>
            </a:r>
          </a:p>
          <a:p>
            <a:pPr lvl="0"/>
            <a:r>
              <a:rPr lang="ru-RU" b="1" dirty="0"/>
              <a:t>Выстраивание доверия</a:t>
            </a:r>
          </a:p>
          <a:p>
            <a:pPr lvl="0"/>
            <a:r>
              <a:rPr lang="ru-RU" b="1" dirty="0"/>
              <a:t>Управление ожиданиями</a:t>
            </a:r>
          </a:p>
          <a:p>
            <a:pPr lvl="0"/>
            <a:r>
              <a:rPr lang="ru-RU" b="1" dirty="0"/>
              <a:t>Устранение сопротивления</a:t>
            </a:r>
          </a:p>
          <a:p>
            <a:pPr lvl="0"/>
            <a:r>
              <a:rPr lang="ru-RU" b="1" dirty="0"/>
              <a:t>Повышение вовлеченности</a:t>
            </a:r>
          </a:p>
          <a:p>
            <a:pPr lvl="0"/>
            <a:r>
              <a:rPr lang="ru-RU" b="1" dirty="0"/>
              <a:t>Обеспечение соответствия целей бизнеса</a:t>
            </a:r>
          </a:p>
          <a:p>
            <a:pPr lvl="0"/>
            <a:r>
              <a:rPr lang="ru-RU" b="1" dirty="0"/>
              <a:t>Обоснование принятия решений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014FB4-A2B5-C952-F1E9-AB300233AFE0}"/>
              </a:ext>
            </a:extLst>
          </p:cNvPr>
          <p:cNvSpPr txBox="1"/>
          <p:nvPr/>
        </p:nvSpPr>
        <p:spPr>
          <a:xfrm>
            <a:off x="889110" y="98864"/>
            <a:ext cx="102016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cap="all" dirty="0">
                <a:solidFill>
                  <a:srgbClr val="002060"/>
                </a:solidFill>
                <a:latin typeface="-apple-system"/>
                <a:ea typeface="+mj-ea"/>
                <a:cs typeface="+mj-cs"/>
              </a:rPr>
              <a:t>Разъяснение проведения работ с заинтересованными сторонами</a:t>
            </a:r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E165E0D1-A765-D0E9-6A12-139BD66ED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193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53AC-B288-92AD-08C1-901BF41FA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F9B45-251B-10A7-FDC3-D40D78E402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76864" y="174960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Кто является вашей аудиторией и как адаптировать разъяснение?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CA666F-6F1C-8A05-8943-C35F891015C9}"/>
              </a:ext>
            </a:extLst>
          </p:cNvPr>
          <p:cNvSpPr/>
          <p:nvPr/>
        </p:nvSpPr>
        <p:spPr>
          <a:xfrm>
            <a:off x="1042500" y="1046918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A98E2E-80B1-0AC1-8B29-57998AA5015F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A7854BC1-18D4-7F4E-E9FE-6064EC14E2C5}"/>
              </a:ext>
            </a:extLst>
          </p:cNvPr>
          <p:cNvSpPr txBox="1">
            <a:spLocks/>
          </p:cNvSpPr>
          <p:nvPr/>
        </p:nvSpPr>
        <p:spPr>
          <a:xfrm>
            <a:off x="3176137" y="1877990"/>
            <a:ext cx="6274901" cy="29671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801688" lvl="0" indent="-801688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Руководство </a:t>
            </a:r>
          </a:p>
          <a:p>
            <a:pPr marL="801688" lvl="0" indent="-801688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Линейные менеджеры </a:t>
            </a:r>
            <a:endParaRPr lang="ru-RU" dirty="0"/>
          </a:p>
          <a:p>
            <a:pPr marL="801688" indent="-801688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Конечные пользователи </a:t>
            </a:r>
            <a:endParaRPr lang="ru-RU" dirty="0"/>
          </a:p>
          <a:p>
            <a:pPr marL="801688" indent="-801688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IT-специалисты </a:t>
            </a:r>
            <a:endParaRPr lang="ru-RU" dirty="0"/>
          </a:p>
          <a:p>
            <a:pPr marL="801688" indent="-801688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Другие заинтересованные стороны (например, финансовый отдел, отдел маркетинга)</a:t>
            </a:r>
            <a:endParaRPr lang="ru-RU" dirty="0"/>
          </a:p>
          <a:p>
            <a:pPr lvl="0">
              <a:buClrTx/>
            </a:pPr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812225D2-73BE-4A94-166B-9B55ABF91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965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88D7F-D2F5-2577-D27E-3213FD81C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79C07-EF18-5159-EF72-10C82DF3AB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Структура разъяснения необходимости работ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A232636-C6FA-CEA1-F35B-5FD873982095}"/>
              </a:ext>
            </a:extLst>
          </p:cNvPr>
          <p:cNvSpPr/>
          <p:nvPr/>
        </p:nvSpPr>
        <p:spPr>
          <a:xfrm>
            <a:off x="1053921" y="81391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7F9EEB4-A0A3-A84B-E915-2FAA8AD6CF7E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F752A30B-DFBE-15C1-C8D3-E613694493E3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7FE09DB-B8B4-DAE5-AB0A-30A04EF1ADD4}"/>
              </a:ext>
            </a:extLst>
          </p:cNvPr>
          <p:cNvSpPr txBox="1">
            <a:spLocks/>
          </p:cNvSpPr>
          <p:nvPr/>
        </p:nvSpPr>
        <p:spPr>
          <a:xfrm>
            <a:off x="2486201" y="1358570"/>
            <a:ext cx="7380287" cy="35466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541338" lvl="0" indent="-541338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Определение проблемы         </a:t>
            </a:r>
            <a:r>
              <a:rPr lang="ru-RU" dirty="0">
                <a:solidFill>
                  <a:srgbClr val="00B050"/>
                </a:solidFill>
              </a:rPr>
              <a:t>Почему</a:t>
            </a:r>
            <a:r>
              <a:rPr lang="ru-RU" b="1" dirty="0">
                <a:solidFill>
                  <a:srgbClr val="00B050"/>
                </a:solidFill>
              </a:rPr>
              <a:t>?</a:t>
            </a:r>
          </a:p>
          <a:p>
            <a:pPr marL="541338" lvl="0" indent="-541338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Текущая ситуация                    </a:t>
            </a:r>
            <a:r>
              <a:rPr lang="ru-RU" b="1" dirty="0">
                <a:solidFill>
                  <a:srgbClr val="00B050"/>
                </a:solidFill>
              </a:rPr>
              <a:t>Ч</a:t>
            </a:r>
            <a:r>
              <a:rPr lang="ru-RU" dirty="0">
                <a:solidFill>
                  <a:srgbClr val="00B050"/>
                </a:solidFill>
              </a:rPr>
              <a:t>то привело?</a:t>
            </a:r>
          </a:p>
          <a:p>
            <a:pPr marL="541338" indent="-541338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Предлагаемое решение         </a:t>
            </a:r>
            <a:r>
              <a:rPr lang="ru-RU" dirty="0">
                <a:solidFill>
                  <a:srgbClr val="00B050"/>
                </a:solidFill>
              </a:rPr>
              <a:t>Что сделать?</a:t>
            </a:r>
            <a:endParaRPr lang="ru-RU" b="1" dirty="0">
              <a:solidFill>
                <a:srgbClr val="00B050"/>
              </a:solidFill>
            </a:endParaRPr>
          </a:p>
          <a:p>
            <a:pPr marL="541338" lvl="0" indent="-541338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Преимущества и выгоды        </a:t>
            </a:r>
            <a:r>
              <a:rPr lang="ru-RU" dirty="0">
                <a:solidFill>
                  <a:srgbClr val="00B050"/>
                </a:solidFill>
              </a:rPr>
              <a:t>Что это дает?</a:t>
            </a:r>
          </a:p>
          <a:p>
            <a:pPr marL="541338" lvl="0" indent="-541338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Связь с целями бизнеса          </a:t>
            </a:r>
            <a:r>
              <a:rPr lang="ru-RU" dirty="0">
                <a:solidFill>
                  <a:srgbClr val="00B050"/>
                </a:solidFill>
              </a:rPr>
              <a:t>При чём бизнес?</a:t>
            </a:r>
          </a:p>
          <a:p>
            <a:pPr marL="541338" lvl="0" indent="-541338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План реализации                      </a:t>
            </a:r>
            <a:r>
              <a:rPr lang="ru-RU" dirty="0">
                <a:solidFill>
                  <a:srgbClr val="00B050"/>
                </a:solidFill>
              </a:rPr>
              <a:t>Когда (сроки) и во сколько?</a:t>
            </a:r>
          </a:p>
          <a:p>
            <a:pPr marL="541338" lvl="0" indent="-541338">
              <a:buClrTx/>
              <a:buFont typeface="Wingdings" panose="05000000000000000000" pitchFamily="2" charset="2"/>
              <a:buChar char="Ø"/>
            </a:pPr>
            <a:r>
              <a:rPr lang="ru-RU" b="1" dirty="0"/>
              <a:t>Запрос                                        </a:t>
            </a:r>
            <a:r>
              <a:rPr lang="ru-RU" dirty="0">
                <a:solidFill>
                  <a:srgbClr val="00B050"/>
                </a:solidFill>
              </a:rPr>
              <a:t>Что нужно?</a:t>
            </a:r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1539881A-A575-D50D-011C-FA30C1C93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155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AC417-67F5-D980-1ABB-ED3E1537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2A467-B44E-1DCB-38D2-6B8BFB7264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4" y="236538"/>
            <a:ext cx="10424995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4 Инструменты для разъяснения необходимости работ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A7E4CFE-8DE0-5CA2-589D-DA8F6E3D5698}"/>
              </a:ext>
            </a:extLst>
          </p:cNvPr>
          <p:cNvSpPr/>
          <p:nvPr/>
        </p:nvSpPr>
        <p:spPr>
          <a:xfrm>
            <a:off x="1053921" y="81391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0D6281B-F891-4DE7-59CC-417F59D829E5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EBE7FBA-D846-CAFB-6181-E67E7335250D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A8216F63-CA3B-78D5-27AB-4A22A18CC1C9}"/>
              </a:ext>
            </a:extLst>
          </p:cNvPr>
          <p:cNvSpPr txBox="1">
            <a:spLocks/>
          </p:cNvSpPr>
          <p:nvPr/>
        </p:nvSpPr>
        <p:spPr>
          <a:xfrm>
            <a:off x="3425422" y="1259667"/>
            <a:ext cx="3573690" cy="332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541338" lvl="0" indent="-541338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Презентации</a:t>
            </a:r>
            <a:r>
              <a:rPr lang="ru-RU" dirty="0"/>
              <a:t> </a:t>
            </a:r>
          </a:p>
          <a:p>
            <a:pPr marL="541338" lvl="0" indent="-541338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Отчеты</a:t>
            </a:r>
          </a:p>
          <a:p>
            <a:pPr marL="541338" lvl="0" indent="-541338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Дашборды</a:t>
            </a:r>
          </a:p>
          <a:p>
            <a:pPr marL="541338" lvl="0" indent="-541338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Демонстрации </a:t>
            </a:r>
          </a:p>
          <a:p>
            <a:pPr marL="541338" lvl="0" indent="-541338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Визуализация данных </a:t>
            </a:r>
          </a:p>
          <a:p>
            <a:pPr marL="541338" lvl="0" indent="-541338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Истории </a:t>
            </a:r>
          </a:p>
          <a:p>
            <a:pPr marL="541338" lvl="0" indent="-541338">
              <a:buClrTx/>
              <a:buFont typeface="Wingdings" panose="05000000000000000000" pitchFamily="2" charset="2"/>
              <a:buChar char="ü"/>
            </a:pPr>
            <a:r>
              <a:rPr lang="ru-RU" b="1" dirty="0"/>
              <a:t>Бизнес-кейс </a:t>
            </a:r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0E04E830-FE82-5513-C8E3-7111C093A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281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AFB7-130F-59F4-9179-4B9115446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0DE0B-E16B-EC9A-271E-AC3B1B30F7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Оценка готовности организации к изменениям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C6D6565-9572-7536-A006-DB18B23E0B21}"/>
              </a:ext>
            </a:extLst>
          </p:cNvPr>
          <p:cNvSpPr/>
          <p:nvPr/>
        </p:nvSpPr>
        <p:spPr>
          <a:xfrm>
            <a:off x="1053921" y="81391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FA15291-D6FC-3B30-44C7-A795CDC52917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15F49971-C32C-D1BA-C315-437E9CEE254E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B84EC60-A421-1039-AAF0-115FA7B11E3A}"/>
              </a:ext>
            </a:extLst>
          </p:cNvPr>
          <p:cNvSpPr txBox="1">
            <a:spLocks/>
          </p:cNvSpPr>
          <p:nvPr/>
        </p:nvSpPr>
        <p:spPr>
          <a:xfrm>
            <a:off x="3882555" y="1810398"/>
            <a:ext cx="4687656" cy="3003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0850" lvl="0" indent="-450850">
              <a:buClrTx/>
              <a:buFont typeface="Wingdings" panose="05000000000000000000" pitchFamily="2" charset="2"/>
              <a:buChar char="Ø"/>
            </a:pPr>
            <a:r>
              <a:rPr lang="ru-RU" sz="1800" b="1" dirty="0"/>
              <a:t>Снижение рисков</a:t>
            </a:r>
          </a:p>
          <a:p>
            <a:pPr marL="450850" lvl="0" indent="-450850">
              <a:buClrTx/>
              <a:buFont typeface="Wingdings" panose="05000000000000000000" pitchFamily="2" charset="2"/>
              <a:buChar char="Ø"/>
            </a:pPr>
            <a:r>
              <a:rPr lang="ru-RU" sz="1800" b="1" dirty="0"/>
              <a:t>Повышение вероятности успеха</a:t>
            </a:r>
          </a:p>
          <a:p>
            <a:pPr marL="450850" lvl="0" indent="-450850">
              <a:buClrTx/>
              <a:buFont typeface="Wingdings" panose="05000000000000000000" pitchFamily="2" charset="2"/>
              <a:buChar char="Ø"/>
            </a:pPr>
            <a:r>
              <a:rPr lang="ru-RU" sz="1800" b="1" dirty="0"/>
              <a:t>Оптимизация ресурсов</a:t>
            </a:r>
          </a:p>
          <a:p>
            <a:pPr marL="450850" lvl="0" indent="-450850">
              <a:buClrTx/>
              <a:buFont typeface="Wingdings" panose="05000000000000000000" pitchFamily="2" charset="2"/>
              <a:buChar char="Ø"/>
            </a:pPr>
            <a:r>
              <a:rPr lang="ru-RU" sz="1800" b="1" dirty="0"/>
              <a:t>Улучшение коммуникации</a:t>
            </a:r>
          </a:p>
          <a:p>
            <a:pPr marL="450850" lvl="0" indent="-450850">
              <a:buClrTx/>
              <a:buFont typeface="Wingdings" panose="05000000000000000000" pitchFamily="2" charset="2"/>
              <a:buChar char="Ø"/>
            </a:pPr>
            <a:r>
              <a:rPr lang="ru-RU" sz="1800" b="1" dirty="0"/>
              <a:t>Минимизация сопротивления</a:t>
            </a:r>
          </a:p>
          <a:p>
            <a:pPr marL="450850" lvl="0" indent="-450850">
              <a:buClrTx/>
              <a:buFont typeface="Wingdings" panose="05000000000000000000" pitchFamily="2" charset="2"/>
              <a:buChar char="Ø"/>
            </a:pPr>
            <a:r>
              <a:rPr lang="ru-RU" sz="1800" b="1" dirty="0"/>
              <a:t>Реалистичное планирование</a:t>
            </a:r>
          </a:p>
          <a:p>
            <a:pPr lvl="0">
              <a:buClrTx/>
              <a:buFont typeface="Wingdings" panose="05000000000000000000" pitchFamily="2" charset="2"/>
              <a:buChar char="Ø"/>
            </a:pPr>
            <a:endParaRPr lang="ru-RU" sz="1800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DC3F8895-02E2-CF04-F31F-69175C57F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5518F5-458E-9FF5-5426-A17D0D8F6618}"/>
              </a:ext>
            </a:extLst>
          </p:cNvPr>
          <p:cNvSpPr txBox="1"/>
          <p:nvPr/>
        </p:nvSpPr>
        <p:spPr>
          <a:xfrm>
            <a:off x="1137411" y="1078973"/>
            <a:ext cx="6112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Почему важна оценка готовности к изменениям?</a:t>
            </a:r>
            <a:endParaRPr lang="ru-RU" sz="16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1261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E3B40-2A22-E351-BF14-D0C677D21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332D1-3F01-C2AE-98D4-491E46C3BA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4" y="236538"/>
            <a:ext cx="10687885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Факторы, влияющие на готовность организации к изменениям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891A637-B182-21EB-313E-E60CB0AD656A}"/>
              </a:ext>
            </a:extLst>
          </p:cNvPr>
          <p:cNvSpPr/>
          <p:nvPr/>
        </p:nvSpPr>
        <p:spPr>
          <a:xfrm>
            <a:off x="1053921" y="806626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1AE2DB0-0929-E9A4-00AE-F64C4C41E430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695F3267-D00A-E015-623F-DBE480939E3B}"/>
              </a:ext>
            </a:extLst>
          </p:cNvPr>
          <p:cNvSpPr txBox="1">
            <a:spLocks/>
          </p:cNvSpPr>
          <p:nvPr/>
        </p:nvSpPr>
        <p:spPr>
          <a:xfrm>
            <a:off x="2852894" y="1794002"/>
            <a:ext cx="3901198" cy="26481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631825" lvl="0" indent="-631825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ru-RU" b="1" dirty="0"/>
              <a:t>Лидерство и культура</a:t>
            </a:r>
            <a:endParaRPr lang="ru-RU" dirty="0"/>
          </a:p>
          <a:p>
            <a:pPr marL="631825" lvl="0" indent="-631825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ru-RU" b="1" dirty="0"/>
              <a:t>Ресурсы</a:t>
            </a:r>
            <a:endParaRPr lang="ru-RU" dirty="0"/>
          </a:p>
          <a:p>
            <a:pPr marL="631825" lvl="0" indent="-631825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ru-RU" b="1" dirty="0"/>
              <a:t>Процессы и системы</a:t>
            </a:r>
            <a:endParaRPr lang="ru-RU" dirty="0"/>
          </a:p>
          <a:p>
            <a:pPr marL="631825" lvl="0" indent="-631825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ru-RU" b="1" dirty="0"/>
              <a:t>Сотрудники</a:t>
            </a:r>
            <a:endParaRPr lang="ru-RU" dirty="0"/>
          </a:p>
          <a:p>
            <a:pPr marL="631825" lvl="0" indent="-631825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ru-RU" b="1" dirty="0"/>
              <a:t>Внешние факторы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AECFA4-44C1-4937-E2B2-FD575FE65052}"/>
              </a:ext>
            </a:extLst>
          </p:cNvPr>
          <p:cNvSpPr txBox="1"/>
          <p:nvPr/>
        </p:nvSpPr>
        <p:spPr>
          <a:xfrm>
            <a:off x="947854" y="1352788"/>
            <a:ext cx="6504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по категориям</a:t>
            </a:r>
          </a:p>
        </p:txBody>
      </p:sp>
      <p:pic>
        <p:nvPicPr>
          <p:cNvPr id="8" name="Объект 5">
            <a:extLst>
              <a:ext uri="{FF2B5EF4-FFF2-40B4-BE49-F238E27FC236}">
                <a16:creationId xmlns:a16="http://schemas.microsoft.com/office/drawing/2014/main" id="{B1D29E3F-1830-4F6E-F58B-D0702F41E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245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8BFB1-4E70-2DFB-AFCD-0476B0F8B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EC5244-04D3-17B8-C146-B31A338E3D4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4" y="236538"/>
            <a:ext cx="10916485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 Методы оценки готовности организации к изменениям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FC09D7B-2A55-E3B5-33E9-A6E3268E1520}"/>
              </a:ext>
            </a:extLst>
          </p:cNvPr>
          <p:cNvSpPr/>
          <p:nvPr/>
        </p:nvSpPr>
        <p:spPr>
          <a:xfrm>
            <a:off x="1053921" y="81391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2C9BEF9-0849-69FF-3D06-606A07E2F193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9642313-BAFB-BABF-0B48-A59D2BC13CC0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A806680-920F-0BB1-7CD1-D6C24FB3731B}"/>
              </a:ext>
            </a:extLst>
          </p:cNvPr>
          <p:cNvSpPr txBox="1">
            <a:spLocks/>
          </p:cNvSpPr>
          <p:nvPr/>
        </p:nvSpPr>
        <p:spPr>
          <a:xfrm>
            <a:off x="3139211" y="1490935"/>
            <a:ext cx="4006172" cy="29969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534988" lvl="0" indent="-534988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Опросы </a:t>
            </a:r>
          </a:p>
          <a:p>
            <a:pPr marL="534988" lvl="0" indent="-534988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Интервью </a:t>
            </a:r>
          </a:p>
          <a:p>
            <a:pPr marL="534988" indent="-534988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Фокус-группы </a:t>
            </a:r>
          </a:p>
          <a:p>
            <a:pPr marL="534988" indent="-534988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Анализ документов </a:t>
            </a:r>
          </a:p>
          <a:p>
            <a:pPr marL="534988" indent="-534988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Наблюдение </a:t>
            </a:r>
          </a:p>
          <a:p>
            <a:pPr marL="534988" indent="-534988">
              <a:buClrTx/>
              <a:buFont typeface="Wingdings" panose="05000000000000000000" pitchFamily="2" charset="2"/>
              <a:buChar char="q"/>
            </a:pPr>
            <a:r>
              <a:rPr lang="ru-RU" b="1" dirty="0"/>
              <a:t>Модели оценки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lvl="0"/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C3ABF103-D314-49B6-29D8-45962CE1E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511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1DEE-6A91-5FC9-288F-E93BA5915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EAC11-6BF8-B3C1-90BD-D775EB891BA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22960" y="236538"/>
            <a:ext cx="10835640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 Этапы оценки готовности организации к изменениям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6F374C0-6242-611B-1073-7CC4D5A204FA}"/>
              </a:ext>
            </a:extLst>
          </p:cNvPr>
          <p:cNvSpPr/>
          <p:nvPr/>
        </p:nvSpPr>
        <p:spPr>
          <a:xfrm>
            <a:off x="1053921" y="81391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0209817-8369-FA10-170C-16CB5CE68577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4E8092E-76CC-CDE0-FC5E-9135F892E9A2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7A2C4AC-F546-0A62-11C3-B5583A156E57}"/>
              </a:ext>
            </a:extLst>
          </p:cNvPr>
          <p:cNvSpPr txBox="1">
            <a:spLocks/>
          </p:cNvSpPr>
          <p:nvPr/>
        </p:nvSpPr>
        <p:spPr>
          <a:xfrm>
            <a:off x="947855" y="1003965"/>
            <a:ext cx="10161657" cy="49048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>
              <a:buClrTx/>
              <a:buFont typeface="Courier New" panose="02070309020205020404" pitchFamily="49" charset="0"/>
              <a:buChar char="o"/>
            </a:pPr>
            <a:r>
              <a:rPr lang="ru-RU" b="1" dirty="0"/>
              <a:t> Определение целей оценки:</a:t>
            </a:r>
            <a:r>
              <a:rPr lang="ru-RU" dirty="0"/>
              <a:t> Что вы хотите узнать? Какие факторы для вас наиболее важны?</a:t>
            </a:r>
          </a:p>
          <a:p>
            <a:pPr lvl="0">
              <a:buClrTx/>
              <a:buFont typeface="Courier New" panose="02070309020205020404" pitchFamily="49" charset="0"/>
              <a:buChar char="o"/>
            </a:pPr>
            <a:r>
              <a:rPr lang="ru-RU" b="1" dirty="0"/>
              <a:t>Выбор методов оценки:</a:t>
            </a:r>
            <a:r>
              <a:rPr lang="ru-RU" dirty="0"/>
              <a:t> Какие методы будут наиболее эффективными для достижения ваших целей?</a:t>
            </a:r>
          </a:p>
          <a:p>
            <a:pPr lvl="0">
              <a:buClrTx/>
              <a:buFont typeface="Courier New" panose="02070309020205020404" pitchFamily="49" charset="0"/>
              <a:buChar char="o"/>
            </a:pPr>
            <a:r>
              <a:rPr lang="ru-RU" b="1" dirty="0"/>
              <a:t>Сбор данных:</a:t>
            </a:r>
            <a:r>
              <a:rPr lang="ru-RU" dirty="0"/>
              <a:t> Проведите опросы, интервью, фокус-группы, проанализируйте документы.</a:t>
            </a:r>
          </a:p>
          <a:p>
            <a:pPr lvl="0">
              <a:buClrTx/>
              <a:buFont typeface="Courier New" panose="02070309020205020404" pitchFamily="49" charset="0"/>
              <a:buChar char="o"/>
            </a:pPr>
            <a:r>
              <a:rPr lang="ru-RU" b="1" dirty="0"/>
              <a:t>Анализ данных:</a:t>
            </a:r>
            <a:r>
              <a:rPr lang="ru-RU" dirty="0"/>
              <a:t> Проанализируйте собранные данные и определите сильные и слабые стороны организации.</a:t>
            </a:r>
          </a:p>
          <a:p>
            <a:pPr lvl="0">
              <a:buClrTx/>
              <a:buFont typeface="Courier New" panose="02070309020205020404" pitchFamily="49" charset="0"/>
              <a:buChar char="o"/>
            </a:pPr>
            <a:r>
              <a:rPr lang="ru-RU" b="1" dirty="0"/>
              <a:t>Разработка отчета:</a:t>
            </a:r>
            <a:r>
              <a:rPr lang="ru-RU" dirty="0"/>
              <a:t> Составьте отчет о результатах оценки, в котором укажите:</a:t>
            </a:r>
          </a:p>
          <a:p>
            <a:pPr lvl="1">
              <a:buClrTx/>
              <a:buFont typeface="Courier New" panose="02070309020205020404" pitchFamily="49" charset="0"/>
              <a:buChar char="o"/>
            </a:pPr>
            <a:r>
              <a:rPr lang="ru-RU" dirty="0"/>
              <a:t>Уровень готовности организации к изменениям.</a:t>
            </a:r>
          </a:p>
          <a:p>
            <a:pPr lvl="1">
              <a:buClrTx/>
              <a:buFont typeface="Courier New" panose="02070309020205020404" pitchFamily="49" charset="0"/>
              <a:buChar char="o"/>
            </a:pPr>
            <a:r>
              <a:rPr lang="ru-RU" dirty="0"/>
              <a:t>Сильные и слабые стороны.</a:t>
            </a:r>
          </a:p>
          <a:p>
            <a:pPr lvl="1">
              <a:buClrTx/>
              <a:buFont typeface="Courier New" panose="02070309020205020404" pitchFamily="49" charset="0"/>
              <a:buChar char="o"/>
            </a:pPr>
            <a:r>
              <a:rPr lang="ru-RU" dirty="0"/>
              <a:t>Рекомендации по подготовке организации к внедрению изменений.</a:t>
            </a:r>
          </a:p>
          <a:p>
            <a:pPr lvl="0">
              <a:buClrTx/>
              <a:buFont typeface="Courier New" panose="02070309020205020404" pitchFamily="49" charset="0"/>
              <a:buChar char="o"/>
            </a:pPr>
            <a:r>
              <a:rPr lang="ru-RU" b="1" dirty="0"/>
              <a:t>Представление результатов:</a:t>
            </a:r>
            <a:r>
              <a:rPr lang="ru-RU" dirty="0"/>
              <a:t> Представьте результаты оценки заинтересованным сторонам и обсудите план действий.</a:t>
            </a:r>
          </a:p>
          <a:p>
            <a:pPr lvl="0"/>
            <a:endParaRPr lang="ru-RU" b="1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85DE5024-E588-4FF6-4573-558767C9A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153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D189-1F98-D03B-0AF7-9ACF38886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40618-0054-E415-8A17-76886A0D9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7855" y="236538"/>
            <a:ext cx="10273448" cy="433046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Что делать с результатами оценки?</a:t>
            </a:r>
            <a:endParaRPr lang="ru-RU" sz="2800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932CB4F-3558-2B4A-3E13-D3A5B308AFF7}"/>
              </a:ext>
            </a:extLst>
          </p:cNvPr>
          <p:cNvSpPr/>
          <p:nvPr/>
        </p:nvSpPr>
        <p:spPr>
          <a:xfrm>
            <a:off x="1053921" y="813915"/>
            <a:ext cx="1008415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1476406-4783-7285-BA6F-09EF68543C54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205F0ED-F1F0-6D50-AE85-DF34F3372774}"/>
              </a:ext>
            </a:extLst>
          </p:cNvPr>
          <p:cNvSpPr txBox="1">
            <a:spLocks/>
          </p:cNvSpPr>
          <p:nvPr/>
        </p:nvSpPr>
        <p:spPr>
          <a:xfrm>
            <a:off x="1003750" y="929522"/>
            <a:ext cx="10161657" cy="6502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ru-RU" dirty="0"/>
              <a:t>Результаты оценки готовности к изменениям должны быть использованы для разработки стратегии управления изменениями, которая включает в себя: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1FB33D07-8BFA-70FE-5D3D-915453815E0F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F976B60A-DB4A-9DE1-DFC0-F02AA305B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2FE5A625-A4A5-4217-4BC0-EDB9BF93A964}"/>
              </a:ext>
            </a:extLst>
          </p:cNvPr>
          <p:cNvSpPr txBox="1">
            <a:spLocks/>
          </p:cNvSpPr>
          <p:nvPr/>
        </p:nvSpPr>
        <p:spPr>
          <a:xfrm>
            <a:off x="2739467" y="1484687"/>
            <a:ext cx="7475687" cy="44801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>
              <a:buClrTx/>
              <a:buFont typeface="Wingdings" panose="05000000000000000000" pitchFamily="2" charset="2"/>
              <a:buChar char="§"/>
            </a:pPr>
            <a:r>
              <a:rPr lang="ru-RU" b="1" dirty="0"/>
              <a:t>Коммуникацию:</a:t>
            </a:r>
            <a:r>
              <a:rPr lang="ru-RU" dirty="0"/>
              <a:t> Четкое и прозрачное информирование сотрудников о предстоящих изменениях.</a:t>
            </a:r>
          </a:p>
          <a:p>
            <a:pPr lvl="0">
              <a:buClrTx/>
              <a:buFont typeface="Wingdings" panose="05000000000000000000" pitchFamily="2" charset="2"/>
              <a:buChar char="§"/>
            </a:pPr>
            <a:r>
              <a:rPr lang="ru-RU" b="1" dirty="0"/>
              <a:t>Обучение:</a:t>
            </a:r>
            <a:r>
              <a:rPr lang="ru-RU" dirty="0"/>
              <a:t> Обучение персонала новым навыкам, необходимым для работы с новыми технологиями и процессами.</a:t>
            </a:r>
          </a:p>
          <a:p>
            <a:pPr lvl="0">
              <a:buClrTx/>
              <a:buFont typeface="Wingdings" panose="05000000000000000000" pitchFamily="2" charset="2"/>
              <a:buChar char="§"/>
            </a:pPr>
            <a:r>
              <a:rPr lang="ru-RU" b="1" dirty="0"/>
              <a:t>Вовлечение:</a:t>
            </a:r>
            <a:r>
              <a:rPr lang="ru-RU" dirty="0"/>
              <a:t> Вовлечение сотрудников в процесс принятия решений и планирования изменений.</a:t>
            </a:r>
          </a:p>
          <a:p>
            <a:pPr lvl="0">
              <a:buClrTx/>
              <a:buFont typeface="Wingdings" panose="05000000000000000000" pitchFamily="2" charset="2"/>
              <a:buChar char="§"/>
            </a:pPr>
            <a:r>
              <a:rPr lang="ru-RU" b="1" dirty="0"/>
              <a:t>Поддержку:</a:t>
            </a:r>
            <a:r>
              <a:rPr lang="ru-RU" dirty="0"/>
              <a:t> Оказание поддержки сотрудникам, испытывающим трудности с адаптацией к изменениям.</a:t>
            </a:r>
          </a:p>
          <a:p>
            <a:pPr lvl="0">
              <a:buClrTx/>
              <a:buFont typeface="Wingdings" panose="05000000000000000000" pitchFamily="2" charset="2"/>
              <a:buChar char="§"/>
            </a:pPr>
            <a:r>
              <a:rPr lang="ru-RU" b="1" dirty="0"/>
              <a:t>Мониторинг:</a:t>
            </a:r>
            <a:r>
              <a:rPr lang="ru-RU" dirty="0"/>
              <a:t> Постоянный мониторинг процесса внедрения изменений и внесение корректировок по мере необходимости.</a:t>
            </a:r>
          </a:p>
          <a:p>
            <a:pPr lvl="0">
              <a:buClrTx/>
              <a:buFont typeface="Wingdings" panose="05000000000000000000" pitchFamily="2" charset="2"/>
              <a:buChar char="§"/>
            </a:pPr>
            <a:r>
              <a:rPr lang="ru-RU" b="1" dirty="0"/>
              <a:t>Управление сопротивлением:</a:t>
            </a:r>
            <a:r>
              <a:rPr lang="ru-RU" dirty="0"/>
              <a:t> Разработка мер для преодоления сопротивления изменениям.</a:t>
            </a:r>
          </a:p>
        </p:txBody>
      </p:sp>
    </p:spTree>
    <p:extLst>
      <p:ext uri="{BB962C8B-B14F-4D97-AF65-F5344CB8AC3E}">
        <p14:creationId xmlns:p14="http://schemas.microsoft.com/office/powerpoint/2010/main" val="29981922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D47E7-BF9E-EA4D-1881-58E212867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0B80DF3A-DF80-BB5F-C205-E0E9329023F7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1FA0243A-F18C-0C14-E28B-EC45E1E6916C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AA0E09EE-53BD-C922-E74C-70A3FDDB012F}"/>
              </a:ext>
            </a:extLst>
          </p:cNvPr>
          <p:cNvSpPr txBox="1">
            <a:spLocks/>
          </p:cNvSpPr>
          <p:nvPr/>
        </p:nvSpPr>
        <p:spPr>
          <a:xfrm>
            <a:off x="4774664" y="1493944"/>
            <a:ext cx="3793012" cy="373519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533400" lvl="0" indent="-533400">
              <a:buClrTx/>
              <a:buFont typeface="Wingdings" panose="05000000000000000000" pitchFamily="2" charset="2"/>
              <a:buChar char="Ø"/>
            </a:pPr>
            <a:r>
              <a:rPr lang="ru-RU" dirty="0"/>
              <a:t>Понимание</a:t>
            </a:r>
          </a:p>
          <a:p>
            <a:pPr marL="533400" lvl="0" indent="-533400">
              <a:buClrTx/>
              <a:buFont typeface="Wingdings" panose="05000000000000000000" pitchFamily="2" charset="2"/>
              <a:buChar char="Ø"/>
            </a:pPr>
            <a:r>
              <a:rPr lang="ru-RU" dirty="0"/>
              <a:t>Принятие решений</a:t>
            </a:r>
          </a:p>
          <a:p>
            <a:pPr marL="533400" lvl="0" indent="-533400">
              <a:buClrTx/>
              <a:buFont typeface="Wingdings" panose="05000000000000000000" pitchFamily="2" charset="2"/>
              <a:buChar char="Ø"/>
            </a:pPr>
            <a:r>
              <a:rPr lang="ru-RU" dirty="0"/>
              <a:t>Доверие</a:t>
            </a:r>
          </a:p>
          <a:p>
            <a:pPr marL="533400" lvl="0" indent="-533400">
              <a:buClrTx/>
              <a:buFont typeface="Wingdings" panose="05000000000000000000" pitchFamily="2" charset="2"/>
              <a:buChar char="Ø"/>
            </a:pPr>
            <a:r>
              <a:rPr lang="ru-RU" dirty="0"/>
              <a:t>Эффективная коммуникация</a:t>
            </a:r>
          </a:p>
          <a:p>
            <a:pPr marL="533400" lvl="0" indent="-533400">
              <a:buClrTx/>
              <a:buFont typeface="Wingdings" panose="05000000000000000000" pitchFamily="2" charset="2"/>
              <a:buChar char="Ø"/>
            </a:pPr>
            <a:r>
              <a:rPr lang="ru-RU" dirty="0"/>
              <a:t>Возможность действовать</a:t>
            </a:r>
          </a:p>
          <a:p>
            <a:pPr marL="533400" lvl="0" indent="-533400">
              <a:buClrTx/>
              <a:buFont typeface="Wingdings" panose="05000000000000000000" pitchFamily="2" charset="2"/>
              <a:buChar char="Ø"/>
            </a:pPr>
            <a:r>
              <a:rPr lang="ru-RU" dirty="0"/>
              <a:t>Сохранение времени</a:t>
            </a:r>
          </a:p>
          <a:p>
            <a:pPr marL="533400" lvl="0" indent="-533400">
              <a:buClrTx/>
              <a:buFont typeface="Wingdings" panose="05000000000000000000" pitchFamily="2" charset="2"/>
              <a:buChar char="Ø"/>
            </a:pPr>
            <a:r>
              <a:rPr lang="ru-RU" dirty="0"/>
              <a:t>Влияние</a:t>
            </a:r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7A5E3306-D687-AE1E-292E-967E5DA37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478E6C-1C59-3080-4BC4-1595C0E82DA6}"/>
              </a:ext>
            </a:extLst>
          </p:cNvPr>
          <p:cNvSpPr txBox="1"/>
          <p:nvPr/>
        </p:nvSpPr>
        <p:spPr>
          <a:xfrm>
            <a:off x="4056752" y="-55709"/>
            <a:ext cx="610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800" b="1" dirty="0">
                <a:solidFill>
                  <a:srgbClr val="002060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Оформление результатов анализа</a:t>
            </a:r>
            <a:endParaRPr lang="ru-RU" sz="2800" dirty="0">
              <a:solidFill>
                <a:srgbClr val="002060"/>
              </a:solidFill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ABEC4-A0D3-81BF-3709-24D994F4CAA8}"/>
              </a:ext>
            </a:extLst>
          </p:cNvPr>
          <p:cNvSpPr txBox="1"/>
          <p:nvPr/>
        </p:nvSpPr>
        <p:spPr>
          <a:xfrm>
            <a:off x="1425367" y="657562"/>
            <a:ext cx="9606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b="1" dirty="0">
                <a:solidFill>
                  <a:srgbClr val="C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Оформление результатов </a:t>
            </a: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– это превращение сырых данных , которые приводят к действию. Это искусство сделать сложную информацию доступной и полезной для принятия решений.</a:t>
            </a:r>
            <a:endParaRPr lang="ru-RU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D931F5-EB43-521A-BA2A-FF6BE781751D}"/>
              </a:ext>
            </a:extLst>
          </p:cNvPr>
          <p:cNvSpPr txBox="1"/>
          <p:nvPr/>
        </p:nvSpPr>
        <p:spPr>
          <a:xfrm>
            <a:off x="1425366" y="1569393"/>
            <a:ext cx="28717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Почему важно уметь правильно оформлять результаты анализа?</a:t>
            </a:r>
            <a:endParaRPr lang="ru-RU" sz="16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7432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D96CB-6178-4062-A0DC-A14998AB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2BA692F3-67A7-6C92-B65C-9CC9361A32E6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1FEB80DD-6DDA-D451-D2D5-36557A746731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19D42CFD-C66F-0816-8BD7-589470191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C48112-A96C-DB83-3677-9A1A88333D68}"/>
              </a:ext>
            </a:extLst>
          </p:cNvPr>
          <p:cNvSpPr txBox="1"/>
          <p:nvPr/>
        </p:nvSpPr>
        <p:spPr>
          <a:xfrm>
            <a:off x="1276350" y="554896"/>
            <a:ext cx="2551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 принципы </a:t>
            </a:r>
          </a:p>
          <a:p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оформления 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FD4FC-7ACF-A96A-D1EF-9FA84FF2A8B4}"/>
              </a:ext>
            </a:extLst>
          </p:cNvPr>
          <p:cNvSpPr txBox="1"/>
          <p:nvPr/>
        </p:nvSpPr>
        <p:spPr>
          <a:xfrm>
            <a:off x="4278816" y="1214074"/>
            <a:ext cx="3634368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Целевая аудитория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Четкость и лаконичность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Контекст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Простота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Последовательность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Аккуратность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История 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F204F9-F7CA-1CAC-305A-F409DC9506AE}"/>
              </a:ext>
            </a:extLst>
          </p:cNvPr>
          <p:cNvSpPr txBox="1"/>
          <p:nvPr/>
        </p:nvSpPr>
        <p:spPr>
          <a:xfrm>
            <a:off x="4030626" y="-88786"/>
            <a:ext cx="610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800" b="1" dirty="0">
                <a:solidFill>
                  <a:srgbClr val="002060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Оформление результатов анализа</a:t>
            </a:r>
            <a:endParaRPr lang="ru-RU" sz="2800" dirty="0">
              <a:solidFill>
                <a:srgbClr val="002060"/>
              </a:solidFill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8313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9B881-EBA0-7539-7B02-CF094842E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03DF2C1A-E90D-8611-88D2-700E2F6904A7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A8F3A889-6737-BE78-1F49-59974C199C10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5F9FD0E2-737D-DF71-4E52-3DCDE5518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4E5343-C2A3-2CAA-EE20-3DB87C76A052}"/>
              </a:ext>
            </a:extLst>
          </p:cNvPr>
          <p:cNvSpPr txBox="1"/>
          <p:nvPr/>
        </p:nvSpPr>
        <p:spPr>
          <a:xfrm>
            <a:off x="1250225" y="870090"/>
            <a:ext cx="4197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Форматы оформления 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5C655F-068C-6911-2BF0-623B3182CE87}"/>
              </a:ext>
            </a:extLst>
          </p:cNvPr>
          <p:cNvSpPr txBox="1"/>
          <p:nvPr/>
        </p:nvSpPr>
        <p:spPr>
          <a:xfrm>
            <a:off x="3827463" y="1588769"/>
            <a:ext cx="2029885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Отчеты</a:t>
            </a:r>
          </a:p>
          <a:p>
            <a:pPr marL="285750" lvl="0" indent="-285750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Презентации</a:t>
            </a:r>
          </a:p>
          <a:p>
            <a:pPr marL="285750" lvl="0" indent="-285750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Дашборды 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Инфографика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A2CD1-C160-16CA-D200-2FD04D68BBB6}"/>
              </a:ext>
            </a:extLst>
          </p:cNvPr>
          <p:cNvSpPr txBox="1"/>
          <p:nvPr/>
        </p:nvSpPr>
        <p:spPr>
          <a:xfrm>
            <a:off x="4030626" y="-114912"/>
            <a:ext cx="610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800" b="1" dirty="0">
                <a:solidFill>
                  <a:srgbClr val="002060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Оформление результатов анализа</a:t>
            </a:r>
            <a:endParaRPr lang="ru-RU" sz="2800" dirty="0">
              <a:solidFill>
                <a:srgbClr val="002060"/>
              </a:solidFill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6475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9BEBD-429C-D357-7262-9A865AF5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1C53FB93-38CE-97A9-028E-A24A5A11436E}"/>
              </a:ext>
            </a:extLst>
          </p:cNvPr>
          <p:cNvSpPr txBox="1">
            <a:spLocks/>
          </p:cNvSpPr>
          <p:nvPr/>
        </p:nvSpPr>
        <p:spPr>
          <a:xfrm>
            <a:off x="947855" y="2235217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A5610A5B-EB88-3B1A-0CB1-635F22B29CA9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AB4EF5C5-9475-C997-0F23-64C0F71A1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7A656D-2BFC-74B2-C3AF-9CE0613B7466}"/>
              </a:ext>
            </a:extLst>
          </p:cNvPr>
          <p:cNvSpPr txBox="1"/>
          <p:nvPr/>
        </p:nvSpPr>
        <p:spPr>
          <a:xfrm>
            <a:off x="1276350" y="554896"/>
            <a:ext cx="2444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Ключевые элементы</a:t>
            </a:r>
          </a:p>
          <a:p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оформления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E689F-09A5-6364-A1D5-4040842DF981}"/>
              </a:ext>
            </a:extLst>
          </p:cNvPr>
          <p:cNvSpPr txBox="1"/>
          <p:nvPr/>
        </p:nvSpPr>
        <p:spPr>
          <a:xfrm>
            <a:off x="4158061" y="1356236"/>
            <a:ext cx="3457575" cy="313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4500" lvl="0" indent="-444500">
              <a:buSzPct val="10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Заголовок </a:t>
            </a:r>
          </a:p>
          <a:p>
            <a:pPr marL="444500" lvl="0" indent="-444500">
              <a:buSzPct val="10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Введение 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4500" lvl="0" indent="-444500">
              <a:spcBef>
                <a:spcPts val="300"/>
              </a:spcBef>
              <a:buSzPct val="10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выводы </a:t>
            </a:r>
          </a:p>
          <a:p>
            <a:pPr marL="444500" lvl="0" indent="-444500">
              <a:spcBef>
                <a:spcPts val="300"/>
              </a:spcBef>
              <a:buSzPct val="10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Графики и диаграммы </a:t>
            </a:r>
          </a:p>
          <a:p>
            <a:pPr marL="444500" lvl="0" indent="-444500">
              <a:spcBef>
                <a:spcPts val="300"/>
              </a:spcBef>
              <a:buSzPct val="10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Таблицы </a:t>
            </a:r>
          </a:p>
          <a:p>
            <a:pPr marL="444500" lvl="0" indent="-444500">
              <a:spcBef>
                <a:spcPts val="300"/>
              </a:spcBef>
              <a:buSzPct val="10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Текст </a:t>
            </a:r>
          </a:p>
          <a:p>
            <a:pPr marL="444500" lvl="0" indent="-444500">
              <a:spcBef>
                <a:spcPts val="300"/>
              </a:spcBef>
              <a:buSzPct val="10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Заключение </a:t>
            </a:r>
          </a:p>
          <a:p>
            <a:pPr marL="444500" lvl="0" indent="-444500">
              <a:spcBef>
                <a:spcPts val="300"/>
              </a:spcBef>
              <a:buSzPct val="10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Рекомендации </a:t>
            </a:r>
          </a:p>
          <a:p>
            <a:pPr marL="444500" lvl="0" indent="-444500">
              <a:spcBef>
                <a:spcPts val="300"/>
              </a:spcBef>
              <a:buSzPct val="10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Источники данных </a:t>
            </a:r>
          </a:p>
          <a:p>
            <a:pPr marL="444500" indent="-444500">
              <a:buSzPct val="100000"/>
              <a:buFont typeface="Wingdings" panose="05000000000000000000" pitchFamily="2" charset="2"/>
              <a:buChar char="v"/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Методология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073950-701B-DB8D-98DA-FEF3C7B7AC7D}"/>
              </a:ext>
            </a:extLst>
          </p:cNvPr>
          <p:cNvSpPr txBox="1"/>
          <p:nvPr/>
        </p:nvSpPr>
        <p:spPr>
          <a:xfrm>
            <a:off x="4056752" y="-55709"/>
            <a:ext cx="610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800" b="1" dirty="0">
                <a:solidFill>
                  <a:srgbClr val="002060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Оформление результатов анализа</a:t>
            </a:r>
            <a:endParaRPr lang="ru-RU" sz="2800" dirty="0">
              <a:solidFill>
                <a:srgbClr val="002060"/>
              </a:solidFill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2431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26568-B5A2-E451-67EA-2628ABFF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26FB77DE-5FF0-117A-05CB-D2B43B75623B}"/>
              </a:ext>
            </a:extLst>
          </p:cNvPr>
          <p:cNvSpPr txBox="1">
            <a:spLocks/>
          </p:cNvSpPr>
          <p:nvPr/>
        </p:nvSpPr>
        <p:spPr>
          <a:xfrm>
            <a:off x="1025346" y="1640986"/>
            <a:ext cx="10084157" cy="3227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44500" lvl="0" indent="-444500">
              <a:buClrTx/>
              <a:buFont typeface="Wingdings" panose="05000000000000000000" pitchFamily="2" charset="2"/>
              <a:buChar char="§"/>
            </a:pPr>
            <a:r>
              <a:rPr lang="ru-RU" sz="1800" b="1" dirty="0"/>
              <a:t>Столбчатая диаграмма - </a:t>
            </a:r>
            <a:r>
              <a:rPr lang="ru-RU" sz="1800" dirty="0"/>
              <a:t>Сравнение значений между различными категориями.</a:t>
            </a:r>
          </a:p>
          <a:p>
            <a:pPr marL="444500" lvl="0" indent="-444500">
              <a:buClrTx/>
              <a:buFont typeface="Wingdings" panose="05000000000000000000" pitchFamily="2" charset="2"/>
              <a:buChar char="§"/>
            </a:pPr>
            <a:r>
              <a:rPr lang="ru-RU" sz="1800" b="1" dirty="0"/>
              <a:t>Гистограмма - </a:t>
            </a:r>
            <a:r>
              <a:rPr lang="ru-RU" sz="1800" dirty="0"/>
              <a:t>Распределение значений одной переменной.</a:t>
            </a:r>
          </a:p>
          <a:p>
            <a:pPr marL="444500" lvl="0" indent="-444500">
              <a:buClrTx/>
              <a:buFont typeface="Wingdings" panose="05000000000000000000" pitchFamily="2" charset="2"/>
              <a:buChar char="§"/>
            </a:pPr>
            <a:r>
              <a:rPr lang="ru-RU" sz="1800" b="1" dirty="0"/>
              <a:t>Круговая диаграмма - </a:t>
            </a:r>
            <a:r>
              <a:rPr lang="ru-RU" sz="1800" dirty="0"/>
              <a:t>Доля каждой категории в общей сумме.</a:t>
            </a:r>
          </a:p>
          <a:p>
            <a:pPr marL="444500" lvl="0" indent="-444500">
              <a:buClrTx/>
              <a:buFont typeface="Wingdings" panose="05000000000000000000" pitchFamily="2" charset="2"/>
              <a:buChar char="§"/>
            </a:pPr>
            <a:r>
              <a:rPr lang="ru-RU" sz="1800" b="1" dirty="0"/>
              <a:t>Линейный график - </a:t>
            </a:r>
            <a:r>
              <a:rPr lang="ru-RU" sz="1800" dirty="0"/>
              <a:t>Изменение значений одной или нескольких переменных во времени.</a:t>
            </a:r>
          </a:p>
          <a:p>
            <a:pPr marL="444500" lvl="0" indent="-444500">
              <a:buClrTx/>
              <a:buFont typeface="Wingdings" panose="05000000000000000000" pitchFamily="2" charset="2"/>
              <a:buChar char="§"/>
            </a:pPr>
            <a:r>
              <a:rPr lang="ru-RU" sz="1800" b="1" dirty="0"/>
              <a:t>Диаграмма рассеяния - </a:t>
            </a:r>
            <a:r>
              <a:rPr lang="ru-RU" sz="1800" dirty="0"/>
              <a:t>Зависимость между двумя переменными.</a:t>
            </a:r>
          </a:p>
          <a:p>
            <a:pPr marL="444500" lvl="0" indent="-444500">
              <a:buClrTx/>
              <a:buFont typeface="Wingdings" panose="05000000000000000000" pitchFamily="2" charset="2"/>
              <a:buChar char="§"/>
            </a:pPr>
            <a:r>
              <a:rPr lang="ru-RU" sz="1800" b="1" dirty="0"/>
              <a:t>Тепловая карта - </a:t>
            </a:r>
            <a:r>
              <a:rPr lang="ru-RU" sz="1800" dirty="0"/>
              <a:t>Отображение значений в виде цветовой градации.</a:t>
            </a:r>
          </a:p>
          <a:p>
            <a:pPr marL="444500" indent="-444500">
              <a:buClrTx/>
              <a:buFont typeface="Wingdings" panose="05000000000000000000" pitchFamily="2" charset="2"/>
              <a:buChar char="§"/>
            </a:pPr>
            <a:r>
              <a:rPr lang="ru-RU" sz="1800" b="1" dirty="0"/>
              <a:t>Географическая карта - </a:t>
            </a:r>
            <a:r>
              <a:rPr lang="ru-RU" sz="1800" dirty="0"/>
              <a:t>Отображение данных на географической карте.</a:t>
            </a:r>
            <a:r>
              <a:rPr lang="ru-RU" sz="1800" b="1" dirty="0"/>
              <a:t> </a:t>
            </a:r>
            <a:endParaRPr lang="ru-RU" sz="1800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DF1BEE4-8920-0B59-85A7-A8A198E00151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5A6E6AA1-CDBD-2499-1111-BEF11489F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015B46-8B77-23F8-7A07-5174CC7287C8}"/>
              </a:ext>
            </a:extLst>
          </p:cNvPr>
          <p:cNvSpPr txBox="1"/>
          <p:nvPr/>
        </p:nvSpPr>
        <p:spPr>
          <a:xfrm>
            <a:off x="1276350" y="554896"/>
            <a:ext cx="244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Выбор типа графика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0B5BC6-83B6-41A6-FEB2-7E4A178B07FB}"/>
              </a:ext>
            </a:extLst>
          </p:cNvPr>
          <p:cNvSpPr txBox="1"/>
          <p:nvPr/>
        </p:nvSpPr>
        <p:spPr>
          <a:xfrm>
            <a:off x="4056752" y="-55709"/>
            <a:ext cx="610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800" b="1" dirty="0">
                <a:solidFill>
                  <a:srgbClr val="002060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Оформление результатов анализа</a:t>
            </a:r>
            <a:endParaRPr lang="ru-RU" sz="2800" dirty="0">
              <a:solidFill>
                <a:srgbClr val="002060"/>
              </a:solidFill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8403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7179A-73D6-4051-17A0-A95EDF7C2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2">
            <a:extLst>
              <a:ext uri="{FF2B5EF4-FFF2-40B4-BE49-F238E27FC236}">
                <a16:creationId xmlns:a16="http://schemas.microsoft.com/office/drawing/2014/main" id="{D8DBB13B-8788-B76F-28AF-B1B4B9F116C4}"/>
              </a:ext>
            </a:extLst>
          </p:cNvPr>
          <p:cNvSpPr txBox="1">
            <a:spLocks/>
          </p:cNvSpPr>
          <p:nvPr/>
        </p:nvSpPr>
        <p:spPr>
          <a:xfrm>
            <a:off x="1425367" y="3546088"/>
            <a:ext cx="8922965" cy="21070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10464B69-66E9-7FD1-CD1A-B84738980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4487863"/>
            <a:ext cx="12192000" cy="3352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A9AE39-9B0F-BF7A-85FB-A3AF2FFD6362}"/>
              </a:ext>
            </a:extLst>
          </p:cNvPr>
          <p:cNvSpPr txBox="1"/>
          <p:nvPr/>
        </p:nvSpPr>
        <p:spPr>
          <a:xfrm>
            <a:off x="1276350" y="554896"/>
            <a:ext cx="2838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b="1" dirty="0">
                <a:solidFill>
                  <a:srgbClr val="0092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Чек-лист для проверки оформления: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6A713-FB77-DBDC-92BD-FBF808753F22}"/>
              </a:ext>
            </a:extLst>
          </p:cNvPr>
          <p:cNvSpPr txBox="1"/>
          <p:nvPr/>
        </p:nvSpPr>
        <p:spPr>
          <a:xfrm>
            <a:off x="3721100" y="1382430"/>
            <a:ext cx="61087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lvl="0" indent="-5334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Заголовок четкий и понятный?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3400" lvl="0" indent="-5334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Целевая аудитория учтена?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3400" lvl="0" indent="-5334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выводы выделены?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3400" lvl="0" indent="-5334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Графики и диаграммы понятны и информативны?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3400" lvl="0" indent="-5334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Текст лаконичный и ясный?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3400" lvl="0" indent="-5334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Рекомендации конкретные и выполнимые?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3400" lvl="0" indent="-5334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Источники данных указаны?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3400" lvl="0" indent="-533400">
              <a:spcBef>
                <a:spcPts val="12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Ошибки проверены?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B0BF08-18AA-C623-F2F7-CCB59C3A774E}"/>
              </a:ext>
            </a:extLst>
          </p:cNvPr>
          <p:cNvSpPr txBox="1"/>
          <p:nvPr/>
        </p:nvSpPr>
        <p:spPr>
          <a:xfrm>
            <a:off x="4056752" y="-55709"/>
            <a:ext cx="6108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2800" b="1" dirty="0">
                <a:solidFill>
                  <a:srgbClr val="002060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Оформление результатов анализа</a:t>
            </a:r>
            <a:endParaRPr lang="ru-RU" sz="2800" dirty="0">
              <a:solidFill>
                <a:srgbClr val="002060"/>
              </a:solidFill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6899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CD362-633D-CDD6-7E5B-4C03363BA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0708388-378C-7818-B81E-E1505336E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F2B40CD-0CDB-00FC-CF29-F45D0ACDC11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6482E-FC2F-6A7F-D064-7A43D02688E8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Анализ отчётов и документов компании позволяет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AFF3C-FDDF-A061-B685-7360118086D3}"/>
              </a:ext>
            </a:extLst>
          </p:cNvPr>
          <p:cNvSpPr txBox="1"/>
          <p:nvPr/>
        </p:nvSpPr>
        <p:spPr>
          <a:xfrm>
            <a:off x="3535311" y="1594547"/>
            <a:ext cx="512137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Оценить текущее состояние бизнеса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Выявить тенденции и закономерности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Принять обоснованные решения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Повысить прозрачность бизнеса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Оптимизировать бизнес-процессы</a:t>
            </a:r>
          </a:p>
          <a:p>
            <a:pPr marL="342900" lvl="0" indent="-342900">
              <a:spcBef>
                <a:spcPts val="1200"/>
              </a:spcBef>
              <a:buSzPct val="10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Снизить риски</a:t>
            </a:r>
          </a:p>
          <a:p>
            <a:pPr marL="342900" lvl="0" indent="-342900">
              <a:buSzPct val="1000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endParaRPr lang="ru-RU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759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BC60F-A1FF-5A24-9646-E8F5C0C82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85D755F3-C622-7A55-C3A4-908D2539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B68703A-282C-C16E-7AF4-DC1B084414B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4B76AE-F657-1E72-BA70-87BA64CC2349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Типы отчётов и документов для анализа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C6663C-53B6-8359-8D38-07E8F65F394D}"/>
              </a:ext>
            </a:extLst>
          </p:cNvPr>
          <p:cNvSpPr txBox="1"/>
          <p:nvPr/>
        </p:nvSpPr>
        <p:spPr>
          <a:xfrm>
            <a:off x="3241800" y="1133544"/>
            <a:ext cx="4556725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4988" lvl="0" indent="-534988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Финансовые отчёты</a:t>
            </a:r>
          </a:p>
          <a:p>
            <a:pPr marL="534988" lvl="0" indent="-534988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Отчёты о продажах</a:t>
            </a:r>
          </a:p>
          <a:p>
            <a:pPr marL="534988" lvl="0" indent="-534988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Маркетинговые отчёты</a:t>
            </a:r>
          </a:p>
          <a:p>
            <a:pPr marL="534988" lvl="0" indent="-534988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Отчёты об освещении деятельности</a:t>
            </a:r>
          </a:p>
          <a:p>
            <a:pPr marL="534988" lvl="0" indent="-534988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Отчёты о </a:t>
            </a:r>
            <a:r>
              <a:rPr lang="ru-RU" sz="1800" b="1" dirty="0" err="1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endParaRPr lang="ru-RU" sz="1800" b="1" dirty="0">
              <a:solidFill>
                <a:srgbClr val="212529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4988" lvl="0" indent="-534988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Отчёты о клиентской поддержке</a:t>
            </a:r>
            <a:endParaRPr lang="ru-RU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4988" lvl="0" indent="-534988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Внутренние документы</a:t>
            </a:r>
          </a:p>
          <a:p>
            <a:pPr marL="534988" lvl="0" indent="-534988">
              <a:spcBef>
                <a:spcPts val="1200"/>
              </a:spcBef>
              <a:buSzPct val="100000"/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Внешние документы</a:t>
            </a:r>
            <a:endParaRPr lang="ru-RU" sz="1800" dirty="0">
              <a:solidFill>
                <a:srgbClr val="212529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4751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D8DA2-0F2B-D1E9-A81F-F13B5ED2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B38F4CBC-4530-6495-09B4-61D3626B6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3887AB8-0EC7-94A1-7C15-4715CBAC5F1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F8E495-3CDE-A41B-F5D5-9FAF7DA557E6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Методы анализа отчётов и документов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47209-4BD2-F599-A563-5BB62D495002}"/>
              </a:ext>
            </a:extLst>
          </p:cNvPr>
          <p:cNvSpPr txBox="1"/>
          <p:nvPr/>
        </p:nvSpPr>
        <p:spPr>
          <a:xfrm>
            <a:off x="3156041" y="867711"/>
            <a:ext cx="473792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/>
              <a:t>Анализ трендов</a:t>
            </a:r>
            <a:r>
              <a:rPr lang="ru-RU" dirty="0"/>
              <a:t>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/>
              <a:t>Сравнительный анализ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/>
              <a:t>Факторный анализ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 err="1"/>
              <a:t>ABC</a:t>
            </a:r>
            <a:r>
              <a:rPr lang="ru-RU" b="1" dirty="0"/>
              <a:t>-анализ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 err="1"/>
              <a:t>XYZ</a:t>
            </a:r>
            <a:r>
              <a:rPr lang="ru-RU" b="1" dirty="0"/>
              <a:t>-анализ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 err="1"/>
              <a:t>SWOT</a:t>
            </a:r>
            <a:r>
              <a:rPr lang="ru-RU" b="1" dirty="0"/>
              <a:t>-анализ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 err="1"/>
              <a:t>PESTLE</a:t>
            </a:r>
            <a:r>
              <a:rPr lang="ru-RU" b="1" dirty="0"/>
              <a:t>-анализ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/>
              <a:t>Содержательный анализ (Контент-анализ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/>
              <a:t>Бенчмаркинг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/>
              <a:t>Статистический анализ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ru-RU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2898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F782E-2152-F8C6-0E8E-2FA266E11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05EDE4C0-AB4C-6816-A568-D6777B6A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6FDC971-29F2-9F46-1C8B-863FF443D58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DB6A92-1B35-4E2C-8748-406684F59E52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Этапы анализа отчётов и документов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030D9-858D-7CB2-BA69-ECE617CF68B6}"/>
              </a:ext>
            </a:extLst>
          </p:cNvPr>
          <p:cNvSpPr txBox="1"/>
          <p:nvPr/>
        </p:nvSpPr>
        <p:spPr>
          <a:xfrm>
            <a:off x="1464949" y="828288"/>
            <a:ext cx="9262101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b="1" dirty="0"/>
              <a:t>Определение цели анализа:</a:t>
            </a:r>
            <a:r>
              <a:rPr lang="ru-RU" dirty="0"/>
              <a:t> Что вы хотите узнать? Какие вопросы вы хотите решить?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b="1" dirty="0"/>
              <a:t>Сбор данных:</a:t>
            </a:r>
            <a:r>
              <a:rPr lang="ru-RU" dirty="0"/>
              <a:t> Соберите все необходимые отчеты и документы.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b="1" dirty="0"/>
              <a:t>Подготовка данных:</a:t>
            </a:r>
            <a:r>
              <a:rPr lang="ru-RU" dirty="0"/>
              <a:t> Очистите данные от ошибок и несоответствий, приведя их к единому формату.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b="1" dirty="0"/>
              <a:t>Анализ данных:</a:t>
            </a:r>
            <a:r>
              <a:rPr lang="ru-RU" dirty="0"/>
              <a:t> Используйте выбранные методы анализа для выявления закономерностей и взаимосвязей.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b="1" dirty="0"/>
              <a:t>Интерпретация результатов:</a:t>
            </a:r>
            <a:r>
              <a:rPr lang="ru-RU" dirty="0"/>
              <a:t> Объясните, что означают полученные результаты и какие выводы можно сделать.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b="1" dirty="0"/>
              <a:t>Формулирование рекомендации:</a:t>
            </a:r>
            <a:r>
              <a:rPr lang="ru-RU" dirty="0"/>
              <a:t> Предложить конкретные действия по улучшению бизнеса.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b="1" dirty="0"/>
              <a:t>Предварительный просмотр данных:</a:t>
            </a:r>
            <a:r>
              <a:rPr lang="ru-RU" dirty="0"/>
              <a:t> представьте результаты анализа в виде графиков, диаграмм и таблиц.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b="1" dirty="0"/>
              <a:t>Составление отчёта:</a:t>
            </a:r>
            <a:r>
              <a:rPr lang="ru-RU" dirty="0"/>
              <a:t> Опишите цели анализа, методы, результаты и рекомендации.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endParaRPr lang="ru-RU" sz="18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2335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C3E03-2387-EE38-354B-A3DDAA5B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BD9CCAB3-52FC-DF5E-B11A-BA90D2813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2A64FCE-4577-B412-374A-997D05D1295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DE6AD-4F54-D7D2-9009-7B7C8BB90938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Инструменты для анализа отчётов и документов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60782-802B-D545-DDCF-D75BD5995937}"/>
              </a:ext>
            </a:extLst>
          </p:cNvPr>
          <p:cNvSpPr txBox="1"/>
          <p:nvPr/>
        </p:nvSpPr>
        <p:spPr>
          <a:xfrm>
            <a:off x="3337995" y="1432972"/>
            <a:ext cx="36527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b="1" dirty="0"/>
              <a:t>Microsoft Excel</a:t>
            </a:r>
          </a:p>
          <a:p>
            <a:pPr marL="285750" lvl="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b="1" dirty="0"/>
              <a:t>Google Таблицы</a:t>
            </a:r>
          </a:p>
          <a:p>
            <a:pPr marL="285750" lvl="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b="1" dirty="0"/>
              <a:t>Power </a:t>
            </a:r>
            <a:r>
              <a:rPr lang="ru-RU" b="1" dirty="0" err="1"/>
              <a:t>BI</a:t>
            </a:r>
            <a:r>
              <a:rPr lang="ru-RU" b="1" dirty="0"/>
              <a:t>, </a:t>
            </a:r>
            <a:r>
              <a:rPr lang="ru-RU" b="1" dirty="0" err="1"/>
              <a:t>Tableau</a:t>
            </a:r>
            <a:endParaRPr lang="ru-RU" b="1" dirty="0"/>
          </a:p>
          <a:p>
            <a:pPr marL="285750" lvl="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b="1" dirty="0"/>
              <a:t>SQL</a:t>
            </a:r>
          </a:p>
          <a:p>
            <a:pPr marL="285750" lvl="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b="1" dirty="0"/>
              <a:t>Python, R</a:t>
            </a: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b="1" dirty="0"/>
              <a:t>Программное обеспечение </a:t>
            </a:r>
            <a:r>
              <a:rPr lang="ru-RU" b="1" dirty="0" err="1"/>
              <a:t>OCR</a:t>
            </a:r>
            <a:r>
              <a:rPr lang="ru-RU" b="1" dirty="0"/>
              <a:t> </a:t>
            </a:r>
            <a:endParaRPr lang="ru-RU" sz="1800" b="1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4199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E26B6-13A6-CE9E-42B0-D1069929C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FD43FDCD-D187-A2E6-2C95-D2D5EFC2F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EA0A586-6F02-2E19-C45A-4C85C57000E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9300DE-7C3A-EC0D-6293-F2348CF1214F}"/>
              </a:ext>
            </a:extLst>
          </p:cNvPr>
          <p:cNvSpPr txBox="1"/>
          <p:nvPr/>
        </p:nvSpPr>
        <p:spPr>
          <a:xfrm>
            <a:off x="0" y="-30173"/>
            <a:ext cx="1200027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Пример анализа отчётов и документов</a:t>
            </a:r>
          </a:p>
          <a:p>
            <a:pPr algn="ctr"/>
            <a:r>
              <a:rPr lang="ru-RU" b="1" dirty="0"/>
              <a:t>Анализ отчёта о прибытии и убытках розничного магазина одежды:</a:t>
            </a:r>
            <a:endParaRPr lang="ru-RU" dirty="0"/>
          </a:p>
          <a:p>
            <a:pPr algn="ctr"/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BA5DC-954A-0B29-7EE5-3D31532B9832}"/>
              </a:ext>
            </a:extLst>
          </p:cNvPr>
          <p:cNvSpPr txBox="1"/>
          <p:nvPr/>
        </p:nvSpPr>
        <p:spPr>
          <a:xfrm>
            <a:off x="1818911" y="970949"/>
            <a:ext cx="91391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Цель:</a:t>
            </a:r>
            <a:r>
              <a:rPr lang="ru-RU" dirty="0">
                <a:solidFill>
                  <a:srgbClr val="C00000"/>
                </a:solidFill>
              </a:rPr>
              <a:t> </a:t>
            </a:r>
            <a:r>
              <a:rPr lang="ru-RU" dirty="0"/>
              <a:t>Определить основные источники доходов и убытков.</a:t>
            </a:r>
          </a:p>
          <a:p>
            <a:r>
              <a:rPr lang="ru-RU" b="1" dirty="0">
                <a:solidFill>
                  <a:srgbClr val="C00000"/>
                </a:solidFill>
              </a:rPr>
              <a:t>Анализ:</a:t>
            </a:r>
            <a:endParaRPr lang="ru-RU" dirty="0">
              <a:solidFill>
                <a:srgbClr val="C00000"/>
              </a:solidFill>
            </a:endParaRPr>
          </a:p>
          <a:p>
            <a:pPr lvl="0"/>
            <a:r>
              <a:rPr lang="ru-RU" dirty="0"/>
              <a:t>Сравнение выручки по категориям товаров за несколько лет.</a:t>
            </a:r>
          </a:p>
          <a:p>
            <a:pPr lvl="0"/>
            <a:r>
              <a:rPr lang="ru-RU" dirty="0"/>
              <a:t>Анализ себестоимости проданных товаров.</a:t>
            </a:r>
          </a:p>
          <a:p>
            <a:pPr lvl="0"/>
            <a:r>
              <a:rPr lang="ru-RU" dirty="0"/>
              <a:t>Анализ операционных расходов.</a:t>
            </a:r>
          </a:p>
          <a:p>
            <a:pPr lvl="0"/>
            <a:r>
              <a:rPr lang="ru-RU" dirty="0"/>
              <a:t>Расчет валовой прибыли и чистой прибыли.</a:t>
            </a:r>
          </a:p>
          <a:p>
            <a:r>
              <a:rPr lang="ru-RU" b="1" dirty="0">
                <a:solidFill>
                  <a:srgbClr val="C00000"/>
                </a:solidFill>
              </a:rPr>
              <a:t>Результаты:</a:t>
            </a:r>
            <a:endParaRPr lang="ru-RU" dirty="0">
              <a:solidFill>
                <a:srgbClr val="C00000"/>
              </a:solidFill>
            </a:endParaRPr>
          </a:p>
          <a:p>
            <a:pPr lvl="0"/>
            <a:r>
              <a:rPr lang="ru-RU" dirty="0"/>
              <a:t>Выявлены наиболее прибыльные категории товаров.</a:t>
            </a:r>
          </a:p>
          <a:p>
            <a:pPr lvl="0"/>
            <a:r>
              <a:rPr lang="ru-RU" dirty="0"/>
              <a:t>Определены категории товаров с низким уровнем доходов или убытками.</a:t>
            </a:r>
          </a:p>
          <a:p>
            <a:pPr lvl="0"/>
            <a:r>
              <a:rPr lang="ru-RU" dirty="0"/>
              <a:t>Открыты внешние возможности для снижения эксплуатационных расходов.</a:t>
            </a:r>
          </a:p>
          <a:p>
            <a:r>
              <a:rPr lang="ru-RU" b="1" dirty="0">
                <a:solidFill>
                  <a:srgbClr val="C00000"/>
                </a:solidFill>
              </a:rPr>
              <a:t>Рекомендации:</a:t>
            </a:r>
            <a:endParaRPr lang="ru-RU" dirty="0">
              <a:solidFill>
                <a:srgbClr val="C00000"/>
              </a:solidFill>
            </a:endParaRPr>
          </a:p>
          <a:p>
            <a:pPr lvl="0"/>
            <a:r>
              <a:rPr lang="ru-RU" dirty="0"/>
              <a:t>Увеличить закупки наиболее прибыльных товаров.</a:t>
            </a:r>
          </a:p>
          <a:p>
            <a:pPr lvl="0"/>
            <a:r>
              <a:rPr lang="ru-RU" dirty="0"/>
              <a:t>Сократить ассортимент товаров с хорошим уровнем продукции или убытками.</a:t>
            </a:r>
          </a:p>
          <a:p>
            <a:pPr lvl="0"/>
            <a:r>
              <a:rPr lang="ru-RU" dirty="0"/>
              <a:t>Просмотрите условия аренды помещения.</a:t>
            </a:r>
          </a:p>
          <a:p>
            <a:pPr lvl="0"/>
            <a:r>
              <a:rPr lang="ru-RU" dirty="0"/>
              <a:t>Оптимизировать затраты на маркетинг и рекламу.</a:t>
            </a:r>
            <a:endParaRPr lang="ru-RU" sz="1800" b="1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8037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8FD92-5EDB-4115-ADAD-A454DE8D1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16F0A356-B888-A915-6766-39DCCA807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6E2157E-A721-5B53-00C9-4D648D4C258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DFF8BB-065D-5096-E947-15A9842DBEB0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Проектирование Проблемного Поля и  системный взгляд на задачи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0F3DE-8D44-2273-A288-FE66C79C3112}"/>
              </a:ext>
            </a:extLst>
          </p:cNvPr>
          <p:cNvSpPr txBox="1"/>
          <p:nvPr/>
        </p:nvSpPr>
        <p:spPr>
          <a:xfrm>
            <a:off x="1110989" y="653676"/>
            <a:ext cx="1131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Проблемное поле 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это комплексное представление проблемы</a:t>
            </a: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5F036C2-1808-BDC8-BB2C-85D3A2BEE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71" y="964531"/>
            <a:ext cx="6902963" cy="523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053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E4B15-D776-5741-50EB-7095CFA1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B9D7F235-5E6A-623F-35AA-59B60E2D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A79DFEA-FB07-6B1C-45F3-41C79FCF2A7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5D7329-CC9E-6155-5348-3649B97D276C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Цель проектирования Проблемного поля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367B64-3AAA-004A-3E39-E9690C23EEBF}"/>
              </a:ext>
            </a:extLst>
          </p:cNvPr>
          <p:cNvSpPr txBox="1"/>
          <p:nvPr/>
        </p:nvSpPr>
        <p:spPr>
          <a:xfrm>
            <a:off x="1430565" y="1621033"/>
            <a:ext cx="913914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/>
              <a:t>Полное понимание проблемы:</a:t>
            </a:r>
            <a:r>
              <a:rPr lang="ru-RU" dirty="0"/>
              <a:t> выход за рамки внешнего понимания симптомов и выявление причин.</a:t>
            </a:r>
          </a:p>
          <a:p>
            <a:pPr lvl="0">
              <a:spcBef>
                <a:spcPts val="1200"/>
              </a:spcBef>
            </a:pPr>
            <a:r>
              <a:rPr lang="ru-RU" b="1" dirty="0"/>
              <a:t>Системный взгляд:</a:t>
            </a:r>
            <a:r>
              <a:rPr lang="ru-RU" dirty="0"/>
              <a:t> Осознание проблем, связанных с элементами электронных систем.</a:t>
            </a:r>
          </a:p>
          <a:p>
            <a:pPr lvl="0">
              <a:spcBef>
                <a:spcPts val="1200"/>
              </a:spcBef>
            </a:pPr>
            <a:r>
              <a:rPr lang="ru-RU" b="1" dirty="0"/>
              <a:t>Идентификация сторон:</a:t>
            </a:r>
            <a:r>
              <a:rPr lang="ru-RU" dirty="0"/>
              <a:t> Учет интересов всех, кто затрагивает проблему.</a:t>
            </a:r>
          </a:p>
          <a:p>
            <a:pPr lvl="0">
              <a:spcBef>
                <a:spcPts val="1200"/>
              </a:spcBef>
            </a:pPr>
            <a:r>
              <a:rPr lang="ru-RU" b="1" dirty="0"/>
              <a:t>Определение приоритетов:</a:t>
            </a:r>
            <a:r>
              <a:rPr lang="ru-RU" dirty="0"/>
              <a:t> выбор наиболее эффективного пути решения, учитывающих ограничения и возможности.</a:t>
            </a:r>
          </a:p>
          <a:p>
            <a:pPr lvl="0">
              <a:spcBef>
                <a:spcPts val="1200"/>
              </a:spcBef>
            </a:pPr>
            <a:r>
              <a:rPr lang="ru-RU" b="1" dirty="0"/>
              <a:t>Снижение риска:</a:t>
            </a:r>
            <a:r>
              <a:rPr lang="ru-RU" dirty="0"/>
              <a:t> Предотвращение непредвиденных последствий проблемы.</a:t>
            </a:r>
          </a:p>
          <a:p>
            <a:pPr lvl="0">
              <a:spcBef>
                <a:spcPts val="1200"/>
              </a:spcBef>
            </a:pP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60947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99E03-A594-F161-8609-AB7A9574E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B72E4C2D-4C3A-257E-541D-D0D847F5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47821B5-E578-69D1-4CA2-E22A87A0604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789FCA-90E5-C91A-C107-FFD22318B419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Этапы Проектирования Проблемного Поля: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0ACF9-DC42-32DE-61A2-9E1F955E68BA}"/>
              </a:ext>
            </a:extLst>
          </p:cNvPr>
          <p:cNvSpPr txBox="1"/>
          <p:nvPr/>
        </p:nvSpPr>
        <p:spPr>
          <a:xfrm>
            <a:off x="2843966" y="1252323"/>
            <a:ext cx="631233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Определение центральных проблем</a:t>
            </a: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Выявление симптомов:</a:t>
            </a: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Анализ Причин</a:t>
            </a: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Оценка последствий</a:t>
            </a: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Идентификация Заинтересованной Стороны</a:t>
            </a: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Определение ограничений</a:t>
            </a: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Исследование Возможностей</a:t>
            </a: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Анализ взаимосвязи</a:t>
            </a:r>
          </a:p>
          <a:p>
            <a:pPr marL="342900" lvl="0" indent="-342900">
              <a:spcBef>
                <a:spcPts val="1200"/>
              </a:spcBef>
              <a:buFont typeface="+mj-lt"/>
              <a:buAutoNum type="arabicPeriod"/>
            </a:pPr>
            <a:r>
              <a:rPr lang="ru-RU" dirty="0"/>
              <a:t>Формулирование Целей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30361818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E371-D79E-54A8-A76C-01B44218C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84F022F5-17B8-8B37-929B-B9673F211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43EA9A7-59BF-9598-4AEA-42DB1DA4F1B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179762-DBFE-8EF1-FC39-AE1D388CC467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52809-B624-7720-456E-B000AE6D8889}"/>
              </a:ext>
            </a:extLst>
          </p:cNvPr>
          <p:cNvSpPr txBox="1"/>
          <p:nvPr/>
        </p:nvSpPr>
        <p:spPr>
          <a:xfrm>
            <a:off x="1795609" y="1113989"/>
            <a:ext cx="8600782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/>
              <a:t>Диаграмма Исикавы:</a:t>
            </a:r>
            <a:r>
              <a:rPr lang="ru-RU" dirty="0"/>
              <a:t> Помогает выявить признаки проблем, систематизируя их по категориям (например, «Люди», «Процессы», «Оборудование», «Материалы»).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/>
              <a:t>Метод «5 Почему»:</a:t>
            </a:r>
            <a:r>
              <a:rPr lang="ru-RU" dirty="0"/>
              <a:t> Многократное задавание вопроса «Почему?» для выявления причин проблемы.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 err="1"/>
              <a:t>SWOT</a:t>
            </a:r>
            <a:r>
              <a:rPr lang="ru-RU" b="1" dirty="0"/>
              <a:t>-анализ:</a:t>
            </a:r>
            <a:r>
              <a:rPr lang="ru-RU" dirty="0"/>
              <a:t> оценка сильных и слабых сторон, возможностей и угроз, границ с проблемой.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/>
              <a:t>Диаграмма связей :</a:t>
            </a:r>
            <a:r>
              <a:rPr lang="ru-RU" dirty="0"/>
              <a:t> Визуальное представление взаимосвязей между элементами проблемного поля.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b="1" dirty="0"/>
              <a:t>Матрица </a:t>
            </a:r>
            <a:r>
              <a:rPr lang="ru-RU" b="1" dirty="0" err="1"/>
              <a:t>Ансоффа</a:t>
            </a:r>
            <a:r>
              <a:rPr lang="ru-RU" dirty="0"/>
              <a:t> — инструмент стратегического планирования,</a:t>
            </a:r>
          </a:p>
        </p:txBody>
      </p:sp>
    </p:spTree>
    <p:extLst>
      <p:ext uri="{BB962C8B-B14F-4D97-AF65-F5344CB8AC3E}">
        <p14:creationId xmlns:p14="http://schemas.microsoft.com/office/powerpoint/2010/main" val="30975852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5862-4FB8-7CC2-534E-0C66EB088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452C6C9D-F974-E6CD-61BE-6F06560B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A52F357-2942-30D1-7FDB-3B38D630F0B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D876E8-CDE7-5567-AFDF-64B407064622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3FBC9-40AA-EEB3-807A-E811C9EFD9E0}"/>
              </a:ext>
            </a:extLst>
          </p:cNvPr>
          <p:cNvSpPr txBox="1"/>
          <p:nvPr/>
        </p:nvSpPr>
        <p:spPr>
          <a:xfrm>
            <a:off x="910068" y="561343"/>
            <a:ext cx="112819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</a:rPr>
              <a:t>Диаграмма Исикавы :</a:t>
            </a:r>
            <a:r>
              <a:rPr lang="ru-RU" dirty="0">
                <a:solidFill>
                  <a:srgbClr val="C00000"/>
                </a:solidFill>
              </a:rPr>
              <a:t> </a:t>
            </a:r>
            <a:r>
              <a:rPr lang="ru-RU" dirty="0"/>
              <a:t>Помогает выявить признаки проблем, систематизируя их по категориям (например, «Люди», «Процессы», «Оборудование», «Материалы»).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9B9E86-B97F-7989-6DE6-3BED2A5C7F4A}"/>
              </a:ext>
            </a:extLst>
          </p:cNvPr>
          <p:cNvSpPr txBox="1"/>
          <p:nvPr/>
        </p:nvSpPr>
        <p:spPr>
          <a:xfrm>
            <a:off x="1555334" y="1509754"/>
            <a:ext cx="842615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dirty="0"/>
              <a:t>Диаграмма помогает увидеть все потенциальные причины проблемы в структурированном виде, предотвращая упущение важных факторов.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dirty="0"/>
              <a:t>Позволяет перейти от поверхностных причин к более глубоким. Вы видите не только “что произошло”, но и “почему это произошло” на нескольких уровнях.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dirty="0"/>
              <a:t>Стимулирует командное мышление и позволяет использовать знания всех участников.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dirty="0"/>
              <a:t>Наглядно показывает, как разные факторы могут влиять на одну и ту же проблему.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ru-RU" dirty="0"/>
              <a:t>Основная цель — найти не симптомы, а истинные, корневые причины проблемы.</a:t>
            </a:r>
          </a:p>
        </p:txBody>
      </p:sp>
    </p:spTree>
    <p:extLst>
      <p:ext uri="{BB962C8B-B14F-4D97-AF65-F5344CB8AC3E}">
        <p14:creationId xmlns:p14="http://schemas.microsoft.com/office/powerpoint/2010/main" val="26026985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DF399-BFCC-0B32-BD44-F8312A28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9BFDCC2-2391-29E0-F71C-6A4A9D485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1207674"/>
            <a:ext cx="8572500" cy="4876800"/>
          </a:xfrm>
          <a:prstGeom prst="rect">
            <a:avLst/>
          </a:prstGeo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DAC1D073-EAD0-CDD7-3686-05BECE9D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E2FA391-C0DA-8A8D-55C9-B2196A9945F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79E3F2-86C4-B54C-D861-AC9CDC980772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659F1D-80BF-1309-7285-654CBDE41084}"/>
              </a:ext>
            </a:extLst>
          </p:cNvPr>
          <p:cNvSpPr txBox="1"/>
          <p:nvPr/>
        </p:nvSpPr>
        <p:spPr>
          <a:xfrm>
            <a:off x="910068" y="561343"/>
            <a:ext cx="112819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</a:rPr>
              <a:t>Диаграмма Исикавы (</a:t>
            </a:r>
            <a:r>
              <a:rPr lang="ru-RU" b="1" dirty="0" err="1">
                <a:solidFill>
                  <a:srgbClr val="C00000"/>
                </a:solidFill>
              </a:rPr>
              <a:t>Fishbone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 err="1">
                <a:solidFill>
                  <a:srgbClr val="C00000"/>
                </a:solidFill>
              </a:rPr>
              <a:t>Diagram</a:t>
            </a:r>
            <a:r>
              <a:rPr lang="ru-RU" b="1" dirty="0">
                <a:solidFill>
                  <a:srgbClr val="C00000"/>
                </a:solidFill>
              </a:rPr>
              <a:t>):</a:t>
            </a:r>
            <a:r>
              <a:rPr lang="ru-RU" dirty="0">
                <a:solidFill>
                  <a:srgbClr val="C00000"/>
                </a:solidFill>
              </a:rPr>
              <a:t> </a:t>
            </a:r>
            <a:r>
              <a:rPr lang="ru-RU" dirty="0"/>
              <a:t>Помогает выявить признаки проблем, систематизируя их по категориям (например, «Люди», «Процессы», «Оборудование», «Материалы»).</a:t>
            </a:r>
          </a:p>
        </p:txBody>
      </p:sp>
    </p:spTree>
    <p:extLst>
      <p:ext uri="{BB962C8B-B14F-4D97-AF65-F5344CB8AC3E}">
        <p14:creationId xmlns:p14="http://schemas.microsoft.com/office/powerpoint/2010/main" val="195453976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284F0-1ADC-2A9D-335A-AFD8D75F2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20BAB701-D1E1-BEC8-F18A-A07F3E15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2D67E8A-B6DA-A139-46F7-30147C97177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6B8683-DF52-16BB-0474-F368E01B9131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0F4A61-9098-FA05-4ADF-C432358F93CD}"/>
              </a:ext>
            </a:extLst>
          </p:cNvPr>
          <p:cNvSpPr txBox="1"/>
          <p:nvPr/>
        </p:nvSpPr>
        <p:spPr>
          <a:xfrm>
            <a:off x="2459084" y="1595339"/>
            <a:ext cx="8448402" cy="32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</a:rPr>
              <a:t>Это графический инструмент, который помогает выявить потенциальные причины конкретной проблемы (эффекта). Она имеет структуру, напоминающую скелет рыбы:</a:t>
            </a:r>
          </a:p>
          <a:p>
            <a:pPr>
              <a:buNone/>
            </a:pPr>
            <a:endParaRPr lang="ru-RU" sz="180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buSzPct val="100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Голова рыбы:</a:t>
            </a:r>
            <a:r>
              <a:rPr lang="ru-RU" sz="1800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Представляет собой саму проблему или эффект, который нужно проанализировать.</a:t>
            </a:r>
          </a:p>
          <a:p>
            <a:pPr marL="342900" lvl="0" indent="-342900">
              <a:spcBef>
                <a:spcPts val="300"/>
              </a:spcBef>
              <a:buSzPct val="100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Основной хребет:</a:t>
            </a:r>
            <a:r>
              <a:rPr lang="ru-RU" sz="1800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Стрелка, идущая от головы к левой части диаграммы.</a:t>
            </a:r>
          </a:p>
          <a:p>
            <a:pPr marL="342900" lvl="0" indent="-342900">
              <a:spcBef>
                <a:spcPts val="300"/>
              </a:spcBef>
              <a:buSzPct val="100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Основные “кости” (ветви):</a:t>
            </a:r>
            <a:r>
              <a:rPr lang="ru-RU" sz="1800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Крупные категории причин, которые отходят от основного хребта под углом.</a:t>
            </a:r>
          </a:p>
          <a:p>
            <a:pPr marL="342900" lvl="0" indent="-342900">
              <a:spcBef>
                <a:spcPts val="300"/>
              </a:spcBef>
              <a:buSzPct val="100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Мелкие “кости” (</a:t>
            </a:r>
            <a:r>
              <a:rPr lang="ru-RU" sz="1800" b="1" dirty="0" err="1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подветви</a:t>
            </a:r>
            <a:r>
              <a:rPr lang="ru-RU" sz="1800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1800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Более специфические причины, детализирующие основные категории.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D828EA-039C-7E2C-842B-9069A6DA2A0C}"/>
              </a:ext>
            </a:extLst>
          </p:cNvPr>
          <p:cNvSpPr txBox="1"/>
          <p:nvPr/>
        </p:nvSpPr>
        <p:spPr>
          <a:xfrm>
            <a:off x="969918" y="956230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sz="1800" b="1" dirty="0">
                <a:solidFill>
                  <a:srgbClr val="C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Что такое Диаграмма Исикавы?</a:t>
            </a:r>
          </a:p>
        </p:txBody>
      </p:sp>
    </p:spTree>
    <p:extLst>
      <p:ext uri="{BB962C8B-B14F-4D97-AF65-F5344CB8AC3E}">
        <p14:creationId xmlns:p14="http://schemas.microsoft.com/office/powerpoint/2010/main" val="3581754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07FB7-097D-E321-C364-34B64ED58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939D0C5-2C4A-D0AC-E7FD-63907EB9F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9EC11C6-B6F4-75AD-F651-4CE42F4CD84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D74FFD-2794-D31A-FC86-F54F3711AE01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C5546-05D8-DEDF-1B4D-03C89084A39C}"/>
              </a:ext>
            </a:extLst>
          </p:cNvPr>
          <p:cNvSpPr txBox="1"/>
          <p:nvPr/>
        </p:nvSpPr>
        <p:spPr>
          <a:xfrm>
            <a:off x="969918" y="956230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ru-RU" b="1" dirty="0">
                <a:solidFill>
                  <a:srgbClr val="C00000"/>
                </a:solidFill>
              </a:rPr>
              <a:t>Этапы Составления Диаграммы Исикавы</a:t>
            </a:r>
            <a:endParaRPr lang="ru-RU" sz="18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9F71E-2E6E-D415-4275-9F8AD1A6E8CE}"/>
              </a:ext>
            </a:extLst>
          </p:cNvPr>
          <p:cNvSpPr txBox="1"/>
          <p:nvPr/>
        </p:nvSpPr>
        <p:spPr>
          <a:xfrm>
            <a:off x="3049089" y="2080465"/>
            <a:ext cx="545483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sz="1800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Шаг 1: Определение Проблемы</a:t>
            </a:r>
          </a:p>
          <a:p>
            <a:pPr>
              <a:spcBef>
                <a:spcPts val="1200"/>
              </a:spcBef>
            </a:pPr>
            <a:r>
              <a:rPr lang="ru-RU" dirty="0"/>
              <a:t>Шаг 2: Определение Основных Категорий Причин</a:t>
            </a:r>
          </a:p>
          <a:p>
            <a:pPr>
              <a:spcBef>
                <a:spcPts val="1200"/>
              </a:spcBef>
            </a:pPr>
            <a:r>
              <a:rPr lang="ru-RU" dirty="0"/>
              <a:t>Шаг 3: Мозговой штурм причин внутри категорий</a:t>
            </a:r>
          </a:p>
          <a:p>
            <a:pPr>
              <a:spcBef>
                <a:spcPts val="1200"/>
              </a:spcBef>
            </a:pPr>
            <a:r>
              <a:rPr lang="ru-RU" dirty="0"/>
              <a:t>Шаг 4: Детализация </a:t>
            </a:r>
          </a:p>
          <a:p>
            <a:pPr>
              <a:spcBef>
                <a:spcPts val="1200"/>
              </a:spcBef>
            </a:pPr>
            <a:r>
              <a:rPr lang="ru-RU" dirty="0"/>
              <a:t>Шаг 5: Анализ и Приоритизация</a:t>
            </a:r>
            <a:r>
              <a:rPr lang="ru-RU" sz="1800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5113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05397-AAD2-2B44-DCC4-E2885740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084A4DDA-8BC5-9123-87F7-02FFD42D2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2397A9C-045F-D335-8F1E-D29BCACD0BB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50DF4A-E439-0B1A-6758-2B41244A2F74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F16E3D-A0CD-AF38-B7FC-5FF41C66A199}"/>
              </a:ext>
            </a:extLst>
          </p:cNvPr>
          <p:cNvSpPr txBox="1"/>
          <p:nvPr/>
        </p:nvSpPr>
        <p:spPr>
          <a:xfrm>
            <a:off x="931492" y="699843"/>
            <a:ext cx="1044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</a:rPr>
              <a:t>Метод «5 Почему»</a:t>
            </a:r>
            <a:r>
              <a:rPr lang="ru-RU" b="1" dirty="0"/>
              <a:t>:</a:t>
            </a:r>
            <a:r>
              <a:rPr lang="ru-RU" dirty="0"/>
              <a:t> Многократное задавание вопроса «Почему?» для выявления причин проблемы.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B2A1C-75FF-84FE-C40B-DCA73C3FDE30}"/>
              </a:ext>
            </a:extLst>
          </p:cNvPr>
          <p:cNvSpPr txBox="1"/>
          <p:nvPr/>
        </p:nvSpPr>
        <p:spPr>
          <a:xfrm>
            <a:off x="1384338" y="1474619"/>
            <a:ext cx="9231594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Bef>
                <a:spcPts val="1200"/>
              </a:spcBef>
              <a:buSzPct val="10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Главная ценность метода в том, что он заставляет копать глубже симптомов и находить истинные причины.</a:t>
            </a:r>
          </a:p>
          <a:p>
            <a:pPr marL="285750" lvl="0" indent="-285750">
              <a:spcBef>
                <a:spcPts val="1200"/>
              </a:spcBef>
              <a:buSzPct val="10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Метод не требует сложной математики или инструментов. Его может использовать практически любой.</a:t>
            </a:r>
          </a:p>
          <a:p>
            <a:pPr marL="285750" lvl="0" indent="-285750">
              <a:spcBef>
                <a:spcPts val="1200"/>
              </a:spcBef>
              <a:buSzPct val="10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Каждый шаг зависит от предыдущего, создавая цепочку рассуждений.</a:t>
            </a:r>
          </a:p>
          <a:p>
            <a:pPr marL="285750" lvl="0" indent="-285750">
              <a:spcBef>
                <a:spcPts val="1200"/>
              </a:spcBef>
              <a:buSzPct val="10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Важно различать симптомы (например, “заказ отправлен не вовремя”) и причины (например, “сбой системы оповещения”). Метод помогает это сделать.</a:t>
            </a:r>
          </a:p>
          <a:p>
            <a:pPr marL="285750" lvl="0" indent="-285750">
              <a:spcBef>
                <a:spcPts val="1200"/>
              </a:spcBef>
              <a:buSzPct val="10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Количество “Почему?” — это ориентир, а не жесткое правило. Главное — докопаться до сути.</a:t>
            </a:r>
          </a:p>
          <a:p>
            <a:pPr marL="285750" lvl="0" indent="-285750">
              <a:spcBef>
                <a:spcPts val="1200"/>
              </a:spcBef>
              <a:buSzPct val="10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ru-RU" sz="1800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Результат сильно зависит от точности и честности ответов. Иногда требуется привлечение экспертов или сбор дополнительных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0273000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8575A-0C96-DCDA-3185-B7C2A0D9C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2D182F53-84AE-74A7-36E3-89CBDF107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68ADAFC-5415-732B-68A3-810E6A46D67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8C941E-96D7-3361-0297-6B070FFC1ED1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CC5D8A-3AE0-CB07-BF24-409A89F0DBB6}"/>
              </a:ext>
            </a:extLst>
          </p:cNvPr>
          <p:cNvSpPr txBox="1"/>
          <p:nvPr/>
        </p:nvSpPr>
        <p:spPr>
          <a:xfrm>
            <a:off x="931492" y="699843"/>
            <a:ext cx="1044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</a:rPr>
              <a:t>Метод «5 Почему»</a:t>
            </a:r>
            <a:r>
              <a:rPr lang="ru-RU" b="1" dirty="0"/>
              <a:t>:</a:t>
            </a:r>
            <a:r>
              <a:rPr lang="ru-RU" dirty="0"/>
              <a:t> Многократное задавание вопроса «Почему?» для выявления причин проблемы.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9941600-38C9-51E6-434A-C9F41B31E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306" y="1852654"/>
            <a:ext cx="9089652" cy="336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4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4F2E8-FFD6-BC0C-1E0D-FFA9C8FB8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AAD8611-823E-B48E-3E5E-FF3AC8F5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2065A15-8821-5339-D1D9-771D45CE63A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F6EA11-B2DB-E496-DC0F-F5B90D1355AF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40A45-B52E-9EA1-CDEE-2E4F1E051B49}"/>
              </a:ext>
            </a:extLst>
          </p:cNvPr>
          <p:cNvSpPr txBox="1"/>
          <p:nvPr/>
        </p:nvSpPr>
        <p:spPr>
          <a:xfrm>
            <a:off x="931492" y="699843"/>
            <a:ext cx="1044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</a:rPr>
              <a:t>Метод «5 Почему». Этапы</a:t>
            </a:r>
            <a:r>
              <a:rPr lang="ru-RU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FB47B-2CBE-5070-8AAC-7DA073460392}"/>
              </a:ext>
            </a:extLst>
          </p:cNvPr>
          <p:cNvSpPr txBox="1"/>
          <p:nvPr/>
        </p:nvSpPr>
        <p:spPr>
          <a:xfrm>
            <a:off x="2953224" y="1664004"/>
            <a:ext cx="4962867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ru-RU" dirty="0"/>
              <a:t>Шаг 1: Определите Проблему</a:t>
            </a:r>
          </a:p>
          <a:p>
            <a:pPr>
              <a:spcBef>
                <a:spcPts val="1200"/>
              </a:spcBef>
            </a:pPr>
            <a:r>
              <a:rPr lang="ru-RU" dirty="0"/>
              <a:t>Шаг 2: Задайте Первый Вопрос “Почему?”</a:t>
            </a:r>
          </a:p>
          <a:p>
            <a:pPr>
              <a:spcBef>
                <a:spcPts val="1200"/>
              </a:spcBef>
            </a:pPr>
            <a:r>
              <a:rPr lang="ru-RU" dirty="0"/>
              <a:t>Шаг 3: Задайте Второй Вопрос “Почему?”</a:t>
            </a:r>
          </a:p>
          <a:p>
            <a:pPr>
              <a:spcBef>
                <a:spcPts val="1200"/>
              </a:spcBef>
            </a:pPr>
            <a:r>
              <a:rPr lang="ru-RU" dirty="0"/>
              <a:t>Шаг 4: Продолжайте Задавать “Почему?”</a:t>
            </a:r>
          </a:p>
          <a:p>
            <a:pPr>
              <a:spcBef>
                <a:spcPts val="1200"/>
              </a:spcBef>
            </a:pPr>
            <a:r>
              <a:rPr lang="ru-RU" dirty="0"/>
              <a:t>Шаг 5: Достигните Корневой Причины</a:t>
            </a:r>
          </a:p>
          <a:p>
            <a:pPr>
              <a:spcBef>
                <a:spcPts val="1200"/>
              </a:spcBef>
            </a:pPr>
            <a:r>
              <a:rPr lang="ru-RU" dirty="0"/>
              <a:t>Шаг 6: Проверьте Корневую Причину</a:t>
            </a:r>
          </a:p>
        </p:txBody>
      </p:sp>
    </p:spTree>
    <p:extLst>
      <p:ext uri="{BB962C8B-B14F-4D97-AF65-F5344CB8AC3E}">
        <p14:creationId xmlns:p14="http://schemas.microsoft.com/office/powerpoint/2010/main" val="151962442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A9386-F34A-CFCE-0052-36026FF22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9AF717-0F21-20D2-D8A4-D05BCEB0E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551" y="1714401"/>
            <a:ext cx="7674123" cy="3502223"/>
          </a:xfrm>
          <a:prstGeom prst="rect">
            <a:avLst/>
          </a:prstGeo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82DB7CA5-2F8A-B7D5-F9FF-761022AB5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5AA408F-8781-96A6-AB0D-D9C0B32D646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2541A6-1D23-49E4-8693-B26FB78C6C0E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3AE95-0DD4-751A-7564-54C9EB395A82}"/>
              </a:ext>
            </a:extLst>
          </p:cNvPr>
          <p:cNvSpPr txBox="1"/>
          <p:nvPr/>
        </p:nvSpPr>
        <p:spPr>
          <a:xfrm>
            <a:off x="1393957" y="729962"/>
            <a:ext cx="9621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 err="1">
                <a:solidFill>
                  <a:srgbClr val="C00000"/>
                </a:solidFill>
              </a:rPr>
              <a:t>SWOT</a:t>
            </a:r>
            <a:r>
              <a:rPr lang="ru-RU" b="1" dirty="0">
                <a:solidFill>
                  <a:srgbClr val="C00000"/>
                </a:solidFill>
              </a:rPr>
              <a:t>-анализ</a:t>
            </a:r>
            <a:r>
              <a:rPr lang="ru-RU" b="1" dirty="0"/>
              <a:t>:</a:t>
            </a:r>
            <a:r>
              <a:rPr lang="ru-RU" dirty="0"/>
              <a:t> оценка сильных и слабых сторон, возможностей и угроз, границ с проблемой.</a:t>
            </a:r>
          </a:p>
        </p:txBody>
      </p:sp>
    </p:spTree>
    <p:extLst>
      <p:ext uri="{BB962C8B-B14F-4D97-AF65-F5344CB8AC3E}">
        <p14:creationId xmlns:p14="http://schemas.microsoft.com/office/powerpoint/2010/main" val="126533773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33EBA-DD3D-1A15-89AE-8CE377F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42FF054F-9666-4321-C97F-DDA2D21A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6BA5F4B-0D65-0B04-0C19-AE1B2545A18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EC97CC-6CCE-2FC8-5065-DEB727D11B24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8B744-4A4F-F8E5-5E59-89A42A6580E1}"/>
              </a:ext>
            </a:extLst>
          </p:cNvPr>
          <p:cNvSpPr txBox="1"/>
          <p:nvPr/>
        </p:nvSpPr>
        <p:spPr>
          <a:xfrm>
            <a:off x="1402502" y="1090262"/>
            <a:ext cx="8992312" cy="353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 </a:t>
            </a:r>
            <a:r>
              <a:rPr lang="ru-RU" sz="18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SWOT</a:t>
            </a: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-анализа:</a:t>
            </a:r>
          </a:p>
          <a:p>
            <a:pPr>
              <a:buNone/>
            </a:pP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Основная цель </a:t>
            </a:r>
            <a:r>
              <a:rPr lang="ru-RU" sz="18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SWOT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-анализа – предоставить структурированную основу для:</a:t>
            </a:r>
          </a:p>
          <a:p>
            <a:pPr>
              <a:buNone/>
            </a:pP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Оценки текущей ситуации: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Определить, где организация находится сейчас.</a:t>
            </a:r>
          </a:p>
          <a:p>
            <a:pPr marL="342900" lvl="0" indent="-342900">
              <a:spcBef>
                <a:spcPts val="3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Выявления ключевых факторов: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Определить факторы, которые могут повлиять на успех или неудачу.</a:t>
            </a:r>
          </a:p>
          <a:p>
            <a:pPr marL="342900" lvl="0" indent="-342900">
              <a:spcBef>
                <a:spcPts val="3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Разработки стратегии: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Разработать стратегию, которая использует сильные стороны, чтобы воспользоваться возможностями, минимизировать слабые стороны и избежать угроз.</a:t>
            </a:r>
          </a:p>
          <a:p>
            <a:pPr marL="342900" lvl="0" indent="-342900">
              <a:spcBef>
                <a:spcPts val="300"/>
              </a:spcBef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Принятия обоснованных решений: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Предоставить информацию, необходимую для принятия взвешенных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19042299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E4C70-A26C-A331-6A42-4E8CFB24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713E0C3-5146-BA88-8173-1A399D462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2661C8-A70D-2D0B-7C1D-B5963AD58FC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1C2A9D-4B04-8281-D011-8108711E3994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AD1BD-8ACC-D60D-C7AD-3A20B6F49C30}"/>
              </a:ext>
            </a:extLst>
          </p:cNvPr>
          <p:cNvSpPr txBox="1"/>
          <p:nvPr/>
        </p:nvSpPr>
        <p:spPr>
          <a:xfrm>
            <a:off x="1393957" y="729962"/>
            <a:ext cx="9621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 err="1">
                <a:solidFill>
                  <a:srgbClr val="C00000"/>
                </a:solidFill>
              </a:rPr>
              <a:t>SWOT</a:t>
            </a:r>
            <a:r>
              <a:rPr lang="ru-RU" b="1" dirty="0">
                <a:solidFill>
                  <a:srgbClr val="C00000"/>
                </a:solidFill>
              </a:rPr>
              <a:t>-анализ</a:t>
            </a:r>
            <a:r>
              <a:rPr lang="ru-RU" b="1" dirty="0"/>
              <a:t>:</a:t>
            </a:r>
            <a:r>
              <a:rPr lang="ru-RU" dirty="0"/>
              <a:t> оценка сильных и слабых сторон, возможностей и угроз, границ с проблемой.</a:t>
            </a:r>
          </a:p>
        </p:txBody>
      </p: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C7545A76-F0E9-5C88-7C7D-670B2DD432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033741"/>
              </p:ext>
            </p:extLst>
          </p:nvPr>
        </p:nvGraphicFramePr>
        <p:xfrm>
          <a:off x="1255624" y="1336209"/>
          <a:ext cx="9759905" cy="391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390477" imgH="2464289" progId="Word.Document.12">
                  <p:embed/>
                </p:oleObj>
              </mc:Choice>
              <mc:Fallback>
                <p:oleObj name="Document" r:id="rId3" imgW="6390477" imgH="24642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5624" y="1336209"/>
                        <a:ext cx="9759905" cy="3915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437884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8C82-E2EF-DB41-FC9A-F84854429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FB8241E-53F3-BCA0-9D89-3C2012C2F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CF90CC8-25C0-BA9E-173B-2F350829220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FAD2D6-BBDA-B27A-A0FC-8AFEE57D89EB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6194A-FCB9-DC84-9C2F-794A957B3749}"/>
              </a:ext>
            </a:extLst>
          </p:cNvPr>
          <p:cNvSpPr txBox="1"/>
          <p:nvPr/>
        </p:nvSpPr>
        <p:spPr>
          <a:xfrm>
            <a:off x="1393957" y="729962"/>
            <a:ext cx="9621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 err="1">
                <a:solidFill>
                  <a:srgbClr val="C00000"/>
                </a:solidFill>
              </a:rPr>
              <a:t>SWOT</a:t>
            </a:r>
            <a:r>
              <a:rPr lang="ru-RU" b="1" dirty="0">
                <a:solidFill>
                  <a:srgbClr val="C00000"/>
                </a:solidFill>
              </a:rPr>
              <a:t>-анализ</a:t>
            </a:r>
            <a:r>
              <a:rPr lang="ru-RU" b="1" dirty="0"/>
              <a:t>:</a:t>
            </a:r>
            <a:r>
              <a:rPr lang="ru-RU" dirty="0"/>
              <a:t> оценка сильных и слабых сторон, возможностей и угроз, границ с проблемой.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BC45B6-7345-5D79-3B5F-8757BA0F2628}"/>
              </a:ext>
            </a:extLst>
          </p:cNvPr>
          <p:cNvSpPr txBox="1"/>
          <p:nvPr/>
        </p:nvSpPr>
        <p:spPr>
          <a:xfrm>
            <a:off x="2983294" y="1457385"/>
            <a:ext cx="697060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b="1" dirty="0" err="1"/>
              <a:t>SO</a:t>
            </a:r>
            <a:r>
              <a:rPr lang="ru-RU" b="1" dirty="0"/>
              <a:t> (Сильные стороны - Возможности):</a:t>
            </a:r>
            <a:r>
              <a:rPr lang="ru-RU" dirty="0"/>
              <a:t> Как мы можем использовать наши сильные стороны, чтобы воспользоваться возможностями?.</a:t>
            </a:r>
          </a:p>
          <a:p>
            <a:pPr lvl="0"/>
            <a:endParaRPr lang="ru-RU" dirty="0"/>
          </a:p>
          <a:p>
            <a:pPr lvl="0"/>
            <a:r>
              <a:rPr lang="ru-RU" b="1" dirty="0" err="1"/>
              <a:t>WO</a:t>
            </a:r>
            <a:r>
              <a:rPr lang="ru-RU" b="1" dirty="0"/>
              <a:t> (Слабые стороны - Возможности):</a:t>
            </a:r>
            <a:r>
              <a:rPr lang="ru-RU" dirty="0"/>
              <a:t> Как мы можем преодолеть наши слабые стороны, чтобы воспользоваться возможностями? </a:t>
            </a:r>
          </a:p>
          <a:p>
            <a:pPr lvl="0"/>
            <a:endParaRPr lang="ru-RU" b="1" dirty="0"/>
          </a:p>
          <a:p>
            <a:pPr lvl="0"/>
            <a:r>
              <a:rPr lang="ru-RU" b="1" dirty="0"/>
              <a:t>ST (Сильные стороны - Угрозы):</a:t>
            </a:r>
            <a:r>
              <a:rPr lang="ru-RU" dirty="0"/>
              <a:t> Как мы можем использовать наши сильные стороны, чтобы минимизировать угрозы? </a:t>
            </a:r>
          </a:p>
          <a:p>
            <a:pPr lvl="0"/>
            <a:endParaRPr lang="ru-RU" b="1" dirty="0"/>
          </a:p>
          <a:p>
            <a:pPr lvl="0"/>
            <a:r>
              <a:rPr lang="ru-RU" b="1" dirty="0" err="1"/>
              <a:t>WT</a:t>
            </a:r>
            <a:r>
              <a:rPr lang="ru-RU" b="1" dirty="0"/>
              <a:t> (Слабые стороны - Угрозы):</a:t>
            </a:r>
            <a:r>
              <a:rPr lang="ru-RU" dirty="0"/>
              <a:t> Как мы можем минимизировать наши слабые стороны, чтобы избежать угроз?</a:t>
            </a:r>
          </a:p>
        </p:txBody>
      </p:sp>
    </p:spTree>
    <p:extLst>
      <p:ext uri="{BB962C8B-B14F-4D97-AF65-F5344CB8AC3E}">
        <p14:creationId xmlns:p14="http://schemas.microsoft.com/office/powerpoint/2010/main" val="83682489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3E775-6C28-ACAD-2B44-CACDA577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26296A98-BE15-2733-188D-256E9E2FD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7562D01-D12E-36EE-F8B1-BDBA21E2CF4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D8E655-A333-9868-9E19-F81984FEDBE7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13077-AD75-D5C4-13B1-2CD9CB9295C2}"/>
              </a:ext>
            </a:extLst>
          </p:cNvPr>
          <p:cNvSpPr txBox="1"/>
          <p:nvPr/>
        </p:nvSpPr>
        <p:spPr>
          <a:xfrm>
            <a:off x="1393957" y="729962"/>
            <a:ext cx="9621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 err="1">
                <a:solidFill>
                  <a:srgbClr val="C00000"/>
                </a:solidFill>
              </a:rPr>
              <a:t>SWOT</a:t>
            </a:r>
            <a:r>
              <a:rPr lang="ru-RU" b="1" dirty="0">
                <a:solidFill>
                  <a:srgbClr val="C00000"/>
                </a:solidFill>
              </a:rPr>
              <a:t>-анализ</a:t>
            </a:r>
            <a:r>
              <a:rPr lang="ru-RU" b="1" dirty="0"/>
              <a:t>:</a:t>
            </a:r>
            <a:r>
              <a:rPr lang="ru-RU" dirty="0"/>
              <a:t> оценка сильных и слабых сторон, возможностей и угроз, границ с проблемой.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780E2-185D-0F2A-E7A1-A70B43796D9E}"/>
              </a:ext>
            </a:extLst>
          </p:cNvPr>
          <p:cNvSpPr txBox="1"/>
          <p:nvPr/>
        </p:nvSpPr>
        <p:spPr>
          <a:xfrm>
            <a:off x="1506663" y="1767402"/>
            <a:ext cx="3831609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Преимущества </a:t>
            </a:r>
            <a:r>
              <a:rPr lang="ru-RU" sz="18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SWOT</a:t>
            </a: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-анализа:</a:t>
            </a:r>
          </a:p>
          <a:p>
            <a:pPr>
              <a:buNone/>
            </a:pPr>
            <a:endParaRPr lang="ru-RU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Простота и доступность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Структурированность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300"/>
              </a:spcBef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Универсальность</a:t>
            </a:r>
          </a:p>
          <a:p>
            <a:pPr marL="342900" lvl="0" indent="-342900">
              <a:spcBef>
                <a:spcPts val="300"/>
              </a:spcBef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Совместное использование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495370-9BBB-86CE-339C-881D35DD2EB0}"/>
              </a:ext>
            </a:extLst>
          </p:cNvPr>
          <p:cNvSpPr txBox="1"/>
          <p:nvPr/>
        </p:nvSpPr>
        <p:spPr>
          <a:xfrm>
            <a:off x="6650053" y="1767402"/>
            <a:ext cx="38316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Ограничения </a:t>
            </a:r>
            <a:r>
              <a:rPr lang="ru-RU" sz="1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SWOT</a:t>
            </a:r>
            <a:r>
              <a:rPr lang="ru-RU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-анализа:</a:t>
            </a:r>
          </a:p>
          <a:p>
            <a:pPr>
              <a:buNone/>
            </a:pPr>
            <a:endParaRPr lang="ru-RU" sz="18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Субъективность</a:t>
            </a:r>
          </a:p>
          <a:p>
            <a:pPr marL="342900" lvl="0" indent="-3429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Статичность</a:t>
            </a:r>
          </a:p>
          <a:p>
            <a:pPr marL="342900" lvl="0" indent="-342900"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дает конкретных решений</a:t>
            </a:r>
            <a:endParaRPr lang="ru-RU" sz="18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25576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8313B-75CC-AFB5-02DE-5E702E2F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0CE90AFD-6BD9-734A-579F-3D3A1D30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519D2D6-1FEE-61F5-E050-8868CAF084B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E7BD0F-4717-BEC7-4DA6-FBE61852FD96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4DC61-5FC4-7693-F1ED-497A93729423}"/>
              </a:ext>
            </a:extLst>
          </p:cNvPr>
          <p:cNvSpPr txBox="1"/>
          <p:nvPr/>
        </p:nvSpPr>
        <p:spPr>
          <a:xfrm>
            <a:off x="941029" y="653676"/>
            <a:ext cx="10715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</a:rPr>
              <a:t>Диаграмма связей </a:t>
            </a:r>
            <a:r>
              <a:rPr lang="ru-RU" b="1" dirty="0"/>
              <a:t>:</a:t>
            </a:r>
            <a:r>
              <a:rPr lang="ru-RU" dirty="0"/>
              <a:t> Визуальное представление взаимосвязей между элементами проблемного поля.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E747C10-7B8A-AE81-379C-9E3835B05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201" y="1091140"/>
            <a:ext cx="52292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260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1362A-94A7-AB97-2EE2-2B0AE6E33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581E2E1F-6DBD-3D3D-97DC-C050D9DE9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2F17A01-251D-0261-1D7A-0253391EC82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C27A6E-4392-B165-1C28-4309EE366751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A439B-5D02-75CA-030D-BC8866581662}"/>
              </a:ext>
            </a:extLst>
          </p:cNvPr>
          <p:cNvSpPr txBox="1"/>
          <p:nvPr/>
        </p:nvSpPr>
        <p:spPr>
          <a:xfrm>
            <a:off x="941029" y="653676"/>
            <a:ext cx="10715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</a:rPr>
              <a:t>Диаграмма связей .Этапы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1B7F27-F58B-45CE-ADB4-738A34458C44}"/>
              </a:ext>
            </a:extLst>
          </p:cNvPr>
          <p:cNvSpPr txBox="1"/>
          <p:nvPr/>
        </p:nvSpPr>
        <p:spPr>
          <a:xfrm>
            <a:off x="3414851" y="1724606"/>
            <a:ext cx="6096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</a:rPr>
              <a:t>Генерация Идей/Данных</a:t>
            </a:r>
            <a:r>
              <a:rPr lang="ru-RU" sz="1800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</a:rPr>
              <a:t>Размещение Карточек на Пространстве</a:t>
            </a:r>
            <a:endParaRPr lang="ru-RU" sz="1800" dirty="0">
              <a:effectLst/>
              <a:ea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</a:rPr>
              <a:t>Группировка Карточек (Поиск Связей)</a:t>
            </a:r>
            <a:endParaRPr lang="ru-RU" sz="1800" dirty="0">
              <a:effectLst/>
              <a:ea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</a:rPr>
              <a:t>Формирование Заголовков Групп (Категорий)</a:t>
            </a:r>
            <a:endParaRPr lang="ru-RU" sz="1800" dirty="0">
              <a:effectLst/>
              <a:ea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ru-RU" sz="1800" dirty="0">
                <a:solidFill>
                  <a:srgbClr val="212529"/>
                </a:solidFill>
                <a:effectLst/>
                <a:ea typeface="Times New Roman" panose="02020603050405020304" pitchFamily="18" charset="0"/>
              </a:rPr>
              <a:t>Анализ Структуры</a:t>
            </a:r>
            <a:endParaRPr lang="ru-RU" sz="180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21229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43956-7A31-5654-7A49-D4C5CFFD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E3482F2E-553D-B247-7636-5D6186EE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F884C30-AB9C-D300-78ED-5EE812D5EC6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5B96A7-CA1F-3E10-200B-5683C855CFCF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  <a:endParaRPr lang="ru-RU" sz="28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E86A8-283A-ED3D-5058-92DB6ED7184E}"/>
              </a:ext>
            </a:extLst>
          </p:cNvPr>
          <p:cNvSpPr txBox="1"/>
          <p:nvPr/>
        </p:nvSpPr>
        <p:spPr>
          <a:xfrm>
            <a:off x="941029" y="653676"/>
            <a:ext cx="10715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</a:rPr>
              <a:t>Диаграмма связей </a:t>
            </a:r>
            <a:r>
              <a:rPr lang="ru-RU" b="1" dirty="0"/>
              <a:t>:</a:t>
            </a:r>
            <a:r>
              <a:rPr lang="ru-RU" dirty="0"/>
              <a:t> Визуальное представление взаимосвязей между элементами проблемного поля.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7344D-464D-2369-A197-B90EEEFFB965}"/>
              </a:ext>
            </a:extLst>
          </p:cNvPr>
          <p:cNvSpPr txBox="1"/>
          <p:nvPr/>
        </p:nvSpPr>
        <p:spPr>
          <a:xfrm>
            <a:off x="1184366" y="1294173"/>
            <a:ext cx="963153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dirty="0"/>
              <a:t>Главная польза — структурирование большого объема разрозненной информации в управляемое количество основных категорий (тем).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dirty="0"/>
              <a:t>Диаграмма помогает увидеть, как отдельные элементы связаны друг с другом и как они формируют более крупные структуры.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dirty="0"/>
              <a:t>Анализируя размер и содержание групп, можно определить, на какие области стоит обратить наибольшее внимание.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dirty="0"/>
              <a:t>Создание общих категорий и понимания помогает команде говорить на одном языке при обсуждении сложных вопросов.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ru-RU" dirty="0"/>
              <a:t>Полученные категории могут стать основой для дальнейшего анализа, например, для построения Диаграммы Исикавы (где заголовки групп могут стать основными “костями”) или для планирования следующих шагов.</a:t>
            </a:r>
          </a:p>
        </p:txBody>
      </p:sp>
    </p:spTree>
    <p:extLst>
      <p:ext uri="{BB962C8B-B14F-4D97-AF65-F5344CB8AC3E}">
        <p14:creationId xmlns:p14="http://schemas.microsoft.com/office/powerpoint/2010/main" val="88081983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DADE-8BCE-11CD-F76E-A718F0E0B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286585A-D1E3-D224-C638-FE4DD9FD1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297" y="1366149"/>
            <a:ext cx="7571573" cy="408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BF9D5BAC-F1D7-4D5D-6B10-C7FE30B18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AB31566-B56D-C16B-8420-018D4558243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772F63-723F-78CA-8FF2-241FB74B9903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F0D6F-9ED9-D789-0242-3069C5795CD4}"/>
              </a:ext>
            </a:extLst>
          </p:cNvPr>
          <p:cNvSpPr txBox="1"/>
          <p:nvPr/>
        </p:nvSpPr>
        <p:spPr>
          <a:xfrm>
            <a:off x="1624693" y="833497"/>
            <a:ext cx="8600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Матрица </a:t>
            </a:r>
            <a:r>
              <a:rPr lang="ru-RU" b="1" dirty="0" err="1">
                <a:solidFill>
                  <a:srgbClr val="C00000"/>
                </a:solidFill>
              </a:rPr>
              <a:t>Ансоффа</a:t>
            </a:r>
            <a:r>
              <a:rPr lang="ru-RU" dirty="0">
                <a:solidFill>
                  <a:srgbClr val="C00000"/>
                </a:solidFill>
              </a:rPr>
              <a:t> </a:t>
            </a:r>
            <a:r>
              <a:rPr lang="ru-RU" dirty="0"/>
              <a:t>— инструмент стратегического планирования, который помогает определить наиболее перспективные векторы развития бизнеса</a:t>
            </a:r>
          </a:p>
        </p:txBody>
      </p:sp>
    </p:spTree>
    <p:extLst>
      <p:ext uri="{BB962C8B-B14F-4D97-AF65-F5344CB8AC3E}">
        <p14:creationId xmlns:p14="http://schemas.microsoft.com/office/powerpoint/2010/main" val="24064384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44BEA-4268-FFFC-08D5-AD0D2F2D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3397D622-E49E-BBB2-E5B0-6E06835B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30D2E31-1E9B-B566-8EF5-CB384322097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0FF3D6-5B65-AF52-028B-0A84AFA7A013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7A8BA-9281-96D3-E593-6EDEE27A52D7}"/>
              </a:ext>
            </a:extLst>
          </p:cNvPr>
          <p:cNvSpPr txBox="1"/>
          <p:nvPr/>
        </p:nvSpPr>
        <p:spPr>
          <a:xfrm>
            <a:off x="939800" y="956231"/>
            <a:ext cx="208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 Пользоваться Матрицей </a:t>
            </a:r>
            <a:r>
              <a:rPr lang="ru-RU" sz="18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Ансоффа</a:t>
            </a: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20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3A6EB-38C6-CA65-973B-AC64A42402E6}"/>
              </a:ext>
            </a:extLst>
          </p:cNvPr>
          <p:cNvSpPr txBox="1"/>
          <p:nvPr/>
        </p:nvSpPr>
        <p:spPr>
          <a:xfrm>
            <a:off x="3827462" y="956231"/>
            <a:ext cx="71707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b="1" dirty="0"/>
              <a:t>Определите текущее положение компании:</a:t>
            </a:r>
            <a:r>
              <a:rPr lang="ru-RU" dirty="0"/>
              <a:t> </a:t>
            </a:r>
          </a:p>
          <a:p>
            <a:pPr marL="622300" lvl="0"/>
            <a:r>
              <a:rPr lang="ru-RU" dirty="0"/>
              <a:t>На каких рынках вы сейчас действуете? </a:t>
            </a:r>
          </a:p>
          <a:p>
            <a:pPr marL="622300" lvl="0"/>
            <a:r>
              <a:rPr lang="ru-RU" dirty="0"/>
              <a:t>Какие продукты предлагаете?</a:t>
            </a:r>
          </a:p>
          <a:p>
            <a:pPr marL="342900" lvl="0" indent="-342900">
              <a:buFont typeface="+mj-lt"/>
              <a:buAutoNum type="arabicPeriod" startAt="2"/>
            </a:pPr>
            <a:r>
              <a:rPr lang="ru-RU" b="1" dirty="0"/>
              <a:t>Оцените потенциал роста:</a:t>
            </a:r>
            <a:r>
              <a:rPr lang="ru-RU" dirty="0"/>
              <a:t> </a:t>
            </a:r>
          </a:p>
          <a:p>
            <a:pPr marL="622300" lvl="0"/>
            <a:r>
              <a:rPr lang="ru-RU" dirty="0"/>
              <a:t>Где вы видите возможности для развития?</a:t>
            </a:r>
          </a:p>
          <a:p>
            <a:pPr marL="342900" lvl="0" indent="-342900">
              <a:buFont typeface="+mj-lt"/>
              <a:buAutoNum type="arabicPeriod" startAt="3"/>
            </a:pPr>
            <a:r>
              <a:rPr lang="ru-RU" b="1" dirty="0"/>
              <a:t>Проанализируйте риски:</a:t>
            </a:r>
            <a:r>
              <a:rPr lang="ru-RU" dirty="0"/>
              <a:t> </a:t>
            </a:r>
          </a:p>
          <a:p>
            <a:pPr marL="622300" lvl="0"/>
            <a:r>
              <a:rPr lang="ru-RU" dirty="0"/>
              <a:t>Каждая стратегия имеет свой уровень риска. </a:t>
            </a:r>
          </a:p>
          <a:p>
            <a:pPr marL="622300" lvl="0"/>
            <a:r>
              <a:rPr lang="ru-RU" dirty="0"/>
              <a:t>Проникновение на рынок — наименее рискованно, диверсификация — наиболее.</a:t>
            </a:r>
          </a:p>
          <a:p>
            <a:pPr marL="342900" lvl="0" indent="-342900">
              <a:buFont typeface="+mj-lt"/>
              <a:buAutoNum type="arabicPeriod" startAt="4"/>
            </a:pPr>
            <a:r>
              <a:rPr lang="ru-RU" b="1" dirty="0"/>
              <a:t>Выберите стратегию (или комбинацию):</a:t>
            </a:r>
            <a:r>
              <a:rPr lang="ru-RU" dirty="0"/>
              <a:t> </a:t>
            </a:r>
          </a:p>
          <a:p>
            <a:pPr marL="622300" lvl="0"/>
            <a:r>
              <a:rPr lang="ru-RU" dirty="0"/>
              <a:t>Основываясь на целях компании, ее ресурсах, конкурентной среде и уровне риска, выберите наиболее подходящую стратегию или комбинацию стратегий.</a:t>
            </a:r>
          </a:p>
          <a:p>
            <a:pPr marL="342900" lvl="0" indent="-342900">
              <a:buFont typeface="+mj-lt"/>
              <a:buAutoNum type="arabicPeriod" startAt="5"/>
            </a:pPr>
            <a:r>
              <a:rPr lang="ru-RU" b="1" dirty="0"/>
              <a:t>Разработайте тактики:</a:t>
            </a:r>
            <a:r>
              <a:rPr lang="ru-RU" dirty="0"/>
              <a:t> </a:t>
            </a:r>
          </a:p>
          <a:p>
            <a:pPr marL="622300" lvl="0"/>
            <a:r>
              <a:rPr lang="ru-RU" dirty="0"/>
              <a:t>Определите конкретные шаги для реализации выбранной стратегии.</a:t>
            </a:r>
          </a:p>
        </p:txBody>
      </p:sp>
    </p:spTree>
    <p:extLst>
      <p:ext uri="{BB962C8B-B14F-4D97-AF65-F5344CB8AC3E}">
        <p14:creationId xmlns:p14="http://schemas.microsoft.com/office/powerpoint/2010/main" val="55754515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3B88B-432D-0D25-B10A-ABBAB7B1D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D9E4B6B2-9B33-8611-1338-C05881394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91870F1-E58E-B85E-3380-6C919CA83F7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AF70E3-CBA7-5159-1E53-3805CA97E03E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F760C-D4BA-60D6-B0C6-1F75F2492EB9}"/>
              </a:ext>
            </a:extLst>
          </p:cNvPr>
          <p:cNvSpPr txBox="1"/>
          <p:nvPr/>
        </p:nvSpPr>
        <p:spPr>
          <a:xfrm>
            <a:off x="3517900" y="944712"/>
            <a:ext cx="8026400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solidFill>
                  <a:srgbClr val="212529"/>
                </a:solidFill>
                <a:effectLst/>
                <a:ea typeface="Times New Roman" panose="02020603050405020304" pitchFamily="18" charset="0"/>
              </a:rPr>
              <a:t>Стратегия проникновения на рынок </a:t>
            </a:r>
          </a:p>
          <a:p>
            <a:pPr lvl="0">
              <a:buSzPts val="1000"/>
              <a:tabLst>
                <a:tab pos="457200" algn="l"/>
              </a:tabLst>
            </a:pPr>
            <a:endParaRPr lang="ru-RU" b="1" dirty="0">
              <a:solidFill>
                <a:srgbClr val="212529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SzPts val="1000"/>
              <a:tabLst>
                <a:tab pos="457200" algn="l"/>
              </a:tabLst>
            </a:pPr>
            <a:r>
              <a:rPr lang="ru-RU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Суть:</a:t>
            </a: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Увеличить долю рынка с </a:t>
            </a:r>
            <a:r>
              <a:rPr lang="ru-RU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существующими продуктами</a:t>
            </a: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на </a:t>
            </a:r>
            <a:r>
              <a:rPr lang="ru-RU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существующих рынках</a:t>
            </a: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>
              <a:spcBef>
                <a:spcPts val="300"/>
              </a:spcBef>
              <a:buSzPts val="1000"/>
              <a:tabLst>
                <a:tab pos="457200" algn="l"/>
              </a:tabLst>
            </a:pPr>
            <a:r>
              <a:rPr lang="ru-RU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Как работает:</a:t>
            </a: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Это наименее рискованная стратегия. Она заключается в том, чтобы продавать больше того, что вы уже производите, тем, кто уже является вашим рынком.</a:t>
            </a:r>
          </a:p>
          <a:p>
            <a:pPr lvl="0">
              <a:spcBef>
                <a:spcPts val="300"/>
              </a:spcBef>
              <a:buSzPts val="1000"/>
              <a:tabLst>
                <a:tab pos="457200" algn="l"/>
              </a:tabLst>
            </a:pPr>
            <a:r>
              <a:rPr lang="ru-RU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Тактики:</a:t>
            </a:r>
            <a:endParaRPr lang="ru-RU" dirty="0">
              <a:solidFill>
                <a:srgbClr val="212529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Усиление маркетинговых усилий (реклама, </a:t>
            </a:r>
            <a:r>
              <a:rPr lang="ru-RU" dirty="0" err="1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</a:t>
            </a: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Снижение цен или проведение акций.</a:t>
            </a: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Улучшение существующего продукта (не создание нового).</a:t>
            </a: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Увеличение частоты использования продукта существующими клиентами.</a:t>
            </a: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Привлечение клиентов конкурентов.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60CF10-6215-448D-658D-42A14EEE46C2}"/>
              </a:ext>
            </a:extLst>
          </p:cNvPr>
          <p:cNvSpPr txBox="1"/>
          <p:nvPr/>
        </p:nvSpPr>
        <p:spPr>
          <a:xfrm>
            <a:off x="939800" y="956231"/>
            <a:ext cx="208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Стратегии Матрицы </a:t>
            </a:r>
            <a:r>
              <a:rPr lang="ru-RU" sz="18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Ансоффа</a:t>
            </a:r>
            <a:endParaRPr lang="ru-RU" sz="20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32418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8353A-B127-013A-2E9D-8B2CC509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CE80615-B8E3-D8BD-10F3-ECD6E5C9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7D18D78-96A1-A532-ADE4-9E7E327B12B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FD51D0-1A80-E227-5E45-C921D57D5C15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816F20-FC0A-2CEB-D67A-617CE90CB179}"/>
              </a:ext>
            </a:extLst>
          </p:cNvPr>
          <p:cNvSpPr txBox="1"/>
          <p:nvPr/>
        </p:nvSpPr>
        <p:spPr>
          <a:xfrm>
            <a:off x="939800" y="956231"/>
            <a:ext cx="208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Стратегии Матрицы </a:t>
            </a:r>
            <a:r>
              <a:rPr lang="ru-RU" sz="18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Ансоффа</a:t>
            </a:r>
            <a:endParaRPr lang="ru-RU" sz="20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6D3B7-9731-FB1D-CDA5-B6A5B58BE691}"/>
              </a:ext>
            </a:extLst>
          </p:cNvPr>
          <p:cNvSpPr txBox="1"/>
          <p:nvPr/>
        </p:nvSpPr>
        <p:spPr>
          <a:xfrm>
            <a:off x="3827462" y="956231"/>
            <a:ext cx="640873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rgbClr val="212529"/>
                </a:solidFill>
                <a:effectLst/>
                <a:ea typeface="Times New Roman" panose="02020603050405020304" pitchFamily="18" charset="0"/>
              </a:rPr>
              <a:t>2. Стратегия развития продукта </a:t>
            </a:r>
          </a:p>
          <a:p>
            <a:pPr lvl="0">
              <a:buSzPts val="1000"/>
              <a:tabLst>
                <a:tab pos="457200" algn="l"/>
              </a:tabLst>
            </a:pPr>
            <a:endParaRPr lang="ru-RU" b="1" dirty="0">
              <a:solidFill>
                <a:srgbClr val="212529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SzPts val="1000"/>
              <a:tabLst>
                <a:tab pos="457200" algn="l"/>
              </a:tabLst>
            </a:pPr>
            <a:r>
              <a:rPr lang="ru-RU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Суть:</a:t>
            </a: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Предложить </a:t>
            </a:r>
            <a:r>
              <a:rPr lang="ru-RU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новые продукты</a:t>
            </a: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ru-RU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существующим рынкам</a:t>
            </a: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>
              <a:spcBef>
                <a:spcPts val="300"/>
              </a:spcBef>
              <a:buSzPts val="1000"/>
              <a:tabLst>
                <a:tab pos="457200" algn="l"/>
              </a:tabLst>
            </a:pPr>
            <a:r>
              <a:rPr lang="ru-RU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Как работает:</a:t>
            </a: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Компания использует свое знание существующих клиентов и рынков для вывода на них новых, улучшенных или связанных продуктов.</a:t>
            </a:r>
          </a:p>
          <a:p>
            <a:pPr lvl="0">
              <a:spcBef>
                <a:spcPts val="300"/>
              </a:spcBef>
              <a:buSzPts val="1000"/>
              <a:tabLst>
                <a:tab pos="457200" algn="l"/>
              </a:tabLst>
            </a:pPr>
            <a:r>
              <a:rPr lang="ru-RU" b="1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Тактики:</a:t>
            </a:r>
            <a:endParaRPr lang="ru-RU" dirty="0">
              <a:solidFill>
                <a:srgbClr val="212529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Разработка новых версий продукта.</a:t>
            </a: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Создание сопутствующих товаров или услуг.</a:t>
            </a:r>
          </a:p>
          <a:p>
            <a:pPr marL="742950" lvl="1" indent="-285750">
              <a:spcBef>
                <a:spcPts val="3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dirty="0">
                <a:solidFill>
                  <a:srgbClr val="21252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Выпуск инновационных продуктов, удовлетворяющих новые потребности существующих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5554911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99A6-2601-B387-8ED8-73FF216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DB0E3CB-B011-8D3E-5F7E-4A3AC24D1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EC71DBF-D99B-6796-DC24-DEAC3B04D83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61B24E-2334-79FE-16ED-EDD962325CBB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8A07A1-E359-7B2F-0D78-03CBA9BC22EC}"/>
              </a:ext>
            </a:extLst>
          </p:cNvPr>
          <p:cNvSpPr txBox="1"/>
          <p:nvPr/>
        </p:nvSpPr>
        <p:spPr>
          <a:xfrm>
            <a:off x="939800" y="956231"/>
            <a:ext cx="208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Стратегии Матрицы </a:t>
            </a:r>
            <a:r>
              <a:rPr lang="ru-RU" sz="18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Ансоффа</a:t>
            </a:r>
            <a:endParaRPr lang="ru-RU" sz="20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077B6-7611-1A09-09C2-DF3259F4ACFD}"/>
              </a:ext>
            </a:extLst>
          </p:cNvPr>
          <p:cNvSpPr txBox="1"/>
          <p:nvPr/>
        </p:nvSpPr>
        <p:spPr>
          <a:xfrm>
            <a:off x="3827462" y="956231"/>
            <a:ext cx="64087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3. Стратегия развития рынка </a:t>
            </a:r>
          </a:p>
          <a:p>
            <a:pPr lvl="0"/>
            <a:endParaRPr lang="ru-RU" b="1" dirty="0"/>
          </a:p>
          <a:p>
            <a:pPr lvl="0"/>
            <a:r>
              <a:rPr lang="ru-RU" b="1" dirty="0"/>
              <a:t>Суть:</a:t>
            </a:r>
            <a:r>
              <a:rPr lang="ru-RU" dirty="0"/>
              <a:t> Предложить </a:t>
            </a:r>
            <a:r>
              <a:rPr lang="ru-RU" b="1" dirty="0"/>
              <a:t>существующие продукты</a:t>
            </a:r>
            <a:r>
              <a:rPr lang="ru-RU" dirty="0"/>
              <a:t> на </a:t>
            </a:r>
            <a:r>
              <a:rPr lang="ru-RU" b="1" dirty="0"/>
              <a:t>новых рынках</a:t>
            </a:r>
            <a:r>
              <a:rPr lang="ru-RU" dirty="0"/>
              <a:t>.</a:t>
            </a:r>
          </a:p>
          <a:p>
            <a:pPr lvl="0"/>
            <a:r>
              <a:rPr lang="ru-RU" b="1" dirty="0"/>
              <a:t>Как работает:</a:t>
            </a:r>
            <a:r>
              <a:rPr lang="ru-RU" dirty="0"/>
              <a:t> Компания ищет новые сегменты клиентов или новые географические рынки для своих уже существующих товаров или услуг.</a:t>
            </a:r>
          </a:p>
          <a:p>
            <a:pPr lvl="0"/>
            <a:r>
              <a:rPr lang="ru-RU" b="1" dirty="0"/>
              <a:t>Тактики:</a:t>
            </a:r>
            <a:endParaRPr lang="ru-RU" dirty="0"/>
          </a:p>
          <a:p>
            <a:pPr lvl="1"/>
            <a:r>
              <a:rPr lang="ru-RU" dirty="0"/>
              <a:t>Выход на новые географические рынки (другой город, страна).</a:t>
            </a:r>
          </a:p>
          <a:p>
            <a:pPr lvl="1"/>
            <a:r>
              <a:rPr lang="ru-RU" dirty="0"/>
              <a:t>Поиск новых сегментов потребителей (например, выход с продукта для взрослых на рынок детских товаров).</a:t>
            </a:r>
          </a:p>
          <a:p>
            <a:pPr lvl="1"/>
            <a:r>
              <a:rPr lang="ru-RU" dirty="0"/>
              <a:t>Поиск новых каналов сбыта.</a:t>
            </a:r>
          </a:p>
        </p:txBody>
      </p:sp>
    </p:spTree>
    <p:extLst>
      <p:ext uri="{BB962C8B-B14F-4D97-AF65-F5344CB8AC3E}">
        <p14:creationId xmlns:p14="http://schemas.microsoft.com/office/powerpoint/2010/main" val="46909402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DF80C-7290-AFDB-C750-EAD299839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E7493715-DE59-DA39-0C6A-FAA7B5546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dirty="0"/>
              <a:t> гераськина 2025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5DBB59A-6C9E-4815-9020-E7C1DB6DD4D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9086"/>
            <a:ext cx="12192000" cy="33528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D4C3BF-78E8-DC66-419C-348C23119D15}"/>
              </a:ext>
            </a:extLst>
          </p:cNvPr>
          <p:cNvSpPr txBox="1"/>
          <p:nvPr/>
        </p:nvSpPr>
        <p:spPr>
          <a:xfrm>
            <a:off x="0" y="-30173"/>
            <a:ext cx="12000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-apple-system"/>
              </a:rPr>
              <a:t>Инструменты для проектирования Проблемного поля: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DB32CC-4464-F794-9895-9A13992B05E0}"/>
              </a:ext>
            </a:extLst>
          </p:cNvPr>
          <p:cNvSpPr txBox="1"/>
          <p:nvPr/>
        </p:nvSpPr>
        <p:spPr>
          <a:xfrm>
            <a:off x="939800" y="956231"/>
            <a:ext cx="208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Стратегии Матрицы </a:t>
            </a:r>
            <a:r>
              <a:rPr lang="ru-RU" sz="1800" b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Ансоффа</a:t>
            </a:r>
            <a:endParaRPr lang="ru-RU" sz="20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5726BC-C35A-2A4B-A008-A3440F02EEFD}"/>
              </a:ext>
            </a:extLst>
          </p:cNvPr>
          <p:cNvSpPr txBox="1"/>
          <p:nvPr/>
        </p:nvSpPr>
        <p:spPr>
          <a:xfrm>
            <a:off x="3827462" y="956231"/>
            <a:ext cx="64087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4. Стратегия диверсификации </a:t>
            </a:r>
          </a:p>
          <a:p>
            <a:pPr lvl="0"/>
            <a:endParaRPr lang="ru-RU" b="1" dirty="0"/>
          </a:p>
          <a:p>
            <a:pPr lvl="0"/>
            <a:r>
              <a:rPr lang="ru-RU" b="1" dirty="0"/>
              <a:t>Суть:</a:t>
            </a:r>
            <a:r>
              <a:rPr lang="ru-RU" dirty="0"/>
              <a:t> Предложить </a:t>
            </a:r>
            <a:r>
              <a:rPr lang="ru-RU" b="1" dirty="0"/>
              <a:t>новые продукты</a:t>
            </a:r>
            <a:r>
              <a:rPr lang="ru-RU" dirty="0"/>
              <a:t> на </a:t>
            </a:r>
            <a:r>
              <a:rPr lang="ru-RU" b="1" dirty="0"/>
              <a:t>новых рынках</a:t>
            </a:r>
            <a:r>
              <a:rPr lang="ru-RU" dirty="0"/>
              <a:t>.</a:t>
            </a:r>
          </a:p>
          <a:p>
            <a:pPr lvl="0"/>
            <a:r>
              <a:rPr lang="ru-RU" b="1" dirty="0"/>
              <a:t>Как работает:</a:t>
            </a:r>
            <a:r>
              <a:rPr lang="ru-RU" dirty="0"/>
              <a:t> Это самая рискованная стратегия, так как она требует одновременного освоения нового продукта и нового рынка.</a:t>
            </a:r>
          </a:p>
          <a:p>
            <a:pPr lvl="0"/>
            <a:r>
              <a:rPr lang="ru-RU" b="1" dirty="0"/>
              <a:t>Типы диверсификации:</a:t>
            </a:r>
            <a:endParaRPr lang="ru-RU" dirty="0"/>
          </a:p>
          <a:p>
            <a:pPr lvl="1"/>
            <a:r>
              <a:rPr lang="ru-RU" b="1" dirty="0"/>
              <a:t>Связанная :</a:t>
            </a:r>
            <a:r>
              <a:rPr lang="ru-RU" dirty="0"/>
              <a:t> Новые продукты и рынки имеют некоторую связь с существующим бизнесом (например, синергия в технологиях, маркетинге).</a:t>
            </a:r>
          </a:p>
          <a:p>
            <a:pPr lvl="1"/>
            <a:r>
              <a:rPr lang="ru-RU" b="1" dirty="0"/>
              <a:t>Несвязанная :</a:t>
            </a:r>
            <a:r>
              <a:rPr lang="ru-RU" dirty="0"/>
              <a:t> Новые продукты и рынки совершенно не связаны с текущей деятельностью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886157412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5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{06671871-3A7F-494B-B7A8-D5CE35F5BB92}TFf0a5ceae-4542-492d-822e-d65a94fb0e1e19154062_win32-8070a709061f</Template>
  <TotalTime>2776</TotalTime>
  <Words>6457</Words>
  <Application>Microsoft Office PowerPoint</Application>
  <PresentationFormat>Широкоэкранный</PresentationFormat>
  <Paragraphs>1073</Paragraphs>
  <Slides>100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100</vt:i4>
      </vt:variant>
    </vt:vector>
  </HeadingPairs>
  <TitlesOfParts>
    <vt:vector size="111" baseType="lpstr">
      <vt:lpstr>-apple-system</vt:lpstr>
      <vt:lpstr>Arial</vt:lpstr>
      <vt:lpstr>Bookman Old Style</vt:lpstr>
      <vt:lpstr>Calibri</vt:lpstr>
      <vt:lpstr>Courier New</vt:lpstr>
      <vt:lpstr>Franklin Gothic Book</vt:lpstr>
      <vt:lpstr>Symbol</vt:lpstr>
      <vt:lpstr>Times New Roman</vt:lpstr>
      <vt:lpstr>Wingdings</vt:lpstr>
      <vt:lpstr>Пользовательские</vt:lpstr>
      <vt:lpstr>Document</vt:lpstr>
      <vt:lpstr>Сбор, анализ и визуализация данных часть2</vt:lpstr>
      <vt:lpstr> </vt:lpstr>
      <vt:lpstr> Основные типы преобразований данных </vt:lpstr>
      <vt:lpstr> Процедуры отображения </vt:lpstr>
      <vt:lpstr> Работа с графическими данными.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Почему важно вовлекать заинтересованные стороны?</vt:lpstr>
      <vt:lpstr>Стратегии вовлечения заинтересованных сторон</vt:lpstr>
      <vt:lpstr>Стратегии вовлечения заинтересованных сторон</vt:lpstr>
      <vt:lpstr>Стратегии вовлечения заинтересованных сторон</vt:lpstr>
      <vt:lpstr>Подготовка к взаимодействию</vt:lpstr>
      <vt:lpstr>Инструменты и техники</vt:lpstr>
      <vt:lpstr>Типичные ошибки и как их избежать</vt:lpstr>
      <vt:lpstr>Анализ степени участия</vt:lpstr>
      <vt:lpstr>Анализ степени участия</vt:lpstr>
      <vt:lpstr>Анализ степени участия</vt:lpstr>
      <vt:lpstr>Анализ степени участия</vt:lpstr>
      <vt:lpstr>Анализ степени участия</vt:lpstr>
      <vt:lpstr>Анализ степени участия</vt:lpstr>
      <vt:lpstr>Анализ степени участия</vt:lpstr>
      <vt:lpstr>Анализ степени участия</vt:lpstr>
      <vt:lpstr>Анализ степени участия</vt:lpstr>
      <vt:lpstr>Анализ степени участия</vt:lpstr>
      <vt:lpstr>Анализ степени участия</vt:lpstr>
      <vt:lpstr>Презентация PowerPoint</vt:lpstr>
      <vt:lpstr>Презентация PowerPoint</vt:lpstr>
      <vt:lpstr>Связи и зависимости между элементами информации для системного анализа</vt:lpstr>
      <vt:lpstr> Элементы информации</vt:lpstr>
      <vt:lpstr>Типы связей между элементами</vt:lpstr>
      <vt:lpstr>Методы выявления связей и зависимостей</vt:lpstr>
      <vt:lpstr> Этапы системного анализа данных</vt:lpstr>
      <vt:lpstr> Типичные ошибки</vt:lpstr>
      <vt:lpstr>Почему важно разъяснять необходимость работ</vt:lpstr>
      <vt:lpstr>Кто является вашей аудиторией и как адаптировать разъяснение?</vt:lpstr>
      <vt:lpstr>Структура разъяснения необходимости работ</vt:lpstr>
      <vt:lpstr>4 Инструменты для разъяснения необходимости работ</vt:lpstr>
      <vt:lpstr>Оценка готовности организации к изменениям</vt:lpstr>
      <vt:lpstr>Факторы, влияющие на готовность организации к изменениям</vt:lpstr>
      <vt:lpstr> Методы оценки готовности организации к изменениям</vt:lpstr>
      <vt:lpstr> Этапы оценки готовности организации к изменениям</vt:lpstr>
      <vt:lpstr>Что делать с результатами оценки?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Людмила Герськина</dc:creator>
  <cp:lastModifiedBy>Людмила Герськина</cp:lastModifiedBy>
  <cp:revision>53</cp:revision>
  <dcterms:created xsi:type="dcterms:W3CDTF">2025-09-03T17:40:01Z</dcterms:created>
  <dcterms:modified xsi:type="dcterms:W3CDTF">2025-09-12T18:07:45Z</dcterms:modified>
</cp:coreProperties>
</file>