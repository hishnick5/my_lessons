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6" r:id="rId2"/>
    <p:sldId id="258" r:id="rId3"/>
    <p:sldId id="259" r:id="rId4"/>
    <p:sldId id="262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8045"/>
    <a:srgbClr val="CA5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1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16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18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745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557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447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678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676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341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14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559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3554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387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2442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604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945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510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05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34147D-99DF-75B6-572C-97B361B6F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3034" y="444515"/>
            <a:ext cx="8643154" cy="1887950"/>
          </a:xfrm>
        </p:spPr>
        <p:txBody>
          <a:bodyPr>
            <a:noAutofit/>
          </a:bodyPr>
          <a:lstStyle/>
          <a:p>
            <a:r>
              <a:rPr lang="ru-RU" sz="4800" dirty="0"/>
              <a:t>Введение в </a:t>
            </a:r>
            <a:r>
              <a:rPr lang="en-US" sz="4800" dirty="0"/>
              <a:t>Python, </a:t>
            </a:r>
            <a:r>
              <a:rPr lang="ru-RU" sz="4800" dirty="0"/>
              <a:t>синтаксис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A601BC-B384-4E43-A6D3-F7CF69982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3231" y="5020140"/>
            <a:ext cx="9462805" cy="1012929"/>
          </a:xfrm>
        </p:spPr>
        <p:txBody>
          <a:bodyPr>
            <a:normAutofit/>
          </a:bodyPr>
          <a:lstStyle/>
          <a:p>
            <a:r>
              <a:rPr lang="ru-RU" dirty="0"/>
              <a:t>Лекция </a:t>
            </a:r>
            <a:r>
              <a:rPr lang="ru-RU" dirty="0" err="1"/>
              <a:t>2025г</a:t>
            </a:r>
            <a:r>
              <a:rPr lang="ru-RU" dirty="0"/>
              <a:t>. Гераськина Людмила Александровна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E5607E-30CE-5A57-CCC9-A710C04E544F}"/>
              </a:ext>
            </a:extLst>
          </p:cNvPr>
          <p:cNvSpPr txBox="1"/>
          <p:nvPr/>
        </p:nvSpPr>
        <p:spPr>
          <a:xfrm>
            <a:off x="3046686" y="3252217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1F1F1F"/>
                </a:solidFill>
                <a:latin typeface="Roboto" panose="02000000000000000000" pitchFamily="2" charset="0"/>
              </a:rPr>
              <a:t>К уроку 2 по </a:t>
            </a:r>
            <a:r>
              <a:rPr lang="en-US" dirty="0">
                <a:solidFill>
                  <a:srgbClr val="1F1F1F"/>
                </a:solidFill>
                <a:latin typeface="Roboto" panose="02000000000000000000" pitchFamily="2" charset="0"/>
              </a:rPr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4891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60699CB-DDD3-198A-30DD-4BD6188C22D6}"/>
              </a:ext>
            </a:extLst>
          </p:cNvPr>
          <p:cNvSpPr txBox="1"/>
          <p:nvPr/>
        </p:nvSpPr>
        <p:spPr>
          <a:xfrm>
            <a:off x="2238702" y="1745014"/>
            <a:ext cx="90388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 i="0">
                <a:solidFill>
                  <a:srgbClr val="1F1F1F"/>
                </a:solidFill>
                <a:effectLst/>
                <a:latin typeface="Google Sans Text"/>
              </a:defRPr>
            </a:lvl1pPr>
          </a:lstStyle>
          <a:p>
            <a:r>
              <a:rPr lang="ru-RU" b="0" dirty="0"/>
              <a:t>в Python множество разнообразных функций, которые уже реализованы и готовы к использованию. Такие функции упакованы в модули. В Python модулем называется библиотека функций, которую можно подключать к своим программам.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897A06-8F03-681F-4AA0-54A1AA2DDD28}"/>
              </a:ext>
            </a:extLst>
          </p:cNvPr>
          <p:cNvSpPr txBox="1"/>
          <p:nvPr/>
        </p:nvSpPr>
        <p:spPr>
          <a:xfrm>
            <a:off x="2564130" y="3745443"/>
            <a:ext cx="83629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Модуль </a:t>
            </a:r>
            <a:r>
              <a:rPr lang="ru-RU" b="1" i="0" dirty="0" err="1">
                <a:solidFill>
                  <a:srgbClr val="1F1F1F"/>
                </a:solidFill>
                <a:effectLst/>
                <a:latin typeface="Google Sans Text"/>
              </a:rPr>
              <a:t>math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– один из наиважнейших в Python. Этот модуль предоставляет обширный функционал для проведения вычислений с вещественными числами (числами с плавающей точкой). Для использования этих функций в начале программы необходимо подключить модуль, что делается командой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803086-744D-DA99-284A-4377C68DDFC6}"/>
              </a:ext>
            </a:extLst>
          </p:cNvPr>
          <p:cNvSpPr txBox="1"/>
          <p:nvPr/>
        </p:nvSpPr>
        <p:spPr>
          <a:xfrm>
            <a:off x="3611880" y="2734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Подключение  библиотек</a:t>
            </a:r>
          </a:p>
        </p:txBody>
      </p:sp>
    </p:spTree>
    <p:extLst>
      <p:ext uri="{BB962C8B-B14F-4D97-AF65-F5344CB8AC3E}">
        <p14:creationId xmlns:p14="http://schemas.microsoft.com/office/powerpoint/2010/main" val="1931693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EF47EC-41EA-3016-9E12-53965DF0C634}"/>
              </a:ext>
            </a:extLst>
          </p:cNvPr>
          <p:cNvSpPr txBox="1"/>
          <p:nvPr/>
        </p:nvSpPr>
        <p:spPr>
          <a:xfrm>
            <a:off x="3611880" y="2734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Подключение  библиотек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EF71D3-C93D-F21B-42A8-BA71890E1E3B}"/>
              </a:ext>
            </a:extLst>
          </p:cNvPr>
          <p:cNvSpPr txBox="1"/>
          <p:nvPr/>
        </p:nvSpPr>
        <p:spPr>
          <a:xfrm>
            <a:off x="3611880" y="1447485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math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импортируем библиотеку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9C2BBB-9F5A-752D-BB65-98C4A177E869}"/>
              </a:ext>
            </a:extLst>
          </p:cNvPr>
          <p:cNvSpPr txBox="1"/>
          <p:nvPr/>
        </p:nvSpPr>
        <p:spPr>
          <a:xfrm>
            <a:off x="2087880" y="1143556"/>
            <a:ext cx="6096000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2000" b="1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1 способ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92894B-E796-5394-4FA0-5C85294E674D}"/>
              </a:ext>
            </a:extLst>
          </p:cNvPr>
          <p:cNvSpPr txBox="1"/>
          <p:nvPr/>
        </p:nvSpPr>
        <p:spPr>
          <a:xfrm>
            <a:off x="2545080" y="2252181"/>
            <a:ext cx="8991600" cy="1912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math.sqrt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  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вычисление корня квадратного из двух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math.ceil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3.8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округление числа вверх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math.floor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3.8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округление числа вниз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E8D029-3F06-CD51-03ED-F3FE2D57C71A}"/>
              </a:ext>
            </a:extLst>
          </p:cNvPr>
          <p:cNvSpPr txBox="1"/>
          <p:nvPr/>
        </p:nvSpPr>
        <p:spPr>
          <a:xfrm>
            <a:off x="3048000" y="454645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1.4142135623730951 </a:t>
            </a:r>
          </a:p>
          <a:p>
            <a:r>
              <a:rPr lang="ru-RU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4 </a:t>
            </a:r>
          </a:p>
          <a:p>
            <a:r>
              <a:rPr lang="ru-RU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4945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3D48A-0D82-BBA8-7348-FEE71FEC5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1AAAEE-E76C-B77D-0F1A-3C3F617A3570}"/>
              </a:ext>
            </a:extLst>
          </p:cNvPr>
          <p:cNvSpPr txBox="1"/>
          <p:nvPr/>
        </p:nvSpPr>
        <p:spPr>
          <a:xfrm>
            <a:off x="3611880" y="2734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Подключение  библиотек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7FFADC-E4BF-2F61-C0D8-90B0BFE7F43F}"/>
              </a:ext>
            </a:extLst>
          </p:cNvPr>
          <p:cNvSpPr txBox="1"/>
          <p:nvPr/>
        </p:nvSpPr>
        <p:spPr>
          <a:xfrm>
            <a:off x="2087880" y="1143556"/>
            <a:ext cx="6096000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2000" b="1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2 способ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F5705B-5626-BE87-6568-CB4F4AEE0E9E}"/>
              </a:ext>
            </a:extLst>
          </p:cNvPr>
          <p:cNvSpPr txBox="1"/>
          <p:nvPr/>
        </p:nvSpPr>
        <p:spPr>
          <a:xfrm>
            <a:off x="3048000" y="1524858"/>
            <a:ext cx="885444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math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sqrt, ceil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из библиотеки подключаем методы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FD96D0-3E4B-1491-7DD1-D62DA4452611}"/>
              </a:ext>
            </a:extLst>
          </p:cNvPr>
          <p:cNvSpPr txBox="1"/>
          <p:nvPr/>
        </p:nvSpPr>
        <p:spPr>
          <a:xfrm>
            <a:off x="3048000" y="2839662"/>
            <a:ext cx="8077200" cy="1193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(sqrt(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(ceil(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34.7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(floor(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12.8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приведет к ошибке, так </a:t>
            </a:r>
          </a:p>
          <a:p>
            <a:pPr>
              <a:lnSpc>
                <a:spcPts val="1425"/>
              </a:lnSpc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                     как функция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floor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не подключена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AA583E-2B21-8EF9-F037-333053EF7ACE}"/>
              </a:ext>
            </a:extLst>
          </p:cNvPr>
          <p:cNvSpPr txBox="1"/>
          <p:nvPr/>
        </p:nvSpPr>
        <p:spPr>
          <a:xfrm>
            <a:off x="3048000" y="423987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5.0</a:t>
            </a:r>
          </a:p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35</a:t>
            </a:r>
          </a:p>
          <a:p>
            <a:pPr algn="l">
              <a:buNone/>
            </a:pPr>
            <a:r>
              <a:rPr lang="ru-RU" b="0" i="0" dirty="0">
                <a:solidFill>
                  <a:srgbClr val="8B0000"/>
                </a:solidFill>
                <a:effectLst/>
                <a:latin typeface="Courier New" panose="02070309020205020404" pitchFamily="49" charset="0"/>
              </a:rPr>
              <a:t>----------</a:t>
            </a:r>
            <a:endParaRPr lang="ru-RU" b="0" i="0" dirty="0">
              <a:solidFill>
                <a:srgbClr val="1F1F1F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E4E2DF-3F66-8972-BB9B-D566480AF907}"/>
              </a:ext>
            </a:extLst>
          </p:cNvPr>
          <p:cNvSpPr txBox="1"/>
          <p:nvPr/>
        </p:nvSpPr>
        <p:spPr>
          <a:xfrm>
            <a:off x="3048000" y="51398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8B0000"/>
                </a:solidFill>
                <a:effectLst/>
                <a:latin typeface="Courier New" panose="02070309020205020404" pitchFamily="49" charset="0"/>
              </a:rPr>
              <a:t>NameError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: name 'floor' is not defined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222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11457-9636-76F1-F6A3-51A3FB3A9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456FF7-AB66-163E-003F-147945797113}"/>
              </a:ext>
            </a:extLst>
          </p:cNvPr>
          <p:cNvSpPr txBox="1"/>
          <p:nvPr/>
        </p:nvSpPr>
        <p:spPr>
          <a:xfrm>
            <a:off x="2560320" y="1585288"/>
            <a:ext cx="8686800" cy="65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 * - означает что подключаем абсолютно все функции модуля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ru-RU" b="0" dirty="0">
              <a:solidFill>
                <a:srgbClr val="9723B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b="0" dirty="0" err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math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b="0" dirty="0" err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*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2AE5C4-3AAD-1EF7-39BA-1DEEEFDFDEEC}"/>
              </a:ext>
            </a:extLst>
          </p:cNvPr>
          <p:cNvSpPr txBox="1"/>
          <p:nvPr/>
        </p:nvSpPr>
        <p:spPr>
          <a:xfrm>
            <a:off x="3611880" y="2734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Подключение  библиотек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9C629B-8AEF-E345-6E15-7072A44556E5}"/>
              </a:ext>
            </a:extLst>
          </p:cNvPr>
          <p:cNvSpPr txBox="1"/>
          <p:nvPr/>
        </p:nvSpPr>
        <p:spPr>
          <a:xfrm>
            <a:off x="3048000" y="2570357"/>
            <a:ext cx="6096000" cy="173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sqrt(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  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вычисление корня квадратного из двух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ceil(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3.8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округление числа вверх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floor(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3.8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округление числа вниз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5F3CF3-1218-0AF7-F0BC-20F5D2EE230B}"/>
              </a:ext>
            </a:extLst>
          </p:cNvPr>
          <p:cNvSpPr txBox="1"/>
          <p:nvPr/>
        </p:nvSpPr>
        <p:spPr>
          <a:xfrm>
            <a:off x="3048000" y="476834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1.4142135623730951 </a:t>
            </a:r>
          </a:p>
          <a:p>
            <a:r>
              <a:rPr lang="ru-RU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4 </a:t>
            </a:r>
          </a:p>
          <a:p>
            <a:r>
              <a:rPr lang="ru-RU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3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31BE1D-28D9-5D47-7A22-4D85BF1026A2}"/>
              </a:ext>
            </a:extLst>
          </p:cNvPr>
          <p:cNvSpPr txBox="1"/>
          <p:nvPr/>
        </p:nvSpPr>
        <p:spPr>
          <a:xfrm>
            <a:off x="2087880" y="1143556"/>
            <a:ext cx="6096000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2000" b="1" dirty="0">
                <a:solidFill>
                  <a:srgbClr val="002060"/>
                </a:solidFill>
                <a:latin typeface="Courier New" panose="02070309020205020404" pitchFamily="49" charset="0"/>
              </a:rPr>
              <a:t>3</a:t>
            </a:r>
            <a:r>
              <a:rPr lang="ru-RU" sz="2000" b="1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 способ</a:t>
            </a:r>
          </a:p>
        </p:txBody>
      </p:sp>
    </p:spTree>
    <p:extLst>
      <p:ext uri="{BB962C8B-B14F-4D97-AF65-F5344CB8AC3E}">
        <p14:creationId xmlns:p14="http://schemas.microsoft.com/office/powerpoint/2010/main" val="3623195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CCA66-D99D-8265-A964-FFED6A2B6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D2BAEC-9BF4-FD05-0A7C-5F0245A17149}"/>
              </a:ext>
            </a:extLst>
          </p:cNvPr>
          <p:cNvSpPr txBox="1"/>
          <p:nvPr/>
        </p:nvSpPr>
        <p:spPr>
          <a:xfrm>
            <a:off x="3246120" y="508754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 Математические функции </a:t>
            </a:r>
            <a:r>
              <a:rPr lang="en-US" sz="2400" b="1" dirty="0">
                <a:solidFill>
                  <a:srgbClr val="C00000"/>
                </a:solidFill>
              </a:rPr>
              <a:t>math</a:t>
            </a:r>
          </a:p>
          <a:p>
            <a:pPr algn="l">
              <a:buNone/>
            </a:pPr>
            <a:endParaRPr lang="en-US" sz="2400" b="1" i="0" dirty="0">
              <a:solidFill>
                <a:srgbClr val="C00000"/>
              </a:solidFill>
              <a:effectLst/>
              <a:latin typeface="Google Sans Tex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6936A21-8FC3-19A2-4228-4B1545DF0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07986" y="1155085"/>
            <a:ext cx="8681933" cy="540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461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FF22C-EF11-9F6E-56A7-3B8A09F98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9E91D1-5670-70CE-2911-39B67035BAC7}"/>
              </a:ext>
            </a:extLst>
          </p:cNvPr>
          <p:cNvSpPr txBox="1"/>
          <p:nvPr/>
        </p:nvSpPr>
        <p:spPr>
          <a:xfrm>
            <a:off x="3246120" y="508754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 Математические функции </a:t>
            </a:r>
            <a:r>
              <a:rPr lang="en-US" sz="2400" b="1" dirty="0">
                <a:solidFill>
                  <a:srgbClr val="C00000"/>
                </a:solidFill>
              </a:rPr>
              <a:t>math</a:t>
            </a:r>
          </a:p>
          <a:p>
            <a:pPr algn="l">
              <a:buNone/>
            </a:pPr>
            <a:endParaRPr lang="en-US" sz="2400" b="1" i="0" dirty="0">
              <a:solidFill>
                <a:srgbClr val="C00000"/>
              </a:solidFill>
              <a:effectLst/>
              <a:latin typeface="Google Sans Tex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4841982-8097-0867-0D80-905D019C4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720" y="942975"/>
            <a:ext cx="7914323" cy="5729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774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6011C-F7E5-DB90-43E2-844226E20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F13FA8-F2BD-2A3B-B955-149BAFE7E39C}"/>
              </a:ext>
            </a:extLst>
          </p:cNvPr>
          <p:cNvSpPr txBox="1"/>
          <p:nvPr/>
        </p:nvSpPr>
        <p:spPr>
          <a:xfrm>
            <a:off x="3246120" y="508754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 Математические функции </a:t>
            </a:r>
            <a:r>
              <a:rPr lang="en-US" sz="2400" b="1" dirty="0">
                <a:solidFill>
                  <a:srgbClr val="C00000"/>
                </a:solidFill>
              </a:rPr>
              <a:t>math</a:t>
            </a:r>
          </a:p>
          <a:p>
            <a:pPr algn="l">
              <a:buNone/>
            </a:pPr>
            <a:endParaRPr lang="en-US" sz="2400" b="1" i="0" dirty="0">
              <a:solidFill>
                <a:srgbClr val="C00000"/>
              </a:solidFill>
              <a:effectLst/>
              <a:latin typeface="Google Sans Tex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48A771D-ED56-A392-48B9-EBEB24E0A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320" y="880988"/>
            <a:ext cx="7604759" cy="585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613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D8E0C-2A03-9A2B-CC0F-C81CF7E32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1FA2AA-3F28-EF46-4CAB-5B5ABDB91778}"/>
              </a:ext>
            </a:extLst>
          </p:cNvPr>
          <p:cNvSpPr txBox="1"/>
          <p:nvPr/>
        </p:nvSpPr>
        <p:spPr>
          <a:xfrm>
            <a:off x="3246120" y="508754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 Математические функции </a:t>
            </a:r>
            <a:r>
              <a:rPr lang="en-US" sz="2400" b="1" dirty="0">
                <a:solidFill>
                  <a:srgbClr val="C00000"/>
                </a:solidFill>
              </a:rPr>
              <a:t>math</a:t>
            </a:r>
          </a:p>
          <a:p>
            <a:pPr algn="l">
              <a:buNone/>
            </a:pPr>
            <a:endParaRPr lang="en-US" sz="2400" b="1" i="0" dirty="0">
              <a:solidFill>
                <a:srgbClr val="C00000"/>
              </a:solidFill>
              <a:effectLst/>
              <a:latin typeface="Google Sans Text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E4FCB14-F15F-AE93-2CE8-EBD2AEB5A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75" y="1615499"/>
            <a:ext cx="9195234" cy="217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4176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856B3-DD3D-5633-3AE1-BE7DBFF7E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F9C4EF-5B85-1CAF-6D1B-51D9EB0B532A}"/>
              </a:ext>
            </a:extLst>
          </p:cNvPr>
          <p:cNvSpPr txBox="1"/>
          <p:nvPr/>
        </p:nvSpPr>
        <p:spPr>
          <a:xfrm>
            <a:off x="3246120" y="508754"/>
            <a:ext cx="8290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Логические операторы and (и), or (или), not (не)</a:t>
            </a:r>
            <a:endParaRPr lang="en-US" sz="2400" b="1" i="0" dirty="0">
              <a:solidFill>
                <a:srgbClr val="C00000"/>
              </a:solidFill>
              <a:effectLst/>
              <a:latin typeface="Google Sans Text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3B2D1A4-20BB-C3C2-72C2-0C4CADFED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336" y="1313368"/>
            <a:ext cx="8607989" cy="2493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94320E-6EA9-282E-261C-FEE02BFD0A2F}"/>
              </a:ext>
            </a:extLst>
          </p:cNvPr>
          <p:cNvSpPr txBox="1"/>
          <p:nvPr/>
        </p:nvSpPr>
        <p:spPr>
          <a:xfrm>
            <a:off x="2433990" y="4618002"/>
            <a:ext cx="9250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Оператор </a:t>
            </a:r>
            <a:r>
              <a:rPr lang="ru-RU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and</a:t>
            </a: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 (И) будет выдавать в выводе </a:t>
            </a:r>
            <a:r>
              <a:rPr lang="ru-RU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, только если верны оба утверждения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57FE7-0F85-DC98-1FDA-C182D829053C}"/>
              </a:ext>
            </a:extLst>
          </p:cNvPr>
          <p:cNvSpPr txBox="1"/>
          <p:nvPr/>
        </p:nvSpPr>
        <p:spPr>
          <a:xfrm>
            <a:off x="2453640" y="5175300"/>
            <a:ext cx="908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Оператор or (ИЛИ) возвращает True, когда хотя бы одно из утверждений верно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75E3B1-B99F-04F7-D733-00F7E16CC351}"/>
              </a:ext>
            </a:extLst>
          </p:cNvPr>
          <p:cNvSpPr txBox="1"/>
          <p:nvPr/>
        </p:nvSpPr>
        <p:spPr>
          <a:xfrm>
            <a:off x="2453640" y="5687227"/>
            <a:ext cx="815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Оператор not (НЕ) возвращает True, если утверждение неверно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6676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F9117-0EFE-122A-BAAE-9A6F11CED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33D156-3980-D2D4-A129-1A28E1D02169}"/>
              </a:ext>
            </a:extLst>
          </p:cNvPr>
          <p:cNvSpPr txBox="1"/>
          <p:nvPr/>
        </p:nvSpPr>
        <p:spPr>
          <a:xfrm>
            <a:off x="3246120" y="508754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функция </a:t>
            </a:r>
            <a:r>
              <a:rPr lang="en-US" sz="2400" b="1" dirty="0" err="1">
                <a:solidFill>
                  <a:srgbClr val="C00000"/>
                </a:solidFill>
              </a:rPr>
              <a:t>isinstance</a:t>
            </a:r>
            <a:r>
              <a:rPr lang="en-US" sz="2400" b="1" dirty="0">
                <a:solidFill>
                  <a:srgbClr val="C00000"/>
                </a:solidFill>
              </a:rPr>
              <a:t>()</a:t>
            </a:r>
            <a:r>
              <a:rPr lang="en-US" sz="2400" dirty="0">
                <a:solidFill>
                  <a:srgbClr val="C00000"/>
                </a:solidFill>
              </a:rPr>
              <a:t>. </a:t>
            </a:r>
            <a:endParaRPr lang="en-US" sz="2400" b="1" dirty="0">
              <a:solidFill>
                <a:srgbClr val="C00000"/>
              </a:solidFill>
            </a:endParaRPr>
          </a:p>
          <a:p>
            <a:pPr algn="l">
              <a:buNone/>
            </a:pPr>
            <a:endParaRPr lang="en-US" sz="2400" b="1" i="0" dirty="0">
              <a:solidFill>
                <a:srgbClr val="C00000"/>
              </a:solidFill>
              <a:effectLst/>
              <a:latin typeface="Google Sans Tex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C9B8A-950F-A3DC-481F-3E6E7878D3E1}"/>
              </a:ext>
            </a:extLst>
          </p:cNvPr>
          <p:cNvSpPr txBox="1"/>
          <p:nvPr/>
        </p:nvSpPr>
        <p:spPr>
          <a:xfrm>
            <a:off x="3048000" y="1764503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isinstance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62518-5F14-2028-D606-7EBCD7B0DD6F}"/>
              </a:ext>
            </a:extLst>
          </p:cNvPr>
          <p:cNvSpPr txBox="1"/>
          <p:nvPr/>
        </p:nvSpPr>
        <p:spPr>
          <a:xfrm>
            <a:off x="3048000" y="3288503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isinstance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2.5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D5C4F-F56E-E0E3-6A8E-41C4DA9F3A55}"/>
              </a:ext>
            </a:extLst>
          </p:cNvPr>
          <p:cNvSpPr txBox="1"/>
          <p:nvPr/>
        </p:nvSpPr>
        <p:spPr>
          <a:xfrm>
            <a:off x="3048000" y="23828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FEA503-051C-529C-291E-F7349B5BCA05}"/>
              </a:ext>
            </a:extLst>
          </p:cNvPr>
          <p:cNvSpPr txBox="1"/>
          <p:nvPr/>
        </p:nvSpPr>
        <p:spPr>
          <a:xfrm>
            <a:off x="3048000" y="39363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False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CD6408-0801-D297-F228-182EBCB57F76}"/>
              </a:ext>
            </a:extLst>
          </p:cNvPr>
          <p:cNvSpPr txBox="1"/>
          <p:nvPr/>
        </p:nvSpPr>
        <p:spPr>
          <a:xfrm>
            <a:off x="3048000" y="4730243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isinstance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Привет!"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str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41EC71-5AA0-91BF-A4C6-0DD4500BEBDC}"/>
              </a:ext>
            </a:extLst>
          </p:cNvPr>
          <p:cNvSpPr txBox="1"/>
          <p:nvPr/>
        </p:nvSpPr>
        <p:spPr>
          <a:xfrm>
            <a:off x="3048000" y="54509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4105401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E6560-2142-1D7B-239A-5C4DA153A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01A939-DA73-FDD5-AB45-AD4CD96A41AB}"/>
              </a:ext>
            </a:extLst>
          </p:cNvPr>
          <p:cNvSpPr txBox="1"/>
          <p:nvPr/>
        </p:nvSpPr>
        <p:spPr>
          <a:xfrm>
            <a:off x="3246120" y="50875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Условный оператор </a:t>
            </a:r>
            <a:r>
              <a:rPr lang="en-US" sz="2400" b="1" dirty="0">
                <a:solidFill>
                  <a:srgbClr val="C00000"/>
                </a:solidFill>
              </a:rPr>
              <a:t>IF</a:t>
            </a:r>
            <a:endParaRPr lang="en-US" sz="2400" b="1" i="0" dirty="0">
              <a:solidFill>
                <a:srgbClr val="C00000"/>
              </a:solidFill>
              <a:effectLst/>
              <a:latin typeface="Google Sans Tex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E9DFA2-4034-B9A8-D0C2-A4EF553345E2}"/>
              </a:ext>
            </a:extLst>
          </p:cNvPr>
          <p:cNvSpPr txBox="1"/>
          <p:nvPr/>
        </p:nvSpPr>
        <p:spPr>
          <a:xfrm>
            <a:off x="3246120" y="1282675"/>
            <a:ext cx="79095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Условия которые используются:</a:t>
            </a:r>
          </a:p>
          <a:p>
            <a:pPr algn="l"/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       Условия – это выражения, которые оцениваются как True или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False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ru-RU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/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Используйте операторы сравнения: </a:t>
            </a:r>
          </a:p>
          <a:p>
            <a:pPr algn="l"/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          == (равно), != (не равно), &gt;, &lt;, &gt;=, &lt;=</a:t>
            </a:r>
          </a:p>
          <a:p>
            <a:pPr algn="l"/>
            <a:endParaRPr lang="ru-RU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/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Используйте логические операторы: </a:t>
            </a:r>
          </a:p>
          <a:p>
            <a:pPr algn="l"/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         and (и), or (или), not (не).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2A354B-8C0F-64AE-6A38-CD948D54E1CE}"/>
              </a:ext>
            </a:extLst>
          </p:cNvPr>
          <p:cNvSpPr txBox="1"/>
          <p:nvPr/>
        </p:nvSpPr>
        <p:spPr>
          <a:xfrm>
            <a:off x="3246120" y="3762077"/>
            <a:ext cx="82143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Отступы:</a:t>
            </a:r>
          </a:p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В Python отступы (обычно 4 пробела) играют важную роль для определения блоков кода внутри условных операторов и циклов. Неправильные отступы приведут к ошибкам.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5422D8-A69B-41A6-35F4-5C183BEF534D}"/>
              </a:ext>
            </a:extLst>
          </p:cNvPr>
          <p:cNvSpPr txBox="1"/>
          <p:nvPr/>
        </p:nvSpPr>
        <p:spPr>
          <a:xfrm>
            <a:off x="3246120" y="5380196"/>
            <a:ext cx="7909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Вложенность:</a:t>
            </a:r>
            <a:endParaRPr lang="ru-RU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Вы можете вкладывать условные операторы друг в друга (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if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внутри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if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98174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F973-0899-0E6D-A87D-07133D02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C97288-BFC2-D51E-DBCC-1973B38A5477}"/>
              </a:ext>
            </a:extLst>
          </p:cNvPr>
          <p:cNvSpPr txBox="1"/>
          <p:nvPr/>
        </p:nvSpPr>
        <p:spPr>
          <a:xfrm>
            <a:off x="3246120" y="50875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 Синтаксис </a:t>
            </a:r>
            <a:r>
              <a:rPr lang="en-US" sz="2400" b="1" dirty="0">
                <a:solidFill>
                  <a:srgbClr val="C00000"/>
                </a:solidFill>
              </a:rPr>
              <a:t>if:</a:t>
            </a:r>
            <a:endParaRPr lang="en-US" sz="2400" b="1" i="0" dirty="0">
              <a:solidFill>
                <a:srgbClr val="C00000"/>
              </a:solidFill>
              <a:effectLst/>
              <a:latin typeface="Google Sans Text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FEC0712-E521-01A5-5A6C-7ED39CC4D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4653" y="1448424"/>
            <a:ext cx="6782694" cy="1497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5B8C9E-0900-D97A-D929-F283C09D7A4B}"/>
              </a:ext>
            </a:extLst>
          </p:cNvPr>
          <p:cNvSpPr txBox="1"/>
          <p:nvPr/>
        </p:nvSpPr>
        <p:spPr>
          <a:xfrm>
            <a:off x="2941320" y="4011470"/>
            <a:ext cx="8138160" cy="1193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x, y = </a:t>
            </a:r>
            <a:r>
              <a:rPr lang="en-US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input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()), </a:t>
            </a:r>
            <a:r>
              <a:rPr lang="en-US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input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 &lt; y: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y-x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Первое число меньше, разница  ="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y-x)</a:t>
            </a:r>
          </a:p>
        </p:txBody>
      </p:sp>
    </p:spTree>
    <p:extLst>
      <p:ext uri="{BB962C8B-B14F-4D97-AF65-F5344CB8AC3E}">
        <p14:creationId xmlns:p14="http://schemas.microsoft.com/office/powerpoint/2010/main" val="2201703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97358-4BF7-928D-DDA4-AD03C02C1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E4AF7F-5E73-5DE7-387B-F412787D712A}"/>
              </a:ext>
            </a:extLst>
          </p:cNvPr>
          <p:cNvSpPr txBox="1"/>
          <p:nvPr/>
        </p:nvSpPr>
        <p:spPr>
          <a:xfrm>
            <a:off x="3246120" y="50875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 Синтаксис </a:t>
            </a:r>
            <a:r>
              <a:rPr lang="en-US" sz="2400" b="1" dirty="0">
                <a:solidFill>
                  <a:srgbClr val="C00000"/>
                </a:solidFill>
              </a:rPr>
              <a:t>if-else:</a:t>
            </a:r>
            <a:endParaRPr lang="en-US" sz="2400" b="1" i="0" dirty="0">
              <a:solidFill>
                <a:srgbClr val="C00000"/>
              </a:solidFill>
              <a:effectLst/>
              <a:latin typeface="Google Sans Text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F5A9D5A-EE8D-9165-D523-F282F1E7D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120" y="1133743"/>
            <a:ext cx="6994209" cy="2295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5D73ED-69F1-8BCA-866C-9DAC19257327}"/>
              </a:ext>
            </a:extLst>
          </p:cNvPr>
          <p:cNvSpPr txBox="1"/>
          <p:nvPr/>
        </p:nvSpPr>
        <p:spPr>
          <a:xfrm>
            <a:off x="3268504" y="3946011"/>
            <a:ext cx="7780496" cy="1552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x, y = </a:t>
            </a:r>
            <a:r>
              <a:rPr lang="en-US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input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()), </a:t>
            </a:r>
            <a:r>
              <a:rPr lang="en-US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input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 &lt; y: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z = y - x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Первое число меньше, разница  ="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z)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z = y * x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Первое число больше, произведение  ="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z)</a:t>
            </a:r>
          </a:p>
        </p:txBody>
      </p:sp>
    </p:spTree>
    <p:extLst>
      <p:ext uri="{BB962C8B-B14F-4D97-AF65-F5344CB8AC3E}">
        <p14:creationId xmlns:p14="http://schemas.microsoft.com/office/powerpoint/2010/main" val="3871379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5BDA9-74AF-8A3F-37AF-013D9E9D4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AF233F-BE5C-ECE1-82D1-17C43F2A716B}"/>
              </a:ext>
            </a:extLst>
          </p:cNvPr>
          <p:cNvSpPr txBox="1"/>
          <p:nvPr/>
        </p:nvSpPr>
        <p:spPr>
          <a:xfrm>
            <a:off x="3246120" y="50875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Синтаксис</a:t>
            </a:r>
            <a:r>
              <a:rPr lang="en-US" b="1" dirty="0">
                <a:solidFill>
                  <a:srgbClr val="C00000"/>
                </a:solidFill>
              </a:rPr>
              <a:t> if-</a:t>
            </a:r>
            <a:r>
              <a:rPr lang="en-US" b="1" dirty="0" err="1">
                <a:solidFill>
                  <a:srgbClr val="C00000"/>
                </a:solidFill>
              </a:rPr>
              <a:t>elif</a:t>
            </a:r>
            <a:r>
              <a:rPr lang="en-US" b="1" dirty="0">
                <a:solidFill>
                  <a:srgbClr val="C00000"/>
                </a:solidFill>
              </a:rPr>
              <a:t>-else: ( </a:t>
            </a:r>
            <a:r>
              <a:rPr lang="en-US" b="1" dirty="0" err="1">
                <a:solidFill>
                  <a:srgbClr val="C00000"/>
                </a:solidFill>
              </a:rPr>
              <a:t>elif</a:t>
            </a:r>
            <a:r>
              <a:rPr lang="en-US" b="1" dirty="0">
                <a:solidFill>
                  <a:srgbClr val="C00000"/>
                </a:solidFill>
              </a:rPr>
              <a:t> - “else if”)</a:t>
            </a:r>
            <a:endParaRPr lang="en-US" b="1" i="0" dirty="0">
              <a:solidFill>
                <a:srgbClr val="C00000"/>
              </a:solidFill>
              <a:effectLst/>
              <a:latin typeface="Google Sans Text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0EA159D-885A-9C26-E367-AFDA2A6D9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9733" y="1302068"/>
            <a:ext cx="8184015" cy="3833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7672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44E04-38B3-1CE2-F7C4-B95F0E33E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002B13-9A5B-2B85-7C9A-A94F89080EA5}"/>
              </a:ext>
            </a:extLst>
          </p:cNvPr>
          <p:cNvSpPr txBox="1"/>
          <p:nvPr/>
        </p:nvSpPr>
        <p:spPr>
          <a:xfrm>
            <a:off x="3246120" y="50875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Синтаксис if-</a:t>
            </a:r>
            <a:r>
              <a:rPr lang="en-US" sz="2400" b="1" dirty="0" err="1">
                <a:solidFill>
                  <a:srgbClr val="C00000"/>
                </a:solidFill>
              </a:rPr>
              <a:t>elif</a:t>
            </a:r>
            <a:r>
              <a:rPr lang="en-US" sz="2400" b="1" dirty="0">
                <a:solidFill>
                  <a:srgbClr val="C00000"/>
                </a:solidFill>
              </a:rPr>
              <a:t>-else: ( </a:t>
            </a:r>
            <a:r>
              <a:rPr lang="en-US" sz="2400" b="1" dirty="0" err="1">
                <a:solidFill>
                  <a:srgbClr val="C00000"/>
                </a:solidFill>
              </a:rPr>
              <a:t>elif</a:t>
            </a:r>
            <a:r>
              <a:rPr lang="en-US" sz="2400" b="1" dirty="0">
                <a:solidFill>
                  <a:srgbClr val="C00000"/>
                </a:solidFill>
              </a:rPr>
              <a:t> - “else if”)</a:t>
            </a:r>
            <a:endParaRPr lang="en-US" sz="2400" b="1" i="0" dirty="0">
              <a:solidFill>
                <a:srgbClr val="C00000"/>
              </a:solidFill>
              <a:effectLst/>
              <a:latin typeface="Google Sans Tex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1B8470-CAF6-D0FC-A821-2F399E71B657}"/>
              </a:ext>
            </a:extLst>
          </p:cNvPr>
          <p:cNvSpPr txBox="1"/>
          <p:nvPr/>
        </p:nvSpPr>
        <p:spPr>
          <a:xfrm>
            <a:off x="3032760" y="1648384"/>
            <a:ext cx="8260080" cy="3465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temperature = </a:t>
            </a:r>
            <a:r>
              <a:rPr lang="en-US" sz="2000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input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Введите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температуру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"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ct val="150000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temperature &gt;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25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Жарко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 err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elif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temperature &lt;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Холодно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Комфортная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температура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09561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0A079-719B-0FE2-9D88-515F42C3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7A8B1D-B19F-9A18-B8DB-0F2AA1E52374}"/>
              </a:ext>
            </a:extLst>
          </p:cNvPr>
          <p:cNvSpPr txBox="1"/>
          <p:nvPr/>
        </p:nvSpPr>
        <p:spPr>
          <a:xfrm>
            <a:off x="3246120" y="50875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Пример с использованием !=</a:t>
            </a:r>
            <a:endParaRPr lang="en-US" sz="2400" b="1" i="0" dirty="0">
              <a:solidFill>
                <a:srgbClr val="C00000"/>
              </a:solidFill>
              <a:effectLst/>
              <a:latin typeface="Google Sans Tex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B41AE-C90E-A4C4-2D10-746CC8C1DF91}"/>
              </a:ext>
            </a:extLst>
          </p:cNvPr>
          <p:cNvSpPr txBox="1"/>
          <p:nvPr/>
        </p:nvSpPr>
        <p:spPr>
          <a:xfrm>
            <a:off x="3246120" y="2020281"/>
            <a:ext cx="8046720" cy="2817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Запрашиваем ввести слово</a:t>
            </a:r>
          </a:p>
          <a:p>
            <a:pPr>
              <a:lnSpc>
                <a:spcPts val="1425"/>
              </a:lnSpc>
              <a:buNone/>
            </a:pP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word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(</a:t>
            </a:r>
            <a:r>
              <a:rPr lang="ru-RU" sz="2000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input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"Введите любое значение "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))</a:t>
            </a:r>
          </a:p>
          <a:p>
            <a:pPr>
              <a:lnSpc>
                <a:spcPts val="1425"/>
              </a:lnSpc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Пишем программу, используя оператор сравнения !=</a:t>
            </a: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ru-RU" sz="2000" b="0" dirty="0">
              <a:solidFill>
                <a:srgbClr val="9723B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sz="2000" b="0" dirty="0" err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word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!= </a:t>
            </a:r>
            <a:r>
              <a:rPr lang="ru-RU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""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      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если слово не равно пустому</a:t>
            </a: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</a:t>
            </a:r>
          </a:p>
          <a:p>
            <a:pPr>
              <a:lnSpc>
                <a:spcPts val="1425"/>
              </a:lnSpc>
              <a:buNone/>
            </a:pPr>
            <a:r>
              <a:rPr lang="ru-R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sz="2000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"Вы ввели "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word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)</a:t>
            </a:r>
          </a:p>
          <a:p>
            <a:pPr>
              <a:lnSpc>
                <a:spcPts val="1425"/>
              </a:lnSpc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sz="2000" b="0" dirty="0" err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 </a:t>
            </a:r>
          </a:p>
          <a:p>
            <a:pPr>
              <a:lnSpc>
                <a:spcPts val="1425"/>
              </a:lnSpc>
              <a:buNone/>
            </a:pPr>
            <a:r>
              <a:rPr lang="ru-R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ru-RU" sz="2000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"Вы ничего не ввели"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15491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31803-2151-0153-9B22-4256A214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53E80A-750B-08EF-0EB2-79A9FBF5A926}"/>
              </a:ext>
            </a:extLst>
          </p:cNvPr>
          <p:cNvSpPr txBox="1"/>
          <p:nvPr/>
        </p:nvSpPr>
        <p:spPr>
          <a:xfrm>
            <a:off x="2240280" y="508754"/>
            <a:ext cx="9220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Пример с использованием логическим оператором not</a:t>
            </a:r>
            <a:endParaRPr lang="en-US" sz="2400" b="1" i="0" dirty="0">
              <a:solidFill>
                <a:srgbClr val="C00000"/>
              </a:solidFill>
              <a:effectLst/>
              <a:latin typeface="Google Sans Tex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C965D1-0884-8BBA-6646-FF5D97954FE4}"/>
              </a:ext>
            </a:extLst>
          </p:cNvPr>
          <p:cNvSpPr txBox="1"/>
          <p:nvPr/>
        </p:nvSpPr>
        <p:spPr>
          <a:xfrm>
            <a:off x="3246120" y="1916709"/>
            <a:ext cx="8442960" cy="2637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Запрашиваем что-то на ввод</a:t>
            </a:r>
          </a:p>
          <a:p>
            <a:pPr>
              <a:lnSpc>
                <a:spcPts val="1425"/>
              </a:lnSpc>
              <a:buNone/>
            </a:pP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word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ru-RU" sz="2000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input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"Введите любое значение "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)</a:t>
            </a:r>
          </a:p>
          <a:p>
            <a:pPr>
              <a:lnSpc>
                <a:spcPts val="1425"/>
              </a:lnSpc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Пишем программу, используя not</a:t>
            </a:r>
          </a:p>
          <a:p>
            <a:pPr>
              <a:lnSpc>
                <a:spcPts val="1425"/>
              </a:lnSpc>
              <a:buNone/>
            </a:pP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sz="2000" b="0" dirty="0" err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</a:t>
            </a:r>
            <a:r>
              <a:rPr lang="ru-RU" sz="20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word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      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word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= 0 (нет слова)</a:t>
            </a:r>
          </a:p>
          <a:p>
            <a:pPr>
              <a:lnSpc>
                <a:spcPts val="1425"/>
              </a:lnSpc>
              <a:buNone/>
            </a:pP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ru-RU" sz="2000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"Вы ничего не ввели"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sz="2000" b="0" dirty="0" err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ru-RU" sz="2000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"Вы ввели "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word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462049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384FB-38C9-023B-9FD2-29762B0E2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4A3AC4-51BA-4523-65D5-5DDC3ACF13ED}"/>
              </a:ext>
            </a:extLst>
          </p:cNvPr>
          <p:cNvSpPr txBox="1"/>
          <p:nvPr/>
        </p:nvSpPr>
        <p:spPr>
          <a:xfrm>
            <a:off x="1981200" y="508754"/>
            <a:ext cx="94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Пример с использованием логическим оператором and</a:t>
            </a:r>
            <a:endParaRPr lang="en-US" sz="2400" b="1" i="0" dirty="0">
              <a:solidFill>
                <a:srgbClr val="C00000"/>
              </a:solidFill>
              <a:effectLst/>
              <a:latin typeface="Google Sans Tex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5C01CE-C916-277A-EFAF-E215F399AAF4}"/>
              </a:ext>
            </a:extLst>
          </p:cNvPr>
          <p:cNvSpPr txBox="1"/>
          <p:nvPr/>
        </p:nvSpPr>
        <p:spPr>
          <a:xfrm>
            <a:off x="3246120" y="1332488"/>
            <a:ext cx="77724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age =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25</a:t>
            </a: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is_student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0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age &gt;=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18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Взрослый"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Несовершеннолетний"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age &gt;=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18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and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is_student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US" sz="20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или просто </a:t>
            </a:r>
            <a:r>
              <a:rPr lang="en-US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if age &gt;= 18 and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is_student</a:t>
            </a:r>
            <a:r>
              <a:rPr lang="en-US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:</a:t>
            </a:r>
            <a:endParaRPr lang="ru-RU" sz="2000" b="0" dirty="0">
              <a:solidFill>
                <a:srgbClr val="008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Взрослый студент"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205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8B92E-A1DC-8037-66D4-9BA8CE7A7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C54CC6-69C6-BAB4-2CA4-C91B2A9BB673}"/>
              </a:ext>
            </a:extLst>
          </p:cNvPr>
          <p:cNvSpPr txBox="1"/>
          <p:nvPr/>
        </p:nvSpPr>
        <p:spPr>
          <a:xfrm>
            <a:off x="5486400" y="371594"/>
            <a:ext cx="8138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Циклы</a:t>
            </a:r>
            <a:endParaRPr lang="en-US" sz="2400" b="1" i="0" dirty="0">
              <a:solidFill>
                <a:srgbClr val="C00000"/>
              </a:solidFill>
              <a:effectLst/>
              <a:latin typeface="Google Sans Tex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4CF91C-5C18-2010-D6C7-DD35235C25F8}"/>
              </a:ext>
            </a:extLst>
          </p:cNvPr>
          <p:cNvSpPr txBox="1"/>
          <p:nvPr/>
        </p:nvSpPr>
        <p:spPr>
          <a:xfrm>
            <a:off x="2926080" y="1175296"/>
            <a:ext cx="8138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Цикл позволяет многократно выполнять блок кода. Это незаменимо для обработки больших объемов данных, перебора элементов списка или обработки данных по строкам.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5B146B-482B-673D-7A0D-389A0C072767}"/>
              </a:ext>
            </a:extLst>
          </p:cNvPr>
          <p:cNvSpPr txBox="1"/>
          <p:nvPr/>
        </p:nvSpPr>
        <p:spPr>
          <a:xfrm>
            <a:off x="2926080" y="2581394"/>
            <a:ext cx="681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2400" b="1" i="0" dirty="0">
                <a:solidFill>
                  <a:srgbClr val="C00000"/>
                </a:solidFill>
                <a:effectLst/>
                <a:latin typeface="Google Sans Text"/>
              </a:rPr>
              <a:t>Цикл </a:t>
            </a:r>
            <a:r>
              <a:rPr lang="en-US" sz="2400" b="1" i="0" dirty="0">
                <a:solidFill>
                  <a:srgbClr val="C00000"/>
                </a:solidFill>
                <a:effectLst/>
                <a:latin typeface="Google Sans Text"/>
              </a:rPr>
              <a:t>for: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94FCF3-CD03-2592-600F-80A9A7072877}"/>
              </a:ext>
            </a:extLst>
          </p:cNvPr>
          <p:cNvSpPr txBox="1"/>
          <p:nvPr/>
        </p:nvSpPr>
        <p:spPr>
          <a:xfrm>
            <a:off x="2926080" y="3677782"/>
            <a:ext cx="68122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Последовательность: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Список, кортеж, строка, диапазон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range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(), или любой другой итерируемый объект.</a:t>
            </a:r>
          </a:p>
          <a:p>
            <a:pPr algn="l">
              <a:buNone/>
            </a:pPr>
            <a:endParaRPr lang="ru-RU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переменная: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На каждой итерации цикла принимает значение следующего элемента из последовательности.</a:t>
            </a:r>
          </a:p>
        </p:txBody>
      </p:sp>
    </p:spTree>
    <p:extLst>
      <p:ext uri="{BB962C8B-B14F-4D97-AF65-F5344CB8AC3E}">
        <p14:creationId xmlns:p14="http://schemas.microsoft.com/office/powerpoint/2010/main" val="1195906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30E20-3BDB-96A2-53BC-92F88D9A0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88AE7BB-9373-CF0E-8A25-A2B02799B007}"/>
              </a:ext>
            </a:extLst>
          </p:cNvPr>
          <p:cNvSpPr txBox="1"/>
          <p:nvPr/>
        </p:nvSpPr>
        <p:spPr>
          <a:xfrm>
            <a:off x="4815840" y="325874"/>
            <a:ext cx="681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2400" b="1" i="0" dirty="0">
                <a:solidFill>
                  <a:srgbClr val="C00000"/>
                </a:solidFill>
                <a:effectLst/>
                <a:latin typeface="Google Sans Text"/>
              </a:rPr>
              <a:t>Цикл </a:t>
            </a:r>
            <a:r>
              <a:rPr lang="en-US" sz="2400" b="1" i="0" dirty="0">
                <a:solidFill>
                  <a:srgbClr val="C00000"/>
                </a:solidFill>
                <a:effectLst/>
                <a:latin typeface="Google Sans Text"/>
              </a:rPr>
              <a:t>for: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1A5C13F-9A23-FEFC-E8C7-3FDCAC194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265" y="1515426"/>
            <a:ext cx="9565856" cy="168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4D959E-3309-43D1-63C4-77963552395B}"/>
              </a:ext>
            </a:extLst>
          </p:cNvPr>
          <p:cNvSpPr txBox="1"/>
          <p:nvPr/>
        </p:nvSpPr>
        <p:spPr>
          <a:xfrm>
            <a:off x="2443265" y="3923822"/>
            <a:ext cx="8961120" cy="130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price =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139990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цена взятая с рассрочкой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months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9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варианты рассрочки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При рассрочке на"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months,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мес. - '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price/months)</a:t>
            </a:r>
          </a:p>
        </p:txBody>
      </p:sp>
    </p:spTree>
    <p:extLst>
      <p:ext uri="{BB962C8B-B14F-4D97-AF65-F5344CB8AC3E}">
        <p14:creationId xmlns:p14="http://schemas.microsoft.com/office/powerpoint/2010/main" val="2579257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3104F-A8CC-ED09-0426-F8BAD2CC4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5D31AAA-4DE7-84DA-721E-5DF6E32D93E9}"/>
              </a:ext>
            </a:extLst>
          </p:cNvPr>
          <p:cNvSpPr txBox="1"/>
          <p:nvPr/>
        </p:nvSpPr>
        <p:spPr>
          <a:xfrm>
            <a:off x="4770120" y="417314"/>
            <a:ext cx="681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2400" b="1" i="0" dirty="0">
                <a:solidFill>
                  <a:srgbClr val="C00000"/>
                </a:solidFill>
                <a:effectLst/>
                <a:latin typeface="Google Sans Text"/>
              </a:rPr>
              <a:t>Функция </a:t>
            </a:r>
            <a:r>
              <a:rPr lang="en-US" sz="2400" b="1" i="0" dirty="0">
                <a:solidFill>
                  <a:srgbClr val="C00000"/>
                </a:solidFill>
                <a:effectLst/>
                <a:latin typeface="Google Sans Text"/>
              </a:rPr>
              <a:t>range()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C07BBA-DD73-AE31-A274-51D8001FC001}"/>
              </a:ext>
            </a:extLst>
          </p:cNvPr>
          <p:cNvSpPr txBox="1"/>
          <p:nvPr/>
        </p:nvSpPr>
        <p:spPr>
          <a:xfrm>
            <a:off x="2926080" y="13164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Создает последовательность чисел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81FCB8-5A76-0124-5FAA-8C105ADE5FC7}"/>
              </a:ext>
            </a:extLst>
          </p:cNvPr>
          <p:cNvSpPr txBox="1"/>
          <p:nvPr/>
        </p:nvSpPr>
        <p:spPr>
          <a:xfrm>
            <a:off x="2179320" y="1728460"/>
            <a:ext cx="90220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Функция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range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() может принимать от одного до трех параметров: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range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(n),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range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(n, m),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range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(n, m, k) </a:t>
            </a:r>
          </a:p>
          <a:p>
            <a:pPr marL="715963" indent="-350838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первый параметр – это старт последовательности (включительно); </a:t>
            </a:r>
          </a:p>
          <a:p>
            <a:pPr marL="715963" indent="-350838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второй параметр – это стоп последовательности (не включительно); </a:t>
            </a:r>
          </a:p>
          <a:p>
            <a:pPr marL="715963" indent="-350838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третий параметр – это величина шага.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marL="342900" indent="-342900" algn="l">
              <a:buFont typeface="+mj-lt"/>
              <a:buAutoNum type="arabicPeriod" startAt="2"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Функция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range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() может генерировать только целые числа, включая отрицательные.</a:t>
            </a:r>
          </a:p>
          <a:p>
            <a:pPr algn="l">
              <a:buFont typeface="+mj-lt"/>
              <a:buAutoNum type="arabicPeriod" startAt="2"/>
            </a:pPr>
            <a:endParaRPr lang="ru-RU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>
              <a:buFont typeface="+mj-lt"/>
              <a:buAutoNum type="arabicPeriod" startAt="2"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Величина шага не может равняться нулю. Следующий код:</a:t>
            </a:r>
          </a:p>
          <a:p>
            <a:pPr marL="441325" algn="l">
              <a:buNone/>
            </a:pP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for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i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in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range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(1, 10, 0):</a:t>
            </a:r>
          </a:p>
          <a:p>
            <a:pPr marL="441325" algn="l">
              <a:buNone/>
            </a:pPr>
            <a:r>
              <a:rPr lang="ru-RU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ru-RU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(i)</a:t>
            </a:r>
            <a:endParaRPr lang="ru-RU" b="0" i="0" dirty="0">
              <a:solidFill>
                <a:srgbClr val="1F1F1F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приведет к ошибке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ValueError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: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range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()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arg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3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must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not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be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zero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3090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3377C-4C5E-EF57-69FE-45A43FFB5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247103B-F933-F796-15B5-4CC955758B39}"/>
              </a:ext>
            </a:extLst>
          </p:cNvPr>
          <p:cNvSpPr txBox="1"/>
          <p:nvPr/>
        </p:nvSpPr>
        <p:spPr>
          <a:xfrm>
            <a:off x="4770120" y="341114"/>
            <a:ext cx="681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2400" b="1" i="0" dirty="0">
                <a:solidFill>
                  <a:srgbClr val="C00000"/>
                </a:solidFill>
                <a:effectLst/>
                <a:latin typeface="Google Sans Text"/>
              </a:rPr>
              <a:t>Функция </a:t>
            </a:r>
            <a:r>
              <a:rPr lang="en-US" sz="2400" b="1" i="0" dirty="0">
                <a:solidFill>
                  <a:srgbClr val="C00000"/>
                </a:solidFill>
                <a:effectLst/>
                <a:latin typeface="Google Sans Text"/>
              </a:rPr>
              <a:t>range()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E85A30-702C-C08C-1007-3B4988DE8BA6}"/>
              </a:ext>
            </a:extLst>
          </p:cNvPr>
          <p:cNvSpPr txBox="1"/>
          <p:nvPr/>
        </p:nvSpPr>
        <p:spPr>
          <a:xfrm>
            <a:off x="2926080" y="13164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Создает последовательность чисел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4E1776-B883-966E-3BD2-BA74AD1E5A22}"/>
              </a:ext>
            </a:extLst>
          </p:cNvPr>
          <p:cNvSpPr txBox="1"/>
          <p:nvPr/>
        </p:nvSpPr>
        <p:spPr>
          <a:xfrm>
            <a:off x="3718560" y="2177655"/>
            <a:ext cx="6096000" cy="483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1102C6-E65E-DFB9-FAF1-72C9B1F5B425}"/>
              </a:ext>
            </a:extLst>
          </p:cNvPr>
          <p:cNvSpPr txBox="1"/>
          <p:nvPr/>
        </p:nvSpPr>
        <p:spPr>
          <a:xfrm>
            <a:off x="3718560" y="3404475"/>
            <a:ext cx="6096000" cy="483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15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F2EB99-C328-01D4-B4A9-A7C3B57C696F}"/>
              </a:ext>
            </a:extLst>
          </p:cNvPr>
          <p:cNvSpPr txBox="1"/>
          <p:nvPr/>
        </p:nvSpPr>
        <p:spPr>
          <a:xfrm>
            <a:off x="3718560" y="4631295"/>
            <a:ext cx="6096000" cy="483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20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-2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1036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84662-9914-FB57-C7C5-BE4086E7A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0224060-ED29-0908-B798-D10D51F1AE8C}"/>
              </a:ext>
            </a:extLst>
          </p:cNvPr>
          <p:cNvSpPr txBox="1"/>
          <p:nvPr/>
        </p:nvSpPr>
        <p:spPr>
          <a:xfrm>
            <a:off x="4770120" y="463034"/>
            <a:ext cx="681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2400" b="1" i="0" dirty="0">
                <a:solidFill>
                  <a:srgbClr val="C00000"/>
                </a:solidFill>
                <a:effectLst/>
                <a:latin typeface="Google Sans Text"/>
              </a:rPr>
              <a:t>Функция </a:t>
            </a:r>
            <a:r>
              <a:rPr lang="en-US" sz="2400" b="1" i="0" dirty="0">
                <a:solidFill>
                  <a:srgbClr val="C00000"/>
                </a:solidFill>
                <a:effectLst/>
                <a:latin typeface="Google Sans Text"/>
              </a:rPr>
              <a:t>range()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77D0DF-75DC-FF84-F626-9CECB72C9998}"/>
              </a:ext>
            </a:extLst>
          </p:cNvPr>
          <p:cNvSpPr txBox="1"/>
          <p:nvPr/>
        </p:nvSpPr>
        <p:spPr>
          <a:xfrm>
            <a:off x="2240280" y="1247447"/>
            <a:ext cx="9189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Подсчет количества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– это очень частый сценарий. Он состоит из двух шагов: </a:t>
            </a:r>
          </a:p>
          <a:p>
            <a:pPr marL="342900" indent="-342900">
              <a:buAutoNum type="arabicPeriod"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Создание переменной счетчика и придание ей первоначального значения: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counter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= 0; </a:t>
            </a:r>
          </a:p>
          <a:p>
            <a:pPr marL="342900" indent="-342900">
              <a:buAutoNum type="arabicPeriod"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Увеличение переменной счетчика на 1: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counter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=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counter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+ 1.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9064BC-AC62-0340-83FC-9AB3BFE778FA}"/>
              </a:ext>
            </a:extLst>
          </p:cNvPr>
          <p:cNvSpPr txBox="1"/>
          <p:nvPr/>
        </p:nvSpPr>
        <p:spPr>
          <a:xfrm>
            <a:off x="2758440" y="2493526"/>
            <a:ext cx="9067800" cy="328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пример счетчика</a:t>
            </a: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counter =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</a:t>
            </a:r>
            <a:r>
              <a:rPr lang="en-US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создаем до цикла</a:t>
            </a: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num = </a:t>
            </a:r>
            <a:r>
              <a:rPr lang="en-US" sz="2000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input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num &gt;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counter = counter +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</a:t>
            </a:r>
            <a:r>
              <a:rPr lang="en-US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прибавляем к счетчику</a:t>
            </a: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ru-RU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Было введено'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counter,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ru-RU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чисел, больших 10.'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840666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9F955-91CE-7095-DB00-9FAB3061B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4AFC95-F745-9FC6-6FBD-664149152513}"/>
              </a:ext>
            </a:extLst>
          </p:cNvPr>
          <p:cNvSpPr txBox="1"/>
          <p:nvPr/>
        </p:nvSpPr>
        <p:spPr>
          <a:xfrm>
            <a:off x="4099560" y="387280"/>
            <a:ext cx="6812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i="0" dirty="0">
                <a:solidFill>
                  <a:srgbClr val="C00000"/>
                </a:solidFill>
                <a:effectLst/>
                <a:latin typeface="Google Sans Text"/>
              </a:rPr>
              <a:t>Функция </a:t>
            </a:r>
            <a:r>
              <a:rPr lang="en-US" sz="2400" b="1" i="0" dirty="0">
                <a:solidFill>
                  <a:srgbClr val="C00000"/>
                </a:solidFill>
                <a:effectLst/>
                <a:latin typeface="Google Sans Text"/>
              </a:rPr>
              <a:t>range()</a:t>
            </a:r>
            <a:r>
              <a:rPr lang="ru-RU" sz="2400" b="1" i="0" dirty="0">
                <a:solidFill>
                  <a:srgbClr val="C00000"/>
                </a:solidFill>
                <a:effectLst/>
                <a:latin typeface="Google Sans Text"/>
              </a:rPr>
              <a:t> </a:t>
            </a:r>
            <a:r>
              <a:rPr lang="ru-RU" sz="2400" b="1" dirty="0">
                <a:solidFill>
                  <a:srgbClr val="C00000"/>
                </a:solidFill>
                <a:latin typeface="Google Sans Text"/>
              </a:rPr>
              <a:t>пример 2 счетчиков</a:t>
            </a:r>
          </a:p>
          <a:p>
            <a:pPr algn="l">
              <a:buNone/>
            </a:pPr>
            <a:endParaRPr lang="en-US" sz="2400" b="1" i="0" dirty="0">
              <a:solidFill>
                <a:srgbClr val="C00000"/>
              </a:solidFill>
              <a:effectLst/>
              <a:latin typeface="Google Sans Tex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863073-9605-8A65-F496-4E0D74234CE5}"/>
              </a:ext>
            </a:extLst>
          </p:cNvPr>
          <p:cNvSpPr txBox="1"/>
          <p:nvPr/>
        </p:nvSpPr>
        <p:spPr>
          <a:xfrm>
            <a:off x="2636520" y="802779"/>
            <a:ext cx="9204960" cy="5132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создаем до цикла счетчики</a:t>
            </a: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counter1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counter2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num = </a:t>
            </a:r>
            <a:r>
              <a:rPr lang="en-US" sz="2000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input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num &gt;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counter1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counter1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num ==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counter2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counter2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ru-RU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Было введено'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counter1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ru-RU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чисел, больших 10.'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ru-RU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Было введено'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counter2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ru-RU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нулей.'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667553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A708A-CAEB-BFAE-F7B1-410323B5B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FB78E19-3BF4-5D37-2A19-5A1641ABE248}"/>
              </a:ext>
            </a:extLst>
          </p:cNvPr>
          <p:cNvSpPr txBox="1"/>
          <p:nvPr/>
        </p:nvSpPr>
        <p:spPr>
          <a:xfrm>
            <a:off x="4099560" y="387280"/>
            <a:ext cx="681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i="0" dirty="0">
                <a:solidFill>
                  <a:srgbClr val="C00000"/>
                </a:solidFill>
                <a:effectLst/>
                <a:latin typeface="Google Sans Text"/>
              </a:rPr>
              <a:t>Цикл </a:t>
            </a:r>
            <a:r>
              <a:rPr lang="en-US" sz="2400" b="1" i="0" dirty="0">
                <a:solidFill>
                  <a:srgbClr val="C00000"/>
                </a:solidFill>
                <a:effectLst/>
                <a:latin typeface="Google Sans Text"/>
              </a:rPr>
              <a:t>while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4F7BC-DD4B-BB76-8537-1D7FA82CCE0B}"/>
              </a:ext>
            </a:extLst>
          </p:cNvPr>
          <p:cNvSpPr txBox="1"/>
          <p:nvPr/>
        </p:nvSpPr>
        <p:spPr>
          <a:xfrm>
            <a:off x="2849880" y="1008995"/>
            <a:ext cx="8473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 Text"/>
              </a:rPr>
              <a:t>И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спользуется для многократного выполнения блока кода до тех пор, пока определенное условие остается истинным (True).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E94321-0BDC-7315-836B-332AF22A3520}"/>
              </a:ext>
            </a:extLst>
          </p:cNvPr>
          <p:cNvSpPr txBox="1"/>
          <p:nvPr/>
        </p:nvSpPr>
        <p:spPr>
          <a:xfrm>
            <a:off x="2849880" y="1815376"/>
            <a:ext cx="8610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Цикл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while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продолжает выполняться, пока условие, указанное после ключевого слова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while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, истинно.  Как только условие становится ложным (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False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), цикл завершается, и программа переходит к выполнению кода, следующего после цикла.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869937-1F6F-39F6-91DB-2277107C669B}"/>
              </a:ext>
            </a:extLst>
          </p:cNvPr>
          <p:cNvSpPr txBox="1"/>
          <p:nvPr/>
        </p:nvSpPr>
        <p:spPr>
          <a:xfrm>
            <a:off x="2849880" y="2898756"/>
            <a:ext cx="8610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Ключевые компоненты:</a:t>
            </a:r>
            <a:endParaRPr lang="ru-RU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>
              <a:buNone/>
            </a:pPr>
            <a:r>
              <a:rPr lang="ru-RU" b="1" i="0" dirty="0" err="1">
                <a:solidFill>
                  <a:srgbClr val="1F1F1F"/>
                </a:solidFill>
                <a:effectLst/>
                <a:latin typeface="Google Sans Text"/>
              </a:rPr>
              <a:t>while</a:t>
            </a: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Ключевое слово, обозначающее начало цикла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while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условие: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Выражение, которое оценивается как True или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False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. Цикл выполняется, пока условие True.</a:t>
            </a:r>
          </a:p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тело цикла: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Блок кода (одна или несколько строк), который выполняется на каждой итерации цикла.</a:t>
            </a:r>
          </a:p>
          <a:p>
            <a:pPr algn="l">
              <a:buNone/>
            </a:pPr>
            <a:r>
              <a:rPr lang="ru-RU" b="1" i="0" dirty="0" err="1">
                <a:solidFill>
                  <a:srgbClr val="1F1F1F"/>
                </a:solidFill>
                <a:effectLst/>
                <a:latin typeface="Google Sans Text"/>
              </a:rPr>
              <a:t>изменение_условия</a:t>
            </a: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Критически важная часть цикла. Внутри тела цикла необходимо изменять значения переменных, участвующих в условии. Если этого не сделать, условие всегда будет True, и цикл будет выполняться бесконечно (и это нежелательно)</a:t>
            </a:r>
          </a:p>
        </p:txBody>
      </p:sp>
    </p:spTree>
    <p:extLst>
      <p:ext uri="{BB962C8B-B14F-4D97-AF65-F5344CB8AC3E}">
        <p14:creationId xmlns:p14="http://schemas.microsoft.com/office/powerpoint/2010/main" val="2342642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87EB3-1A13-8DA6-3D5C-FBC44BFA3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11CCE90-9E2E-2F70-1D10-1B6F2A7005EA}"/>
              </a:ext>
            </a:extLst>
          </p:cNvPr>
          <p:cNvSpPr txBox="1"/>
          <p:nvPr/>
        </p:nvSpPr>
        <p:spPr>
          <a:xfrm>
            <a:off x="4099560" y="387280"/>
            <a:ext cx="681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i="0" dirty="0">
                <a:solidFill>
                  <a:srgbClr val="C00000"/>
                </a:solidFill>
                <a:effectLst/>
                <a:latin typeface="Google Sans Text"/>
              </a:rPr>
              <a:t>Цикл </a:t>
            </a:r>
            <a:r>
              <a:rPr lang="en-US" sz="2400" b="1" i="0" dirty="0">
                <a:solidFill>
                  <a:srgbClr val="C00000"/>
                </a:solidFill>
                <a:effectLst/>
                <a:latin typeface="Google Sans Text"/>
              </a:rPr>
              <a:t>while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C4D6ABB0-88A7-013A-AC0D-ECCD4A6D6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945" y="1490663"/>
            <a:ext cx="10836055" cy="3645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9108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BB4D5-03A2-C147-E599-51D6B433A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CC53797-F0FD-9F37-0F37-9726055B471C}"/>
              </a:ext>
            </a:extLst>
          </p:cNvPr>
          <p:cNvSpPr txBox="1"/>
          <p:nvPr/>
        </p:nvSpPr>
        <p:spPr>
          <a:xfrm>
            <a:off x="4099560" y="387280"/>
            <a:ext cx="681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i="0" dirty="0">
                <a:solidFill>
                  <a:srgbClr val="C00000"/>
                </a:solidFill>
                <a:effectLst/>
                <a:latin typeface="Google Sans Text"/>
              </a:rPr>
              <a:t>Цикл </a:t>
            </a:r>
            <a:r>
              <a:rPr lang="en-US" sz="2400" b="1" i="0" dirty="0">
                <a:solidFill>
                  <a:srgbClr val="C00000"/>
                </a:solidFill>
                <a:effectLst/>
                <a:latin typeface="Google Sans Text"/>
              </a:rPr>
              <a:t>while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8D1A0A-09B4-110F-56DE-929C2570717C}"/>
              </a:ext>
            </a:extLst>
          </p:cNvPr>
          <p:cNvSpPr txBox="1"/>
          <p:nvPr/>
        </p:nvSpPr>
        <p:spPr>
          <a:xfrm>
            <a:off x="2667000" y="1786242"/>
            <a:ext cx="9204960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ru-RU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Инициализируем переменную-счетчик здесь ставим 1</a:t>
            </a: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ru-RU" sz="2000" b="0" dirty="0" err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&lt;= </a:t>
            </a:r>
            <a:r>
              <a:rPr lang="ru-RU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 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Условие: пока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count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меньше или равно 5</a:t>
            </a: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ru-RU" sz="2000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Выводим значение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count</a:t>
            </a: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 </a:t>
            </a:r>
            <a:r>
              <a:rPr lang="ru-RU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Увеличиваем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count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на 1 </a:t>
            </a:r>
          </a:p>
          <a:p>
            <a:pPr>
              <a:lnSpc>
                <a:spcPct val="150000"/>
              </a:lnSpc>
              <a:buNone/>
            </a:pPr>
            <a:r>
              <a:rPr lang="ru-RU" sz="20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</a:rPr>
              <a:t>(изменение условия) !!! это важно!!!</a:t>
            </a:r>
          </a:p>
        </p:txBody>
      </p:sp>
    </p:spTree>
    <p:extLst>
      <p:ext uri="{BB962C8B-B14F-4D97-AF65-F5344CB8AC3E}">
        <p14:creationId xmlns:p14="http://schemas.microsoft.com/office/powerpoint/2010/main" val="4608282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3B81E-A716-7EA0-30AE-E97DEE30A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D931521-3887-D41A-3124-413033DE21E0}"/>
              </a:ext>
            </a:extLst>
          </p:cNvPr>
          <p:cNvSpPr txBox="1"/>
          <p:nvPr/>
        </p:nvSpPr>
        <p:spPr>
          <a:xfrm>
            <a:off x="4099560" y="326320"/>
            <a:ext cx="681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Google Sans Text"/>
              </a:rPr>
              <a:t>break </a:t>
            </a:r>
            <a:r>
              <a:rPr lang="ru-RU" sz="2400" b="1" dirty="0">
                <a:solidFill>
                  <a:srgbClr val="C00000"/>
                </a:solidFill>
                <a:latin typeface="Google Sans Text"/>
              </a:rPr>
              <a:t>и </a:t>
            </a:r>
            <a:r>
              <a:rPr lang="en-US" sz="2400" b="1" dirty="0">
                <a:solidFill>
                  <a:srgbClr val="C00000"/>
                </a:solidFill>
                <a:latin typeface="Google Sans Text"/>
              </a:rPr>
              <a:t>continue, pass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8AA5C-4FA0-986A-139B-9EB57E6A5B72}"/>
              </a:ext>
            </a:extLst>
          </p:cNvPr>
          <p:cNvSpPr txBox="1"/>
          <p:nvPr/>
        </p:nvSpPr>
        <p:spPr>
          <a:xfrm>
            <a:off x="2667000" y="1786242"/>
            <a:ext cx="9204960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ru-RU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Инициализируем переменную-счетчик здесь ставим 1</a:t>
            </a: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ru-RU" sz="2000" b="0" dirty="0" err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&lt;= </a:t>
            </a:r>
            <a:r>
              <a:rPr lang="ru-RU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 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Условие: пока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count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меньше или равно 5</a:t>
            </a: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ru-RU" sz="2000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Выводим значение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count</a:t>
            </a: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 </a:t>
            </a:r>
            <a:r>
              <a:rPr lang="ru-RU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Увеличиваем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count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на 1 </a:t>
            </a:r>
          </a:p>
          <a:p>
            <a:pPr>
              <a:lnSpc>
                <a:spcPct val="150000"/>
              </a:lnSpc>
              <a:buNone/>
            </a:pPr>
            <a:r>
              <a:rPr lang="ru-RU" sz="20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</a:rPr>
              <a:t>(изменение условия) !!! это важно!!!</a:t>
            </a:r>
          </a:p>
        </p:txBody>
      </p:sp>
    </p:spTree>
    <p:extLst>
      <p:ext uri="{BB962C8B-B14F-4D97-AF65-F5344CB8AC3E}">
        <p14:creationId xmlns:p14="http://schemas.microsoft.com/office/powerpoint/2010/main" val="22940204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995B3-8174-306B-F070-0E1A55D5B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526CC4-99ED-D1D5-AE7B-5796F85DD1AA}"/>
              </a:ext>
            </a:extLst>
          </p:cNvPr>
          <p:cNvSpPr txBox="1"/>
          <p:nvPr/>
        </p:nvSpPr>
        <p:spPr>
          <a:xfrm>
            <a:off x="4099560" y="326320"/>
            <a:ext cx="681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Google Sans Text"/>
              </a:rPr>
              <a:t>break </a:t>
            </a:r>
            <a:r>
              <a:rPr lang="ru-RU" sz="2400" b="1" dirty="0">
                <a:solidFill>
                  <a:srgbClr val="C00000"/>
                </a:solidFill>
                <a:latin typeface="Google Sans Text"/>
              </a:rPr>
              <a:t>и </a:t>
            </a:r>
            <a:r>
              <a:rPr lang="en-US" sz="2400" b="1" dirty="0">
                <a:solidFill>
                  <a:srgbClr val="C00000"/>
                </a:solidFill>
                <a:latin typeface="Google Sans Text"/>
              </a:rPr>
              <a:t>continue, pass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6CAA39-F282-4D70-74B7-215BF84FEF08}"/>
              </a:ext>
            </a:extLst>
          </p:cNvPr>
          <p:cNvSpPr txBox="1"/>
          <p:nvPr/>
        </p:nvSpPr>
        <p:spPr>
          <a:xfrm>
            <a:off x="2682240" y="1700659"/>
            <a:ext cx="87782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Оператор </a:t>
            </a:r>
            <a:r>
              <a:rPr lang="ru-RU" b="1" i="0" dirty="0" err="1">
                <a:solidFill>
                  <a:srgbClr val="1F1F1F"/>
                </a:solidFill>
                <a:effectLst/>
                <a:latin typeface="Google Sans Text"/>
              </a:rPr>
              <a:t>break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- Прерывает выполнение цикла досрочно</a:t>
            </a:r>
          </a:p>
          <a:p>
            <a:pPr algn="l">
              <a:buNone/>
            </a:pPr>
            <a:endParaRPr lang="ru-RU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Оператор </a:t>
            </a:r>
            <a:r>
              <a:rPr lang="ru-RU" b="1" i="0" dirty="0" err="1">
                <a:solidFill>
                  <a:srgbClr val="1F1F1F"/>
                </a:solidFill>
                <a:effectLst/>
                <a:latin typeface="Google Sans Text"/>
              </a:rPr>
              <a:t>continue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— оператор, который начинает следующий проход цикла, минуя оставшееся тело цикла (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for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или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while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).</a:t>
            </a:r>
          </a:p>
          <a:p>
            <a:pPr algn="l">
              <a:buNone/>
            </a:pPr>
            <a:endParaRPr lang="ru-RU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Оператор </a:t>
            </a:r>
            <a:r>
              <a:rPr lang="ru-RU" b="1" i="0" dirty="0" err="1">
                <a:solidFill>
                  <a:srgbClr val="1F1F1F"/>
                </a:solidFill>
                <a:effectLst/>
                <a:latin typeface="Google Sans Text"/>
              </a:rPr>
              <a:t>pass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— оператор-заглушка, равноценный отсутствию операции. При его исполнении ничего не происходит, поэтому этот оператор может использоваться в качестве заглушки там, где это синтаксически необходимо. Например, в инструкциях, в которых тело является обязательным: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def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,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except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и прочее.</a:t>
            </a:r>
          </a:p>
        </p:txBody>
      </p:sp>
    </p:spTree>
    <p:extLst>
      <p:ext uri="{BB962C8B-B14F-4D97-AF65-F5344CB8AC3E}">
        <p14:creationId xmlns:p14="http://schemas.microsoft.com/office/powerpoint/2010/main" val="16790002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991EE-45FD-6EC7-7748-2FABB6BE3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7948097-B4F6-999C-1F6E-5ABF4FCE7AE4}"/>
              </a:ext>
            </a:extLst>
          </p:cNvPr>
          <p:cNvSpPr txBox="1"/>
          <p:nvPr/>
        </p:nvSpPr>
        <p:spPr>
          <a:xfrm>
            <a:off x="4099560" y="326320"/>
            <a:ext cx="681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Google Sans Text"/>
              </a:rPr>
              <a:t>break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DABCC9-5A70-FE85-22EA-B5B788F2CB24}"/>
              </a:ext>
            </a:extLst>
          </p:cNvPr>
          <p:cNvSpPr txBox="1"/>
          <p:nvPr/>
        </p:nvSpPr>
        <p:spPr>
          <a:xfrm>
            <a:off x="3063240" y="1730486"/>
            <a:ext cx="8382000" cy="374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numbers = [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8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9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&lt; </a:t>
            </a:r>
            <a:r>
              <a:rPr lang="en-US" sz="2000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len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(numbers):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numbers[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&gt;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break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</a:t>
            </a:r>
            <a:r>
              <a:rPr lang="en-US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Прерываем цикл, если встречаем число </a:t>
            </a:r>
          </a:p>
          <a:p>
            <a:pPr>
              <a:lnSpc>
                <a:spcPct val="150000"/>
              </a:lnSpc>
              <a:buNone/>
            </a:pPr>
            <a:r>
              <a:rPr lang="ru-RU" sz="2000" dirty="0">
                <a:solidFill>
                  <a:srgbClr val="008000"/>
                </a:solidFill>
                <a:latin typeface="Courier New" panose="02070309020205020404" pitchFamily="49" charset="0"/>
              </a:rPr>
              <a:t>                          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больше 5</a:t>
            </a: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(numbers[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+=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6456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4DA3C-1A72-7279-F557-2D8C76D0F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D735D81-0490-D1D3-A983-1501606ED49E}"/>
              </a:ext>
            </a:extLst>
          </p:cNvPr>
          <p:cNvSpPr txBox="1"/>
          <p:nvPr/>
        </p:nvSpPr>
        <p:spPr>
          <a:xfrm>
            <a:off x="4099560" y="326320"/>
            <a:ext cx="681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Google Sans Text"/>
              </a:rPr>
              <a:t>continue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0B4336-F229-82C1-C557-97A8D40AE414}"/>
              </a:ext>
            </a:extLst>
          </p:cNvPr>
          <p:cNvSpPr txBox="1"/>
          <p:nvPr/>
        </p:nvSpPr>
        <p:spPr>
          <a:xfrm>
            <a:off x="2849880" y="1555410"/>
            <a:ext cx="8564880" cy="374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numbers = [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8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9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&lt; </a:t>
            </a:r>
            <a:r>
              <a:rPr lang="en-US" sz="2000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len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(numbers):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+=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numbers[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-1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%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 </a:t>
            </a:r>
            <a:r>
              <a:rPr lang="en-US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Если число четное</a:t>
            </a: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sz="20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continue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</a:t>
            </a:r>
            <a:r>
              <a:rPr lang="en-US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Переходим к следующей итерации, </a:t>
            </a:r>
          </a:p>
          <a:p>
            <a:pPr>
              <a:lnSpc>
                <a:spcPct val="150000"/>
              </a:lnSpc>
              <a:buNone/>
            </a:pPr>
            <a:r>
              <a:rPr lang="ru-RU" sz="2000" dirty="0">
                <a:solidFill>
                  <a:srgbClr val="008000"/>
                </a:solidFill>
                <a:latin typeface="Courier New" panose="02070309020205020404" pitchFamily="49" charset="0"/>
              </a:rPr>
              <a:t>                            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пропуская </a:t>
            </a:r>
            <a:r>
              <a:rPr lang="en-US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print</a:t>
            </a: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(numbers[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-1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1208084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1FC01-E830-4566-2369-F51E68226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3B6FE6A-F1D4-A065-9BF7-4DCBB0A76441}"/>
              </a:ext>
            </a:extLst>
          </p:cNvPr>
          <p:cNvSpPr txBox="1"/>
          <p:nvPr/>
        </p:nvSpPr>
        <p:spPr>
          <a:xfrm>
            <a:off x="4099560" y="326320"/>
            <a:ext cx="681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Google Sans Text"/>
              </a:rPr>
              <a:t>pass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B8CB3E-3D75-A518-4B83-D49B52AF3613}"/>
              </a:ext>
            </a:extLst>
          </p:cNvPr>
          <p:cNvSpPr txBox="1"/>
          <p:nvPr/>
        </p:nvSpPr>
        <p:spPr>
          <a:xfrm>
            <a:off x="3063240" y="1560883"/>
            <a:ext cx="9128760" cy="2966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word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ru-RU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input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'Введите слово: '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ru-RU" b="0" dirty="0" err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 </a:t>
            </a:r>
            <a:r>
              <a:rPr lang="ru-RU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word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ru-RU" b="0" dirty="0" err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 == 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'я'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ru-RU" b="0" dirty="0" err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pass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 пропустить блок и не делать ни чего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ru-RU" b="0" dirty="0" err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ru-RU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'Цикл завершен, запрещенных букв не обнаружено'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ru-RU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'Проверка завершена'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137909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FDEFF-153B-7E95-AC0B-FE6F92DED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869786F-C85E-2690-2F46-5AB821903571}"/>
              </a:ext>
            </a:extLst>
          </p:cNvPr>
          <p:cNvSpPr txBox="1"/>
          <p:nvPr/>
        </p:nvSpPr>
        <p:spPr>
          <a:xfrm>
            <a:off x="4099560" y="326320"/>
            <a:ext cx="681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  <a:latin typeface="Google Sans Text"/>
              </a:rPr>
              <a:t>Функции</a:t>
            </a:r>
            <a:endParaRPr lang="en-US" sz="2400" b="1" dirty="0">
              <a:solidFill>
                <a:srgbClr val="C00000"/>
              </a:solidFill>
              <a:latin typeface="Google Sans Tex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00A3B9-F03A-59E1-EE65-35745488079B}"/>
              </a:ext>
            </a:extLst>
          </p:cNvPr>
          <p:cNvSpPr txBox="1"/>
          <p:nvPr/>
        </p:nvSpPr>
        <p:spPr>
          <a:xfrm>
            <a:off x="2667000" y="1065937"/>
            <a:ext cx="9311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Функции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— это один из фундаментальных строительных блоков языка программирования.</a:t>
            </a:r>
          </a:p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Функцию можно представить как мини-программу внутри большой программы. Она выполняет определенную задачу, может принимать входные данные (аргументы), обрабатывать их и возвращать результат.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8DD7F0-E3DC-CC6D-2708-5AD583C3FC64}"/>
              </a:ext>
            </a:extLst>
          </p:cNvPr>
          <p:cNvSpPr txBox="1"/>
          <p:nvPr/>
        </p:nvSpPr>
        <p:spPr>
          <a:xfrm>
            <a:off x="2667000" y="2544218"/>
            <a:ext cx="882396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Зачем нужны функции?</a:t>
            </a:r>
          </a:p>
          <a:p>
            <a:pPr algn="l">
              <a:buNone/>
            </a:pPr>
            <a:endParaRPr lang="ru-RU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Повторное использование кода: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Если вам нужно выполнить один и тот же блок кода несколько раз в разных местах программы, вы можете определить его как функцию и вызывать эту функцию, когда необходимо.</a:t>
            </a:r>
          </a:p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Структурирование кода: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Разбиение программы на функции позволяет разбить сложную задачу на более мелкие, управляемые части. Это делает код более понятным и легким для понимания.</a:t>
            </a:r>
          </a:p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Абстракция: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Функция может скрыть детали реализации определенной задачи. Пользователю функции не нужно знать, как именно она работает внутри, достаточно знать, что она делает и как ее использовать.</a:t>
            </a:r>
          </a:p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Упрощение отладки: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Если программа состоит из небольших функций, легче найти и исправить ошибки.</a:t>
            </a:r>
          </a:p>
        </p:txBody>
      </p:sp>
    </p:spTree>
    <p:extLst>
      <p:ext uri="{BB962C8B-B14F-4D97-AF65-F5344CB8AC3E}">
        <p14:creationId xmlns:p14="http://schemas.microsoft.com/office/powerpoint/2010/main" val="17670781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F35C2-B672-BDFD-154A-96F847E6D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7B46C48-F1AF-7A53-D3FC-19AC67D1486C}"/>
              </a:ext>
            </a:extLst>
          </p:cNvPr>
          <p:cNvSpPr txBox="1"/>
          <p:nvPr/>
        </p:nvSpPr>
        <p:spPr>
          <a:xfrm>
            <a:off x="4099560" y="326320"/>
            <a:ext cx="681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  <a:latin typeface="Google Sans Text"/>
              </a:rPr>
              <a:t>Функции</a:t>
            </a:r>
            <a:endParaRPr lang="en-US" sz="2400" b="1" dirty="0">
              <a:solidFill>
                <a:srgbClr val="C00000"/>
              </a:solidFill>
              <a:latin typeface="Google Sans Tex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731AD6-3E5E-15C2-FD37-1F7ED17D8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60320" y="2085677"/>
            <a:ext cx="9492028" cy="222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7300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00B90-E20A-E173-24ED-E956417BA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178E876-A8CC-4465-1744-6A97B1CCD4F9}"/>
              </a:ext>
            </a:extLst>
          </p:cNvPr>
          <p:cNvSpPr txBox="1"/>
          <p:nvPr/>
        </p:nvSpPr>
        <p:spPr>
          <a:xfrm>
            <a:off x="4099560" y="326320"/>
            <a:ext cx="681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  <a:latin typeface="Google Sans Text"/>
              </a:rPr>
              <a:t>Функции</a:t>
            </a:r>
            <a:endParaRPr lang="en-US" sz="2400" b="1" dirty="0">
              <a:solidFill>
                <a:srgbClr val="C00000"/>
              </a:solidFill>
              <a:latin typeface="Google Sans Tex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C9D021-7503-3877-5050-B686E89B8976}"/>
              </a:ext>
            </a:extLst>
          </p:cNvPr>
          <p:cNvSpPr txBox="1"/>
          <p:nvPr/>
        </p:nvSpPr>
        <p:spPr>
          <a:xfrm>
            <a:off x="3124200" y="1155620"/>
            <a:ext cx="804672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 err="1">
                <a:solidFill>
                  <a:srgbClr val="1F1F1F"/>
                </a:solidFill>
                <a:effectLst/>
                <a:latin typeface="Google Sans Text"/>
              </a:rPr>
              <a:t>def</a:t>
            </a: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- Ключевое слово, обозначающее начало определения функции.</a:t>
            </a:r>
          </a:p>
          <a:p>
            <a:pPr algn="l">
              <a:buNone/>
            </a:pPr>
            <a:endParaRPr lang="ru-RU" b="1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>
              <a:buNone/>
            </a:pPr>
            <a:r>
              <a:rPr lang="ru-RU" b="1" i="0" dirty="0" err="1">
                <a:solidFill>
                  <a:srgbClr val="1F1F1F"/>
                </a:solidFill>
                <a:effectLst/>
                <a:latin typeface="Google Sans Text"/>
              </a:rPr>
              <a:t>имя_функции</a:t>
            </a: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- Имя, по которому вы будете вызывать функцию. Имя должно быть описательным и отражать задачу, которую выполняет функция.</a:t>
            </a:r>
          </a:p>
          <a:p>
            <a:pPr algn="l">
              <a:buNone/>
            </a:pPr>
            <a:endParaRPr lang="ru-RU" b="1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(</a:t>
            </a:r>
            <a:r>
              <a:rPr lang="ru-RU" b="1" i="0" dirty="0" err="1">
                <a:solidFill>
                  <a:srgbClr val="1F1F1F"/>
                </a:solidFill>
                <a:effectLst/>
                <a:latin typeface="Google Sans Text"/>
              </a:rPr>
              <a:t>аргумент1</a:t>
            </a: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, </a:t>
            </a:r>
            <a:r>
              <a:rPr lang="ru-RU" b="1" i="0" dirty="0" err="1">
                <a:solidFill>
                  <a:srgbClr val="1F1F1F"/>
                </a:solidFill>
                <a:effectLst/>
                <a:latin typeface="Google Sans Text"/>
              </a:rPr>
              <a:t>аргумент2</a:t>
            </a: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, ...)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- Входные данные, которые функция принимает. Аргументы указываются в круглых скобках и разделяются запятыми. Функция может не принимать никаких аргументов (тогда скобки остаются пустыми). </a:t>
            </a: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- Двоеточие, обозначающее начало тела функции. тело функции: Блок кода, который выполняется, когда вызывается функция.</a:t>
            </a:r>
          </a:p>
          <a:p>
            <a:pPr algn="l">
              <a:buNone/>
            </a:pPr>
            <a:endParaRPr lang="ru-RU" b="1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Отступ равен 4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- Важно помнить про отступы.</a:t>
            </a:r>
          </a:p>
          <a:p>
            <a:pPr algn="l">
              <a:buNone/>
            </a:pPr>
            <a:endParaRPr lang="ru-RU" b="1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>
              <a:buNone/>
            </a:pPr>
            <a:r>
              <a:rPr lang="ru-RU" b="1" i="0" dirty="0" err="1">
                <a:solidFill>
                  <a:srgbClr val="1F1F1F"/>
                </a:solidFill>
                <a:effectLst/>
                <a:latin typeface="Google Sans Text"/>
              </a:rPr>
              <a:t>return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результат: Оператор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return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возвращает значение из функции. Функция может возвращать любое значение (число, строку, список, кортеж, словарь и т.д.) или не возвращать ничего (тогда оператор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return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можно опустить). Если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return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не указан, функция неявно возвращает значение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None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71727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D9B36-1FD2-3022-11A7-014DEE79B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46781CB-5999-76FD-2BAF-1CF8F590E0D6}"/>
              </a:ext>
            </a:extLst>
          </p:cNvPr>
          <p:cNvSpPr txBox="1"/>
          <p:nvPr/>
        </p:nvSpPr>
        <p:spPr>
          <a:xfrm>
            <a:off x="4099560" y="326320"/>
            <a:ext cx="681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  <a:latin typeface="Google Sans Text"/>
              </a:rPr>
              <a:t>Функции</a:t>
            </a:r>
            <a:endParaRPr lang="en-US" sz="2400" b="1" dirty="0">
              <a:solidFill>
                <a:srgbClr val="C00000"/>
              </a:solidFill>
              <a:latin typeface="Google Sans Tex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3DC5E5-B29A-3FA3-92AE-A3561CCC2FC0}"/>
              </a:ext>
            </a:extLst>
          </p:cNvPr>
          <p:cNvSpPr txBox="1"/>
          <p:nvPr/>
        </p:nvSpPr>
        <p:spPr>
          <a:xfrm>
            <a:off x="2895600" y="1238935"/>
            <a:ext cx="7863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Функция, которая принимает один аргумент и ничего не возвращает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349F-8F26-18DC-75F5-88B2B6FBE639}"/>
              </a:ext>
            </a:extLst>
          </p:cNvPr>
          <p:cNvSpPr txBox="1"/>
          <p:nvPr/>
        </p:nvSpPr>
        <p:spPr>
          <a:xfrm>
            <a:off x="2895600" y="1889766"/>
            <a:ext cx="8336280" cy="4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greet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      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функция приняла 1  аргумент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Привет, 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name}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!"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64650-0052-D7D9-A1CC-652CBBFD9479}"/>
              </a:ext>
            </a:extLst>
          </p:cNvPr>
          <p:cNvSpPr txBox="1"/>
          <p:nvPr/>
        </p:nvSpPr>
        <p:spPr>
          <a:xfrm>
            <a:off x="2895600" y="2647036"/>
            <a:ext cx="818388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x= </a:t>
            </a: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greet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"Иван"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Вызов функции с передачей аргумента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7CFED2-4B48-9C3F-42F7-F122069A7981}"/>
              </a:ext>
            </a:extLst>
          </p:cNvPr>
          <p:cNvSpPr txBox="1"/>
          <p:nvPr/>
        </p:nvSpPr>
        <p:spPr>
          <a:xfrm>
            <a:off x="3048000" y="3113455"/>
            <a:ext cx="8183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Функция, которая принимает два аргумента и возвращает результат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7ADF7A-B4A6-708D-4E48-50C04F50CF19}"/>
              </a:ext>
            </a:extLst>
          </p:cNvPr>
          <p:cNvSpPr txBox="1"/>
          <p:nvPr/>
        </p:nvSpPr>
        <p:spPr>
          <a:xfrm>
            <a:off x="2895600" y="3903051"/>
            <a:ext cx="6096000" cy="65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      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получает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x=5,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у=3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sum = x + y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sum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E6D893-024D-AC81-F174-8336E9D6588B}"/>
              </a:ext>
            </a:extLst>
          </p:cNvPr>
          <p:cNvSpPr txBox="1"/>
          <p:nvPr/>
        </p:nvSpPr>
        <p:spPr>
          <a:xfrm>
            <a:off x="2895600" y="4788230"/>
            <a:ext cx="92964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add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Вызов функции с передачей аргументов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0338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381B9-52C7-5826-F086-ED6C33775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1C08215-0A00-942B-2CC6-521F4B834194}"/>
              </a:ext>
            </a:extLst>
          </p:cNvPr>
          <p:cNvSpPr txBox="1"/>
          <p:nvPr/>
        </p:nvSpPr>
        <p:spPr>
          <a:xfrm>
            <a:off x="4099560" y="326320"/>
            <a:ext cx="681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  <a:latin typeface="Google Sans Text"/>
              </a:rPr>
              <a:t>Функции</a:t>
            </a:r>
            <a:endParaRPr lang="en-US" sz="2400" b="1" dirty="0">
              <a:solidFill>
                <a:srgbClr val="C00000"/>
              </a:solidFill>
              <a:latin typeface="Google Sans Tex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892731-3B67-6012-452D-7A59BDDC5550}"/>
              </a:ext>
            </a:extLst>
          </p:cNvPr>
          <p:cNvSpPr txBox="1"/>
          <p:nvPr/>
        </p:nvSpPr>
        <p:spPr>
          <a:xfrm>
            <a:off x="2842260" y="913137"/>
            <a:ext cx="7863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Функция с переменным числом аргументов (*</a:t>
            </a:r>
            <a:r>
              <a:rPr lang="ru-RU" b="1" i="0" dirty="0" err="1">
                <a:solidFill>
                  <a:srgbClr val="002060"/>
                </a:solidFill>
                <a:effectLst/>
                <a:latin typeface="Google Sans Text"/>
              </a:rPr>
              <a:t>args</a:t>
            </a:r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 и </a:t>
            </a:r>
            <a:r>
              <a:rPr lang="ru-RU" b="1" i="0" dirty="0" err="1">
                <a:solidFill>
                  <a:srgbClr val="002060"/>
                </a:solidFill>
                <a:effectLst/>
                <a:latin typeface="Google Sans Text"/>
              </a:rPr>
              <a:t>kwargs</a:t>
            </a:r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):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BBC16A-D0D4-66C4-144A-B6AB2C0BEB23}"/>
              </a:ext>
            </a:extLst>
          </p:cNvPr>
          <p:cNvSpPr txBox="1"/>
          <p:nvPr/>
        </p:nvSpPr>
        <p:spPr>
          <a:xfrm>
            <a:off x="2636520" y="1464040"/>
            <a:ext cx="955548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*</a:t>
            </a:r>
            <a:r>
              <a:rPr lang="ru-RU" b="1" i="0" dirty="0" err="1">
                <a:solidFill>
                  <a:srgbClr val="1F1F1F"/>
                </a:solidFill>
                <a:effectLst/>
                <a:latin typeface="Google Sans Text"/>
              </a:rPr>
              <a:t>args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: Используется для передачи переменного количества позиционных аргументов. Аргументы передаются в функцию как кортеж.</a:t>
            </a:r>
          </a:p>
          <a:p>
            <a:pPr algn="l">
              <a:lnSpc>
                <a:spcPct val="150000"/>
              </a:lnSpc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**</a:t>
            </a:r>
            <a:r>
              <a:rPr lang="ru-RU" b="1" i="0" dirty="0" err="1">
                <a:solidFill>
                  <a:srgbClr val="1F1F1F"/>
                </a:solidFill>
                <a:effectLst/>
                <a:latin typeface="Google Sans Text"/>
              </a:rPr>
              <a:t>kwargs</a:t>
            </a: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Используется для передачи переменного количества именованных аргументов (ключевых слов). Аргументы передаются в функцию как словарь.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E5A362-80A5-9AFB-B332-F60147B63773}"/>
              </a:ext>
            </a:extLst>
          </p:cNvPr>
          <p:cNvSpPr txBox="1"/>
          <p:nvPr/>
        </p:nvSpPr>
        <p:spPr>
          <a:xfrm>
            <a:off x="2636520" y="3678104"/>
            <a:ext cx="8275320" cy="65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my_function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(*</a:t>
            </a:r>
            <a:r>
              <a:rPr lang="en-US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args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**</a:t>
            </a:r>
            <a:r>
              <a:rPr lang="en-US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kwargs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Позиционные аргументы (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args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):"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args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Именованные аргументы (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kwargs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):"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kwargs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C285E1-DA1A-24D1-3BF0-D5EAAEFF6FFA}"/>
              </a:ext>
            </a:extLst>
          </p:cNvPr>
          <p:cNvSpPr txBox="1"/>
          <p:nvPr/>
        </p:nvSpPr>
        <p:spPr>
          <a:xfrm>
            <a:off x="2636520" y="4607289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my_function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name=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Иван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age=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4B8DDE-158D-A0C0-4D82-0D716F66F184}"/>
              </a:ext>
            </a:extLst>
          </p:cNvPr>
          <p:cNvSpPr txBox="1"/>
          <p:nvPr/>
        </p:nvSpPr>
        <p:spPr>
          <a:xfrm>
            <a:off x="2636520" y="5157400"/>
            <a:ext cx="8442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Позиционные аргументы (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args</a:t>
            </a:r>
            <a:r>
              <a:rPr lang="ru-RU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): (1, 2, 3) </a:t>
            </a:r>
          </a:p>
          <a:p>
            <a:r>
              <a:rPr lang="ru-RU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Именованные аргументы (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kwargs</a:t>
            </a:r>
            <a:r>
              <a:rPr lang="ru-RU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): {'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ru-RU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'Иван', '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age</a:t>
            </a:r>
            <a:r>
              <a:rPr lang="ru-RU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30}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05683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10A23-F228-48CC-5314-C8C00015E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B6CE4F-DD42-D16E-686F-1511B9ED3599}"/>
              </a:ext>
            </a:extLst>
          </p:cNvPr>
          <p:cNvSpPr txBox="1"/>
          <p:nvPr/>
        </p:nvSpPr>
        <p:spPr>
          <a:xfrm>
            <a:off x="4099560" y="326320"/>
            <a:ext cx="681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  <a:latin typeface="Google Sans Text"/>
              </a:rPr>
              <a:t>Глобальные и локальные переменные</a:t>
            </a:r>
            <a:endParaRPr lang="en-US" sz="2400" b="1" dirty="0">
              <a:solidFill>
                <a:srgbClr val="C00000"/>
              </a:solidFill>
              <a:latin typeface="Google Sans Tex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B1F06-DFCA-9572-09C1-72E8EE22CD34}"/>
              </a:ext>
            </a:extLst>
          </p:cNvPr>
          <p:cNvSpPr txBox="1"/>
          <p:nvPr/>
        </p:nvSpPr>
        <p:spPr>
          <a:xfrm>
            <a:off x="2270760" y="1032778"/>
            <a:ext cx="89611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Глобальные переменные:</a:t>
            </a:r>
          </a:p>
          <a:p>
            <a:pPr algn="l">
              <a:buFont typeface="+mj-lt"/>
              <a:buAutoNum type="arabicPeriod"/>
            </a:pPr>
            <a:endParaRPr lang="ru-RU" b="1" i="0" dirty="0">
              <a:solidFill>
                <a:srgbClr val="002060"/>
              </a:solidFill>
              <a:effectLst/>
              <a:latin typeface="Google Sans Text"/>
            </a:endParaRPr>
          </a:p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Определение: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Глобальные переменные объявляются за пределами всех функций (то есть, на верхнем уровне модуля).</a:t>
            </a:r>
          </a:p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Область видимости: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Глобальные переменные доступны из любой точки в программе, включая внутри функций.</a:t>
            </a:r>
          </a:p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Время жизни: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Глобальные переменные существуют на протяжении всего времени выполнения программы.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C2CCE0-881B-9599-8446-D5DDE6692E39}"/>
              </a:ext>
            </a:extLst>
          </p:cNvPr>
          <p:cNvSpPr txBox="1"/>
          <p:nvPr/>
        </p:nvSpPr>
        <p:spPr>
          <a:xfrm>
            <a:off x="2270760" y="3669358"/>
            <a:ext cx="93116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 startAt="2"/>
            </a:pPr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Локальные переменные:</a:t>
            </a:r>
          </a:p>
          <a:p>
            <a:pPr algn="l">
              <a:buFont typeface="+mj-lt"/>
              <a:buAutoNum type="arabicPeriod" startAt="2"/>
            </a:pPr>
            <a:endParaRPr lang="ru-RU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Определение: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Локальные переменные объявляются внутри функции.</a:t>
            </a:r>
          </a:p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Область видимости: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Локальные переменные доступны только внутри той функции, в которой они были объявлены. Они не видны за пределами функции.</a:t>
            </a:r>
          </a:p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Время жизни: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Локальные переменные существуют только во время выполнения функции. Как только функция завершает свою работу, локальные переменные уничтожаются.</a:t>
            </a:r>
          </a:p>
        </p:txBody>
      </p:sp>
    </p:spTree>
    <p:extLst>
      <p:ext uri="{BB962C8B-B14F-4D97-AF65-F5344CB8AC3E}">
        <p14:creationId xmlns:p14="http://schemas.microsoft.com/office/powerpoint/2010/main" val="35357530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B6E3A-12DC-9645-FC35-5EA57498F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169FDC8-8438-AAAC-A919-688E78EE1A03}"/>
              </a:ext>
            </a:extLst>
          </p:cNvPr>
          <p:cNvSpPr txBox="1"/>
          <p:nvPr/>
        </p:nvSpPr>
        <p:spPr>
          <a:xfrm>
            <a:off x="4099560" y="326320"/>
            <a:ext cx="681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  <a:latin typeface="Google Sans Text"/>
              </a:rPr>
              <a:t>Глобальные и локальные переменные</a:t>
            </a:r>
            <a:endParaRPr lang="en-US" sz="2400" b="1" dirty="0">
              <a:solidFill>
                <a:srgbClr val="C00000"/>
              </a:solidFill>
              <a:latin typeface="Google Sans Tex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93FD0F-D3DD-DC6A-8B50-D8F297C0854A}"/>
              </a:ext>
            </a:extLst>
          </p:cNvPr>
          <p:cNvSpPr txBox="1"/>
          <p:nvPr/>
        </p:nvSpPr>
        <p:spPr>
          <a:xfrm>
            <a:off x="2194560" y="1756321"/>
            <a:ext cx="9525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Локальные переменные: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Используйте локальные переменные по умолчанию. Они помогают изолировать код внутри функции и избежать нежелательных побочных эффектов.</a:t>
            </a:r>
          </a:p>
          <a:p>
            <a:pPr algn="l">
              <a:buNone/>
            </a:pPr>
            <a:endParaRPr lang="ru-RU" b="1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Глобальные переменные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: Старайтесь использовать глобальные переменные как можно реже. Они могут затруднить понимание и отладку кода, особенно в больших программах.</a:t>
            </a:r>
          </a:p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Глобальные переменные уместны в следующих случаях:</a:t>
            </a:r>
          </a:p>
          <a:p>
            <a:pPr marL="715963" indent="-182563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Константы: Объявление констант (значений, которые не должны изменяться) на глобальном уровне может улучшить читаемость кода.</a:t>
            </a:r>
          </a:p>
          <a:p>
            <a:pPr marL="715963" indent="-182563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Глобальная конфигурация: Если вам нужно хранить настройки программы, которые должны быть доступны из разных частей кода, можно использовать глобальные переменные.</a:t>
            </a:r>
          </a:p>
          <a:p>
            <a:pPr marL="715963" indent="-182563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Избегайте злоупотребления: Не используйте глобальные переменные для передачи данных между функциями. Вместо этого лучше передавать данные в качестве аргументов и возвращать результаты.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9807CB-1C96-C87E-0289-4FFACD23D9EF}"/>
              </a:ext>
            </a:extLst>
          </p:cNvPr>
          <p:cNvSpPr txBox="1"/>
          <p:nvPr/>
        </p:nvSpPr>
        <p:spPr>
          <a:xfrm>
            <a:off x="1798320" y="1087487"/>
            <a:ext cx="725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Когда использовать глобальные и локальные переменные?</a:t>
            </a:r>
          </a:p>
        </p:txBody>
      </p:sp>
    </p:spTree>
    <p:extLst>
      <p:ext uri="{BB962C8B-B14F-4D97-AF65-F5344CB8AC3E}">
        <p14:creationId xmlns:p14="http://schemas.microsoft.com/office/powerpoint/2010/main" val="1577740583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953</TotalTime>
  <Words>2539</Words>
  <Application>Microsoft Office PowerPoint</Application>
  <PresentationFormat>Широкоэкранный</PresentationFormat>
  <Paragraphs>310</Paragraphs>
  <Slides>40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8" baseType="lpstr">
      <vt:lpstr>Arial</vt:lpstr>
      <vt:lpstr>Century Gothic</vt:lpstr>
      <vt:lpstr>Courier New</vt:lpstr>
      <vt:lpstr>Google Sans Text</vt:lpstr>
      <vt:lpstr>Roboto</vt:lpstr>
      <vt:lpstr>Wingdings</vt:lpstr>
      <vt:lpstr>Wingdings 3</vt:lpstr>
      <vt:lpstr>Легкий дым</vt:lpstr>
      <vt:lpstr>Введение в Python, синтаксис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Людмила Герськина</dc:creator>
  <cp:lastModifiedBy>Людмила Герськина</cp:lastModifiedBy>
  <cp:revision>20</cp:revision>
  <dcterms:created xsi:type="dcterms:W3CDTF">2025-06-30T12:58:59Z</dcterms:created>
  <dcterms:modified xsi:type="dcterms:W3CDTF">2025-10-01T20:21:27Z</dcterms:modified>
</cp:coreProperties>
</file>