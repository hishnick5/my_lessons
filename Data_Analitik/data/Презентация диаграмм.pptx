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4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1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my_doc\&#1063;&#1090;&#1077;&#1085;&#1080;&#1077;%20&#1083;&#1077;&#1082;&#1094;&#1080;&#1081;_&#1076;&#1086;&#1084;\&#1082;&#1091;&#1088;&#1089;%20&#1089;%2010.09%20%20&#1087;&#1086;%205.11\6_Excel_3\&#1044;&#1080;&#1072;&#1075;&#1088;&#1072;&#1084;&#1084;&#1099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my_doc\&#1063;&#1090;&#1077;&#1085;&#1080;&#1077;%20&#1083;&#1077;&#1082;&#1094;&#1080;&#1081;_&#1076;&#1086;&#1084;\&#1082;&#1091;&#1088;&#1089;%20&#1089;%2010.09%20%20&#1087;&#1086;%205.11\6_Excel_3\&#1044;&#1080;&#1072;&#1075;&#1088;&#1072;&#1084;&#1084;&#1099;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my_doc\&#1063;&#1090;&#1077;&#1085;&#1080;&#1077;%20&#1083;&#1077;&#1082;&#1094;&#1080;&#1081;_&#1076;&#1086;&#1084;\&#1082;&#1091;&#1088;&#1089;%20&#1089;%2010.09%20%20&#1087;&#1086;%205.11\6_Excel_3\&#1044;&#1080;&#1072;&#1075;&#1088;&#1072;&#1084;&#1084;&#1099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rgbClr val="A4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>
                <a:solidFill>
                  <a:srgbClr val="A4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Себестоимость и Прибыль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rgbClr val="A4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'лин_ умен.'!$G$1</c:f>
              <c:strCache>
                <c:ptCount val="1"/>
                <c:pt idx="0">
                  <c:v>Себестоимость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('лин_ умен.'!$C$2,'лин_ умен.'!$C$6,'лин_ умен.'!$C$11,'лин_ умен.'!$C$15,'лин_ умен.'!$C$21,'лин_ умен.'!$C$25,'лин_ умен.'!$C$28,'лин_ умен.'!$C$31,'лин_ умен.'!$C$34)</c:f>
              <c:numCache>
                <c:formatCode>m/d/yyyy</c:formatCode>
                <c:ptCount val="9"/>
                <c:pt idx="0">
                  <c:v>42005</c:v>
                </c:pt>
                <c:pt idx="1">
                  <c:v>42011</c:v>
                </c:pt>
                <c:pt idx="2">
                  <c:v>42018</c:v>
                </c:pt>
                <c:pt idx="3">
                  <c:v>42025</c:v>
                </c:pt>
                <c:pt idx="4">
                  <c:v>42033</c:v>
                </c:pt>
                <c:pt idx="5">
                  <c:v>42036</c:v>
                </c:pt>
                <c:pt idx="6">
                  <c:v>42042</c:v>
                </c:pt>
                <c:pt idx="7">
                  <c:v>42049</c:v>
                </c:pt>
                <c:pt idx="8">
                  <c:v>42053</c:v>
                </c:pt>
              </c:numCache>
              <c:extLst/>
            </c:numRef>
          </c:cat>
          <c:val>
            <c:numRef>
              <c:f>('лин_ умен.'!$G$2,'лин_ умен.'!$G$6,'лин_ умен.'!$G$11,'лин_ умен.'!$G$15,'лин_ умен.'!$G$21,'лин_ умен.'!$G$25,'лин_ умен.'!$G$28,'лин_ умен.'!$G$31,'лин_ умен.'!$G$34)</c:f>
              <c:numCache>
                <c:formatCode>General</c:formatCode>
                <c:ptCount val="9"/>
                <c:pt idx="0">
                  <c:v>10213</c:v>
                </c:pt>
                <c:pt idx="1">
                  <c:v>3389</c:v>
                </c:pt>
                <c:pt idx="2">
                  <c:v>1031</c:v>
                </c:pt>
                <c:pt idx="3">
                  <c:v>1696</c:v>
                </c:pt>
                <c:pt idx="4">
                  <c:v>3403</c:v>
                </c:pt>
                <c:pt idx="5">
                  <c:v>2541</c:v>
                </c:pt>
                <c:pt idx="6">
                  <c:v>8467</c:v>
                </c:pt>
                <c:pt idx="7">
                  <c:v>6895</c:v>
                </c:pt>
                <c:pt idx="8">
                  <c:v>8466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D36D-404E-8E72-71D6D9D04C77}"/>
            </c:ext>
          </c:extLst>
        </c:ser>
        <c:ser>
          <c:idx val="3"/>
          <c:order val="3"/>
          <c:tx>
            <c:strRef>
              <c:f>'лин_ умен.'!$H$1</c:f>
              <c:strCache>
                <c:ptCount val="1"/>
                <c:pt idx="0">
                  <c:v>Прибыль</c:v>
                </c:pt>
              </c:strCache>
            </c:strRef>
          </c:tx>
          <c:spPr>
            <a:ln w="38100" cap="rnd">
              <a:solidFill>
                <a:srgbClr val="00823B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4"/>
                </a:solidFill>
              </a:ln>
              <a:effectLst/>
            </c:spPr>
          </c:marker>
          <c:trendline>
            <c:spPr>
              <a:ln w="19050" cap="rnd">
                <a:solidFill>
                  <a:srgbClr val="DA5536"/>
                </a:solidFill>
                <a:prstDash val="dash"/>
              </a:ln>
              <a:effectLst/>
            </c:spPr>
            <c:trendlineType val="linear"/>
            <c:dispRSqr val="0"/>
            <c:dispEq val="0"/>
          </c:trendline>
          <c:cat>
            <c:numRef>
              <c:f>('лин_ умен.'!$C$2,'лин_ умен.'!$C$6,'лин_ умен.'!$C$11,'лин_ умен.'!$C$15,'лин_ умен.'!$C$21,'лин_ умен.'!$C$25,'лин_ умен.'!$C$28,'лин_ умен.'!$C$31,'лин_ умен.'!$C$34)</c:f>
              <c:numCache>
                <c:formatCode>m/d/yyyy</c:formatCode>
                <c:ptCount val="9"/>
                <c:pt idx="0">
                  <c:v>42005</c:v>
                </c:pt>
                <c:pt idx="1">
                  <c:v>42011</c:v>
                </c:pt>
                <c:pt idx="2">
                  <c:v>42018</c:v>
                </c:pt>
                <c:pt idx="3">
                  <c:v>42025</c:v>
                </c:pt>
                <c:pt idx="4">
                  <c:v>42033</c:v>
                </c:pt>
                <c:pt idx="5">
                  <c:v>42036</c:v>
                </c:pt>
                <c:pt idx="6">
                  <c:v>42042</c:v>
                </c:pt>
                <c:pt idx="7">
                  <c:v>42049</c:v>
                </c:pt>
                <c:pt idx="8">
                  <c:v>42053</c:v>
                </c:pt>
              </c:numCache>
              <c:extLst/>
            </c:numRef>
          </c:cat>
          <c:val>
            <c:numRef>
              <c:f>('лин_ умен.'!$H$2,'лин_ умен.'!$H$6,'лин_ умен.'!$H$11,'лин_ умен.'!$H$15,'лин_ умен.'!$H$21,'лин_ умен.'!$H$25,'лин_ умен.'!$H$28,'лин_ умен.'!$H$31,'лин_ умен.'!$H$34)</c:f>
              <c:numCache>
                <c:formatCode>General</c:formatCode>
                <c:ptCount val="9"/>
                <c:pt idx="0">
                  <c:v>12597</c:v>
                </c:pt>
                <c:pt idx="1">
                  <c:v>5067</c:v>
                </c:pt>
                <c:pt idx="2">
                  <c:v>1370</c:v>
                </c:pt>
                <c:pt idx="3">
                  <c:v>1856</c:v>
                </c:pt>
                <c:pt idx="4">
                  <c:v>3733</c:v>
                </c:pt>
                <c:pt idx="5">
                  <c:v>2991</c:v>
                </c:pt>
                <c:pt idx="6">
                  <c:v>11423</c:v>
                </c:pt>
                <c:pt idx="7">
                  <c:v>6972</c:v>
                </c:pt>
                <c:pt idx="8">
                  <c:v>11784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D36D-404E-8E72-71D6D9D04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50565919"/>
        <c:axId val="175058943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'лин_ умен.'!$E$1</c15:sqref>
                        </c15:formulaRef>
                      </c:ext>
                    </c:extLst>
                    <c:strCache>
                      <c:ptCount val="1"/>
                      <c:pt idx="0">
                        <c:v>Количество</c:v>
                      </c:pt>
                    </c:strCache>
                  </c:strRef>
                </c:tx>
                <c:spPr>
                  <a:ln w="28575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('лин_ умен.'!$C$2,'лин_ умен.'!$C$6,'лин_ умен.'!$C$11,'лин_ умен.'!$C$15,'лин_ умен.'!$C$21,'лин_ умен.'!$C$25,'лин_ умен.'!$C$28,'лин_ умен.'!$C$31,'лин_ умен.'!$C$34)</c15:sqref>
                        </c15:formulaRef>
                      </c:ext>
                    </c:extLst>
                    <c:numCache>
                      <c:formatCode>m/d/yyyy</c:formatCode>
                      <c:ptCount val="9"/>
                      <c:pt idx="0">
                        <c:v>42005</c:v>
                      </c:pt>
                      <c:pt idx="1">
                        <c:v>42011</c:v>
                      </c:pt>
                      <c:pt idx="2">
                        <c:v>42018</c:v>
                      </c:pt>
                      <c:pt idx="3">
                        <c:v>42025</c:v>
                      </c:pt>
                      <c:pt idx="4">
                        <c:v>42033</c:v>
                      </c:pt>
                      <c:pt idx="5">
                        <c:v>42036</c:v>
                      </c:pt>
                      <c:pt idx="6">
                        <c:v>42042</c:v>
                      </c:pt>
                      <c:pt idx="7">
                        <c:v>42049</c:v>
                      </c:pt>
                      <c:pt idx="8">
                        <c:v>42053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('лин_ умен.'!$E$2,'лин_ умен.'!$E$6,'лин_ умен.'!$E$11,'лин_ умен.'!$E$15,'лин_ умен.'!$E$21,'лин_ умен.'!$E$25,'лин_ умен.'!$E$28,'лин_ умен.'!$E$31,'лин_ умен.'!$E$34)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954</c:v>
                      </c:pt>
                      <c:pt idx="1">
                        <c:v>401</c:v>
                      </c:pt>
                      <c:pt idx="2">
                        <c:v>91</c:v>
                      </c:pt>
                      <c:pt idx="3">
                        <c:v>250</c:v>
                      </c:pt>
                      <c:pt idx="4">
                        <c:v>389</c:v>
                      </c:pt>
                      <c:pt idx="5">
                        <c:v>346</c:v>
                      </c:pt>
                      <c:pt idx="6">
                        <c:v>985</c:v>
                      </c:pt>
                      <c:pt idx="7">
                        <c:v>706</c:v>
                      </c:pt>
                      <c:pt idx="8">
                        <c:v>1020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D36D-404E-8E72-71D6D9D04C77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'лин_ умен.'!$F$1</c15:sqref>
                        </c15:formulaRef>
                      </c:ext>
                    </c:extLst>
                    <c:strCache>
                      <c:ptCount val="1"/>
                      <c:pt idx="0">
                        <c:v>Доход</c:v>
                      </c:pt>
                    </c:strCache>
                  </c:strRef>
                </c:tx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('лин_ умен.'!$C$2,'лин_ умен.'!$C$6,'лин_ умен.'!$C$11,'лин_ умен.'!$C$15,'лин_ умен.'!$C$21,'лин_ умен.'!$C$25,'лин_ умен.'!$C$28,'лин_ умен.'!$C$31,'лин_ умен.'!$C$34)</c15:sqref>
                        </c15:formulaRef>
                      </c:ext>
                    </c:extLst>
                    <c:numCache>
                      <c:formatCode>m/d/yyyy</c:formatCode>
                      <c:ptCount val="9"/>
                      <c:pt idx="0">
                        <c:v>42005</c:v>
                      </c:pt>
                      <c:pt idx="1">
                        <c:v>42011</c:v>
                      </c:pt>
                      <c:pt idx="2">
                        <c:v>42018</c:v>
                      </c:pt>
                      <c:pt idx="3">
                        <c:v>42025</c:v>
                      </c:pt>
                      <c:pt idx="4">
                        <c:v>42033</c:v>
                      </c:pt>
                      <c:pt idx="5">
                        <c:v>42036</c:v>
                      </c:pt>
                      <c:pt idx="6">
                        <c:v>42042</c:v>
                      </c:pt>
                      <c:pt idx="7">
                        <c:v>42049</c:v>
                      </c:pt>
                      <c:pt idx="8">
                        <c:v>42053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('лин_ умен.'!$F$2,'лин_ умен.'!$F$6,'лин_ умен.'!$F$11,'лин_ умен.'!$F$15,'лин_ умен.'!$F$21,'лин_ умен.'!$F$25,'лин_ умен.'!$F$28,'лин_ умен.'!$F$31,'лин_ умен.'!$F$34)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22810</c:v>
                      </c:pt>
                      <c:pt idx="1">
                        <c:v>8456</c:v>
                      </c:pt>
                      <c:pt idx="2">
                        <c:v>2401</c:v>
                      </c:pt>
                      <c:pt idx="3">
                        <c:v>3552</c:v>
                      </c:pt>
                      <c:pt idx="4">
                        <c:v>7136</c:v>
                      </c:pt>
                      <c:pt idx="5">
                        <c:v>5532</c:v>
                      </c:pt>
                      <c:pt idx="6">
                        <c:v>19890</c:v>
                      </c:pt>
                      <c:pt idx="7">
                        <c:v>13867</c:v>
                      </c:pt>
                      <c:pt idx="8">
                        <c:v>20250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D36D-404E-8E72-71D6D9D04C77}"/>
                  </c:ext>
                </c:extLst>
              </c15:ser>
            </c15:filteredLineSeries>
          </c:ext>
        </c:extLst>
      </c:lineChart>
      <c:dateAx>
        <c:axId val="175056591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750589439"/>
        <c:crosses val="autoZero"/>
        <c:auto val="1"/>
        <c:lblOffset val="100"/>
        <c:baseTimeUnit val="days"/>
      </c:dateAx>
      <c:valAx>
        <c:axId val="1750589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5056591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FCF3"/>
    </a:solidFill>
    <a:ln w="9525" cap="flat" cmpd="sng" algn="ctr">
      <a:solidFill>
        <a:srgbClr val="DA5536"/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Название диаграммы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вст_шаблона!$B$1</c:f>
              <c:strCache>
                <c:ptCount val="1"/>
                <c:pt idx="0">
                  <c:v>Продукт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вст_шаблона!$B$5:$B$7</c:f>
              <c:numCache>
                <c:formatCode>General</c:formatCode>
                <c:ptCount val="3"/>
                <c:pt idx="0">
                  <c:v>-65</c:v>
                </c:pt>
                <c:pt idx="1">
                  <c:v>-75</c:v>
                </c:pt>
                <c:pt idx="2">
                  <c:v>280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AA8-4165-9569-98CAAED5009B}"/>
            </c:ext>
          </c:extLst>
        </c:ser>
        <c:ser>
          <c:idx val="1"/>
          <c:order val="1"/>
          <c:tx>
            <c:strRef>
              <c:f>вст_шаблона!$C$1</c:f>
              <c:strCache>
                <c:ptCount val="1"/>
                <c:pt idx="0">
                  <c:v>Продукт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вст_шаблона!$C$5:$C$7</c:f>
              <c:numCache>
                <c:formatCode>General</c:formatCode>
                <c:ptCount val="3"/>
                <c:pt idx="0">
                  <c:v>757</c:v>
                </c:pt>
                <c:pt idx="1">
                  <c:v>250</c:v>
                </c:pt>
                <c:pt idx="2">
                  <c:v>174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AA8-4165-9569-98CAAED5009B}"/>
            </c:ext>
          </c:extLst>
        </c:ser>
        <c:ser>
          <c:idx val="2"/>
          <c:order val="2"/>
          <c:tx>
            <c:strRef>
              <c:f>вст_шаблона!$D$1</c:f>
              <c:strCache>
                <c:ptCount val="1"/>
                <c:pt idx="0">
                  <c:v>Продукт 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вст_шаблона!$D$5:$D$7</c:f>
              <c:numCache>
                <c:formatCode>General</c:formatCode>
                <c:ptCount val="3"/>
                <c:pt idx="0">
                  <c:v>130</c:v>
                </c:pt>
                <c:pt idx="1">
                  <c:v>235</c:v>
                </c:pt>
                <c:pt idx="2">
                  <c:v>340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AA8-4165-9569-98CAAED5009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56140319"/>
        <c:axId val="1956164799"/>
        <c:extLst>
          <c:ext xmlns:c15="http://schemas.microsoft.com/office/drawing/2012/chart" uri="{02D57815-91ED-43cb-92C2-25804820EDAC}">
            <c15:filteredBarSeries>
              <c15:ser>
                <c:idx val="5"/>
                <c:order val="3"/>
                <c:tx>
                  <c:strRef>
                    <c:extLst>
                      <c:ext uri="{02D57815-91ED-43cb-92C2-25804820EDAC}">
                        <c15:formulaRef>
                          <c15:sqref>вст_шаблона!$E$1</c15:sqref>
                        </c15:formulaRef>
                      </c:ext>
                    </c:extLst>
                    <c:strCache>
                      <c:ptCount val="1"/>
                      <c:pt idx="0">
                        <c:v>сумма 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635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вст_шаблона!$A$5:$A$7</c15:sqref>
                        </c15:formulaRef>
                      </c:ext>
                    </c:extLst>
                    <c:strCache>
                      <c:ptCount val="3"/>
                      <c:pt idx="0">
                        <c:v>Апрель</c:v>
                      </c:pt>
                      <c:pt idx="1">
                        <c:v>Май</c:v>
                      </c:pt>
                      <c:pt idx="2">
                        <c:v>Июнь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вст_шаблона!$E$5:$E$7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822</c:v>
                      </c:pt>
                      <c:pt idx="1">
                        <c:v>410</c:v>
                      </c:pt>
                      <c:pt idx="2">
                        <c:v>794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6AA8-4165-9569-98CAAED5009B}"/>
                  </c:ext>
                </c:extLst>
              </c15:ser>
            </c15:filteredBarSeries>
            <c15:filteredBarSeries>
              <c15:ser>
                <c:idx val="6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вст_шаблона!$F$1</c15:sqref>
                        </c15:formulaRef>
                      </c:ext>
                    </c:extLst>
                    <c:strCache>
                      <c:ptCount val="1"/>
                      <c:pt idx="0">
                        <c:v>доля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635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вст_шаблона!$A$5:$A$7</c15:sqref>
                        </c15:formulaRef>
                      </c:ext>
                    </c:extLst>
                    <c:strCache>
                      <c:ptCount val="3"/>
                      <c:pt idx="0">
                        <c:v>Апрель</c:v>
                      </c:pt>
                      <c:pt idx="1">
                        <c:v>Май</c:v>
                      </c:pt>
                      <c:pt idx="2">
                        <c:v>Июнь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вст_шаблона!$F$5:$F$7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0.13357166070848228</c:v>
                      </c:pt>
                      <c:pt idx="1">
                        <c:v>6.662333441663959E-2</c:v>
                      </c:pt>
                      <c:pt idx="2">
                        <c:v>0.12902177445563862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AA8-4165-9569-98CAAED5009B}"/>
                  </c:ext>
                </c:extLst>
              </c15:ser>
            </c15:filteredBarSeries>
          </c:ext>
        </c:extLst>
      </c:barChart>
      <c:catAx>
        <c:axId val="1956140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6164799"/>
        <c:crosses val="autoZero"/>
        <c:auto val="1"/>
        <c:lblAlgn val="ctr"/>
        <c:lblOffset val="100"/>
        <c:noMultiLvlLbl val="0"/>
      </c:catAx>
      <c:valAx>
        <c:axId val="1956164799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6140319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 w="6350" cap="flat" cmpd="sng" algn="ctr">
      <a:solidFill>
        <a:schemeClr val="tx1">
          <a:tint val="75000"/>
        </a:schemeClr>
      </a:solidFill>
      <a:prstDash val="solid"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Название диаграммы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вст_шаблона!$B$1</c:f>
              <c:strCache>
                <c:ptCount val="1"/>
                <c:pt idx="0">
                  <c:v>Продукт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вст_шаблона!$B$5:$B$7</c:f>
              <c:numCache>
                <c:formatCode>General</c:formatCode>
                <c:ptCount val="3"/>
                <c:pt idx="0">
                  <c:v>-65</c:v>
                </c:pt>
                <c:pt idx="1">
                  <c:v>-75</c:v>
                </c:pt>
                <c:pt idx="2">
                  <c:v>280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228-4F67-9A54-2E3368740B85}"/>
            </c:ext>
          </c:extLst>
        </c:ser>
        <c:ser>
          <c:idx val="1"/>
          <c:order val="1"/>
          <c:tx>
            <c:strRef>
              <c:f>вст_шаблона!$C$1</c:f>
              <c:strCache>
                <c:ptCount val="1"/>
                <c:pt idx="0">
                  <c:v>Продукт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вст_шаблона!$C$5:$C$7</c:f>
              <c:numCache>
                <c:formatCode>General</c:formatCode>
                <c:ptCount val="3"/>
                <c:pt idx="0">
                  <c:v>157</c:v>
                </c:pt>
                <c:pt idx="1">
                  <c:v>250</c:v>
                </c:pt>
                <c:pt idx="2">
                  <c:v>174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228-4F67-9A54-2E3368740B85}"/>
            </c:ext>
          </c:extLst>
        </c:ser>
        <c:ser>
          <c:idx val="2"/>
          <c:order val="2"/>
          <c:tx>
            <c:strRef>
              <c:f>вст_шаблона!$D$1</c:f>
              <c:strCache>
                <c:ptCount val="1"/>
                <c:pt idx="0">
                  <c:v>Продукт C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вст_шаблона!$A$5:$A$7</c:f>
              <c:strCache>
                <c:ptCount val="3"/>
                <c:pt idx="0">
                  <c:v>Апрель</c:v>
                </c:pt>
                <c:pt idx="1">
                  <c:v>Май</c:v>
                </c:pt>
                <c:pt idx="2">
                  <c:v>Июнь</c:v>
                </c:pt>
              </c:strCache>
              <c:extLst/>
            </c:strRef>
          </c:cat>
          <c:val>
            <c:numRef>
              <c:f>вст_шаблона!$D$5:$D$7</c:f>
              <c:numCache>
                <c:formatCode>General</c:formatCode>
                <c:ptCount val="3"/>
                <c:pt idx="0">
                  <c:v>130</c:v>
                </c:pt>
                <c:pt idx="1">
                  <c:v>235</c:v>
                </c:pt>
                <c:pt idx="2">
                  <c:v>340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B228-4F67-9A54-2E3368740B8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956140319"/>
        <c:axId val="1956164799"/>
        <c:extLst>
          <c:ext xmlns:c15="http://schemas.microsoft.com/office/drawing/2012/chart" uri="{02D57815-91ED-43cb-92C2-25804820EDAC}">
            <c15:filteredBarSeries>
              <c15:ser>
                <c:idx val="5"/>
                <c:order val="3"/>
                <c:tx>
                  <c:strRef>
                    <c:extLst>
                      <c:ext uri="{02D57815-91ED-43cb-92C2-25804820EDAC}">
                        <c15:formulaRef>
                          <c15:sqref>вст_шаблона!$E$1</c15:sqref>
                        </c15:formulaRef>
                      </c:ext>
                    </c:extLst>
                    <c:strCache>
                      <c:ptCount val="1"/>
                      <c:pt idx="0">
                        <c:v>сумма 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635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вст_шаблона!$A$5:$A$7</c15:sqref>
                        </c15:formulaRef>
                      </c:ext>
                    </c:extLst>
                    <c:strCache>
                      <c:ptCount val="3"/>
                      <c:pt idx="0">
                        <c:v>Апрель</c:v>
                      </c:pt>
                      <c:pt idx="1">
                        <c:v>Май</c:v>
                      </c:pt>
                      <c:pt idx="2">
                        <c:v>Июнь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вст_шаблона!$E$5:$E$7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222</c:v>
                      </c:pt>
                      <c:pt idx="1">
                        <c:v>410</c:v>
                      </c:pt>
                      <c:pt idx="2">
                        <c:v>794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B228-4F67-9A54-2E3368740B85}"/>
                  </c:ext>
                </c:extLst>
              </c15:ser>
            </c15:filteredBarSeries>
            <c15:filteredBarSeries>
              <c15:ser>
                <c:idx val="6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вст_шаблона!$F$1</c15:sqref>
                        </c15:formulaRef>
                      </c:ext>
                    </c:extLst>
                    <c:strCache>
                      <c:ptCount val="1"/>
                      <c:pt idx="0">
                        <c:v>доля</c:v>
                      </c:pt>
                    </c:strCache>
                  </c:strRef>
                </c:tx>
                <c:spPr>
                  <a:solidFill>
                    <a:schemeClr val="accent1">
                      <a:lumMod val="6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ru-RU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6350" cap="flat" cmpd="sng" algn="ctr">
                            <a:solidFill>
                              <a:schemeClr val="tx1"/>
                            </a:solidFill>
                            <a:prstDash val="solid"/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вст_шаблона!$A$5:$A$7</c15:sqref>
                        </c15:formulaRef>
                      </c:ext>
                    </c:extLst>
                    <c:strCache>
                      <c:ptCount val="3"/>
                      <c:pt idx="0">
                        <c:v>Апрель</c:v>
                      </c:pt>
                      <c:pt idx="1">
                        <c:v>Май</c:v>
                      </c:pt>
                      <c:pt idx="2">
                        <c:v>Июнь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вст_шаблона!$F$5:$F$7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3.9971191933741448E-2</c:v>
                      </c:pt>
                      <c:pt idx="1">
                        <c:v>7.382066978754051E-2</c:v>
                      </c:pt>
                      <c:pt idx="2">
                        <c:v>0.14296002880806627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B228-4F67-9A54-2E3368740B85}"/>
                  </c:ext>
                </c:extLst>
              </c15:ser>
            </c15:filteredBarSeries>
          </c:ext>
        </c:extLst>
      </c:barChart>
      <c:catAx>
        <c:axId val="1956140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6164799"/>
        <c:crosses val="autoZero"/>
        <c:auto val="1"/>
        <c:lblAlgn val="ctr"/>
        <c:lblOffset val="100"/>
        <c:noMultiLvlLbl val="0"/>
      </c:catAx>
      <c:valAx>
        <c:axId val="1956164799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chemeClr val="tx1"/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tx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6140319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accent1">
        <a:lumMod val="20000"/>
        <a:lumOff val="80000"/>
      </a:schemeClr>
    </a:solidFill>
    <a:ln w="6350" cap="flat" cmpd="sng" algn="ctr">
      <a:solidFill>
        <a:schemeClr val="tx1">
          <a:tint val="75000"/>
        </a:schemeClr>
      </a:solidFill>
      <a:prstDash val="solid"/>
      <a:round/>
    </a:ln>
    <a:effectLst/>
  </c:spPr>
  <c:txPr>
    <a:bodyPr/>
    <a:lstStyle/>
    <a:p>
      <a:pPr>
        <a:defRPr/>
      </a:pPr>
      <a:endParaRPr lang="ru-RU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0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5FD63-5FD1-4118-8E81-D213DF76D9AA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89602-C124-4EBC-9B3E-5BA59E49E3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926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Интерактивно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789602-C124-4EBC-9B3E-5BA59E49E33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2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6BBB4-B002-8299-7DBD-08067F7C3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013790-EEFB-9DA2-92C1-D02A52C4B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08AAC5-E771-296B-BA8C-E56FEA07F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DA81A-77AE-5CD0-5A51-242835A0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839491-230B-977F-9D26-8F7380F81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160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380555-76CC-CABA-935C-5D9A6F86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3A692F-1D03-2444-7132-B7EEE1CC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28F6EC-6763-BD76-08AF-F68C89889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A4E7A1-66BF-21D6-8A06-5D395232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4B6122-70F1-AAF2-4BF2-94405E573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403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A78B4C-C38A-1C90-389C-6A31B798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E2B82D-3583-E12E-0AE0-9D4CCFF41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114128-B147-6B95-5BF8-2FEE0A4CC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22D403-E519-0BF2-6D49-6A76B75CE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6E3B52-5421-2ED2-DAE2-22E8B2EF6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508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0DAC5-1B1E-71F1-51A2-046E8335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DF3554-2034-F630-D750-B03934906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BE5EB2-B545-9299-6D6C-F9C0A4320C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8EC614-C0CF-98D5-DCE8-726BE69E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F7AF5C-0969-6273-1375-760ED2C2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73B14E-78F7-1252-C52C-AD898A2A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18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1E411-0319-AA32-3C3B-F751AF17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BDD44A-C8C6-0F1D-F405-D8395E02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2352A55-145B-88C1-3F45-EB22F9281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56B0E9-BFE5-C1C9-80B1-4CB713C14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C915EE-D9F3-A52B-033B-F14C099148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81E7D2-B738-CF03-7F63-AAD70A02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6F7646-0F87-AB8D-4BB3-71FD72512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807CE47-9338-8D17-6C2F-CA31DC677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DE8DD-FAA1-AC1D-2FFB-E2DC772DB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034B90-8754-8822-0964-310E6AC57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B1418C9-576E-544C-9BC5-82468BE7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279131-A67C-F489-8F3F-831760446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728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CA49DB-3D0B-0D3F-9F1D-A5AEDCFE5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6EC62DF-86AB-FF9E-5513-0D33EE34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4312C1-765D-ECD4-3F23-5A8E4DC5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115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F3FC0-376F-2C69-A2B5-60B6D64A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34C575-1CA1-B55C-6E89-A84E368C3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514630-9907-50A4-709D-46A00397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DA2CD8-75C0-0066-9FF8-BCD70CF3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606270E-76A9-9198-0A0B-0E470EBC3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1E414F-F0D0-EF1E-54EF-A84FEC17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3065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FD2C9C-FD6C-F247-7656-EDDC08C5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F93AA2F-FE47-0554-325B-30A1B34377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527BFA-A882-21B1-E1AC-1FE37CD54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DE180C-CADC-0022-938F-3123BEC2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D6D3C41-A430-CBEC-4838-1584357D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CA99F0-7933-CEF4-93B0-A8C6F2BF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66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BBA1-5DAF-4C50-68CF-A691134C8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AFDAE5-F5F6-E376-D7F1-43CB084766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8669EA-AEF3-7B1D-D990-69EAAC34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5A51F5-5058-AC11-3440-F926B3BA3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9C8A6F-ADB0-64C9-62FD-0BC9FE2E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32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9143ED-BD29-BB8C-ADAF-F766CB7CDE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6BA58A-CBD2-3C50-4DCB-1DF297E44A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BC65DE-24A7-EE2D-0B01-35E072D9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7E9B3A-1363-E677-75C0-9DBE55BF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C6999A-9BE6-C95C-750D-5B9CFC95C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69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2E45EC-AD1C-A8F3-F4CB-1529C161A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A31EA5-EF74-F347-6421-03E81E10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FC1210-A9A9-CBEF-FE50-4FBB62B84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EC0876-BB39-4F73-AFA7-FC6BCF32A2C0}" type="datetimeFigureOut">
              <a:rPr lang="ru-RU" smtClean="0"/>
              <a:t>20.09.2025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90D926-B4CE-E04D-B03B-EE3383ABC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3BF054-07CB-4976-3E56-008B830D6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5D30E-8B79-4A5E-A8E7-67B54751C6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799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C78367A8-9E0F-D053-6FB4-F1782206AB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0920646"/>
              </p:ext>
            </p:extLst>
          </p:nvPr>
        </p:nvGraphicFramePr>
        <p:xfrm>
          <a:off x="448235" y="448234"/>
          <a:ext cx="11367247" cy="61318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3523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07A042-9702-9618-3321-38BFF5FF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4B3234C8-E3D7-CBAD-4425-CB5111E14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88930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972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4B3234C8-E3D7-CBAD-4425-CB5111E141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023222"/>
              </p:ext>
            </p:extLst>
          </p:nvPr>
        </p:nvGraphicFramePr>
        <p:xfrm>
          <a:off x="465513" y="415636"/>
          <a:ext cx="11321934" cy="6018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6937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72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B97B3-0CCE-FBB0-D607-1ED96B03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39839A-6B49-0BED-79B2-263AC7010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21055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Стандартная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Стандартная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10</Words>
  <Application>Microsoft Office PowerPoint</Application>
  <PresentationFormat>Широкоэкранный</PresentationFormat>
  <Paragraphs>5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Людмила Герськина</dc:creator>
  <cp:lastModifiedBy>Людмила Герськина</cp:lastModifiedBy>
  <cp:revision>11</cp:revision>
  <dcterms:created xsi:type="dcterms:W3CDTF">2025-09-19T00:50:37Z</dcterms:created>
  <dcterms:modified xsi:type="dcterms:W3CDTF">2025-09-20T13:32:04Z</dcterms:modified>
</cp:coreProperties>
</file>