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8" r:id="rId3"/>
    <p:sldId id="259" r:id="rId4"/>
    <p:sldId id="262" r:id="rId5"/>
    <p:sldId id="260" r:id="rId6"/>
    <p:sldId id="261" r:id="rId7"/>
    <p:sldId id="264" r:id="rId8"/>
    <p:sldId id="263" r:id="rId9"/>
    <p:sldId id="265" r:id="rId10"/>
    <p:sldId id="266" r:id="rId11"/>
    <p:sldId id="267" r:id="rId12"/>
    <p:sldId id="269" r:id="rId13"/>
    <p:sldId id="271" r:id="rId14"/>
    <p:sldId id="270" r:id="rId15"/>
    <p:sldId id="272" r:id="rId16"/>
    <p:sldId id="273" r:id="rId17"/>
    <p:sldId id="274" r:id="rId18"/>
    <p:sldId id="275" r:id="rId19"/>
    <p:sldId id="277" r:id="rId20"/>
    <p:sldId id="276" r:id="rId21"/>
    <p:sldId id="278" r:id="rId22"/>
    <p:sldId id="279" r:id="rId23"/>
    <p:sldId id="280" r:id="rId24"/>
    <p:sldId id="281" r:id="rId25"/>
    <p:sldId id="285" r:id="rId26"/>
    <p:sldId id="282" r:id="rId27"/>
    <p:sldId id="287" r:id="rId28"/>
    <p:sldId id="288" r:id="rId29"/>
    <p:sldId id="289" r:id="rId30"/>
    <p:sldId id="286" r:id="rId31"/>
    <p:sldId id="283" r:id="rId32"/>
    <p:sldId id="290" r:id="rId33"/>
    <p:sldId id="291" r:id="rId34"/>
    <p:sldId id="293" r:id="rId35"/>
    <p:sldId id="294" r:id="rId36"/>
    <p:sldId id="284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E98045"/>
    <a:srgbClr val="CA5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1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1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18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4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57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447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67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67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34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14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559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3554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87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2442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604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945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51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0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4147D-99DF-75B6-572C-97B361B6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034" y="444515"/>
            <a:ext cx="8643154" cy="1887950"/>
          </a:xfrm>
        </p:spPr>
        <p:txBody>
          <a:bodyPr>
            <a:noAutofit/>
          </a:bodyPr>
          <a:lstStyle/>
          <a:p>
            <a:r>
              <a:rPr lang="ru-RU" sz="4800" dirty="0"/>
              <a:t>Введение в </a:t>
            </a:r>
            <a:r>
              <a:rPr lang="en-US" sz="4800" dirty="0"/>
              <a:t>Python, </a:t>
            </a:r>
            <a:r>
              <a:rPr lang="ru-RU" sz="4800" dirty="0"/>
              <a:t>синтаксис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A601BC-B384-4E43-A6D3-F7CF69982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3231" y="5020140"/>
            <a:ext cx="9462805" cy="1012929"/>
          </a:xfrm>
        </p:spPr>
        <p:txBody>
          <a:bodyPr>
            <a:normAutofit/>
          </a:bodyPr>
          <a:lstStyle/>
          <a:p>
            <a:r>
              <a:rPr lang="ru-RU" dirty="0"/>
              <a:t>Лекция </a:t>
            </a:r>
            <a:r>
              <a:rPr lang="ru-RU" dirty="0" err="1"/>
              <a:t>2025г</a:t>
            </a:r>
            <a:r>
              <a:rPr lang="ru-RU" dirty="0"/>
              <a:t>. Гераськина Людмила Александровна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5607E-30CE-5A57-CCC9-A710C04E544F}"/>
              </a:ext>
            </a:extLst>
          </p:cNvPr>
          <p:cNvSpPr txBox="1"/>
          <p:nvPr/>
        </p:nvSpPr>
        <p:spPr>
          <a:xfrm>
            <a:off x="3046686" y="3252217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1F1F1F"/>
                </a:solidFill>
                <a:latin typeface="Roboto" panose="02000000000000000000" pitchFamily="2" charset="0"/>
              </a:rPr>
              <a:t>К уроку </a:t>
            </a:r>
            <a:r>
              <a:rPr lang="en-US" dirty="0">
                <a:solidFill>
                  <a:srgbClr val="1F1F1F"/>
                </a:solidFill>
                <a:latin typeface="Roboto" panose="02000000000000000000" pitchFamily="2" charset="0"/>
              </a:rPr>
              <a:t>3</a:t>
            </a:r>
            <a:r>
              <a:rPr lang="ru-RU" dirty="0">
                <a:solidFill>
                  <a:srgbClr val="1F1F1F"/>
                </a:solidFill>
                <a:latin typeface="Roboto" panose="02000000000000000000" pitchFamily="2" charset="0"/>
              </a:rPr>
              <a:t> по </a:t>
            </a:r>
            <a:r>
              <a:rPr lang="en-US" dirty="0">
                <a:solidFill>
                  <a:srgbClr val="1F1F1F"/>
                </a:solidFill>
                <a:latin typeface="Roboto" panose="02000000000000000000" pitchFamily="2" charset="0"/>
              </a:rPr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4891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7803086-744D-DA99-284A-4377C68DDFC6}"/>
              </a:ext>
            </a:extLst>
          </p:cNvPr>
          <p:cNvSpPr txBox="1"/>
          <p:nvPr/>
        </p:nvSpPr>
        <p:spPr>
          <a:xfrm>
            <a:off x="198120" y="0"/>
            <a:ext cx="11841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Коллекции в </a:t>
            </a:r>
            <a:r>
              <a:rPr lang="en-US" sz="2400" b="1" dirty="0">
                <a:solidFill>
                  <a:srgbClr val="C00000"/>
                </a:solidFill>
              </a:rPr>
              <a:t>Python</a:t>
            </a:r>
            <a:endParaRPr lang="ru-RU" sz="2400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DE2780-6376-E8C7-0A5E-67666C8A8913}"/>
              </a:ext>
            </a:extLst>
          </p:cNvPr>
          <p:cNvSpPr txBox="1"/>
          <p:nvPr/>
        </p:nvSpPr>
        <p:spPr>
          <a:xfrm>
            <a:off x="2690812" y="851238"/>
            <a:ext cx="86563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srgbClr val="1F1F1F"/>
                </a:solidFill>
                <a:latin typeface="Google Sans Text"/>
              </a:rPr>
              <a:t>К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оллекция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— структура данных в Python, набор элементов.</a:t>
            </a:r>
          </a:p>
          <a:p>
            <a:pPr algn="l">
              <a:buNone/>
            </a:pP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Последовательность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— коллекция, элементы которой упорядочены. К элементам последовательности можно обращаться по целочисленным индексам.</a:t>
            </a:r>
          </a:p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К последовательностям относят списки, строки и кортежи. Словари и множества — неупорядоченные коллекции.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21570B-378C-BE66-0321-31C19BC63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922" y="2605564"/>
            <a:ext cx="8428099" cy="403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69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A9ACB-C217-D785-586A-2A6B619A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DBFEE0A-EFB8-3602-1A8F-A708D6207C2B}"/>
              </a:ext>
            </a:extLst>
          </p:cNvPr>
          <p:cNvSpPr txBox="1"/>
          <p:nvPr/>
        </p:nvSpPr>
        <p:spPr>
          <a:xfrm>
            <a:off x="190500" y="44857"/>
            <a:ext cx="1181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Списки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B4B6F-4DC5-9BA7-4A2A-17C803DCEC3D}"/>
              </a:ext>
            </a:extLst>
          </p:cNvPr>
          <p:cNvSpPr txBox="1"/>
          <p:nvPr/>
        </p:nvSpPr>
        <p:spPr>
          <a:xfrm>
            <a:off x="2362200" y="843677"/>
            <a:ext cx="92811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Списки </a:t>
            </a:r>
            <a:r>
              <a:rPr lang="ru-RU" dirty="0"/>
              <a:t>– это тип данных ,который позволяет хранить упорядоченные коллекции элементов. Список может содержать элементы разных типов (числа, строки, булевы значения, другие списки и т.д.).</a:t>
            </a:r>
          </a:p>
          <a:p>
            <a:endParaRPr lang="ru-RU" dirty="0"/>
          </a:p>
          <a:p>
            <a:r>
              <a:rPr lang="ru-RU" b="1" dirty="0"/>
              <a:t>Список </a:t>
            </a:r>
            <a:r>
              <a:rPr lang="ru-RU" dirty="0"/>
              <a:t>– это изменяемая последовательность элементов. Это означает, что вы можете добавлять, удалять и изменять элементы списка после его создания. Списки похожи на массивы в других языках программирования, но с большей гибкостью.</a:t>
            </a:r>
          </a:p>
          <a:p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AA88146-C5E8-83AB-B537-BFE1F2222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2360" y="3208100"/>
            <a:ext cx="5205413" cy="3605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96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23DC-E11B-126B-93D5-E7A2D279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E7C3AFC-953B-0144-84C6-5C70694CBBFB}"/>
              </a:ext>
            </a:extLst>
          </p:cNvPr>
          <p:cNvSpPr txBox="1"/>
          <p:nvPr/>
        </p:nvSpPr>
        <p:spPr>
          <a:xfrm>
            <a:off x="190500" y="44857"/>
            <a:ext cx="1181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Списки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A953E-5AE0-7C91-5719-AAF8E1EAA2F6}"/>
              </a:ext>
            </a:extLst>
          </p:cNvPr>
          <p:cNvSpPr txBox="1"/>
          <p:nvPr/>
        </p:nvSpPr>
        <p:spPr>
          <a:xfrm>
            <a:off x="3048000" y="1196787"/>
            <a:ext cx="609600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empty_list</a:t>
            </a:r>
            <a:r>
              <a:rPr lang="en-US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[]</a:t>
            </a:r>
            <a:r>
              <a:rPr lang="ru-RU" sz="2000" dirty="0">
                <a:solidFill>
                  <a:srgbClr val="008000"/>
                </a:solidFill>
                <a:latin typeface="Courier New" panose="02070309020205020404" pitchFamily="49" charset="0"/>
              </a:rPr>
              <a:t> # Пустой список</a:t>
            </a:r>
            <a:endParaRPr lang="ru-RU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A0EED-C7E1-E3FC-FAE4-604DFCD9B7F1}"/>
              </a:ext>
            </a:extLst>
          </p:cNvPr>
          <p:cNvSpPr txBox="1"/>
          <p:nvPr/>
        </p:nvSpPr>
        <p:spPr>
          <a:xfrm>
            <a:off x="3048000" y="2080707"/>
            <a:ext cx="841248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numbers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ru-RU" sz="2000" dirty="0">
                <a:solidFill>
                  <a:srgbClr val="008000"/>
                </a:solidFill>
                <a:latin typeface="Courier New" panose="02070309020205020404" pitchFamily="49" charset="0"/>
              </a:rPr>
              <a:t> # Список чисел</a:t>
            </a:r>
            <a:endParaRPr lang="ru-RU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ru-RU" sz="20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5FC2AF-5509-D7D4-CF73-BDE035FE968C}"/>
              </a:ext>
            </a:extLst>
          </p:cNvPr>
          <p:cNvSpPr txBox="1"/>
          <p:nvPr/>
        </p:nvSpPr>
        <p:spPr>
          <a:xfrm>
            <a:off x="3048000" y="3040827"/>
            <a:ext cx="859536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ru-RU" sz="200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"яблоко"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"банан"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"апельсин"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ru-RU" sz="2000" dirty="0">
                <a:solidFill>
                  <a:srgbClr val="008000"/>
                </a:solidFill>
                <a:latin typeface="Courier New" panose="02070309020205020404" pitchFamily="49" charset="0"/>
              </a:rPr>
              <a:t> # Список строк</a:t>
            </a:r>
            <a:endParaRPr lang="ru-RU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ru-RU" sz="20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14F563-CDDB-F69C-2D34-6295C8358669}"/>
              </a:ext>
            </a:extLst>
          </p:cNvPr>
          <p:cNvSpPr txBox="1"/>
          <p:nvPr/>
        </p:nvSpPr>
        <p:spPr>
          <a:xfrm>
            <a:off x="2179320" y="827455"/>
            <a:ext cx="841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Списки создаются с помощью квадратных скобок [ ] и запятых 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2A617-BCD9-29DD-55A6-555536B09E03}"/>
              </a:ext>
            </a:extLst>
          </p:cNvPr>
          <p:cNvSpPr txBox="1"/>
          <p:nvPr/>
        </p:nvSpPr>
        <p:spPr>
          <a:xfrm>
            <a:off x="3048000" y="3957058"/>
            <a:ext cx="757428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0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Список разных типов данных</a:t>
            </a:r>
            <a:endParaRPr lang="ru-RU" sz="20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my_list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sz="200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hello</a:t>
            </a:r>
            <a:r>
              <a:rPr lang="ru-RU" sz="200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3.14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[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DA8F90-A256-1BA9-1AD3-C80624E61BDF}"/>
              </a:ext>
            </a:extLst>
          </p:cNvPr>
          <p:cNvSpPr txBox="1"/>
          <p:nvPr/>
        </p:nvSpPr>
        <p:spPr>
          <a:xfrm>
            <a:off x="3048000" y="5172617"/>
            <a:ext cx="794004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00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Список списков (вложенный список)</a:t>
            </a:r>
            <a:endParaRPr lang="ru-RU" sz="20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nested_list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[[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[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ru-RU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2784025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3E9B0-4437-0704-3D13-41C662A7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CDB1176-AA05-1A2B-605F-587FCE6542C9}"/>
              </a:ext>
            </a:extLst>
          </p:cNvPr>
          <p:cNvSpPr txBox="1"/>
          <p:nvPr/>
        </p:nvSpPr>
        <p:spPr>
          <a:xfrm>
            <a:off x="190500" y="44857"/>
            <a:ext cx="1181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Списки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E0C5B-2280-8A56-926F-6F9369C7DC2C}"/>
              </a:ext>
            </a:extLst>
          </p:cNvPr>
          <p:cNvSpPr txBox="1"/>
          <p:nvPr/>
        </p:nvSpPr>
        <p:spPr>
          <a:xfrm>
            <a:off x="2286000" y="714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Основные операции со списками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DDF07-DF67-3853-6631-8F868C147BA0}"/>
              </a:ext>
            </a:extLst>
          </p:cNvPr>
          <p:cNvSpPr txBox="1"/>
          <p:nvPr/>
        </p:nvSpPr>
        <p:spPr>
          <a:xfrm>
            <a:off x="2286000" y="12917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1. Доступ к элементам (индексация)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95EAE-0296-4F18-2D13-5FAE7F54B72C}"/>
              </a:ext>
            </a:extLst>
          </p:cNvPr>
          <p:cNvSpPr txBox="1"/>
          <p:nvPr/>
        </p:nvSpPr>
        <p:spPr>
          <a:xfrm>
            <a:off x="2286000" y="1869102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Каждый элемент в списке имеет свой индекс, который начинается с 0. Вы можете получить доступ к элементу списка, указав его индекс в квадратных скобках.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C6A0E1-EF5C-9AC7-9682-3EB19589980D}"/>
              </a:ext>
            </a:extLst>
          </p:cNvPr>
          <p:cNvSpPr txBox="1"/>
          <p:nvPr/>
        </p:nvSpPr>
        <p:spPr>
          <a:xfrm>
            <a:off x="2286000" y="2875592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 = 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яблоко"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"банан"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"апельсин"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5E26F6-875D-4498-21C9-3FFAC426E702}"/>
              </a:ext>
            </a:extLst>
          </p:cNvPr>
          <p:cNvSpPr txBox="1"/>
          <p:nvPr/>
        </p:nvSpPr>
        <p:spPr>
          <a:xfrm>
            <a:off x="2286000" y="3440546"/>
            <a:ext cx="9128760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(fruits[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Выводит "яблоко" (элемент с индексом 0)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(fruits[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Выводит "банан" (элемент с индексом 1)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(fruits[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Выводит "апельсин" (элемент с индексом 2)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88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58084-56F0-2C1B-1E31-CDC3354B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3D9961D-866E-0A62-647F-33A42D2C4A1C}"/>
              </a:ext>
            </a:extLst>
          </p:cNvPr>
          <p:cNvSpPr txBox="1"/>
          <p:nvPr/>
        </p:nvSpPr>
        <p:spPr>
          <a:xfrm>
            <a:off x="190500" y="44857"/>
            <a:ext cx="1181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Списки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6E1505-7E2A-F383-0153-76E22637CA85}"/>
              </a:ext>
            </a:extLst>
          </p:cNvPr>
          <p:cNvSpPr txBox="1"/>
          <p:nvPr/>
        </p:nvSpPr>
        <p:spPr>
          <a:xfrm>
            <a:off x="2407920" y="964403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1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Получение индекса нужного нам элемента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0932BD-52B3-B1D7-F8C6-D711F57F05EF}"/>
              </a:ext>
            </a:extLst>
          </p:cNvPr>
          <p:cNvSpPr txBox="1"/>
          <p:nvPr/>
        </p:nvSpPr>
        <p:spPr>
          <a:xfrm>
            <a:off x="1722120" y="1411415"/>
            <a:ext cx="1066800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index_of_banana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fruits.index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банан"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используем метод.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index</a:t>
            </a:r>
            <a:endParaRPr lang="ru-RU" sz="2000" b="0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index_of_banana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fruits.index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яблоко"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E87DFB-CD0A-14DB-965D-881B2BDFB5C3}"/>
              </a:ext>
            </a:extLst>
          </p:cNvPr>
          <p:cNvSpPr txBox="1"/>
          <p:nvPr/>
        </p:nvSpPr>
        <p:spPr>
          <a:xfrm>
            <a:off x="1722120" y="4469394"/>
            <a:ext cx="989076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ru-RU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Выводит "апельсин" (последний элемент)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sz="20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ru-RU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-2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Выводит "банан" (предпоследний элемент)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298FD2-2A3E-03D1-BF59-EA81D47D6BF1}"/>
              </a:ext>
            </a:extLst>
          </p:cNvPr>
          <p:cNvSpPr txBox="1"/>
          <p:nvPr/>
        </p:nvSpPr>
        <p:spPr>
          <a:xfrm>
            <a:off x="2407920" y="3095083"/>
            <a:ext cx="8907780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b="1" dirty="0">
                <a:solidFill>
                  <a:srgbClr val="002060"/>
                </a:solidFill>
                <a:effectLst/>
                <a:latin typeface="Courier New" panose="02070309020205020404" pitchFamily="49" charset="0"/>
              </a:rPr>
              <a:t>Отрицательные индексы: </a:t>
            </a:r>
          </a:p>
          <a:p>
            <a:pPr>
              <a:lnSpc>
                <a:spcPct val="150000"/>
              </a:lnSpc>
              <a:buNone/>
            </a:pPr>
            <a:r>
              <a:rPr lang="ru-RU" b="0" dirty="0">
                <a:effectLst/>
                <a:latin typeface="Courier New" panose="02070309020205020404" pitchFamily="49" charset="0"/>
              </a:rPr>
              <a:t>позволяют получить доступ к элементам с конца списка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75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AB38-669F-F404-248D-EA225658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649CB06-E5D0-5484-3B50-EA42EE900848}"/>
              </a:ext>
            </a:extLst>
          </p:cNvPr>
          <p:cNvSpPr txBox="1"/>
          <p:nvPr/>
        </p:nvSpPr>
        <p:spPr>
          <a:xfrm>
            <a:off x="190500" y="44857"/>
            <a:ext cx="1181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Списки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C2A7B-296A-FB34-DAF6-92B5E32A5A01}"/>
              </a:ext>
            </a:extLst>
          </p:cNvPr>
          <p:cNvSpPr txBox="1"/>
          <p:nvPr/>
        </p:nvSpPr>
        <p:spPr>
          <a:xfrm>
            <a:off x="2468880" y="7754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Добавление элементов: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D93BC-9978-DC4E-29E5-41F192234827}"/>
              </a:ext>
            </a:extLst>
          </p:cNvPr>
          <p:cNvSpPr txBox="1"/>
          <p:nvPr/>
        </p:nvSpPr>
        <p:spPr>
          <a:xfrm>
            <a:off x="2468880" y="14137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append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():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Добавляет элемент в конец списка.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7E130-3424-231E-6A54-D2E4FA458C6C}"/>
              </a:ext>
            </a:extLst>
          </p:cNvPr>
          <p:cNvSpPr txBox="1"/>
          <p:nvPr/>
        </p:nvSpPr>
        <p:spPr>
          <a:xfrm>
            <a:off x="3566160" y="2051982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fruits.append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апельсин"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4CB4D-A436-ED83-A625-844634C8095C}"/>
              </a:ext>
            </a:extLst>
          </p:cNvPr>
          <p:cNvSpPr txBox="1"/>
          <p:nvPr/>
        </p:nvSpPr>
        <p:spPr>
          <a:xfrm>
            <a:off x="2468880" y="26171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insert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():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Добавляет элемент в указанную позицию (индекс).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0CB7F-15A6-002F-BE77-0B351497FA8B}"/>
              </a:ext>
            </a:extLst>
          </p:cNvPr>
          <p:cNvSpPr txBox="1"/>
          <p:nvPr/>
        </p:nvSpPr>
        <p:spPr>
          <a:xfrm>
            <a:off x="3566160" y="3255413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fruits.insert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киви"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BA7E1E-680B-6BA6-384C-3261EEDEDF1C}"/>
              </a:ext>
            </a:extLst>
          </p:cNvPr>
          <p:cNvSpPr txBox="1"/>
          <p:nvPr/>
        </p:nvSpPr>
        <p:spPr>
          <a:xfrm>
            <a:off x="2468880" y="3735754"/>
            <a:ext cx="800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extend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():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Добавляет все элементы из другого списка в конец текущего списка.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7F5C1E-67D6-1269-126A-CBB84BEAC005}"/>
              </a:ext>
            </a:extLst>
          </p:cNvPr>
          <p:cNvSpPr txBox="1"/>
          <p:nvPr/>
        </p:nvSpPr>
        <p:spPr>
          <a:xfrm>
            <a:off x="3566160" y="4463414"/>
            <a:ext cx="800100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fruits.extend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more_fruits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# </a:t>
            </a:r>
            <a:r>
              <a:rPr lang="ru-RU" dirty="0">
                <a:solidFill>
                  <a:srgbClr val="1F1F1F"/>
                </a:solidFill>
                <a:latin typeface="Google Sans Text"/>
              </a:rPr>
              <a:t>где </a:t>
            </a:r>
            <a:r>
              <a:rPr lang="en-US" dirty="0" err="1">
                <a:solidFill>
                  <a:srgbClr val="1F1F1F"/>
                </a:solidFill>
                <a:latin typeface="Google Sans Text"/>
              </a:rPr>
              <a:t>more_fruits</a:t>
            </a:r>
            <a:r>
              <a:rPr lang="en-US" dirty="0">
                <a:solidFill>
                  <a:srgbClr val="1F1F1F"/>
                </a:solidFill>
                <a:latin typeface="Google Sans Text"/>
              </a:rPr>
              <a:t> </a:t>
            </a:r>
            <a:r>
              <a:rPr lang="ru-RU" dirty="0">
                <a:solidFill>
                  <a:srgbClr val="1F1F1F"/>
                </a:solidFill>
                <a:latin typeface="Google Sans Text"/>
              </a:rPr>
              <a:t> др. список</a:t>
            </a:r>
            <a:endParaRPr lang="en-US" dirty="0">
              <a:solidFill>
                <a:srgbClr val="1F1F1F"/>
              </a:solidFill>
              <a:latin typeface="Google Sans Text"/>
            </a:endParaRPr>
          </a:p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15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1725C-A2D1-CB42-8DB1-B66B488B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8AA22E1-926D-8230-1F70-BAC504150170}"/>
              </a:ext>
            </a:extLst>
          </p:cNvPr>
          <p:cNvSpPr txBox="1"/>
          <p:nvPr/>
        </p:nvSpPr>
        <p:spPr>
          <a:xfrm>
            <a:off x="190500" y="44857"/>
            <a:ext cx="1181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Списки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68279-2FA9-1189-012C-6FB0F65D1133}"/>
              </a:ext>
            </a:extLst>
          </p:cNvPr>
          <p:cNvSpPr txBox="1"/>
          <p:nvPr/>
        </p:nvSpPr>
        <p:spPr>
          <a:xfrm>
            <a:off x="2240280" y="8364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Удаление элементов: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F01F9-5812-8D3B-651C-B872E64CE67F}"/>
              </a:ext>
            </a:extLst>
          </p:cNvPr>
          <p:cNvSpPr txBox="1"/>
          <p:nvPr/>
        </p:nvSpPr>
        <p:spPr>
          <a:xfrm>
            <a:off x="2240280" y="14137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remove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():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Удаляет первое вхождение указанного элемента.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A30A48-C2D8-0C32-3A1B-20B8EB92905E}"/>
              </a:ext>
            </a:extLst>
          </p:cNvPr>
          <p:cNvSpPr txBox="1"/>
          <p:nvPr/>
        </p:nvSpPr>
        <p:spPr>
          <a:xfrm>
            <a:off x="3307080" y="1919104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fruits.remove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банан"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A31294-8E31-3D70-2CA2-993AC616D8CB}"/>
              </a:ext>
            </a:extLst>
          </p:cNvPr>
          <p:cNvSpPr txBox="1"/>
          <p:nvPr/>
        </p:nvSpPr>
        <p:spPr>
          <a:xfrm>
            <a:off x="2240280" y="2271464"/>
            <a:ext cx="719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pop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():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Удаляет элемент по указанному индексу и возвращает его.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B735F-21F5-0A61-6F43-EB0123A071AB}"/>
              </a:ext>
            </a:extLst>
          </p:cNvPr>
          <p:cNvSpPr txBox="1"/>
          <p:nvPr/>
        </p:nvSpPr>
        <p:spPr>
          <a:xfrm>
            <a:off x="3307080" y="2793202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removed_fruit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fruits.pop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D8A46B-D90A-BA65-3D78-A0079AE64A8A}"/>
              </a:ext>
            </a:extLst>
          </p:cNvPr>
          <p:cNvSpPr txBox="1"/>
          <p:nvPr/>
        </p:nvSpPr>
        <p:spPr>
          <a:xfrm>
            <a:off x="2240280" y="3165643"/>
            <a:ext cx="8366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Если индекс не указан, </a:t>
            </a: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pop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()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удаляет и возвращает 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последний элемент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024BF6-0D3F-A3A5-5421-AB677DF1F98F}"/>
              </a:ext>
            </a:extLst>
          </p:cNvPr>
          <p:cNvSpPr txBox="1"/>
          <p:nvPr/>
        </p:nvSpPr>
        <p:spPr>
          <a:xfrm>
            <a:off x="3307080" y="3672141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last_fruit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fruits.pop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07EDB5-4073-730D-E7E6-438F825C0110}"/>
              </a:ext>
            </a:extLst>
          </p:cNvPr>
          <p:cNvSpPr txBox="1"/>
          <p:nvPr/>
        </p:nvSpPr>
        <p:spPr>
          <a:xfrm>
            <a:off x="2240280" y="4055539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del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Удаляет элемент по индексу (или удаляет список целиком).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B5A572-31CC-C377-2364-E477B5A499A6}"/>
              </a:ext>
            </a:extLst>
          </p:cNvPr>
          <p:cNvSpPr txBox="1"/>
          <p:nvPr/>
        </p:nvSpPr>
        <p:spPr>
          <a:xfrm>
            <a:off x="3375660" y="4636574"/>
            <a:ext cx="701802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del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 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Удаляем элемент с индексом 0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DFAFA2-C707-BD07-B0A2-B81C44D3513B}"/>
              </a:ext>
            </a:extLst>
          </p:cNvPr>
          <p:cNvSpPr txBox="1"/>
          <p:nvPr/>
        </p:nvSpPr>
        <p:spPr>
          <a:xfrm>
            <a:off x="3375660" y="5151799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del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Удаляем список целиком 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341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776C9-5A4D-51FA-AC82-E86AF4C0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2D78A20-27A4-2C49-F811-BE9A2FE13E10}"/>
              </a:ext>
            </a:extLst>
          </p:cNvPr>
          <p:cNvSpPr txBox="1"/>
          <p:nvPr/>
        </p:nvSpPr>
        <p:spPr>
          <a:xfrm>
            <a:off x="190500" y="44857"/>
            <a:ext cx="1181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Списки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D91A6-79BE-8292-C7D0-9FA7604633F1}"/>
              </a:ext>
            </a:extLst>
          </p:cNvPr>
          <p:cNvSpPr txBox="1"/>
          <p:nvPr/>
        </p:nvSpPr>
        <p:spPr>
          <a:xfrm>
            <a:off x="2148840" y="728395"/>
            <a:ext cx="844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Срезы 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-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позволяют получить часть списка по индексам, создав новый список.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A4C32-EFB2-BB13-F9F2-A6698D2839D3}"/>
              </a:ext>
            </a:extLst>
          </p:cNvPr>
          <p:cNvSpPr txBox="1"/>
          <p:nvPr/>
        </p:nvSpPr>
        <p:spPr>
          <a:xfrm>
            <a:off x="2148840" y="1319600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numbers = 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E705A8-8919-BE9F-6A5E-3F3E3DB42E12}"/>
              </a:ext>
            </a:extLst>
          </p:cNvPr>
          <p:cNvSpPr txBox="1"/>
          <p:nvPr/>
        </p:nvSpPr>
        <p:spPr>
          <a:xfrm>
            <a:off x="2148840" y="1837708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(numbers[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[2, 3, 4] 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F42489-84CD-D0EF-C045-4929EEB1D9BB}"/>
              </a:ext>
            </a:extLst>
          </p:cNvPr>
          <p:cNvSpPr txBox="1"/>
          <p:nvPr/>
        </p:nvSpPr>
        <p:spPr>
          <a:xfrm>
            <a:off x="2148840" y="2355816"/>
            <a:ext cx="1004316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numbers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  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элементы с начала до индекса 3, не включая его)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452917-3AF9-F871-851A-88EDDEB7E431}"/>
              </a:ext>
            </a:extLst>
          </p:cNvPr>
          <p:cNvSpPr txBox="1"/>
          <p:nvPr/>
        </p:nvSpPr>
        <p:spPr>
          <a:xfrm>
            <a:off x="2148840" y="2873924"/>
            <a:ext cx="1025652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numbers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:])    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элементы с индекса 7 до конца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79FB7C-16A7-8E35-270E-DDBAD230D84A}"/>
              </a:ext>
            </a:extLst>
          </p:cNvPr>
          <p:cNvSpPr txBox="1"/>
          <p:nvPr/>
        </p:nvSpPr>
        <p:spPr>
          <a:xfrm>
            <a:off x="2148840" y="3392032"/>
            <a:ext cx="957072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numbers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[:])    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копия всего списка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40FDDD-A072-6654-ADDB-B4F54C95329B}"/>
              </a:ext>
            </a:extLst>
          </p:cNvPr>
          <p:cNvSpPr txBox="1"/>
          <p:nvPr/>
        </p:nvSpPr>
        <p:spPr>
          <a:xfrm>
            <a:off x="2148840" y="3910140"/>
            <a:ext cx="985266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numbers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[::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каждый второй элемент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91B910-D66A-E179-3B5E-A941430578BB}"/>
              </a:ext>
            </a:extLst>
          </p:cNvPr>
          <p:cNvSpPr txBox="1"/>
          <p:nvPr/>
        </p:nvSpPr>
        <p:spPr>
          <a:xfrm>
            <a:off x="2148840" y="4428248"/>
            <a:ext cx="885444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(numbers[::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</a:t>
            </a:r>
            <a:r>
              <a:rPr lang="ru-RU" dirty="0">
                <a:solidFill>
                  <a:srgbClr val="008000"/>
                </a:solidFill>
                <a:latin typeface="Courier New" panose="02070309020205020404" pitchFamily="49" charset="0"/>
              </a:rPr>
              <a:t>список в обратном порядке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930D4B-F3F8-DD81-1A4D-E265AC834BAC}"/>
              </a:ext>
            </a:extLst>
          </p:cNvPr>
          <p:cNvSpPr txBox="1"/>
          <p:nvPr/>
        </p:nvSpPr>
        <p:spPr>
          <a:xfrm>
            <a:off x="2164080" y="4904019"/>
            <a:ext cx="620268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my_list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[] </a:t>
            </a:r>
            <a:r>
              <a:rPr lang="ru-RU" dirty="0">
                <a:solidFill>
                  <a:srgbClr val="008000"/>
                </a:solidFill>
                <a:latin typeface="Courier New" panose="02070309020205020404" pitchFamily="49" charset="0"/>
              </a:rPr>
              <a:t># удаление с помощью среза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D481E1-4A22-3B71-4EE9-21FAA44AE867}"/>
              </a:ext>
            </a:extLst>
          </p:cNvPr>
          <p:cNvSpPr txBox="1"/>
          <p:nvPr/>
        </p:nvSpPr>
        <p:spPr>
          <a:xfrm>
            <a:off x="2194560" y="5410509"/>
            <a:ext cx="98298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my_list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[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 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выбрали 2,3,4 и заменили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на 6,7,8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33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3648-0185-5075-E4B9-D29A3129B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0F7F07C-1783-F2A1-8690-250E1306F11B}"/>
              </a:ext>
            </a:extLst>
          </p:cNvPr>
          <p:cNvSpPr txBox="1"/>
          <p:nvPr/>
        </p:nvSpPr>
        <p:spPr>
          <a:xfrm>
            <a:off x="190500" y="44857"/>
            <a:ext cx="11811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Списки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876E3-1820-50EF-B6A5-EA13F0D9BB27}"/>
              </a:ext>
            </a:extLst>
          </p:cNvPr>
          <p:cNvSpPr txBox="1"/>
          <p:nvPr/>
        </p:nvSpPr>
        <p:spPr>
          <a:xfrm>
            <a:off x="2225040" y="6382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Методы списков: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6706D-C239-15C8-7898-9E02DEE84D65}"/>
              </a:ext>
            </a:extLst>
          </p:cNvPr>
          <p:cNvSpPr txBox="1"/>
          <p:nvPr/>
        </p:nvSpPr>
        <p:spPr>
          <a:xfrm>
            <a:off x="2575560" y="11393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sort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():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Сортирует элементы списка в порядке возрастания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032DF-9943-8BEB-9D44-556411958465}"/>
              </a:ext>
            </a:extLst>
          </p:cNvPr>
          <p:cNvSpPr txBox="1"/>
          <p:nvPr/>
        </p:nvSpPr>
        <p:spPr>
          <a:xfrm>
            <a:off x="2575560" y="1640502"/>
            <a:ext cx="8869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sorted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()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— используется для создания 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нового отсортированного списка</a:t>
            </a: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40BC2E-2F17-1CC8-EADF-8FAC55FD240E}"/>
              </a:ext>
            </a:extLst>
          </p:cNvPr>
          <p:cNvSpPr txBox="1"/>
          <p:nvPr/>
        </p:nvSpPr>
        <p:spPr>
          <a:xfrm>
            <a:off x="3710940" y="2141606"/>
            <a:ext cx="8290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reverse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— это именованный аргумент функции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sorted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().</a:t>
            </a:r>
          </a:p>
          <a:p>
            <a:pPr algn="l">
              <a:buNone/>
            </a:pP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reverse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=True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указывает, что сортировку нужно выполнить в обратном порядке,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545E1E-1306-5316-64FE-CC220571EC19}"/>
              </a:ext>
            </a:extLst>
          </p:cNvPr>
          <p:cNvSpPr txBox="1"/>
          <p:nvPr/>
        </p:nvSpPr>
        <p:spPr>
          <a:xfrm>
            <a:off x="2575560" y="3105834"/>
            <a:ext cx="9159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reverse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():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Изменяет порядок элементов списка на обратный. Изменяет исходный список.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9EB6C6-51B9-F9A2-BF63-C8B94EF4C5AC}"/>
              </a:ext>
            </a:extLst>
          </p:cNvPr>
          <p:cNvSpPr txBox="1"/>
          <p:nvPr/>
        </p:nvSpPr>
        <p:spPr>
          <a:xfrm>
            <a:off x="2575560" y="3644918"/>
            <a:ext cx="899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count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():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Возвращает количество вхождений указанного элемента в список.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6C9E43-CC63-B868-9FAA-357B156F736D}"/>
              </a:ext>
            </a:extLst>
          </p:cNvPr>
          <p:cNvSpPr txBox="1"/>
          <p:nvPr/>
        </p:nvSpPr>
        <p:spPr>
          <a:xfrm>
            <a:off x="2575560" y="4248000"/>
            <a:ext cx="899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index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():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Возвращает индекс первого вхождения указанного элемента в список.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F609BA-EA7B-4372-86BD-9DEC09A6D1F0}"/>
              </a:ext>
            </a:extLst>
          </p:cNvPr>
          <p:cNvSpPr txBox="1"/>
          <p:nvPr/>
        </p:nvSpPr>
        <p:spPr>
          <a:xfrm>
            <a:off x="2575560" y="48510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C00000"/>
                </a:solidFill>
                <a:effectLst/>
                <a:latin typeface="Google Sans Text"/>
              </a:rPr>
              <a:t>copy</a:t>
            </a: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():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Создает поверхностную копию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171071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3850E-E19A-52AE-A527-F9952C2A1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780363B-E166-EDAE-39DC-02ADEAD67DB1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for </a:t>
            </a:r>
            <a:r>
              <a:rPr lang="ru-RU" b="1" dirty="0">
                <a:solidFill>
                  <a:srgbClr val="C00000"/>
                </a:solidFill>
              </a:rPr>
              <a:t>цикл и списки: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088079-AAE7-A0B6-7F0F-3DED12C3AE1D}"/>
              </a:ext>
            </a:extLst>
          </p:cNvPr>
          <p:cNvSpPr txBox="1"/>
          <p:nvPr/>
        </p:nvSpPr>
        <p:spPr>
          <a:xfrm>
            <a:off x="2225040" y="794158"/>
            <a:ext cx="9220200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"яблоко"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"банан"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"апельсин"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ct val="150000"/>
              </a:lnSpc>
              <a:buNone/>
            </a:pPr>
            <a:r>
              <a:rPr lang="ru-RU" b="0" dirty="0" err="1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fruits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 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проходим по списку  и выводим на печать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ru-RU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fruit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62C32B-0946-1B40-DAC4-29C7FC5D17DB}"/>
              </a:ext>
            </a:extLst>
          </p:cNvPr>
          <p:cNvSpPr txBox="1"/>
          <p:nvPr/>
        </p:nvSpPr>
        <p:spPr>
          <a:xfrm>
            <a:off x="5044440" y="23385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C00000"/>
                </a:solidFill>
                <a:effectLst/>
                <a:latin typeface="Google Sans Text"/>
              </a:rPr>
              <a:t>генераторы списков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2EF93-83CE-9A70-4598-EF9F77919A78}"/>
              </a:ext>
            </a:extLst>
          </p:cNvPr>
          <p:cNvSpPr txBox="1"/>
          <p:nvPr/>
        </p:nvSpPr>
        <p:spPr>
          <a:xfrm>
            <a:off x="2225040" y="2948013"/>
            <a:ext cx="6096000" cy="65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squares = [x**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)]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(squares) </a:t>
            </a:r>
          </a:p>
        </p:txBody>
      </p:sp>
    </p:spTree>
    <p:extLst>
      <p:ext uri="{BB962C8B-B14F-4D97-AF65-F5344CB8AC3E}">
        <p14:creationId xmlns:p14="http://schemas.microsoft.com/office/powerpoint/2010/main" val="2755432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9BCCC-D7BE-215B-0B5C-F1EF907D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9D5192F-D4EE-EADB-1A89-B499B0A89916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Кортеж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0EBB90-4BEF-E926-9505-6AE4B73751C5}"/>
              </a:ext>
            </a:extLst>
          </p:cNvPr>
          <p:cNvSpPr txBox="1"/>
          <p:nvPr/>
        </p:nvSpPr>
        <p:spPr>
          <a:xfrm>
            <a:off x="2164080" y="1285161"/>
            <a:ext cx="98755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Кортеж </a:t>
            </a:r>
            <a:r>
              <a:rPr lang="ru-RU" dirty="0"/>
              <a:t>— это упорядоченная, неизменяемая коллекция элементов.</a:t>
            </a:r>
          </a:p>
          <a:p>
            <a:endParaRPr lang="ru-RU" dirty="0"/>
          </a:p>
          <a:p>
            <a:r>
              <a:rPr lang="ru-RU" b="1" dirty="0"/>
              <a:t>Особенности</a:t>
            </a:r>
          </a:p>
          <a:p>
            <a:endParaRPr lang="ru-RU" dirty="0"/>
          </a:p>
          <a:p>
            <a:r>
              <a:rPr lang="ru-RU" dirty="0"/>
              <a:t>Упорядоченная: Элементы в кортеже имеют определенный порядок, и этот порядок сохраняется.</a:t>
            </a:r>
          </a:p>
          <a:p>
            <a:endParaRPr lang="ru-RU" dirty="0"/>
          </a:p>
          <a:p>
            <a:r>
              <a:rPr lang="ru-RU" dirty="0"/>
              <a:t>Неизменяемая: После создания кортежа вы не можете изменить его содержимое (добавлять, удалять или изменять элементы). Это главное отличие от списков.</a:t>
            </a:r>
          </a:p>
        </p:txBody>
      </p:sp>
    </p:spTree>
    <p:extLst>
      <p:ext uri="{BB962C8B-B14F-4D97-AF65-F5344CB8AC3E}">
        <p14:creationId xmlns:p14="http://schemas.microsoft.com/office/powerpoint/2010/main" val="872213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028A-1266-720B-B6BE-9EE0ED978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84FFA23-1697-8B87-DABB-B30E4E0545DC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Кортеж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F3F1E-4E41-41AD-C935-BA71EB21DCF2}"/>
              </a:ext>
            </a:extLst>
          </p:cNvPr>
          <p:cNvSpPr txBox="1"/>
          <p:nvPr/>
        </p:nvSpPr>
        <p:spPr>
          <a:xfrm>
            <a:off x="2209800" y="1495888"/>
            <a:ext cx="6096000" cy="102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empty_tuple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()</a:t>
            </a:r>
            <a:r>
              <a:rPr lang="ru-RU" dirty="0">
                <a:solidFill>
                  <a:srgbClr val="008000"/>
                </a:solidFill>
                <a:latin typeface="Courier New" panose="02070309020205020404" pitchFamily="49" charset="0"/>
              </a:rPr>
              <a:t> # Пустой кортеж</a:t>
            </a:r>
            <a:endParaRPr lang="ru-RU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urier New" panose="02070309020205020404" pitchFamily="49" charset="0"/>
              </a:rPr>
              <a:t># или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test_tuple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tuple()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urier New" panose="02070309020205020404" pitchFamily="49" charset="0"/>
              </a:rPr>
              <a:t># Пустой кортеж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9FB2A3-E438-9CDF-FF8E-7EF9E2948AA8}"/>
              </a:ext>
            </a:extLst>
          </p:cNvPr>
          <p:cNvSpPr txBox="1"/>
          <p:nvPr/>
        </p:nvSpPr>
        <p:spPr>
          <a:xfrm>
            <a:off x="2209800" y="3079655"/>
            <a:ext cx="982980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single_element_tuple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яблоко"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,)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</a:rPr>
              <a:t>#</a:t>
            </a:r>
            <a:r>
              <a:rPr lang="ru-RU" dirty="0">
                <a:solidFill>
                  <a:srgbClr val="00B050"/>
                </a:solidFill>
                <a:latin typeface="Courier New" panose="02070309020205020404" pitchFamily="49" charset="0"/>
              </a:rPr>
              <a:t>поставили «,» </a:t>
            </a:r>
          </a:p>
          <a:p>
            <a:pPr>
              <a:lnSpc>
                <a:spcPts val="1425"/>
              </a:lnSpc>
              <a:buNone/>
            </a:pPr>
            <a:r>
              <a:rPr lang="ru-RU" dirty="0">
                <a:solidFill>
                  <a:srgbClr val="00B050"/>
                </a:solidFill>
                <a:latin typeface="Courier New" panose="02070309020205020404" pitchFamily="49" charset="0"/>
              </a:rPr>
              <a:t>										Воспринимает как 1 элемент</a:t>
            </a:r>
            <a:r>
              <a:rPr lang="ru-RU" b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EC533-F9BF-D8CD-5836-9BD82573BEF1}"/>
              </a:ext>
            </a:extLst>
          </p:cNvPr>
          <p:cNvSpPr txBox="1"/>
          <p:nvPr/>
        </p:nvSpPr>
        <p:spPr>
          <a:xfrm>
            <a:off x="2209800" y="2525657"/>
            <a:ext cx="85344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test_tuple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ru-RU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tuple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#кортеж из </a:t>
            </a:r>
            <a:r>
              <a:rPr lang="ru-RU" b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сп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иска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E0787F-2299-E9AD-5BE4-58AE1E1A422D}"/>
              </a:ext>
            </a:extLst>
          </p:cNvPr>
          <p:cNvSpPr txBox="1"/>
          <p:nvPr/>
        </p:nvSpPr>
        <p:spPr>
          <a:xfrm>
            <a:off x="2247900" y="3652213"/>
            <a:ext cx="100965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test_tuple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tururum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кортеж из строки разделит по буквам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FAF9E8-6147-19AA-8747-D0C3CFCD0186}"/>
              </a:ext>
            </a:extLst>
          </p:cNvPr>
          <p:cNvSpPr txBox="1"/>
          <p:nvPr/>
        </p:nvSpPr>
        <p:spPr>
          <a:xfrm>
            <a:off x="2247900" y="4206211"/>
            <a:ext cx="994410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_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tuple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"банан"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3.14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ru-RU" dirty="0">
                <a:solidFill>
                  <a:srgbClr val="008000"/>
                </a:solidFill>
                <a:latin typeface="Courier New" panose="02070309020205020404" pitchFamily="49" charset="0"/>
              </a:rPr>
              <a:t> # Кортеж с несколькими элементами</a:t>
            </a:r>
            <a:endParaRPr lang="ru-RU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592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424A8-DE48-6135-FC54-84B979B11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5D1BBBB-66CD-F25A-8FA2-A2A375E044D9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Основные операции с кортежами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F3194-2358-B99B-F47E-6045C4D9F504}"/>
              </a:ext>
            </a:extLst>
          </p:cNvPr>
          <p:cNvSpPr txBox="1"/>
          <p:nvPr/>
        </p:nvSpPr>
        <p:spPr>
          <a:xfrm>
            <a:off x="2926080" y="11335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1. Доступ к элементам по индексу.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343D7-3C5A-0869-B712-78823BF77A4E}"/>
              </a:ext>
            </a:extLst>
          </p:cNvPr>
          <p:cNvSpPr txBox="1"/>
          <p:nvPr/>
        </p:nvSpPr>
        <p:spPr>
          <a:xfrm>
            <a:off x="3070860" y="1759998"/>
            <a:ext cx="922782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sz="20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банан"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3.14</a:t>
            </a:r>
            <a:r>
              <a:rPr lang="ru-RU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200000"/>
              </a:lnSpc>
              <a:buNone/>
            </a:pP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1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банан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20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20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-1</a:t>
            </a:r>
            <a:r>
              <a:rPr lang="en-US" sz="20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</a:t>
            </a:r>
            <a:r>
              <a:rPr lang="en-US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True (</a:t>
            </a:r>
            <a:r>
              <a:rPr lang="ru-RU" sz="20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последний элемент)</a:t>
            </a:r>
            <a:endParaRPr lang="ru-RU" sz="20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103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8C019-6CF7-A5F0-5D98-F47DA26C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77A353-E5BD-C69E-CAF3-E676982A251F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Кортеж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78F99E-764D-B269-6A66-4D18029E9BA7}"/>
              </a:ext>
            </a:extLst>
          </p:cNvPr>
          <p:cNvSpPr txBox="1"/>
          <p:nvPr/>
        </p:nvSpPr>
        <p:spPr>
          <a:xfrm>
            <a:off x="2301240" y="979855"/>
            <a:ext cx="9357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2. Срезы - Можно извлекать подмножества кортежа с помощью срезов.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03D24-12FC-D4D9-8D96-4662C9B48472}"/>
              </a:ext>
            </a:extLst>
          </p:cNvPr>
          <p:cNvSpPr txBox="1"/>
          <p:nvPr/>
        </p:nvSpPr>
        <p:spPr>
          <a:xfrm>
            <a:off x="2301240" y="1501886"/>
            <a:ext cx="9738360" cy="213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индексы   0, 1, 2, 3, 4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(2, 3, 4) не включает последний индекс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(1, 2, 3) не включает последний индекс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[::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(1, 3, 5) (каждый второй элемент)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141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8EBC-82D5-9FB7-E1B9-4356678CD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6820D86-9110-F7E6-C318-18A7678A11F3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Кортеж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55DD6-75F5-00CC-1651-62AAA95F60DA}"/>
              </a:ext>
            </a:extLst>
          </p:cNvPr>
          <p:cNvSpPr txBox="1"/>
          <p:nvPr/>
        </p:nvSpPr>
        <p:spPr>
          <a:xfrm>
            <a:off x="2316480" y="6675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3. Длина кортежа: Функция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len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EBC3A-C0B2-DB71-84C5-66FC6F84BCE4}"/>
              </a:ext>
            </a:extLst>
          </p:cNvPr>
          <p:cNvSpPr txBox="1"/>
          <p:nvPr/>
        </p:nvSpPr>
        <p:spPr>
          <a:xfrm>
            <a:off x="2560320" y="977014"/>
            <a:ext cx="8275320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3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8662B-D882-FE07-3FE4-AEE39DFB888A}"/>
              </a:ext>
            </a:extLst>
          </p:cNvPr>
          <p:cNvSpPr txBox="1"/>
          <p:nvPr/>
        </p:nvSpPr>
        <p:spPr>
          <a:xfrm>
            <a:off x="2316480" y="21751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4. Проверка наличия элемента: Оператор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in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6CBE5-5370-2A5E-AD36-69C201D115B2}"/>
              </a:ext>
            </a:extLst>
          </p:cNvPr>
          <p:cNvSpPr txBox="1"/>
          <p:nvPr/>
        </p:nvSpPr>
        <p:spPr>
          <a:xfrm>
            <a:off x="2560320" y="268725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банан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3.14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банан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True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  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False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9437CB-60F1-B2F6-32A3-9D2994C17364}"/>
              </a:ext>
            </a:extLst>
          </p:cNvPr>
          <p:cNvSpPr txBox="1"/>
          <p:nvPr/>
        </p:nvSpPr>
        <p:spPr>
          <a:xfrm>
            <a:off x="2316480" y="37533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5. Конкатенация (объединение) кортежей: Оператор 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8F77BA-2BDA-0D10-4CB9-FC2FD88998E1}"/>
              </a:ext>
            </a:extLst>
          </p:cNvPr>
          <p:cNvSpPr txBox="1"/>
          <p:nvPr/>
        </p:nvSpPr>
        <p:spPr>
          <a:xfrm>
            <a:off x="2560320" y="4265463"/>
            <a:ext cx="9037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tuple1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tuple2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"c"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new_tuple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tuple1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tuple2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new_tuple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(1, 2, 3, 'a', 'b', 'c')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357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740B1-ECA7-A26F-D0FB-DFEDB7CC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81F9D61-FBB3-3FA9-DDEB-9248C676EC99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Кортеж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AE64A-B921-43BD-6417-A68839DD19C9}"/>
              </a:ext>
            </a:extLst>
          </p:cNvPr>
          <p:cNvSpPr txBox="1"/>
          <p:nvPr/>
        </p:nvSpPr>
        <p:spPr>
          <a:xfrm>
            <a:off x="2362200" y="8897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6. Умножение кортежа: Оператор *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7F3FD-E12B-7115-08F8-DC10654C5E7B}"/>
              </a:ext>
            </a:extLst>
          </p:cNvPr>
          <p:cNvSpPr txBox="1"/>
          <p:nvPr/>
        </p:nvSpPr>
        <p:spPr>
          <a:xfrm>
            <a:off x="2773680" y="1510438"/>
            <a:ext cx="8702040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repeated_tuple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repeated_tuple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(1, 2, 1, 2, 1, 2)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0F2626-FEFE-285E-65C8-2B2BC5894834}"/>
              </a:ext>
            </a:extLst>
          </p:cNvPr>
          <p:cNvSpPr txBox="1"/>
          <p:nvPr/>
        </p:nvSpPr>
        <p:spPr>
          <a:xfrm>
            <a:off x="2362200" y="30659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7. Встроенные функций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min , max</a:t>
            </a: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1D26A3-08A2-CBCB-9349-9E073BE7F0F0}"/>
              </a:ext>
            </a:extLst>
          </p:cNvPr>
          <p:cNvSpPr txBox="1"/>
          <p:nvPr/>
        </p:nvSpPr>
        <p:spPr>
          <a:xfrm>
            <a:off x="2926080" y="3664051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max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</a:t>
            </a:r>
            <a:r>
              <a:rPr lang="en-US" dirty="0" err="1">
                <a:solidFill>
                  <a:srgbClr val="008000"/>
                </a:solidFill>
                <a:latin typeface="Courier New" panose="02070309020205020404" pitchFamily="49" charset="0"/>
              </a:rPr>
              <a:t>Вывод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 2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332D6-AF7C-1228-F54F-499ECF07ABDD}"/>
              </a:ext>
            </a:extLst>
          </p:cNvPr>
          <p:cNvSpPr txBox="1"/>
          <p:nvPr/>
        </p:nvSpPr>
        <p:spPr>
          <a:xfrm>
            <a:off x="2926080" y="4136617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my_tuple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1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248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EA83-ABA8-97EA-6DD7-EC0FBE84A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0B2D1F-37CF-CFD6-45EC-94BC0CB1649D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Доп функции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866A31-5121-DFB0-5B85-6AC3D9871FB7}"/>
              </a:ext>
            </a:extLst>
          </p:cNvPr>
          <p:cNvSpPr txBox="1"/>
          <p:nvPr/>
        </p:nvSpPr>
        <p:spPr>
          <a:xfrm>
            <a:off x="2030896" y="3846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2060"/>
                </a:solidFill>
                <a:effectLst/>
                <a:latin typeface="Google Sans Text"/>
              </a:rPr>
              <a:t> map()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B6E5D-9EEA-D001-0BDD-482F005C9DFA}"/>
              </a:ext>
            </a:extLst>
          </p:cNvPr>
          <p:cNvSpPr txBox="1"/>
          <p:nvPr/>
        </p:nvSpPr>
        <p:spPr>
          <a:xfrm>
            <a:off x="1934817" y="1138621"/>
            <a:ext cx="98589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это встроенная функция в Python, которая позволяет применить определенную функцию к каждому элементу итерируемого объекта (например, списка, кортежа, строки) и вернуть новый итерируемый объект с результатами. Возвращает объект-генератор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). Это значит, что результаты не создаются сразу в памяти. Это делает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() очень эффективным, особенно при работе с большими объемами данных. </a:t>
            </a:r>
          </a:p>
          <a:p>
            <a:pPr marL="285750" indent="-285750">
              <a:buFontTx/>
              <a:buChar char="-"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Когда использовать </a:t>
            </a: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()?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Когда нужно применить одну и ту же операцию к каждому элементу итерируемого объекта.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Когда операция простая, и ты хочешь избежать явного цикла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Когда нужна эффективность при работе с большими данными, благодаря ленивым вычислениям.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Когда работаешь с несколькими итерируемыми объектами одновременно.</a:t>
            </a:r>
          </a:p>
        </p:txBody>
      </p:sp>
    </p:spTree>
    <p:extLst>
      <p:ext uri="{BB962C8B-B14F-4D97-AF65-F5344CB8AC3E}">
        <p14:creationId xmlns:p14="http://schemas.microsoft.com/office/powerpoint/2010/main" val="2970773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3AE81-DADF-9BA0-466D-0DB4840F9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72AD585-3D81-DAAF-2191-62D636E7B4A7}"/>
              </a:ext>
            </a:extLst>
          </p:cNvPr>
          <p:cNvSpPr txBox="1"/>
          <p:nvPr/>
        </p:nvSpPr>
        <p:spPr>
          <a:xfrm>
            <a:off x="198120" y="0"/>
            <a:ext cx="11841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Доп функции</a:t>
            </a:r>
          </a:p>
          <a:p>
            <a:pPr algn="ctr"/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D06D32-4E62-EAC1-89BC-AF05F71FB851}"/>
              </a:ext>
            </a:extLst>
          </p:cNvPr>
          <p:cNvSpPr txBox="1"/>
          <p:nvPr/>
        </p:nvSpPr>
        <p:spPr>
          <a:xfrm>
            <a:off x="2107096" y="935338"/>
            <a:ext cx="609600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numbers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ru-RU" dirty="0">
                <a:solidFill>
                  <a:srgbClr val="008000"/>
                </a:solidFill>
                <a:latin typeface="Courier New" panose="02070309020205020404" pitchFamily="49" charset="0"/>
              </a:rPr>
              <a:t> # Список чисел</a:t>
            </a:r>
            <a:endParaRPr lang="ru-RU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171CC-D5C4-1463-184D-1999B71A5A48}"/>
              </a:ext>
            </a:extLst>
          </p:cNvPr>
          <p:cNvSpPr txBox="1"/>
          <p:nvPr/>
        </p:nvSpPr>
        <p:spPr>
          <a:xfrm>
            <a:off x="2107096" y="500343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Пример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1603D-3141-4552-51AE-6BF0C5BBFD3D}"/>
              </a:ext>
            </a:extLst>
          </p:cNvPr>
          <p:cNvSpPr txBox="1"/>
          <p:nvPr/>
        </p:nvSpPr>
        <p:spPr>
          <a:xfrm>
            <a:off x="2107096" y="1476772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без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map,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через цикл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list1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=[]</a:t>
            </a:r>
          </a:p>
          <a:p>
            <a:pPr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numbers: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x=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i+</a:t>
            </a:r>
            <a:r>
              <a:rPr lang="en-US" b="0" dirty="0" err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list1.append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(x)</a:t>
            </a:r>
          </a:p>
          <a:p>
            <a:pPr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list1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[6, 7, 8, 9, 10]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799907-1EF0-DBFA-455E-4B43F644B467}"/>
              </a:ext>
            </a:extLst>
          </p:cNvPr>
          <p:cNvSpPr txBox="1"/>
          <p:nvPr/>
        </p:nvSpPr>
        <p:spPr>
          <a:xfrm>
            <a:off x="2107096" y="3491948"/>
            <a:ext cx="9262899" cy="29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с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map</a:t>
            </a:r>
            <a:r>
              <a:rPr lang="ru-RU" dirty="0">
                <a:solidFill>
                  <a:srgbClr val="000000"/>
                </a:solidFill>
                <a:latin typeface="Courier New" panose="02070309020205020404" pitchFamily="49" charset="0"/>
              </a:rPr>
              <a:t>  (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Функция, которая увеличивает число на 5)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add_five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+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Применяем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map</a:t>
            </a:r>
            <a:endParaRPr lang="ru-RU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map_iter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map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add_five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numbers)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вернет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map object,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который надо  											преобразовать в список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result_list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map_iter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Преобразуем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map object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 список, 										чтобы увидеть результаты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result_list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[6, 7, 8, 9, 10]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522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11931-E1C0-84FE-9A11-85B632AEE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201071C-CCF0-78D6-DD27-C2624BDA90C7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Доп функции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79ECC-4ED9-6819-D77D-B5C72DD35186}"/>
              </a:ext>
            </a:extLst>
          </p:cNvPr>
          <p:cNvSpPr txBox="1"/>
          <p:nvPr/>
        </p:nvSpPr>
        <p:spPr>
          <a:xfrm>
            <a:off x="2345634" y="698549"/>
            <a:ext cx="849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Лямбда-функция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(или анонимная функция) — это небольшая, однострочная функция, которая не имеет имени. Она определяется с помощью ключевого слова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lambda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.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7C20-F044-E807-CEF1-3A24A45701A6}"/>
              </a:ext>
            </a:extLst>
          </p:cNvPr>
          <p:cNvSpPr txBox="1"/>
          <p:nvPr/>
        </p:nvSpPr>
        <p:spPr>
          <a:xfrm>
            <a:off x="2239617" y="2080665"/>
            <a:ext cx="90644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lambda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Ключевое слово, обозначающее создание лямбда-функции.</a:t>
            </a:r>
          </a:p>
          <a:p>
            <a:pPr algn="l">
              <a:buNone/>
            </a:pP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arguments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Аргументы (входные данные) функции, разделенные запятыми (как и в обычной функции). Может быть ноль или более аргументов.</a:t>
            </a:r>
          </a:p>
          <a:p>
            <a:pPr algn="l">
              <a:buNone/>
            </a:pPr>
            <a:r>
              <a:rPr lang="ru-RU" b="1" i="0" dirty="0" err="1">
                <a:solidFill>
                  <a:srgbClr val="1F1F1F"/>
                </a:solidFill>
                <a:effectLst/>
                <a:latin typeface="Google Sans Text"/>
              </a:rPr>
              <a:t>expression</a:t>
            </a:r>
            <a:r>
              <a:rPr lang="ru-RU" b="1" i="0" dirty="0">
                <a:solidFill>
                  <a:srgbClr val="1F1F1F"/>
                </a:solidFill>
                <a:effectLst/>
                <a:latin typeface="Google Sans Text"/>
              </a:rPr>
              <a:t>: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 Однострочное выражение, которое вычисляет и возвращает значение функции. Это единственное выражение, которое выполняется в лямбда-функции. Оно не может содержать операторы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return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,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pass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или другие сложные конструкции.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AD78A8-1B87-B49B-605C-A5DB88A6445F}"/>
              </a:ext>
            </a:extLst>
          </p:cNvPr>
          <p:cNvSpPr txBox="1"/>
          <p:nvPr/>
        </p:nvSpPr>
        <p:spPr>
          <a:xfrm>
            <a:off x="2504661" y="4293777"/>
            <a:ext cx="6096000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add = </a:t>
            </a:r>
            <a:r>
              <a:rPr lang="es-E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lambda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x, y: x + y</a:t>
            </a:r>
          </a:p>
          <a:p>
            <a:pPr>
              <a:lnSpc>
                <a:spcPct val="150000"/>
              </a:lnSpc>
              <a:buNone/>
            </a:pPr>
            <a:r>
              <a:rPr lang="es-E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(add(</a:t>
            </a:r>
            <a:r>
              <a:rPr lang="es-E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s-E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s-E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  </a:t>
            </a:r>
            <a:r>
              <a:rPr lang="es-E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Вывод: 8</a:t>
            </a:r>
            <a:endParaRPr lang="es-E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814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A0E15-B3BB-B529-A7ED-54E2EB736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755B97C-3030-AC86-FD8C-FF335257D634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Доп функции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396B0A-BFA2-2186-2C38-6DD690CBD89A}"/>
              </a:ext>
            </a:extLst>
          </p:cNvPr>
          <p:cNvSpPr txBox="1"/>
          <p:nvPr/>
        </p:nvSpPr>
        <p:spPr>
          <a:xfrm>
            <a:off x="1775791" y="1018404"/>
            <a:ext cx="97801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002060"/>
                </a:solidFill>
              </a:rPr>
              <a:t>filter</a:t>
            </a:r>
            <a:r>
              <a:rPr lang="ru-RU" b="1" dirty="0">
                <a:solidFill>
                  <a:srgbClr val="002060"/>
                </a:solidFill>
              </a:rPr>
              <a:t>() </a:t>
            </a:r>
            <a:r>
              <a:rPr lang="ru-RU" dirty="0"/>
              <a:t>— это еще одна очень полезная встроенная функция в Python, которая позволяет отфильтровать элементы итерируемого объекта, оставляя только те, для которых переданная функция возвращает истинное значение (True).</a:t>
            </a:r>
          </a:p>
          <a:p>
            <a:endParaRPr lang="ru-RU" dirty="0"/>
          </a:p>
          <a:p>
            <a:r>
              <a:rPr lang="ru-RU" dirty="0" err="1"/>
              <a:t>filter</a:t>
            </a:r>
            <a:r>
              <a:rPr lang="ru-RU" dirty="0"/>
              <a:t>() возвращает объект-генератор (</a:t>
            </a:r>
            <a:r>
              <a:rPr lang="ru-RU" dirty="0" err="1"/>
              <a:t>filter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). Результаты вычисляются “по требованию”. Для получения конкретного результата (списка, кортежа) необходимо преобразование.</a:t>
            </a:r>
          </a:p>
          <a:p>
            <a:endParaRPr lang="ru-RU" dirty="0"/>
          </a:p>
          <a:p>
            <a:r>
              <a:rPr lang="ru-RU" dirty="0"/>
              <a:t>Функция, переданная в </a:t>
            </a:r>
            <a:r>
              <a:rPr lang="ru-RU" dirty="0" err="1"/>
              <a:t>filter</a:t>
            </a:r>
            <a:r>
              <a:rPr lang="ru-RU" dirty="0"/>
              <a:t>(), должна возвращать булево значение (True или </a:t>
            </a:r>
            <a:r>
              <a:rPr lang="ru-RU" dirty="0" err="1"/>
              <a:t>False</a:t>
            </a:r>
            <a:r>
              <a:rPr lang="ru-RU" dirty="0"/>
              <a:t>). Если функция возвращает значение, которое может быть преобразовано в True или </a:t>
            </a:r>
            <a:r>
              <a:rPr lang="ru-RU" dirty="0" err="1"/>
              <a:t>False</a:t>
            </a:r>
            <a:r>
              <a:rPr lang="ru-RU" dirty="0"/>
              <a:t> (например, число, строка), </a:t>
            </a:r>
            <a:r>
              <a:rPr lang="ru-RU" dirty="0" err="1"/>
              <a:t>filter</a:t>
            </a:r>
            <a:r>
              <a:rPr lang="ru-RU" dirty="0"/>
              <a:t>() будет использовать это при проверке.</a:t>
            </a:r>
          </a:p>
        </p:txBody>
      </p:sp>
    </p:spTree>
    <p:extLst>
      <p:ext uri="{BB962C8B-B14F-4D97-AF65-F5344CB8AC3E}">
        <p14:creationId xmlns:p14="http://schemas.microsoft.com/office/powerpoint/2010/main" val="3597286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91CEB-FC3D-4B57-7BEB-CE0CDADF9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7501269-D560-3AEE-C5B9-A7747FBBBA3A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Доп функции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AED20-B952-574C-E33C-94DB107C4E17}"/>
              </a:ext>
            </a:extLst>
          </p:cNvPr>
          <p:cNvSpPr txBox="1"/>
          <p:nvPr/>
        </p:nvSpPr>
        <p:spPr>
          <a:xfrm>
            <a:off x="2305878" y="751344"/>
            <a:ext cx="8991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rgbClr val="002060"/>
                </a:solidFill>
                <a:latin typeface="Courier New" panose="02070309020205020404" pitchFamily="49" charset="0"/>
              </a:rPr>
              <a:t>Пример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numbers = 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Функция, проверяющая, является ли число четным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is_even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x %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Применяем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filter()</a:t>
            </a:r>
          </a:p>
          <a:p>
            <a:pPr>
              <a:buNone/>
            </a:pPr>
            <a:endParaRPr lang="en-US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</a:t>
            </a:r>
            <a:r>
              <a:rPr lang="ru-RU" dirty="0">
                <a:solidFill>
                  <a:srgbClr val="008000"/>
                </a:solidFill>
                <a:latin typeface="Courier New" panose="02070309020205020404" pitchFamily="49" charset="0"/>
              </a:rPr>
              <a:t>вернет 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filter object</a:t>
            </a: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filtered_numbers_iterator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filter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is_even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numbers)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# </a:t>
            </a:r>
            <a:r>
              <a:rPr lang="ru-RU" dirty="0">
                <a:solidFill>
                  <a:srgbClr val="008000"/>
                </a:solidFill>
                <a:latin typeface="Courier New" panose="02070309020205020404" pitchFamily="49" charset="0"/>
              </a:rPr>
              <a:t>Преобразуем </a:t>
            </a: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filter object </a:t>
            </a:r>
            <a:r>
              <a:rPr lang="ru-RU" dirty="0">
                <a:solidFill>
                  <a:srgbClr val="008000"/>
                </a:solidFill>
                <a:latin typeface="Courier New" panose="02070309020205020404" pitchFamily="49" charset="0"/>
              </a:rPr>
              <a:t>в список</a:t>
            </a:r>
            <a:endParaRPr lang="ru-RU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even_numbers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filtered_numbers_iterator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even_numbers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066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41FC6-9E3E-5BD6-1CD3-51FD40433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94D7184-502E-5987-947A-41055DD70B1B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3D59F-7F10-8CC0-2BE3-87EAF2E7651A}"/>
              </a:ext>
            </a:extLst>
          </p:cNvPr>
          <p:cNvSpPr txBox="1"/>
          <p:nvPr/>
        </p:nvSpPr>
        <p:spPr>
          <a:xfrm>
            <a:off x="1828800" y="957330"/>
            <a:ext cx="934278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Словарь </a:t>
            </a:r>
            <a:r>
              <a:rPr lang="ru-RU" dirty="0"/>
              <a:t>— это неупорядоченная коллекция пар “ключ-значение”.</a:t>
            </a:r>
          </a:p>
          <a:p>
            <a:endParaRPr lang="ru-RU" dirty="0"/>
          </a:p>
          <a:p>
            <a:r>
              <a:rPr lang="ru-RU" dirty="0"/>
              <a:t>Основные характеристики словарей:</a:t>
            </a:r>
          </a:p>
          <a:p>
            <a:endParaRPr lang="ru-RU" dirty="0"/>
          </a:p>
          <a:p>
            <a:r>
              <a:rPr lang="ru-RU" dirty="0"/>
              <a:t>Неупорядоченные: В отличие от списков, элементы в словаре не имеют определенного порядка. Вы не можете получить доступ к элементу по индексу (как в списке).</a:t>
            </a:r>
          </a:p>
          <a:p>
            <a:endParaRPr lang="ru-RU" dirty="0"/>
          </a:p>
          <a:p>
            <a:r>
              <a:rPr lang="ru-RU" dirty="0"/>
              <a:t>Изменяемые: Вы можете добавлять, удалять и изменять пары “ключ-значение” в словаре после его создания.</a:t>
            </a:r>
          </a:p>
          <a:p>
            <a:endParaRPr lang="ru-RU" dirty="0"/>
          </a:p>
          <a:p>
            <a:r>
              <a:rPr lang="ru-RU" dirty="0"/>
              <a:t>Каждый ключ в словаре должен быть уникальным. Если вы попытаетесь добавить ключ, который уже существует, новое значение перезапишет старое.</a:t>
            </a:r>
          </a:p>
          <a:p>
            <a:endParaRPr lang="ru-RU" dirty="0"/>
          </a:p>
          <a:p>
            <a:r>
              <a:rPr lang="ru-RU" dirty="0"/>
              <a:t>Ключи словаря должны быть неизменяемыми типами данных (например, строки, числа, кортежи). Списки и другие словари не могут быть ключами. Значения, напротив, могут быть любыми типами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731109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EF4E8-D462-4F7E-12CE-C079DBAD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06100BA-A8C5-DC1C-3206-59A53425B8C1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053B0D-3ADA-5268-EA80-9C41EED939AF}"/>
              </a:ext>
            </a:extLst>
          </p:cNvPr>
          <p:cNvSpPr txBox="1"/>
          <p:nvPr/>
        </p:nvSpPr>
        <p:spPr>
          <a:xfrm>
            <a:off x="2319131" y="848794"/>
            <a:ext cx="609600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empty_dictionary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{}</a:t>
            </a:r>
            <a:r>
              <a:rPr lang="ru-RU" dirty="0">
                <a:solidFill>
                  <a:srgbClr val="008000"/>
                </a:solidFill>
                <a:latin typeface="Courier New" panose="02070309020205020404" pitchFamily="49" charset="0"/>
              </a:rPr>
              <a:t> # Пустой словарь</a:t>
            </a:r>
            <a:endParaRPr lang="ru-RU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76CA50-92AC-2E21-D348-BB97B5763674}"/>
              </a:ext>
            </a:extLst>
          </p:cNvPr>
          <p:cNvSpPr txBox="1"/>
          <p:nvPr/>
        </p:nvSpPr>
        <p:spPr>
          <a:xfrm>
            <a:off x="2319131" y="1698665"/>
            <a:ext cx="8097078" cy="255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Словарь с несколькими парами "ключ-значение"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"Alice"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"age"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"city"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"New York"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4D737F-770C-9A6D-6A8F-1B7CB9B6E8E6}"/>
              </a:ext>
            </a:extLst>
          </p:cNvPr>
          <p:cNvSpPr txBox="1"/>
          <p:nvPr/>
        </p:nvSpPr>
        <p:spPr>
          <a:xfrm>
            <a:off x="2319130" y="4743852"/>
            <a:ext cx="8945217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Альтернативный способ создания с помощью функции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dict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another_dictionary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dict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(name=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"Bob"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age=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city=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"London"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6968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82C70-2651-7DF0-67D9-1B637E5A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75DCDBD-27C3-C756-F7BF-E043812721BE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BACBE-ABA5-F785-8148-73EB20B68C41}"/>
              </a:ext>
            </a:extLst>
          </p:cNvPr>
          <p:cNvSpPr txBox="1"/>
          <p:nvPr/>
        </p:nvSpPr>
        <p:spPr>
          <a:xfrm>
            <a:off x="2372139" y="4968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Доступ к значениям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8CD2D-DEB0-8F69-5800-8342CD7B10B2}"/>
              </a:ext>
            </a:extLst>
          </p:cNvPr>
          <p:cNvSpPr txBox="1"/>
          <p:nvPr/>
        </p:nvSpPr>
        <p:spPr>
          <a:xfrm>
            <a:off x="2849217" y="991606"/>
            <a:ext cx="8150087" cy="173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"Alice"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"age"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"city"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"New York"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Alice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"age"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  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30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CE09D-5AE5-29DF-D597-FAD54A7676F5}"/>
              </a:ext>
            </a:extLst>
          </p:cNvPr>
          <p:cNvSpPr txBox="1"/>
          <p:nvPr/>
        </p:nvSpPr>
        <p:spPr>
          <a:xfrm>
            <a:off x="2372139" y="31226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Добавление и изменение элементов</a:t>
            </a:r>
            <a:endParaRPr lang="ru-RU" b="0" i="0" dirty="0">
              <a:solidFill>
                <a:srgbClr val="002060"/>
              </a:solidFill>
              <a:effectLst/>
              <a:latin typeface="Google Sans Tex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5C19F-7749-F7BF-51E3-B880DEA3B429}"/>
              </a:ext>
            </a:extLst>
          </p:cNvPr>
          <p:cNvSpPr txBox="1"/>
          <p:nvPr/>
        </p:nvSpPr>
        <p:spPr>
          <a:xfrm>
            <a:off x="2716696" y="34366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присвойте значение новому ключу: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4E762-A97C-CFC7-5AFA-18E7C8CBBF45}"/>
              </a:ext>
            </a:extLst>
          </p:cNvPr>
          <p:cNvSpPr txBox="1"/>
          <p:nvPr/>
        </p:nvSpPr>
        <p:spPr>
          <a:xfrm>
            <a:off x="3048000" y="3837634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"occupation"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"Engineer"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8D0B3D-6F01-170F-4A81-2B76127CF43F}"/>
              </a:ext>
            </a:extLst>
          </p:cNvPr>
          <p:cNvSpPr txBox="1"/>
          <p:nvPr/>
        </p:nvSpPr>
        <p:spPr>
          <a:xfrm>
            <a:off x="2716696" y="41782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новое значение существующему ключу: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A3569-F92D-B1A6-A37E-CF15A99ACED4}"/>
              </a:ext>
            </a:extLst>
          </p:cNvPr>
          <p:cNvSpPr txBox="1"/>
          <p:nvPr/>
        </p:nvSpPr>
        <p:spPr>
          <a:xfrm>
            <a:off x="3008243" y="4605450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"age"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31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D2C6A7-20AB-C374-0063-8151380F5B44}"/>
              </a:ext>
            </a:extLst>
          </p:cNvPr>
          <p:cNvSpPr txBox="1"/>
          <p:nvPr/>
        </p:nvSpPr>
        <p:spPr>
          <a:xfrm>
            <a:off x="2716696" y="50675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 Text"/>
              </a:rPr>
              <a:t>через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метод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get().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B70BDB-F56B-E646-D91A-4F7D280CC287}"/>
              </a:ext>
            </a:extLst>
          </p:cNvPr>
          <p:cNvSpPr txBox="1"/>
          <p:nvPr/>
        </p:nvSpPr>
        <p:spPr>
          <a:xfrm>
            <a:off x="3047999" y="5584572"/>
            <a:ext cx="8441635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my_dictionary.get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"occupation"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"Unknown"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 </a:t>
            </a:r>
          </a:p>
        </p:txBody>
      </p:sp>
    </p:spTree>
    <p:extLst>
      <p:ext uri="{BB962C8B-B14F-4D97-AF65-F5344CB8AC3E}">
        <p14:creationId xmlns:p14="http://schemas.microsoft.com/office/powerpoint/2010/main" val="2078759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3B58-1A4D-BF2F-2759-6CCFB203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29D8693-9D55-27C8-8366-4FFEE13BD72C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15305-9242-2F0D-9CFD-FC48381692E6}"/>
              </a:ext>
            </a:extLst>
          </p:cNvPr>
          <p:cNvSpPr txBox="1"/>
          <p:nvPr/>
        </p:nvSpPr>
        <p:spPr>
          <a:xfrm>
            <a:off x="2266122" y="7827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Удаление элементов</a:t>
            </a:r>
            <a:endParaRPr lang="ru-RU" b="0" i="0" dirty="0">
              <a:solidFill>
                <a:srgbClr val="002060"/>
              </a:solidFill>
              <a:effectLst/>
              <a:latin typeface="Google Sans Tex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21FAC-CE49-A4AC-FAE0-8C385645D9FA}"/>
              </a:ext>
            </a:extLst>
          </p:cNvPr>
          <p:cNvSpPr txBox="1"/>
          <p:nvPr/>
        </p:nvSpPr>
        <p:spPr>
          <a:xfrm>
            <a:off x="2729948" y="1278186"/>
            <a:ext cx="7341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pop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(): Удаляет элемент по ключу и возвращает его значение: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F5445-C7ED-F3C7-079A-7C2E3477A009}"/>
              </a:ext>
            </a:extLst>
          </p:cNvPr>
          <p:cNvSpPr txBox="1"/>
          <p:nvPr/>
        </p:nvSpPr>
        <p:spPr>
          <a:xfrm>
            <a:off x="3048000" y="1764693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age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my_dictionary.pop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"age"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3EAC09-73A1-E127-D149-24382B99223C}"/>
              </a:ext>
            </a:extLst>
          </p:cNvPr>
          <p:cNvSpPr txBox="1"/>
          <p:nvPr/>
        </p:nvSpPr>
        <p:spPr>
          <a:xfrm>
            <a:off x="2729948" y="2371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del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: Удаляет элемент по ключу: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B66E6F-C3A2-0F97-5F9F-6533AA8AF49A}"/>
              </a:ext>
            </a:extLst>
          </p:cNvPr>
          <p:cNvSpPr txBox="1"/>
          <p:nvPr/>
        </p:nvSpPr>
        <p:spPr>
          <a:xfrm>
            <a:off x="3048000" y="3051816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del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"city"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C31EE4-33EA-608E-9F75-0601D07AC160}"/>
              </a:ext>
            </a:extLst>
          </p:cNvPr>
          <p:cNvSpPr txBox="1"/>
          <p:nvPr/>
        </p:nvSpPr>
        <p:spPr>
          <a:xfrm>
            <a:off x="2729948" y="37319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clear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(): Удаляет все элементы из словаря: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F211A6-AE8A-0937-1EC0-A3D727FA6ACC}"/>
              </a:ext>
            </a:extLst>
          </p:cNvPr>
          <p:cNvSpPr txBox="1"/>
          <p:nvPr/>
        </p:nvSpPr>
        <p:spPr>
          <a:xfrm>
            <a:off x="3048000" y="4338939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my_dictionary.clear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50777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90628-C2D8-9B97-01CB-B7B989E0B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76E346E-BD87-C3BE-AA97-0C6029CB21C7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626B0-716D-C5D1-46CF-1E32A11E4522}"/>
              </a:ext>
            </a:extLst>
          </p:cNvPr>
          <p:cNvSpPr txBox="1"/>
          <p:nvPr/>
        </p:nvSpPr>
        <p:spPr>
          <a:xfrm>
            <a:off x="1881809" y="6510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Методы словарей</a:t>
            </a:r>
            <a:endParaRPr lang="ru-RU" b="0" i="0" dirty="0">
              <a:solidFill>
                <a:srgbClr val="002060"/>
              </a:solidFill>
              <a:effectLst/>
              <a:latin typeface="Google Sans Tex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D7EFC-2275-6123-2378-BAE5D9423225}"/>
              </a:ext>
            </a:extLst>
          </p:cNvPr>
          <p:cNvSpPr txBox="1"/>
          <p:nvPr/>
        </p:nvSpPr>
        <p:spPr>
          <a:xfrm>
            <a:off x="2199861" y="1302172"/>
            <a:ext cx="804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keys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(): Возвращает представление всех ключей в словаре (не список!).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C97785-F1C1-FF88-F7F5-0E69B9A595D6}"/>
              </a:ext>
            </a:extLst>
          </p:cNvPr>
          <p:cNvSpPr txBox="1"/>
          <p:nvPr/>
        </p:nvSpPr>
        <p:spPr>
          <a:xfrm>
            <a:off x="2425148" y="1953258"/>
            <a:ext cx="9435548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my_dictionary.keys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dict_keys</a:t>
            </a: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(['name', 'age', 'city'])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FD0DA-BAD5-609B-A2CE-6A320167A483}"/>
              </a:ext>
            </a:extLst>
          </p:cNvPr>
          <p:cNvSpPr txBox="1"/>
          <p:nvPr/>
        </p:nvSpPr>
        <p:spPr>
          <a:xfrm>
            <a:off x="2199861" y="2710783"/>
            <a:ext cx="6957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values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(): Возвращает представление всех значений в словаре.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897E9-7567-0F8D-0CD5-AD21E8DB7916}"/>
              </a:ext>
            </a:extLst>
          </p:cNvPr>
          <p:cNvSpPr txBox="1"/>
          <p:nvPr/>
        </p:nvSpPr>
        <p:spPr>
          <a:xfrm>
            <a:off x="2425148" y="3288772"/>
            <a:ext cx="9614452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my_dictionary.values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dict_values</a:t>
            </a:r>
            <a:r>
              <a:rPr lang="en-US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(['Alice', 30, 'New York'])</a:t>
            </a:r>
            <a:endParaRPr 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5826D8-3CB4-17C5-186E-6F955A7BB5BC}"/>
              </a:ext>
            </a:extLst>
          </p:cNvPr>
          <p:cNvSpPr txBox="1"/>
          <p:nvPr/>
        </p:nvSpPr>
        <p:spPr>
          <a:xfrm>
            <a:off x="2199861" y="4119394"/>
            <a:ext cx="8998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items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(): Возвращает представление всех пар “ключ-значение” в виде кортежей.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89E219-88E4-440E-6919-7B68E78DF896}"/>
              </a:ext>
            </a:extLst>
          </p:cNvPr>
          <p:cNvSpPr txBox="1"/>
          <p:nvPr/>
        </p:nvSpPr>
        <p:spPr>
          <a:xfrm>
            <a:off x="2531164" y="4841279"/>
            <a:ext cx="9508435" cy="647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my_dictionary.items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 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dict_items</a:t>
            </a: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([('name', 'Alice'), ('age', 30), ('city', 'New York')])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12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DF5D3-9595-59D8-A68D-5AF8B3BA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E888B6E-CF0C-A363-19A1-D60F70F90C5E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F793A-380E-60E3-CBAF-27232EA68C19}"/>
              </a:ext>
            </a:extLst>
          </p:cNvPr>
          <p:cNvSpPr txBox="1"/>
          <p:nvPr/>
        </p:nvSpPr>
        <p:spPr>
          <a:xfrm>
            <a:off x="2491409" y="11007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copy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(): Создает поверхностную копию словаря.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ABADD3-4D5D-D0F7-A181-6A2FD3CCB8F6}"/>
              </a:ext>
            </a:extLst>
          </p:cNvPr>
          <p:cNvSpPr txBox="1"/>
          <p:nvPr/>
        </p:nvSpPr>
        <p:spPr>
          <a:xfrm>
            <a:off x="1881809" y="6510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Методы словарей</a:t>
            </a:r>
            <a:endParaRPr lang="ru-RU" b="0" i="0" dirty="0">
              <a:solidFill>
                <a:srgbClr val="002060"/>
              </a:solidFill>
              <a:effectLst/>
              <a:latin typeface="Google Sans Tex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8083F6-B8E9-36E4-C0BF-58484A6B7D47}"/>
              </a:ext>
            </a:extLst>
          </p:cNvPr>
          <p:cNvSpPr txBox="1"/>
          <p:nvPr/>
        </p:nvSpPr>
        <p:spPr>
          <a:xfrm>
            <a:off x="2809460" y="1603763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new_dictionary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my_dictionary.copy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340DE-715B-46E7-C7B0-79BA7C459750}"/>
              </a:ext>
            </a:extLst>
          </p:cNvPr>
          <p:cNvSpPr txBox="1"/>
          <p:nvPr/>
        </p:nvSpPr>
        <p:spPr>
          <a:xfrm>
            <a:off x="2491409" y="25198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update():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Обновляет словарь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A3248A-5D4E-7C40-C490-46A1F56077F7}"/>
              </a:ext>
            </a:extLst>
          </p:cNvPr>
          <p:cNvSpPr txBox="1"/>
          <p:nvPr/>
        </p:nvSpPr>
        <p:spPr>
          <a:xfrm>
            <a:off x="2809460" y="3134429"/>
            <a:ext cx="9435548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"Alice"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"age"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another_dictionary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"age"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"city"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"New York"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"occupation"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"Engineer"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my_dictionary.update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another_dictionary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8000"/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sz="1600" dirty="0">
                <a:solidFill>
                  <a:srgbClr val="008000"/>
                </a:solidFill>
              </a:rPr>
              <a:t> # Вывод: {'</a:t>
            </a:r>
            <a:r>
              <a:rPr lang="en-US" sz="1600" dirty="0">
                <a:solidFill>
                  <a:srgbClr val="008000"/>
                </a:solidFill>
              </a:rPr>
              <a:t>name': 'Alice', 'age': 30, 'city': 'New York', 'occupation': 'Engineer'}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392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285B3-867F-59DD-4161-63CD7FB1B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7C91C21-31A5-9D9F-7855-8323D818D375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B4CA0-6F86-EDD1-A2E7-F7C8826720B8}"/>
              </a:ext>
            </a:extLst>
          </p:cNvPr>
          <p:cNvSpPr txBox="1"/>
          <p:nvPr/>
        </p:nvSpPr>
        <p:spPr>
          <a:xfrm>
            <a:off x="1948070" y="8490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Итерация по словарю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56F25D-194B-C5D5-C89E-9DBB5DCA0CFB}"/>
              </a:ext>
            </a:extLst>
          </p:cNvPr>
          <p:cNvSpPr txBox="1"/>
          <p:nvPr/>
        </p:nvSpPr>
        <p:spPr>
          <a:xfrm>
            <a:off x="2372139" y="13286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По ключам: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542F6-F0A7-170E-4559-A2C57F03D771}"/>
              </a:ext>
            </a:extLst>
          </p:cNvPr>
          <p:cNvSpPr txBox="1"/>
          <p:nvPr/>
        </p:nvSpPr>
        <p:spPr>
          <a:xfrm>
            <a:off x="2729947" y="1698006"/>
            <a:ext cx="93096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"Alice"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"age"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"city"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"New York"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key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Эквивалентно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for key in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my_dictionary.keys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():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(key)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name, age, city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D3895-5493-A46D-B285-98604816747A}"/>
              </a:ext>
            </a:extLst>
          </p:cNvPr>
          <p:cNvSpPr txBox="1"/>
          <p:nvPr/>
        </p:nvSpPr>
        <p:spPr>
          <a:xfrm>
            <a:off x="2372139" y="30961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По значениям: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CCF90A-39B7-8D97-E272-8AF81E61C754}"/>
              </a:ext>
            </a:extLst>
          </p:cNvPr>
          <p:cNvSpPr txBox="1"/>
          <p:nvPr/>
        </p:nvSpPr>
        <p:spPr>
          <a:xfrm>
            <a:off x="2729947" y="3663219"/>
            <a:ext cx="90909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"Alice"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"age"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"city"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"New York"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value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my_dictionary.values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(value)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: Alice, 30, New York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C625E6-9386-B443-28AC-85794025FA8C}"/>
              </a:ext>
            </a:extLst>
          </p:cNvPr>
          <p:cNvSpPr txBox="1"/>
          <p:nvPr/>
        </p:nvSpPr>
        <p:spPr>
          <a:xfrm>
            <a:off x="2279374" y="46788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По парам “ключ-значение”: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37FECC-9A8E-9452-DEFB-63451EC42479}"/>
              </a:ext>
            </a:extLst>
          </p:cNvPr>
          <p:cNvSpPr txBox="1"/>
          <p:nvPr/>
        </p:nvSpPr>
        <p:spPr>
          <a:xfrm>
            <a:off x="2729947" y="5351433"/>
            <a:ext cx="90909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"Alice"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"age"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"city"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"New York"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key, value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my_dictionary.items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"Key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{key}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, Value: 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{value}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63561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0924E-6093-E10F-E2E3-FAD0FA99D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ACF0180-6924-FBA7-70A4-9CC9BA665418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Множества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4B6C8-A4B2-7DAE-2C44-BB2FCE7D9BE5}"/>
              </a:ext>
            </a:extLst>
          </p:cNvPr>
          <p:cNvSpPr txBox="1"/>
          <p:nvPr/>
        </p:nvSpPr>
        <p:spPr>
          <a:xfrm>
            <a:off x="2226364" y="648745"/>
            <a:ext cx="88126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Множество (</a:t>
            </a:r>
            <a:r>
              <a:rPr lang="ru-RU" b="1" i="0" dirty="0" err="1">
                <a:solidFill>
                  <a:srgbClr val="002060"/>
                </a:solidFill>
                <a:effectLst/>
                <a:latin typeface="Google Sans Text"/>
              </a:rPr>
              <a:t>set</a:t>
            </a: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)</a:t>
            </a:r>
            <a:r>
              <a:rPr lang="ru-RU" b="0" i="0" dirty="0">
                <a:solidFill>
                  <a:srgbClr val="002060"/>
                </a:solidFill>
                <a:effectLst/>
                <a:latin typeface="Google Sans Text"/>
              </a:rPr>
              <a:t>— 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это неупорядоченная коллекция уникальных элементов. В отличие от списков и кортежей, множество не может содержать дубликаты. Множества основаны на математической концепции множества.</a:t>
            </a:r>
          </a:p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Работает только со значениями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FE369A-DF4F-3542-AB77-89CB5EA6D9FF}"/>
              </a:ext>
            </a:extLst>
          </p:cNvPr>
          <p:cNvSpPr txBox="1"/>
          <p:nvPr/>
        </p:nvSpPr>
        <p:spPr>
          <a:xfrm>
            <a:off x="2226364" y="2368208"/>
            <a:ext cx="8812696" cy="3168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Основные характеристики множеств: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Элементы в множестве не имеют определенного порядка.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Множество содержит только уникальные элементы. Попытка добавить дубликат игнорируется.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Вы можете добавлять и удалять элементы из множества после его создания.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Вы не можете получить доступ к элементам множества по индексу.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Элементы множества должны быть неизменяемыми типами данных (например, строки, числа, кортежи). Списки и другие множества не могут быть элементами множества.</a:t>
            </a:r>
          </a:p>
        </p:txBody>
      </p:sp>
    </p:spTree>
    <p:extLst>
      <p:ext uri="{BB962C8B-B14F-4D97-AF65-F5344CB8AC3E}">
        <p14:creationId xmlns:p14="http://schemas.microsoft.com/office/powerpoint/2010/main" val="1358613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1FD9F-0275-C2ED-4B91-759459D2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9F19A0A-E6C9-6C0E-C7F6-7F6C82C05AA5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785E96-A4DB-9AAA-2AD9-2397DEB87FFA}"/>
              </a:ext>
            </a:extLst>
          </p:cNvPr>
          <p:cNvSpPr txBox="1"/>
          <p:nvPr/>
        </p:nvSpPr>
        <p:spPr>
          <a:xfrm>
            <a:off x="2087217" y="816522"/>
            <a:ext cx="8017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Множества создаются с помощью фигурных скобок {} или функции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set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().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936E42-697E-000F-91EB-45FABDDB867E}"/>
              </a:ext>
            </a:extLst>
          </p:cNvPr>
          <p:cNvSpPr txBox="1"/>
          <p:nvPr/>
        </p:nvSpPr>
        <p:spPr>
          <a:xfrm>
            <a:off x="2199859" y="1484926"/>
            <a:ext cx="9581323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empty_set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sz="1400" dirty="0">
                <a:solidFill>
                  <a:srgbClr val="008000"/>
                </a:solidFill>
              </a:rPr>
              <a:t>ВАЖНО: нельзя использовать {}, потому что это создаст пустой словарь!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10114-1450-CA7D-BA6A-2A4E8460F4E7}"/>
              </a:ext>
            </a:extLst>
          </p:cNvPr>
          <p:cNvSpPr txBox="1"/>
          <p:nvPr/>
        </p:nvSpPr>
        <p:spPr>
          <a:xfrm>
            <a:off x="2199860" y="1932115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ED5D19-9361-FBF2-765C-9CFBED8C2320}"/>
              </a:ext>
            </a:extLst>
          </p:cNvPr>
          <p:cNvSpPr txBox="1"/>
          <p:nvPr/>
        </p:nvSpPr>
        <p:spPr>
          <a:xfrm>
            <a:off x="2199859" y="2675539"/>
            <a:ext cx="8242852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Создание множества из списка (дубликаты будут удалены)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06A2E3-E2BE-D9B7-4F6E-E2EE34EA3425}"/>
              </a:ext>
            </a:extLst>
          </p:cNvPr>
          <p:cNvSpPr txBox="1"/>
          <p:nvPr/>
        </p:nvSpPr>
        <p:spPr>
          <a:xfrm>
            <a:off x="2292626" y="3076291"/>
            <a:ext cx="8733182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another_set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my_list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another_set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будет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{1, 2, 3, 4}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89CB7-5FA6-7143-5EBE-ABAA23333F6C}"/>
              </a:ext>
            </a:extLst>
          </p:cNvPr>
          <p:cNvSpPr txBox="1"/>
          <p:nvPr/>
        </p:nvSpPr>
        <p:spPr>
          <a:xfrm>
            <a:off x="2199859" y="3791133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Создание множества из строки 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70F11F-AC35-C899-31F1-372726AA0440}"/>
              </a:ext>
            </a:extLst>
          </p:cNvPr>
          <p:cNvSpPr txBox="1"/>
          <p:nvPr/>
        </p:nvSpPr>
        <p:spPr>
          <a:xfrm>
            <a:off x="2292627" y="4251419"/>
            <a:ext cx="87331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ru-RU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hello</a:t>
            </a:r>
            <a:r>
              <a:rPr lang="ru-RU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char_set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ru-RU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text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# </a:t>
            </a:r>
            <a:r>
              <a:rPr lang="ru-RU" sz="1600" dirty="0">
                <a:solidFill>
                  <a:srgbClr val="008000"/>
                </a:solidFill>
              </a:rPr>
              <a:t>будет {'</a:t>
            </a:r>
            <a:r>
              <a:rPr lang="en-US" sz="1600" dirty="0">
                <a:solidFill>
                  <a:srgbClr val="008000"/>
                </a:solidFill>
              </a:rPr>
              <a:t>h', 'e', 'l', 'o'} 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60264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B8AE0-5EF6-DB42-452E-F8122229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F9E022A-A3ED-59DC-C41C-8C1A8EBD4E28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4B5E6C-8D8B-8EE5-0507-21FA297BFBD5}"/>
              </a:ext>
            </a:extLst>
          </p:cNvPr>
          <p:cNvSpPr txBox="1"/>
          <p:nvPr/>
        </p:nvSpPr>
        <p:spPr>
          <a:xfrm>
            <a:off x="1762539" y="5204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Основные операции с множествами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865F7-C843-C986-CA74-1D999B47A0F7}"/>
              </a:ext>
            </a:extLst>
          </p:cNvPr>
          <p:cNvSpPr txBox="1"/>
          <p:nvPr/>
        </p:nvSpPr>
        <p:spPr>
          <a:xfrm>
            <a:off x="2398644" y="9439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Добавление элемента: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add()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B74800-C922-3002-F4BF-167FA3B6AB7D}"/>
              </a:ext>
            </a:extLst>
          </p:cNvPr>
          <p:cNvSpPr txBox="1"/>
          <p:nvPr/>
        </p:nvSpPr>
        <p:spPr>
          <a:xfrm>
            <a:off x="2849216" y="1384817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my_set.add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(6)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F39C2-2205-EA7B-C4D3-FF1207A1D2B8}"/>
              </a:ext>
            </a:extLst>
          </p:cNvPr>
          <p:cNvSpPr txBox="1"/>
          <p:nvPr/>
        </p:nvSpPr>
        <p:spPr>
          <a:xfrm>
            <a:off x="2849216" y="1801031"/>
            <a:ext cx="956807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my_set.add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Попытка добавить дубликат - игнорируется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E6C64C-2C9D-1F3F-3983-2E9DF0905C7E}"/>
              </a:ext>
            </a:extLst>
          </p:cNvPr>
          <p:cNvSpPr txBox="1"/>
          <p:nvPr/>
        </p:nvSpPr>
        <p:spPr>
          <a:xfrm>
            <a:off x="2398644" y="2234319"/>
            <a:ext cx="6188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remove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 удаляет элемент, </a:t>
            </a:r>
            <a:r>
              <a:rPr lang="ru-RU" dirty="0">
                <a:solidFill>
                  <a:srgbClr val="1F1F1F"/>
                </a:solidFill>
                <a:latin typeface="Google Sans Text"/>
              </a:rPr>
              <a:t>если его нет т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о вызывает ошибку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00DBF-F8A5-E61B-4834-8DAA8E019548}"/>
              </a:ext>
            </a:extLst>
          </p:cNvPr>
          <p:cNvSpPr txBox="1"/>
          <p:nvPr/>
        </p:nvSpPr>
        <p:spPr>
          <a:xfrm>
            <a:off x="2849217" y="2722020"/>
            <a:ext cx="6188764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my_set.remove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6320C6-A2D3-A349-8FC2-BDE2CFFBE3DD}"/>
              </a:ext>
            </a:extLst>
          </p:cNvPr>
          <p:cNvSpPr txBox="1"/>
          <p:nvPr/>
        </p:nvSpPr>
        <p:spPr>
          <a:xfrm>
            <a:off x="2849217" y="3156918"/>
            <a:ext cx="6188764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my_set.remove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ru-RU" dirty="0"/>
              <a:t> </a:t>
            </a:r>
            <a:r>
              <a:rPr lang="ru-RU" sz="1600" dirty="0">
                <a:solidFill>
                  <a:srgbClr val="008000"/>
                </a:solidFill>
              </a:rPr>
              <a:t># Вызовет  ошибку </a:t>
            </a:r>
            <a:r>
              <a:rPr lang="en-US" sz="1600" dirty="0" err="1">
                <a:solidFill>
                  <a:srgbClr val="008000"/>
                </a:solidFill>
              </a:rPr>
              <a:t>KeyError</a:t>
            </a:r>
            <a:r>
              <a:rPr lang="en-US" sz="1600" dirty="0">
                <a:solidFill>
                  <a:srgbClr val="008000"/>
                </a:solidFill>
              </a:rPr>
              <a:t>!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EEC5B-A672-C6AC-AD05-435A36ADC6D8}"/>
              </a:ext>
            </a:extLst>
          </p:cNvPr>
          <p:cNvSpPr txBox="1"/>
          <p:nvPr/>
        </p:nvSpPr>
        <p:spPr>
          <a:xfrm>
            <a:off x="2398644" y="3585659"/>
            <a:ext cx="7633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discard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 удаляет элемент, если он есть, и ничего не делает, если его нет.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F00F04-B117-00F8-9E50-1C643EDD4506}"/>
              </a:ext>
            </a:extLst>
          </p:cNvPr>
          <p:cNvSpPr txBox="1"/>
          <p:nvPr/>
        </p:nvSpPr>
        <p:spPr>
          <a:xfrm>
            <a:off x="2849217" y="4092044"/>
            <a:ext cx="9190383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my_set.discard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ru-RU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Не вызовет ошибку, даже если элемента нет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CCA966-7ADE-EFC0-E38A-49E457ECD935}"/>
              </a:ext>
            </a:extLst>
          </p:cNvPr>
          <p:cNvSpPr txBox="1"/>
          <p:nvPr/>
        </p:nvSpPr>
        <p:spPr>
          <a:xfrm>
            <a:off x="2398644" y="4643701"/>
            <a:ext cx="6208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Очистка множества: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clear()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201D3F-2E50-C591-441A-099E8CA0E73C}"/>
              </a:ext>
            </a:extLst>
          </p:cNvPr>
          <p:cNvSpPr txBox="1"/>
          <p:nvPr/>
        </p:nvSpPr>
        <p:spPr>
          <a:xfrm>
            <a:off x="2849216" y="5121082"/>
            <a:ext cx="6208642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my_set.clear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16937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6B73C-2FF9-044A-8AB9-DBCB3D46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5BDCE6F-2EC2-1F12-557B-910B2E9102FE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A07AE-2AD0-B23F-75A4-BE6175439AE4}"/>
              </a:ext>
            </a:extLst>
          </p:cNvPr>
          <p:cNvSpPr txBox="1"/>
          <p:nvPr/>
        </p:nvSpPr>
        <p:spPr>
          <a:xfrm>
            <a:off x="2173356" y="7694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002060"/>
                </a:solidFill>
                <a:effectLst/>
                <a:latin typeface="Google Sans Text"/>
              </a:rPr>
              <a:t>Математические операции с множествами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B619D2C-0098-9F9F-4C67-44B92BE48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14" y="1287702"/>
            <a:ext cx="6580739" cy="5210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687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5224F-0B3C-4778-BEB5-609C7E0B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449E025-5FF3-B1AF-3709-053EF5C81899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698284-1720-EA9C-283A-F5990847B0F4}"/>
              </a:ext>
            </a:extLst>
          </p:cNvPr>
          <p:cNvSpPr txBox="1"/>
          <p:nvPr/>
        </p:nvSpPr>
        <p:spPr>
          <a:xfrm>
            <a:off x="1835426" y="2128486"/>
            <a:ext cx="10356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Объединение (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union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): | или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union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 - возвращает множество, содержащее все элементы из обоих множеств.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01DFB-3B7F-CB2E-27C5-EB146C3FB6D3}"/>
              </a:ext>
            </a:extLst>
          </p:cNvPr>
          <p:cNvSpPr txBox="1"/>
          <p:nvPr/>
        </p:nvSpPr>
        <p:spPr>
          <a:xfrm>
            <a:off x="2789582" y="2765017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union_set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|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3D6944-2E96-912A-59BF-06BD7A7E301E}"/>
              </a:ext>
            </a:extLst>
          </p:cNvPr>
          <p:cNvSpPr txBox="1"/>
          <p:nvPr/>
        </p:nvSpPr>
        <p:spPr>
          <a:xfrm>
            <a:off x="2789582" y="3116841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union_set_2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set1.union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AC74A7-181D-F932-9043-2ABD5C35F729}"/>
              </a:ext>
            </a:extLst>
          </p:cNvPr>
          <p:cNvSpPr txBox="1"/>
          <p:nvPr/>
        </p:nvSpPr>
        <p:spPr>
          <a:xfrm>
            <a:off x="2027583" y="886590"/>
            <a:ext cx="609600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 = {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 = {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A7BB9A-9467-7DA4-3D19-C9179FA0B270}"/>
              </a:ext>
            </a:extLst>
          </p:cNvPr>
          <p:cNvSpPr txBox="1"/>
          <p:nvPr/>
        </p:nvSpPr>
        <p:spPr>
          <a:xfrm>
            <a:off x="7931426" y="2900993"/>
            <a:ext cx="6096000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Вывод: {1, 2, 3, 4, 5}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765248-C914-E21A-7B2E-D986D70DE92B}"/>
              </a:ext>
            </a:extLst>
          </p:cNvPr>
          <p:cNvSpPr txBox="1"/>
          <p:nvPr/>
        </p:nvSpPr>
        <p:spPr>
          <a:xfrm>
            <a:off x="1835426" y="3602070"/>
            <a:ext cx="10031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Пересечение (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intersection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): &amp; или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intersection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 - возвращает множество, содержащее только элементы, которые есть в обоих множествах.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1DB5E2-8ED0-2A53-7EFB-932F70347FF0}"/>
              </a:ext>
            </a:extLst>
          </p:cNvPr>
          <p:cNvSpPr txBox="1"/>
          <p:nvPr/>
        </p:nvSpPr>
        <p:spPr>
          <a:xfrm>
            <a:off x="2723321" y="4450719"/>
            <a:ext cx="6778486" cy="65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intersection_set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&amp;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     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intersection_set_2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set1.intersection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4837C0-F9A7-8C8B-FA01-64B0FA4B9703}"/>
              </a:ext>
            </a:extLst>
          </p:cNvPr>
          <p:cNvSpPr txBox="1"/>
          <p:nvPr/>
        </p:nvSpPr>
        <p:spPr>
          <a:xfrm>
            <a:off x="8603974" y="4437395"/>
            <a:ext cx="6778486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Вывод: {3}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0699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E84B4-4CD1-3E43-AA22-8BDAFACE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C64B412-953B-4090-CA94-60DAA8901696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ED73AC-E95F-329C-B450-B74F4EC096D6}"/>
              </a:ext>
            </a:extLst>
          </p:cNvPr>
          <p:cNvSpPr txBox="1"/>
          <p:nvPr/>
        </p:nvSpPr>
        <p:spPr>
          <a:xfrm>
            <a:off x="1881808" y="798460"/>
            <a:ext cx="609600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 = {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 = {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2095D9-9BAA-A20A-E878-7BA719DC8C8B}"/>
              </a:ext>
            </a:extLst>
          </p:cNvPr>
          <p:cNvSpPr txBox="1"/>
          <p:nvPr/>
        </p:nvSpPr>
        <p:spPr>
          <a:xfrm>
            <a:off x="1563756" y="1611029"/>
            <a:ext cx="10031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Разность (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difference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): - или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difference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 - возвращает множество, содержащее элементы, которые есть в первом множестве, но нет во втором.</a:t>
            </a:r>
            <a:r>
              <a:rPr lang="ru-RU" dirty="0"/>
              <a:t> Имеет значение кто стоит первым!!!!</a:t>
            </a: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DE1A21-EA5B-CE72-B935-3BF2A322099A}"/>
              </a:ext>
            </a:extLst>
          </p:cNvPr>
          <p:cNvSpPr txBox="1"/>
          <p:nvPr/>
        </p:nvSpPr>
        <p:spPr>
          <a:xfrm>
            <a:off x="2398643" y="2419134"/>
            <a:ext cx="7613374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difference_set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 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difference_set_2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set1.difference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F82F80-B480-515C-C121-C6842D8A3906}"/>
              </a:ext>
            </a:extLst>
          </p:cNvPr>
          <p:cNvSpPr txBox="1"/>
          <p:nvPr/>
        </p:nvSpPr>
        <p:spPr>
          <a:xfrm>
            <a:off x="8822635" y="2483839"/>
            <a:ext cx="7613374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Вывод: {1, 2}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DF36CD-4D8B-256D-2D62-06BB04CDB1B7}"/>
              </a:ext>
            </a:extLst>
          </p:cNvPr>
          <p:cNvSpPr txBox="1"/>
          <p:nvPr/>
        </p:nvSpPr>
        <p:spPr>
          <a:xfrm>
            <a:off x="1563756" y="3612021"/>
            <a:ext cx="10595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Симметрическая разность (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symmetric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difference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): ^ или </a:t>
            </a:r>
            <a:r>
              <a:rPr lang="ru-RU" b="0" i="0" dirty="0" err="1">
                <a:solidFill>
                  <a:srgbClr val="1F1F1F"/>
                </a:solidFill>
                <a:effectLst/>
                <a:latin typeface="Google Sans Text"/>
              </a:rPr>
              <a:t>symmetric_difference</a:t>
            </a: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() - возвращает множество, содержащее элементы, которые есть только в одном из множеств (но не в обоих).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897F3-3CF1-74A7-6A00-6DA413915A20}"/>
              </a:ext>
            </a:extLst>
          </p:cNvPr>
          <p:cNvSpPr txBox="1"/>
          <p:nvPr/>
        </p:nvSpPr>
        <p:spPr>
          <a:xfrm>
            <a:off x="2398643" y="4724308"/>
            <a:ext cx="10137913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symmetric_difference_set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^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symmetric_difference_set_2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set1.symmetric_difference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60D1CF-78FC-E826-6224-124EB0267021}"/>
              </a:ext>
            </a:extLst>
          </p:cNvPr>
          <p:cNvSpPr txBox="1"/>
          <p:nvPr/>
        </p:nvSpPr>
        <p:spPr>
          <a:xfrm>
            <a:off x="8428382" y="4894581"/>
            <a:ext cx="8216348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Вывод: {1, 2, 4, 5}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2322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5BD7A-6ED3-F4AE-FCF8-67E5AC7E6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662A1B-F933-BDBD-8827-85B37FB10AA8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67F661-627B-3820-38F3-7CCAA41A1923}"/>
              </a:ext>
            </a:extLst>
          </p:cNvPr>
          <p:cNvSpPr txBox="1"/>
          <p:nvPr/>
        </p:nvSpPr>
        <p:spPr>
          <a:xfrm>
            <a:off x="2107096" y="666066"/>
            <a:ext cx="9594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Проверка подмножества и надмножества:</a:t>
            </a:r>
          </a:p>
          <a:p>
            <a:endParaRPr lang="ru-RU" dirty="0"/>
          </a:p>
          <a:p>
            <a:r>
              <a:rPr lang="ru-RU" dirty="0" err="1"/>
              <a:t>issubset</a:t>
            </a:r>
            <a:r>
              <a:rPr lang="ru-RU" dirty="0"/>
              <a:t>() - проверяет, является ли одно множество подмножеством другого.</a:t>
            </a:r>
          </a:p>
          <a:p>
            <a:r>
              <a:rPr lang="ru-RU" dirty="0" err="1"/>
              <a:t>issuperset</a:t>
            </a:r>
            <a:r>
              <a:rPr lang="ru-RU" dirty="0"/>
              <a:t>() - проверяет, является ли одно множество надмножеством другого.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CB1F2-637C-7370-6821-6F9273E6FE25}"/>
              </a:ext>
            </a:extLst>
          </p:cNvPr>
          <p:cNvSpPr txBox="1"/>
          <p:nvPr/>
        </p:nvSpPr>
        <p:spPr>
          <a:xfrm>
            <a:off x="2107096" y="2163129"/>
            <a:ext cx="6096000" cy="65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 = {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 = {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set3 = {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da-DK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da-DK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CFD1A6-0CAD-ECB9-5BB2-501ABA26BB84}"/>
              </a:ext>
            </a:extLst>
          </p:cNvPr>
          <p:cNvSpPr txBox="1"/>
          <p:nvPr/>
        </p:nvSpPr>
        <p:spPr>
          <a:xfrm>
            <a:off x="2107096" y="3151614"/>
            <a:ext cx="96409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set1.issubset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  </a:t>
            </a:r>
            <a:r>
              <a:rPr lang="ru-RU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True (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set1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является 												подмножеством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set2.issuperset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True (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является 												надмножеством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set1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set1.issuperset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False (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set1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yt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является 											надмножеством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set3.issubset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False (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set3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ru-RU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неявляется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											подмножеством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set2.issuperset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set3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  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Вывод: 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False (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set2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является 												надмножеством </a:t>
            </a:r>
            <a:r>
              <a:rPr lang="en-US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set3</a:t>
            </a: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130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5F786-E90D-37C0-DAEE-5051B2DDB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E24CA0B-1FF7-29D0-DA28-0AF01D44BCF5}"/>
              </a:ext>
            </a:extLst>
          </p:cNvPr>
          <p:cNvSpPr txBox="1"/>
          <p:nvPr/>
        </p:nvSpPr>
        <p:spPr>
          <a:xfrm>
            <a:off x="198120" y="0"/>
            <a:ext cx="11841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C00000"/>
                </a:solidFill>
              </a:rPr>
              <a:t>Словари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4F19CA-7A7F-B580-C51F-E7344F9EAA0D}"/>
              </a:ext>
            </a:extLst>
          </p:cNvPr>
          <p:cNvSpPr txBox="1"/>
          <p:nvPr/>
        </p:nvSpPr>
        <p:spPr>
          <a:xfrm>
            <a:off x="2239617" y="8622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1F1F1F"/>
                </a:solidFill>
                <a:effectLst/>
                <a:latin typeface="Google Sans Text"/>
              </a:rPr>
              <a:t>Итерация по множеству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D4FC4-BE9A-39A6-84B7-6ADCF1FE00E2}"/>
              </a:ext>
            </a:extLst>
          </p:cNvPr>
          <p:cNvSpPr txBox="1"/>
          <p:nvPr/>
        </p:nvSpPr>
        <p:spPr>
          <a:xfrm>
            <a:off x="3070860" y="1832026"/>
            <a:ext cx="6096000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{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element </a:t>
            </a:r>
            <a:r>
              <a:rPr lang="en-US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my_set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(element)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D54C0-5BA1-29E0-FBD2-6E56C73D668D}"/>
              </a:ext>
            </a:extLst>
          </p:cNvPr>
          <p:cNvSpPr txBox="1"/>
          <p:nvPr/>
        </p:nvSpPr>
        <p:spPr>
          <a:xfrm>
            <a:off x="3070860" y="3429000"/>
            <a:ext cx="609600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Вывод: (элементы в произвольном порядке, например: 1, 2, 3, 4)</a:t>
            </a:r>
            <a:endParaRPr lang="ru-RU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870695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1296</TotalTime>
  <Words>3572</Words>
  <Application>Microsoft Office PowerPoint</Application>
  <PresentationFormat>Широкоэкранный</PresentationFormat>
  <Paragraphs>359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Century Gothic</vt:lpstr>
      <vt:lpstr>Courier New</vt:lpstr>
      <vt:lpstr>Google Sans Text</vt:lpstr>
      <vt:lpstr>Roboto</vt:lpstr>
      <vt:lpstr>Wingdings</vt:lpstr>
      <vt:lpstr>Wingdings 3</vt:lpstr>
      <vt:lpstr>Легкий дым</vt:lpstr>
      <vt:lpstr>Введение в Python, синтаксис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Людмила Герськина</dc:creator>
  <cp:lastModifiedBy>Людмила Герськина</cp:lastModifiedBy>
  <cp:revision>28</cp:revision>
  <dcterms:created xsi:type="dcterms:W3CDTF">2025-06-30T12:58:59Z</dcterms:created>
  <dcterms:modified xsi:type="dcterms:W3CDTF">2025-10-05T19:48:10Z</dcterms:modified>
</cp:coreProperties>
</file>