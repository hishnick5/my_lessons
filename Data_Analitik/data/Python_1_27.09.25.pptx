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8" r:id="rId3"/>
    <p:sldId id="259" r:id="rId4"/>
    <p:sldId id="304" r:id="rId5"/>
    <p:sldId id="260" r:id="rId6"/>
    <p:sldId id="313" r:id="rId7"/>
    <p:sldId id="261" r:id="rId8"/>
    <p:sldId id="262" r:id="rId9"/>
    <p:sldId id="305" r:id="rId10"/>
    <p:sldId id="307" r:id="rId11"/>
    <p:sldId id="314" r:id="rId12"/>
    <p:sldId id="315" r:id="rId13"/>
    <p:sldId id="309" r:id="rId14"/>
    <p:sldId id="308" r:id="rId15"/>
    <p:sldId id="310" r:id="rId16"/>
    <p:sldId id="311" r:id="rId17"/>
    <p:sldId id="31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045"/>
    <a:srgbClr val="CA5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8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4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5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4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7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7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4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5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355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87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442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0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45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4147D-99DF-75B6-572C-97B361B6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034" y="444515"/>
            <a:ext cx="8643154" cy="1887950"/>
          </a:xfrm>
        </p:spPr>
        <p:txBody>
          <a:bodyPr>
            <a:noAutofit/>
          </a:bodyPr>
          <a:lstStyle/>
          <a:p>
            <a:r>
              <a:rPr lang="ru-RU" sz="4800" dirty="0"/>
              <a:t>Введение в </a:t>
            </a:r>
            <a:r>
              <a:rPr lang="en-US" sz="4800" dirty="0"/>
              <a:t>Python, </a:t>
            </a:r>
            <a:r>
              <a:rPr lang="ru-RU" sz="4800" dirty="0"/>
              <a:t>синтаксис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A601BC-B384-4E43-A6D3-F7CF69982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3231" y="5020140"/>
            <a:ext cx="9462805" cy="1012929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ru-RU" dirty="0" err="1"/>
              <a:t>2025г</a:t>
            </a:r>
            <a:r>
              <a:rPr lang="ru-RU" dirty="0"/>
              <a:t>. Гераськина Людмила Александровна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5607E-30CE-5A57-CCC9-A710C04E544F}"/>
              </a:ext>
            </a:extLst>
          </p:cNvPr>
          <p:cNvSpPr txBox="1"/>
          <p:nvPr/>
        </p:nvSpPr>
        <p:spPr>
          <a:xfrm>
            <a:off x="3046686" y="325221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Roboto" panose="02000000000000000000" pitchFamily="2" charset="0"/>
              </a:rPr>
              <a:t>К уроку 1 по </a:t>
            </a:r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489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974A2-7A0D-0595-9852-6BFEF0945F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38703" y="99095"/>
            <a:ext cx="10274300" cy="800100"/>
          </a:xfrm>
        </p:spPr>
        <p:txBody>
          <a:bodyPr>
            <a:normAutofit/>
          </a:bodyPr>
          <a:lstStyle/>
          <a:p>
            <a:r>
              <a:rPr lang="en-US" dirty="0"/>
              <a:t>Python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BABE30-ED0F-3AED-10C5-3C9208D014DE}"/>
              </a:ext>
            </a:extLst>
          </p:cNvPr>
          <p:cNvSpPr/>
          <p:nvPr/>
        </p:nvSpPr>
        <p:spPr>
          <a:xfrm flipV="1">
            <a:off x="1765737" y="89919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5423F28-FBDE-6BCC-4148-2E1E77086A9A}"/>
              </a:ext>
            </a:extLst>
          </p:cNvPr>
          <p:cNvSpPr txBox="1">
            <a:spLocks/>
          </p:cNvSpPr>
          <p:nvPr/>
        </p:nvSpPr>
        <p:spPr>
          <a:xfrm>
            <a:off x="1765737" y="1516132"/>
            <a:ext cx="9569669" cy="46497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dirty="0"/>
              <a:t>Python — высокоуровневый язык программирования общего назначения с акцентом на производительность разработчика и читаемость кода. Синтаксис ядра Python минималистичен. </a:t>
            </a:r>
            <a:endParaRPr lang="en-US" dirty="0"/>
          </a:p>
          <a:p>
            <a:pPr lvl="0"/>
            <a:r>
              <a:rPr lang="ru-RU" dirty="0"/>
              <a:t>Python поддерживает несколько парадигм программирования, в том числе структурное, объектно-ориентированное, функциональное, императивное и аспектно-ориентированное. </a:t>
            </a:r>
            <a:endParaRPr lang="en-US" dirty="0"/>
          </a:p>
          <a:p>
            <a:pPr lvl="0"/>
            <a:r>
              <a:rPr lang="ru-RU" dirty="0"/>
              <a:t>Основные архитектурные черты — динамическая типизация, автоматическое управление памятью, полная интроспекция, механизм обработки исключений, поддержка многопоточных вычислений.</a:t>
            </a:r>
          </a:p>
        </p:txBody>
      </p:sp>
    </p:spTree>
    <p:extLst>
      <p:ext uri="{BB962C8B-B14F-4D97-AF65-F5344CB8AC3E}">
        <p14:creationId xmlns:p14="http://schemas.microsoft.com/office/powerpoint/2010/main" val="19316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0256-1D6E-ADAD-25C3-DFC80510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D7FB5-CC33-4EAC-DBE9-92CE4AFC01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17700" y="139503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- </a:t>
            </a:r>
            <a:r>
              <a:rPr lang="ru-RU" dirty="0"/>
              <a:t>дзен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3E87DB-189B-4811-EE2A-DFF9EC5CFC9C}"/>
              </a:ext>
            </a:extLst>
          </p:cNvPr>
          <p:cNvSpPr/>
          <p:nvPr/>
        </p:nvSpPr>
        <p:spPr>
          <a:xfrm flipV="1">
            <a:off x="1743207" y="939603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56DE60-CCAD-2658-BCAE-E9258C1D1E56}"/>
              </a:ext>
            </a:extLst>
          </p:cNvPr>
          <p:cNvSpPr txBox="1">
            <a:spLocks/>
          </p:cNvSpPr>
          <p:nvPr/>
        </p:nvSpPr>
        <p:spPr>
          <a:xfrm>
            <a:off x="2563014" y="1144555"/>
            <a:ext cx="10084157" cy="49330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/>
              <a:t>1. &gt;&gt;&gt; import this </a:t>
            </a:r>
          </a:p>
          <a:p>
            <a:pPr lvl="0"/>
            <a:r>
              <a:rPr lang="en-US" sz="1800" dirty="0"/>
              <a:t>2. The Zen of Python, by Tim Peters</a:t>
            </a:r>
          </a:p>
          <a:p>
            <a:pPr lvl="0"/>
            <a:r>
              <a:rPr lang="en-US" sz="1800" dirty="0"/>
              <a:t>3. Beautiful is better than ugly. </a:t>
            </a:r>
          </a:p>
          <a:p>
            <a:pPr lvl="0"/>
            <a:r>
              <a:rPr lang="en-US" sz="1800" dirty="0"/>
              <a:t>4. Explicit is better than implicit. </a:t>
            </a:r>
          </a:p>
          <a:p>
            <a:pPr lvl="0"/>
            <a:r>
              <a:rPr lang="en-US" sz="1800" dirty="0"/>
              <a:t>5. Simple is better than complex. </a:t>
            </a:r>
          </a:p>
          <a:p>
            <a:pPr lvl="0"/>
            <a:r>
              <a:rPr lang="en-US" sz="1800" dirty="0"/>
              <a:t>6. Complex is better than complicated. </a:t>
            </a:r>
          </a:p>
          <a:p>
            <a:pPr lvl="0"/>
            <a:r>
              <a:rPr lang="en-US" sz="1800" dirty="0"/>
              <a:t>7. Flat is better than nested. </a:t>
            </a:r>
          </a:p>
          <a:p>
            <a:pPr lvl="0"/>
            <a:r>
              <a:rPr lang="en-US" sz="1800" dirty="0"/>
              <a:t>8. Sparse is better than dense. </a:t>
            </a:r>
          </a:p>
          <a:p>
            <a:pPr lvl="0"/>
            <a:r>
              <a:rPr lang="en-US" sz="1800" dirty="0"/>
              <a:t>9. Readability counts. </a:t>
            </a:r>
          </a:p>
          <a:p>
            <a:pPr lvl="0"/>
            <a:r>
              <a:rPr lang="en-US" sz="1800" dirty="0"/>
              <a:t>10. Special cases aren't special enough to break the rules. </a:t>
            </a:r>
          </a:p>
          <a:p>
            <a:pPr lvl="0"/>
            <a:r>
              <a:rPr lang="en-US" sz="1800" dirty="0"/>
              <a:t>11. Although practicality beats purity.</a:t>
            </a:r>
          </a:p>
        </p:txBody>
      </p:sp>
    </p:spTree>
    <p:extLst>
      <p:ext uri="{BB962C8B-B14F-4D97-AF65-F5344CB8AC3E}">
        <p14:creationId xmlns:p14="http://schemas.microsoft.com/office/powerpoint/2010/main" val="130636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62A16-04AB-9F28-CF6A-A356C022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D9256-38CD-20CF-14AD-72538B9FEE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65738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- </a:t>
            </a:r>
            <a:r>
              <a:rPr lang="ru-RU" dirty="0"/>
              <a:t>дзен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642B8E-A3D7-13F5-AC5D-1592B095111E}"/>
              </a:ext>
            </a:extLst>
          </p:cNvPr>
          <p:cNvSpPr/>
          <p:nvPr/>
        </p:nvSpPr>
        <p:spPr>
          <a:xfrm flipV="1">
            <a:off x="1569787" y="931697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69F1F13-52AE-FDA4-7396-859C67BE45B1}"/>
              </a:ext>
            </a:extLst>
          </p:cNvPr>
          <p:cNvSpPr txBox="1">
            <a:spLocks/>
          </p:cNvSpPr>
          <p:nvPr/>
        </p:nvSpPr>
        <p:spPr>
          <a:xfrm>
            <a:off x="2389594" y="1475631"/>
            <a:ext cx="10084157" cy="49330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/>
              <a:t> 12. Errors should never pass silently. </a:t>
            </a:r>
          </a:p>
          <a:p>
            <a:pPr lvl="0"/>
            <a:r>
              <a:rPr lang="en-US" sz="1800" dirty="0"/>
              <a:t>13. Unless explicitly silenced. </a:t>
            </a:r>
          </a:p>
          <a:p>
            <a:pPr lvl="0"/>
            <a:r>
              <a:rPr lang="en-US" sz="1800" dirty="0"/>
              <a:t>14. In the face of ambiguity, refuse the temptation to guess. </a:t>
            </a:r>
          </a:p>
          <a:p>
            <a:pPr lvl="0"/>
            <a:r>
              <a:rPr lang="en-US" sz="1800" dirty="0"/>
              <a:t>15. There should be one-- and preferably only one --obvious way to do it. </a:t>
            </a:r>
          </a:p>
          <a:p>
            <a:pPr lvl="0"/>
            <a:r>
              <a:rPr lang="en-US" sz="1800" dirty="0"/>
              <a:t>16. Although that way may not be obvious at first unless you're Dutch.</a:t>
            </a:r>
          </a:p>
          <a:p>
            <a:pPr lvl="0"/>
            <a:r>
              <a:rPr lang="en-US" sz="1800" dirty="0"/>
              <a:t> 17. Now is better than never. </a:t>
            </a:r>
          </a:p>
          <a:p>
            <a:pPr lvl="0"/>
            <a:r>
              <a:rPr lang="en-US" sz="1800" dirty="0"/>
              <a:t>18. Although never is often better than *right* now. </a:t>
            </a:r>
          </a:p>
          <a:p>
            <a:pPr lvl="0"/>
            <a:r>
              <a:rPr lang="en-US" sz="1800" dirty="0"/>
              <a:t>19. If the implementation is hard to explain, it's a bad idea. </a:t>
            </a:r>
          </a:p>
          <a:p>
            <a:pPr lvl="0"/>
            <a:r>
              <a:rPr lang="en-US" sz="1800" dirty="0"/>
              <a:t>20. If the implementation is easy to explain, it may be a good idea. </a:t>
            </a:r>
          </a:p>
          <a:p>
            <a:pPr lvl="0"/>
            <a:r>
              <a:rPr lang="en-US" sz="1800" dirty="0"/>
              <a:t>21. Namespaces are one honking great idea -- let's do more of those!</a:t>
            </a:r>
          </a:p>
        </p:txBody>
      </p:sp>
    </p:spTree>
    <p:extLst>
      <p:ext uri="{BB962C8B-B14F-4D97-AF65-F5344CB8AC3E}">
        <p14:creationId xmlns:p14="http://schemas.microsoft.com/office/powerpoint/2010/main" val="31628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9A02-F172-CF08-ACF2-439CCA1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ECEFA-A699-F71B-9174-2760E56691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11669" y="42051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D11F04-D26C-297F-7237-3AEE75950730}"/>
              </a:ext>
            </a:extLst>
          </p:cNvPr>
          <p:cNvSpPr/>
          <p:nvPr/>
        </p:nvSpPr>
        <p:spPr>
          <a:xfrm flipV="1">
            <a:off x="1641590" y="926891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CF177-150D-4E48-0469-292E7C2BB229}"/>
              </a:ext>
            </a:extLst>
          </p:cNvPr>
          <p:cNvSpPr txBox="1"/>
          <p:nvPr/>
        </p:nvSpPr>
        <p:spPr>
          <a:xfrm>
            <a:off x="983432" y="1052736"/>
            <a:ext cx="109452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Типы данных</a:t>
            </a:r>
            <a:r>
              <a:rPr lang="ru-RU" b="0" i="0" dirty="0">
                <a:solidFill>
                  <a:srgbClr val="C00000"/>
                </a:solidFill>
                <a:effectLst/>
                <a:latin typeface="Google Sans Text"/>
              </a:rPr>
              <a:t> 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- это классификация, определяющая, какой вид значений может хранить переменная, а также какие операции над этими значениями можно выполнять. Другими словами, тип переменной говорит что это за данные, и как с ними нужно обращаться.</a:t>
            </a:r>
          </a:p>
          <a:p>
            <a:pPr algn="l">
              <a:buNone/>
            </a:pP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Динамическая типизация:</a:t>
            </a:r>
            <a:r>
              <a:rPr lang="ru-RU" b="0" i="0" dirty="0">
                <a:solidFill>
                  <a:srgbClr val="C00000"/>
                </a:solidFill>
                <a:effectLst/>
                <a:latin typeface="Google Sans Text"/>
              </a:rPr>
              <a:t> 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Python - это язык с динамической типизацией. Это означает, что вам не нужно явно указывать тип переменной при ее объявлении. Тип определяется автоматически во время выполнения, когда переменной присваивается значение.</a:t>
            </a:r>
          </a:p>
        </p:txBody>
      </p:sp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3320E80F-7325-4961-D60F-2579FF57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120" y="2807062"/>
            <a:ext cx="6930320" cy="399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56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2FFFE-B801-725F-DE7D-A34926CF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75243-41AF-85A8-0C72-28445718D6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11669" y="42051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3BBFD8-6FB0-58C2-D749-5C1D78B130B8}"/>
              </a:ext>
            </a:extLst>
          </p:cNvPr>
          <p:cNvSpPr/>
          <p:nvPr/>
        </p:nvSpPr>
        <p:spPr>
          <a:xfrm flipV="1">
            <a:off x="1641590" y="926891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FA157-6738-1731-EE91-85FEA6177A85}"/>
              </a:ext>
            </a:extLst>
          </p:cNvPr>
          <p:cNvSpPr txBox="1"/>
          <p:nvPr/>
        </p:nvSpPr>
        <p:spPr>
          <a:xfrm>
            <a:off x="3297774" y="1179240"/>
            <a:ext cx="7704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buNone/>
              <a:defRPr sz="2000" b="1" i="0">
                <a:solidFill>
                  <a:srgbClr val="C00000"/>
                </a:solidFill>
                <a:effectLst/>
                <a:latin typeface="Arial Black" panose="020B0A04020102020204" pitchFamily="34" charset="0"/>
              </a:defRPr>
            </a:lvl1pPr>
          </a:lstStyle>
          <a:p>
            <a:r>
              <a:rPr lang="ru-RU" dirty="0"/>
              <a:t>Изменяемые и неизменяемые типы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95669-9DBD-CBBD-06EA-F43337C20CE9}"/>
              </a:ext>
            </a:extLst>
          </p:cNvPr>
          <p:cNvSpPr txBox="1"/>
          <p:nvPr/>
        </p:nvSpPr>
        <p:spPr>
          <a:xfrm>
            <a:off x="1670839" y="2424377"/>
            <a:ext cx="9433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Graphik LC Web"/>
              </a:rPr>
              <a:t>Когда мы присваиваем новое значение неизменяемому объекту, Python не перезаписывает его, а создаёт новый объект с тем же именем. Чтобы в этом убедиться, достаточно проверить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Graphik LC Web"/>
              </a:rPr>
              <a:t>id</a:t>
            </a:r>
            <a:r>
              <a:rPr lang="ru-RU" b="0" i="0" dirty="0">
                <a:solidFill>
                  <a:srgbClr val="000000"/>
                </a:solidFill>
                <a:effectLst/>
                <a:latin typeface="Graphik LC Web"/>
              </a:rPr>
              <a:t> — уникальный номер, который присваивается каждому объекту в 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5AC54-23AD-8F3B-0086-500882260903}"/>
              </a:ext>
            </a:extLst>
          </p:cNvPr>
          <p:cNvSpPr txBox="1"/>
          <p:nvPr/>
        </p:nvSpPr>
        <p:spPr>
          <a:xfrm>
            <a:off x="1641590" y="4131568"/>
            <a:ext cx="9289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Graphik LC Web"/>
              </a:rPr>
              <a:t>К неизменяемым объектам относятся числа, строки и кортежи, а к изменяемым — списки, словари и множества. Это свойство нужно учитывать при передаче объектов в функцию. Например, если вы не хотите, чтобы функция изменила исходный список, передайте в неё копию этого списка.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233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70FA-3848-6E17-112B-02EE0B9E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25EF9-E475-FEEF-B5EE-7C2D8F73C5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Объявление переменных</a:t>
            </a:r>
            <a:r>
              <a:rPr lang="en-US" dirty="0"/>
              <a:t>.</a:t>
            </a:r>
            <a:r>
              <a:rPr lang="ru-RU" dirty="0"/>
              <a:t>Имя переменной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9A0B47-A6AF-A4D7-F24B-CF43D1BB3DA7}"/>
              </a:ext>
            </a:extLst>
          </p:cNvPr>
          <p:cNvSpPr/>
          <p:nvPr/>
        </p:nvSpPr>
        <p:spPr>
          <a:xfrm flipV="1">
            <a:off x="1653011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DCB6179-7F81-8162-A321-B13047457A55}"/>
              </a:ext>
            </a:extLst>
          </p:cNvPr>
          <p:cNvSpPr txBox="1">
            <a:spLocks/>
          </p:cNvSpPr>
          <p:nvPr/>
        </p:nvSpPr>
        <p:spPr>
          <a:xfrm>
            <a:off x="1292772" y="2024145"/>
            <a:ext cx="10084157" cy="38642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 имени переменной используйте только латинские буквы a-z, A-Z, цифры и символ нижнего подчеркивания (_);</a:t>
            </a:r>
          </a:p>
          <a:p>
            <a:r>
              <a:rPr lang="ru-RU" dirty="0"/>
              <a:t>Имя переменной не может начинаться с цифры;</a:t>
            </a:r>
          </a:p>
          <a:p>
            <a:r>
              <a:rPr lang="ru-RU" dirty="0"/>
              <a:t>Имя переменной по возможности должно отражать её назначение.</a:t>
            </a:r>
          </a:p>
          <a:p>
            <a:r>
              <a:rPr lang="ru-RU" dirty="0"/>
              <a:t>Python — </a:t>
            </a:r>
            <a:r>
              <a:rPr lang="ru-RU" dirty="0" err="1"/>
              <a:t>регистрочувствительный</a:t>
            </a:r>
            <a:r>
              <a:rPr lang="ru-RU" dirty="0"/>
              <a:t> язык. Переменная </a:t>
            </a:r>
            <a:r>
              <a:rPr lang="ru-RU" dirty="0" err="1"/>
              <a:t>name</a:t>
            </a:r>
            <a:r>
              <a:rPr lang="ru-RU" dirty="0"/>
              <a:t> и Name — две совершенно разные переменные. Для именования переменных принято использовать стиль </a:t>
            </a:r>
            <a:r>
              <a:rPr lang="ru-RU" dirty="0" err="1"/>
              <a:t>lower_case_with_underscores</a:t>
            </a:r>
            <a:r>
              <a:rPr lang="ru-RU" dirty="0"/>
              <a:t> (слова из маленьких букв с подчеркиваниями).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63C8A-3446-5CE8-E4D3-B49BA9A68505}"/>
              </a:ext>
            </a:extLst>
          </p:cNvPr>
          <p:cNvSpPr txBox="1"/>
          <p:nvPr/>
        </p:nvSpPr>
        <p:spPr>
          <a:xfrm>
            <a:off x="1502472" y="132006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Имя переменной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oogle Sans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7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3E2B-6DC5-5E44-85F9-3E781C17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E451-57D3-2137-2C54-BC6C259CCA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08082" y="178479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dirty="0"/>
              <a:t>К ключевым словам в языке Python относятся: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3551D9-C14F-EA7D-8AEA-1CD12D985F51}"/>
              </a:ext>
            </a:extLst>
          </p:cNvPr>
          <p:cNvSpPr/>
          <p:nvPr/>
        </p:nvSpPr>
        <p:spPr>
          <a:xfrm>
            <a:off x="1608082" y="932860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990C5A0-0EBE-5ECE-D576-D6392C605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002005"/>
              </p:ext>
            </p:extLst>
          </p:nvPr>
        </p:nvGraphicFramePr>
        <p:xfrm>
          <a:off x="2948152" y="1180836"/>
          <a:ext cx="699988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655">
                  <a:extLst>
                    <a:ext uri="{9D8B030D-6E8A-4147-A177-3AD203B41FA5}">
                      <a16:colId xmlns:a16="http://schemas.microsoft.com/office/drawing/2014/main" val="1652528127"/>
                    </a:ext>
                  </a:extLst>
                </a:gridCol>
                <a:gridCol w="3467234">
                  <a:extLst>
                    <a:ext uri="{9D8B030D-6E8A-4147-A177-3AD203B41FA5}">
                      <a16:colId xmlns:a16="http://schemas.microsoft.com/office/drawing/2014/main" val="1997489512"/>
                    </a:ext>
                  </a:extLst>
                </a:gridCol>
              </a:tblGrid>
              <a:tr h="5498685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assert;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break;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del;</a:t>
                      </a:r>
                    </a:p>
                    <a:p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elif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except;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finally;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try;</a:t>
                      </a:r>
                    </a:p>
                    <a:p>
                      <a:endParaRPr lang="ru-RU" sz="20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lambda;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nonlocal;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raise;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yield.</a:t>
                      </a:r>
                    </a:p>
                    <a:p>
                      <a:endParaRPr lang="ru-RU" sz="20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116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18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4E52-34D7-C537-449B-ABCD0E8C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7BED1-F7D5-7D7B-9C80-207E536DE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Примеры правильных имен: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E382D8-55B8-8812-CD71-ECDD80780EB4}"/>
              </a:ext>
            </a:extLst>
          </p:cNvPr>
          <p:cNvSpPr/>
          <p:nvPr/>
        </p:nvSpPr>
        <p:spPr>
          <a:xfrm flipV="1">
            <a:off x="1637245" y="923323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E62853D-CF92-39F1-A848-F2EF9005334E}"/>
              </a:ext>
            </a:extLst>
          </p:cNvPr>
          <p:cNvSpPr txBox="1">
            <a:spLocks/>
          </p:cNvSpPr>
          <p:nvPr/>
        </p:nvSpPr>
        <p:spPr>
          <a:xfrm>
            <a:off x="1292772" y="2024145"/>
            <a:ext cx="10084157" cy="38642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my_variable</a:t>
            </a:r>
            <a:endParaRPr lang="ru-RU" dirty="0"/>
          </a:p>
          <a:p>
            <a:r>
              <a:rPr lang="ru-RU" dirty="0" err="1"/>
              <a:t>user_name</a:t>
            </a:r>
            <a:endParaRPr lang="ru-RU" dirty="0"/>
          </a:p>
          <a:p>
            <a:r>
              <a:rPr lang="ru-RU" dirty="0" err="1"/>
              <a:t>calculate_total_price</a:t>
            </a:r>
            <a:endParaRPr lang="ru-RU" dirty="0"/>
          </a:p>
          <a:p>
            <a:r>
              <a:rPr lang="ru-RU" dirty="0"/>
              <a:t>_</a:t>
            </a:r>
            <a:r>
              <a:rPr lang="ru-RU" dirty="0" err="1"/>
              <a:t>internal_variable</a:t>
            </a:r>
            <a:r>
              <a:rPr lang="ru-RU" dirty="0"/>
              <a:t> (имена, начинающиеся с подчеркивания, часто используются для внутренних целей)</a:t>
            </a:r>
          </a:p>
          <a:p>
            <a:r>
              <a:rPr lang="ru-RU" dirty="0"/>
              <a:t>User (по соглашению, имена классов начинаются с заглавной буквы)</a:t>
            </a:r>
          </a:p>
          <a:p>
            <a:r>
              <a:rPr lang="ru-RU" dirty="0" err="1"/>
              <a:t>MAX_SPEED</a:t>
            </a:r>
            <a:r>
              <a:rPr lang="ru-RU" dirty="0"/>
              <a:t> (по соглашению, константы пишутся заглавными буквами)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1637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C99C-1734-4C97-C773-70BEEFC6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CBD55-D634-E7BB-0D69-CA34F0280E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Примеры неправильных имен: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8FF236-D3D3-9A5E-2BF1-8CC092663C2D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D8B1AE2-2195-CA83-D936-FE6A330A713E}"/>
              </a:ext>
            </a:extLst>
          </p:cNvPr>
          <p:cNvSpPr txBox="1">
            <a:spLocks/>
          </p:cNvSpPr>
          <p:nvPr/>
        </p:nvSpPr>
        <p:spPr>
          <a:xfrm>
            <a:off x="1292772" y="2024145"/>
            <a:ext cx="10084157" cy="38642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1st_variable</a:t>
            </a:r>
            <a:r>
              <a:rPr lang="ru-RU" dirty="0"/>
              <a:t> (начинается с цифры)</a:t>
            </a:r>
          </a:p>
          <a:p>
            <a:r>
              <a:rPr lang="ru-RU" dirty="0" err="1"/>
              <a:t>my-variable</a:t>
            </a:r>
            <a:r>
              <a:rPr lang="ru-RU" dirty="0"/>
              <a:t> (содержит дефис, который не является допустимым символом)</a:t>
            </a:r>
          </a:p>
          <a:p>
            <a:r>
              <a:rPr lang="ru-RU" dirty="0" err="1"/>
              <a:t>for</a:t>
            </a:r>
            <a:r>
              <a:rPr lang="ru-RU" dirty="0"/>
              <a:t> (является ключевым словом)</a:t>
            </a:r>
          </a:p>
          <a:p>
            <a:r>
              <a:rPr lang="ru-RU" dirty="0" err="1"/>
              <a:t>class</a:t>
            </a:r>
            <a:r>
              <a:rPr lang="ru-RU" dirty="0"/>
              <a:t> (является ключевым словом)</a:t>
            </a:r>
          </a:p>
          <a:p>
            <a:r>
              <a:rPr lang="ru-RU" dirty="0" err="1"/>
              <a:t>my</a:t>
            </a:r>
            <a:r>
              <a:rPr lang="ru-RU" dirty="0"/>
              <a:t> </a:t>
            </a:r>
            <a:r>
              <a:rPr lang="ru-RU" dirty="0" err="1"/>
              <a:t>variable</a:t>
            </a:r>
            <a:r>
              <a:rPr lang="ru-RU" dirty="0"/>
              <a:t> (содержит пробел)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93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8EE81-900B-E953-20A6-04B83144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8F8C7-30A3-92E4-410F-34EDD6DD0C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Примеры неправильных имен: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64819E-6585-A0ED-7D44-6C6331298A9E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9B515-D334-9ABC-39D5-D84ABC4DFC9A}"/>
              </a:ext>
            </a:extLst>
          </p:cNvPr>
          <p:cNvSpPr txBox="1"/>
          <p:nvPr/>
        </p:nvSpPr>
        <p:spPr>
          <a:xfrm>
            <a:off x="2206032" y="2462554"/>
            <a:ext cx="93610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my_integer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my_integer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функция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type() -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показывает тип переменной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79808-3A80-27F9-1CDD-B6BADB0BBAF3}"/>
              </a:ext>
            </a:extLst>
          </p:cNvPr>
          <p:cNvSpPr txBox="1"/>
          <p:nvPr/>
        </p:nvSpPr>
        <p:spPr>
          <a:xfrm>
            <a:off x="2206032" y="3939786"/>
            <a:ext cx="60937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my_float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12.00000001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float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my_float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C675A-6A5C-50F4-BED1-010A68B907CC}"/>
              </a:ext>
            </a:extLst>
          </p:cNvPr>
          <p:cNvSpPr txBox="1"/>
          <p:nvPr/>
        </p:nvSpPr>
        <p:spPr>
          <a:xfrm>
            <a:off x="1523492" y="1539272"/>
            <a:ext cx="9145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oogle Sans Text"/>
              </a:defRPr>
            </a:lvl1pPr>
          </a:lstStyle>
          <a:p>
            <a:r>
              <a:rPr lang="ru-RU" dirty="0"/>
              <a:t> Чтобы посмотреть тип переменной есть функция </a:t>
            </a:r>
            <a:r>
              <a:rPr lang="en-US" dirty="0"/>
              <a:t>type()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224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44AF-2E39-A19B-BDA9-79D81E00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994BD-3E70-6280-8989-DC66FB15A8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Примеры неправильных имен: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D9C1E6-8F8F-290D-8886-8444A27CE80F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D9A75-5EB1-7C5B-519F-06B794150C57}"/>
              </a:ext>
            </a:extLst>
          </p:cNvPr>
          <p:cNvSpPr txBox="1"/>
          <p:nvPr/>
        </p:nvSpPr>
        <p:spPr>
          <a:xfrm>
            <a:off x="1885292" y="1418613"/>
            <a:ext cx="93465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функция </a:t>
            </a:r>
            <a:r>
              <a:rPr lang="ru-RU" sz="2000" b="1" dirty="0" err="1">
                <a:solidFill>
                  <a:srgbClr val="C00000"/>
                </a:solidFill>
              </a:rPr>
              <a:t>isinstance</a:t>
            </a:r>
            <a:r>
              <a:rPr lang="ru-RU" sz="2000" b="1" dirty="0">
                <a:solidFill>
                  <a:srgbClr val="C00000"/>
                </a:solidFill>
              </a:rPr>
              <a:t>(), </a:t>
            </a:r>
            <a:r>
              <a:rPr lang="ru-RU" sz="2000" dirty="0"/>
              <a:t>с помощью которой можно определить, относится ли объект к указанному нами типу или нет.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D48D4-9841-04A0-83D0-18B014F60FEE}"/>
              </a:ext>
            </a:extLst>
          </p:cNvPr>
          <p:cNvSpPr txBox="1"/>
          <p:nvPr/>
        </p:nvSpPr>
        <p:spPr>
          <a:xfrm>
            <a:off x="3381922" y="2895606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isinstance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#True</a:t>
            </a:r>
            <a:endParaRPr lang="en-US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isinstance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#False</a:t>
            </a:r>
            <a:endParaRPr lang="en-US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isinstance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Привет!"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0" dirty="0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#True</a:t>
            </a:r>
            <a:endParaRPr lang="en-US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57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D61-28E9-9677-550E-0330765C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C8F07-028F-C34C-0961-A237870866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Вывод - ввод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72D768-BF5E-1367-53C2-2AFA6AB3492B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3A8BCCB-48DD-F7F5-6BA4-31C33C75533C}"/>
              </a:ext>
            </a:extLst>
          </p:cNvPr>
          <p:cNvSpPr txBox="1">
            <a:spLocks/>
          </p:cNvSpPr>
          <p:nvPr/>
        </p:nvSpPr>
        <p:spPr>
          <a:xfrm>
            <a:off x="1387843" y="1425414"/>
            <a:ext cx="10084157" cy="9367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 Python есть функция </a:t>
            </a:r>
            <a:r>
              <a:rPr lang="ru-RU" dirty="0" err="1"/>
              <a:t>print</a:t>
            </a:r>
            <a:r>
              <a:rPr lang="ru-RU" dirty="0"/>
              <a:t>(), которая однозначно указывает компьютеру, что её содержимое нужно вывести на экран.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DEB57-F8F0-896C-E2E6-4CC4C5BD2001}"/>
              </a:ext>
            </a:extLst>
          </p:cNvPr>
          <p:cNvSpPr txBox="1"/>
          <p:nvPr/>
        </p:nvSpPr>
        <p:spPr>
          <a:xfrm>
            <a:off x="3483365" y="4489942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i-FI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fi-FI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(math.sin(math.pi/</a:t>
            </a:r>
            <a:r>
              <a:rPr lang="fi-FI" sz="24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i-FI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3DF6C-71EF-6881-AED3-74D5AC5FF832}"/>
              </a:ext>
            </a:extLst>
          </p:cNvPr>
          <p:cNvSpPr txBox="1"/>
          <p:nvPr/>
        </p:nvSpPr>
        <p:spPr>
          <a:xfrm>
            <a:off x="3483365" y="3185494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(a, b)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38517-4CAA-5A7D-FFE8-81061698C6A9}"/>
              </a:ext>
            </a:extLst>
          </p:cNvPr>
          <p:cNvSpPr txBox="1"/>
          <p:nvPr/>
        </p:nvSpPr>
        <p:spPr>
          <a:xfrm>
            <a:off x="3477816" y="2653790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(z)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C7736-727A-B062-1D37-5D019A3E8DDC}"/>
              </a:ext>
            </a:extLst>
          </p:cNvPr>
          <p:cNvSpPr txBox="1"/>
          <p:nvPr/>
        </p:nvSpPr>
        <p:spPr>
          <a:xfrm>
            <a:off x="3483365" y="3817302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(result)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403E5-9E7C-1390-8BB8-05AF87DDF7D7}"/>
              </a:ext>
            </a:extLst>
          </p:cNvPr>
          <p:cNvSpPr txBox="1"/>
          <p:nvPr/>
        </p:nvSpPr>
        <p:spPr>
          <a:xfrm>
            <a:off x="3483365" y="5162582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2400" b="0" dirty="0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fr-FR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'd'</a:t>
            </a:r>
            <a:r>
              <a:rPr lang="fr-FR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'e'</a:t>
            </a:r>
            <a:r>
              <a:rPr lang="fr-FR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'f'</a:t>
            </a:r>
            <a:r>
              <a:rPr lang="fr-FR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sep=</a:t>
            </a:r>
            <a:r>
              <a:rPr lang="fr-FR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'**'</a:t>
            </a:r>
            <a:r>
              <a:rPr lang="fr-FR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B9434B-FFD6-00EE-B081-64B8286440E7}"/>
              </a:ext>
            </a:extLst>
          </p:cNvPr>
          <p:cNvSpPr txBox="1"/>
          <p:nvPr/>
        </p:nvSpPr>
        <p:spPr>
          <a:xfrm>
            <a:off x="3477816" y="5824929"/>
            <a:ext cx="6093724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 err="1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ru-RU" sz="2400" b="0" dirty="0" err="1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'Пользователь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ввел "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ru-RU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user_data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"'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325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4987-3FA1-FBCE-55EB-C92BC40D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47369-DE58-B48A-192F-0A2658464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Вывод - ввод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990A51-50F8-6608-F3A7-6865BA0E9C77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13ED6C5-8F13-1C65-A016-FFC432C76E82}"/>
              </a:ext>
            </a:extLst>
          </p:cNvPr>
          <p:cNvSpPr txBox="1">
            <a:spLocks/>
          </p:cNvSpPr>
          <p:nvPr/>
        </p:nvSpPr>
        <p:spPr>
          <a:xfrm>
            <a:off x="1939159" y="1504734"/>
            <a:ext cx="10084157" cy="38642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 Python есть функция </a:t>
            </a:r>
            <a:r>
              <a:rPr lang="en-US" dirty="0"/>
              <a:t>input</a:t>
            </a:r>
            <a:r>
              <a:rPr lang="ru-RU" dirty="0"/>
              <a:t>, которая указывает компьютеру, что нужно получить от пользователя.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A3DD1-2289-57A2-665D-7C949AE63ABA}"/>
              </a:ext>
            </a:extLst>
          </p:cNvPr>
          <p:cNvSpPr txBox="1"/>
          <p:nvPr/>
        </p:nvSpPr>
        <p:spPr>
          <a:xfrm>
            <a:off x="2474135" y="2696078"/>
            <a:ext cx="84555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'Введите текст: '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просим у пользователя внести именно строку</a:t>
            </a:r>
            <a:endParaRPr lang="ru-RU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BF3AC-B443-0DAB-0622-D28EE4DF1A8F}"/>
              </a:ext>
            </a:extLst>
          </p:cNvPr>
          <p:cNvSpPr txBox="1"/>
          <p:nvPr/>
        </p:nvSpPr>
        <p:spPr>
          <a:xfrm>
            <a:off x="2474135" y="3702189"/>
            <a:ext cx="8812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sz="2400" b="0" dirty="0" err="1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'Введите целое число: '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 </a:t>
            </a:r>
            <a:r>
              <a:rPr lang="ru-RU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внесено  тип </a:t>
            </a:r>
            <a:r>
              <a:rPr lang="ru-RU" sz="2400" b="0" dirty="0" err="1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endParaRPr lang="ru-RU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6F8F4-2D6E-80EF-EE07-DC6A5F9507EA}"/>
              </a:ext>
            </a:extLst>
          </p:cNvPr>
          <p:cNvSpPr txBox="1"/>
          <p:nvPr/>
        </p:nvSpPr>
        <p:spPr>
          <a:xfrm>
            <a:off x="2474135" y="4515756"/>
            <a:ext cx="10084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sz="2400" b="0" dirty="0" err="1">
                <a:solidFill>
                  <a:srgbClr val="25769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 err="1">
                <a:solidFill>
                  <a:srgbClr val="6A52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'Введите число: '</a:t>
            </a:r>
            <a:r>
              <a:rPr lang="ru-RU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  </a:t>
            </a:r>
            <a:r>
              <a:rPr lang="ru-RU" sz="24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внесено  тип </a:t>
            </a:r>
            <a:r>
              <a:rPr lang="ru-RU" sz="2400" b="0" dirty="0" err="1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endParaRPr lang="ru-RU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07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9303-D862-0210-5C1C-B31056E4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E52C-175D-8769-FE48-085B55AF9B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Комментарии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E4DCA3-7F8E-1579-06B8-36EED1A1E4AA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5A07C-B2B0-4535-3A59-B3F0453F26DD}"/>
              </a:ext>
            </a:extLst>
          </p:cNvPr>
          <p:cNvSpPr txBox="1"/>
          <p:nvPr/>
        </p:nvSpPr>
        <p:spPr>
          <a:xfrm>
            <a:off x="2810204" y="1411938"/>
            <a:ext cx="609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Это однострочный комментарий.</a:t>
            </a:r>
            <a:endParaRPr lang="ru-RU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A7EB0-09A0-5B62-D30F-2846376FF3A7}"/>
              </a:ext>
            </a:extLst>
          </p:cNvPr>
          <p:cNvSpPr txBox="1"/>
          <p:nvPr/>
        </p:nvSpPr>
        <p:spPr>
          <a:xfrm>
            <a:off x="2810204" y="1999924"/>
            <a:ext cx="836754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Однострочных комментариев может быть много подряд.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Однострочных комментариев может быть много подряд.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example_data</a:t>
            </a:r>
            <a:r>
              <a:rPr lang="ru-RU" sz="2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sz="2000" b="0" dirty="0">
                <a:solidFill>
                  <a:srgbClr val="1166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ru-RU" sz="2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Однострочные комментарии могут идти после кода.</a:t>
            </a:r>
          </a:p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example_data</a:t>
            </a:r>
            <a:r>
              <a:rPr lang="ru-RU" sz="2000" b="0" dirty="0">
                <a:solidFill>
                  <a:srgbClr val="008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18  # Можно комментировать куски кода в процессе отладки. Они не будут выполняться.</a:t>
            </a:r>
            <a:endParaRPr lang="ru-RU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35F91-96A6-E407-8E3A-73246DA4BFC5}"/>
              </a:ext>
            </a:extLst>
          </p:cNvPr>
          <p:cNvSpPr txBox="1"/>
          <p:nvPr/>
        </p:nvSpPr>
        <p:spPr>
          <a:xfrm>
            <a:off x="2810204" y="4579897"/>
            <a:ext cx="809953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'‘’</a:t>
            </a:r>
            <a:endParaRPr lang="en-US" sz="2000" b="0" dirty="0">
              <a:solidFill>
                <a:srgbClr val="A315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Это многострочный комментарий.</a:t>
            </a:r>
            <a:endParaRPr lang="ru-RU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Такие комментарии обычно используются для документирования классов и функций.</a:t>
            </a:r>
            <a:endParaRPr lang="ru-RU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ru-RU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'''</a:t>
            </a:r>
            <a:endParaRPr lang="ru-RU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8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C5247-D78C-A334-A0F3-F124F4EB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29974-A849-3F30-D79A-1933489D68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Ошибки в процессе работы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Ошибки бываю 2 видов: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D8274EF-BA83-1757-7043-6249EC16D50C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5222E-46C3-7A47-C56A-840DD34673BD}"/>
              </a:ext>
            </a:extLst>
          </p:cNvPr>
          <p:cNvSpPr txBox="1"/>
          <p:nvPr/>
        </p:nvSpPr>
        <p:spPr>
          <a:xfrm>
            <a:off x="2487667" y="2415359"/>
            <a:ext cx="83202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Синтаксические ошибки (</a:t>
            </a:r>
            <a:r>
              <a:rPr lang="ru-RU" b="1" dirty="0" err="1"/>
              <a:t>Syntax</a:t>
            </a:r>
            <a:r>
              <a:rPr lang="ru-RU" b="1" dirty="0"/>
              <a:t> </a:t>
            </a:r>
            <a:r>
              <a:rPr lang="ru-RU" b="1" dirty="0" err="1"/>
              <a:t>Errors</a:t>
            </a:r>
            <a:r>
              <a:rPr lang="ru-RU" b="1" dirty="0"/>
              <a:t>):</a:t>
            </a:r>
            <a:endParaRPr lang="ru-RU" dirty="0"/>
          </a:p>
          <a:p>
            <a:r>
              <a:rPr lang="ru-RU" b="1" dirty="0"/>
              <a:t>Описание:</a:t>
            </a:r>
            <a:r>
              <a:rPr lang="ru-RU" dirty="0"/>
              <a:t> Эти ошибки возникают, когда код нарушает правила синтаксиса языка программирования.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1F648-FABB-E85D-774F-7B9B28AB97D5}"/>
              </a:ext>
            </a:extLst>
          </p:cNvPr>
          <p:cNvSpPr txBox="1"/>
          <p:nvPr/>
        </p:nvSpPr>
        <p:spPr>
          <a:xfrm>
            <a:off x="2487667" y="4179836"/>
            <a:ext cx="8099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Логические ошибки (Logic </a:t>
            </a:r>
            <a:r>
              <a:rPr lang="ru-RU" b="1" dirty="0" err="1"/>
              <a:t>Errors</a:t>
            </a:r>
            <a:r>
              <a:rPr lang="ru-RU" b="1" dirty="0"/>
              <a:t>):</a:t>
            </a:r>
            <a:endParaRPr lang="ru-RU" dirty="0"/>
          </a:p>
          <a:p>
            <a:r>
              <a:rPr lang="ru-RU" b="1" dirty="0"/>
              <a:t>Описание:</a:t>
            </a:r>
            <a:r>
              <a:rPr lang="ru-RU" dirty="0"/>
              <a:t> Эти ошибки – самые коварные. Код выполняется без ошибок (не выдает синтаксических или ошибок времени выполнения), но он делает </a:t>
            </a:r>
            <a:r>
              <a:rPr lang="ru-RU" i="1" dirty="0"/>
              <a:t>не то</a:t>
            </a:r>
            <a:r>
              <a:rPr lang="ru-RU" dirty="0"/>
              <a:t>, что вы задумали. Это связано с неправильной логикой, лежащей в основе кода.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7631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9D1E-AFEF-05D7-2FB7-BB122F9F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AAC37-6DAE-147B-D86D-23A45DABF2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772" y="185222"/>
            <a:ext cx="10274300" cy="800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Ошибки в процессе работы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B06965-72C5-2F51-2E44-D10043768CA7}"/>
              </a:ext>
            </a:extLst>
          </p:cNvPr>
          <p:cNvSpPr/>
          <p:nvPr/>
        </p:nvSpPr>
        <p:spPr>
          <a:xfrm flipV="1">
            <a:off x="1605715" y="92383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A2CEE-3928-049F-719A-F14E9A2130C4}"/>
              </a:ext>
            </a:extLst>
          </p:cNvPr>
          <p:cNvSpPr txBox="1"/>
          <p:nvPr/>
        </p:nvSpPr>
        <p:spPr>
          <a:xfrm>
            <a:off x="1895804" y="1723938"/>
            <a:ext cx="9013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 написании кода может возникнуть множество синтактических ошибок различного характера, связанных:</a:t>
            </a:r>
          </a:p>
          <a:p>
            <a:r>
              <a:rPr lang="ru-RU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9C5E3-B489-A468-547A-2E86DF3ACF57}"/>
              </a:ext>
            </a:extLst>
          </p:cNvPr>
          <p:cNvSpPr txBox="1"/>
          <p:nvPr/>
        </p:nvSpPr>
        <p:spPr>
          <a:xfrm>
            <a:off x="2368770" y="3656735"/>
            <a:ext cx="9013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• с опечатками;</a:t>
            </a:r>
          </a:p>
          <a:p>
            <a:r>
              <a:rPr lang="ru-RU" sz="2400" dirty="0"/>
              <a:t>• с неправильным использованием функций или  операторов;</a:t>
            </a:r>
          </a:p>
          <a:p>
            <a:r>
              <a:rPr lang="ru-RU" sz="2400" dirty="0"/>
              <a:t>• с неправильным пониманием свойств объектов;</a:t>
            </a:r>
          </a:p>
          <a:p>
            <a:r>
              <a:rPr lang="ru-RU" sz="2400" dirty="0"/>
              <a:t>• с неправильным приведением типов.</a:t>
            </a:r>
          </a:p>
        </p:txBody>
      </p:sp>
    </p:spTree>
    <p:extLst>
      <p:ext uri="{BB962C8B-B14F-4D97-AF65-F5344CB8AC3E}">
        <p14:creationId xmlns:p14="http://schemas.microsoft.com/office/powerpoint/2010/main" val="40421009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836</TotalTime>
  <Words>1179</Words>
  <Application>Microsoft Office PowerPoint</Application>
  <PresentationFormat>Широкоэкранный</PresentationFormat>
  <Paragraphs>136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Century Gothic</vt:lpstr>
      <vt:lpstr>Courier New</vt:lpstr>
      <vt:lpstr>Google Sans Text</vt:lpstr>
      <vt:lpstr>Graphik LC Web</vt:lpstr>
      <vt:lpstr>Roboto</vt:lpstr>
      <vt:lpstr>Wingdings 3</vt:lpstr>
      <vt:lpstr>Легкий дым</vt:lpstr>
      <vt:lpstr>Введение в Python, синтаксис</vt:lpstr>
      <vt:lpstr>Python</vt:lpstr>
      <vt:lpstr>Python - дзен </vt:lpstr>
      <vt:lpstr>Python - дзен </vt:lpstr>
      <vt:lpstr>Типы данных </vt:lpstr>
      <vt:lpstr>Типы данных </vt:lpstr>
      <vt:lpstr>Объявление переменных.Имя переменной  </vt:lpstr>
      <vt:lpstr>К ключевым словам в языке Python относятся:  </vt:lpstr>
      <vt:lpstr>Примеры правильных имен:  </vt:lpstr>
      <vt:lpstr>Примеры неправильных имен:  </vt:lpstr>
      <vt:lpstr>Примеры неправильных имен:  </vt:lpstr>
      <vt:lpstr>Примеры неправильных имен:  </vt:lpstr>
      <vt:lpstr>Вывод - ввод  </vt:lpstr>
      <vt:lpstr>Вывод - ввод  </vt:lpstr>
      <vt:lpstr>Комментарии  </vt:lpstr>
      <vt:lpstr>Ошибки в процессе работы   Ошибки бываю 2 видов:</vt:lpstr>
      <vt:lpstr>Ошибки в процессе работы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21</cp:revision>
  <dcterms:created xsi:type="dcterms:W3CDTF">2025-06-30T12:58:59Z</dcterms:created>
  <dcterms:modified xsi:type="dcterms:W3CDTF">2025-09-27T06:05:30Z</dcterms:modified>
</cp:coreProperties>
</file>